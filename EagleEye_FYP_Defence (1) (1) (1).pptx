
<file path=[Content_Types].xml><?xml version="1.0" encoding="utf-8"?>
<Types xmlns="http://schemas.openxmlformats.org/package/2006/content-types">
  <Default Extension="jpeg" ContentType="image/jpeg"/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2_0.xml" ContentType="application/vnd.ms-powerpoint.comments+xml"/>
  <Override PartName="/ppt/comments/modernComment_103_0.xml" ContentType="application/vnd.ms-powerpoint.comments+xml"/>
  <Override PartName="/ppt/comments/modernComment_104_0.xml" ContentType="application/vnd.ms-powerpoint.comments+xml"/>
  <Override PartName="/ppt/comments/modernComment_105_0.xml" ContentType="application/vnd.ms-powerpoint.comments+xml"/>
  <Override PartName="/ppt/comments/modernComment_107_0.xml" ContentType="application/vnd.ms-powerpoint.comments+xml"/>
  <Override PartName="/ppt/comments/modernComment_11A_0.xml" ContentType="application/vnd.ms-powerpoint.comments+xml"/>
  <Override PartName="/ppt/notesSlides/notesSlide2.xml" ContentType="application/vnd.openxmlformats-officedocument.presentationml.notesSlide+xml"/>
  <Override PartName="/ppt/comments/modernComment_124_0.xml" ContentType="application/vnd.ms-powerpoint.comments+xml"/>
  <Override PartName="/ppt/notesSlides/notesSlide3.xml" ContentType="application/vnd.openxmlformats-officedocument.presentationml.notesSlide+xml"/>
  <Override PartName="/ppt/comments/modernComment_125_0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modernComment_122_0.xml" ContentType="application/vnd.ms-powerpoint.comments+xml"/>
  <Override PartName="/ppt/notesSlides/notesSlide7.xml" ContentType="application/vnd.openxmlformats-officedocument.presentationml.notesSlide+xml"/>
  <Override PartName="/ppt/comments/modernComment_130_0.xml" ContentType="application/vnd.ms-powerpoint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315" r:id="rId4"/>
    <p:sldId id="258" r:id="rId5"/>
    <p:sldId id="259" r:id="rId6"/>
    <p:sldId id="314" r:id="rId7"/>
    <p:sldId id="260" r:id="rId8"/>
    <p:sldId id="261" r:id="rId9"/>
    <p:sldId id="262" r:id="rId10"/>
    <p:sldId id="263" r:id="rId11"/>
    <p:sldId id="282" r:id="rId12"/>
    <p:sldId id="292" r:id="rId13"/>
    <p:sldId id="293" r:id="rId14"/>
    <p:sldId id="266" r:id="rId15"/>
    <p:sldId id="284" r:id="rId16"/>
    <p:sldId id="303" r:id="rId17"/>
    <p:sldId id="269" r:id="rId18"/>
    <p:sldId id="310" r:id="rId19"/>
    <p:sldId id="290" r:id="rId20"/>
    <p:sldId id="304" r:id="rId21"/>
    <p:sldId id="307" r:id="rId22"/>
    <p:sldId id="295" r:id="rId23"/>
    <p:sldId id="296" r:id="rId24"/>
    <p:sldId id="297" r:id="rId25"/>
    <p:sldId id="298" r:id="rId26"/>
    <p:sldId id="299" r:id="rId27"/>
    <p:sldId id="272" r:id="rId28"/>
    <p:sldId id="316" r:id="rId29"/>
    <p:sldId id="317" r:id="rId30"/>
    <p:sldId id="318" r:id="rId31"/>
    <p:sldId id="289" r:id="rId32"/>
    <p:sldId id="278" r:id="rId33"/>
    <p:sldId id="279" r:id="rId34"/>
    <p:sldId id="305" r:id="rId35"/>
    <p:sldId id="277" r:id="rId36"/>
    <p:sldId id="275" r:id="rId37"/>
    <p:sldId id="280" r:id="rId38"/>
    <p:sldId id="281" r:id="rId39"/>
    <p:sldId id="294" r:id="rId4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C60BC49-8315-574E-00A9-D2B737274540}" name="bsce22004" initials="bs" userId="S::bsce22004@itu.edu.pk::ac659fb8-73a5-4c71-91af-c158e9a820d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1E891E-2653-B050-F9E7-750857F5F50E}" v="608" dt="2026-06-17T00:37:16.049"/>
    <p1510:client id="{3066ED7F-4A12-42DB-804A-D66EC1114864}" v="44" dt="2026-06-15T23:53:27.459"/>
    <p1510:client id="{61CA3626-56EA-8E4B-8777-BA7975F1B98D}" v="261" dt="2026-06-16T14:34:00.803"/>
    <p1510:client id="{6CA3387D-0B62-DC68-9204-5693221E9E21}" v="145" dt="2026-06-16T07:31:46.526"/>
    <p1510:client id="{B83E410C-8A76-83CC-FA38-387AF06AB5EE}" v="265" dt="2026-06-16T16:06:25.904"/>
    <p1510:client id="{C089620E-D138-2FCC-0AF3-133121B2C124}" v="48" dt="2026-06-16T22:49:43.839"/>
    <p1510:client id="{C739EC41-4555-164B-09DF-B9FAC03D21AC}" v="23" dt="2026-06-16T07:13:47.324"/>
    <p1510:client id="{CADD8CA1-0F9F-0919-055C-A2FAF4BB0338}" v="59" dt="2026-06-16T14:15:00.065"/>
    <p1510:client id="{DC6EB018-AB59-A598-DA73-B841DCAFF31E}" v="81" dt="2026-06-16T20:03:12.663"/>
    <p1510:client id="{E0EA67AA-936B-A1EF-1374-E523EB383845}" v="412" dt="2026-06-16T18:47:39.761"/>
    <p1510:client id="{E71000E3-969F-F763-C612-5C15A632E706}" v="196" dt="2026-06-16T08:44:47.85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omments/modernComment_11A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0EB7B47-7D01-4F82-9CFE-0490D1D84714}" authorId="{AC60BC49-8315-574E-00A9-D2B737274540}" created="2026-06-16T14:23:54.084">
    <pc:sldMkLst xmlns:pc="http://schemas.microsoft.com/office/powerpoint/2013/main/command">
      <pc:docMk/>
      <pc:sldMk cId="0" sldId="282"/>
    </pc:sldMkLst>
    <p188:txBody>
      <a:bodyPr/>
      <a:lstStyle/>
      <a:p>
        <a:r>
          <a:rPr lang="en-US"/>
          <a:t>Huzaifa khan</a:t>
        </a:r>
      </a:p>
    </p188:txBody>
  </p188:cm>
</p188:cmLst>
</file>

<file path=ppt/comments/modernComment_102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4AD1103-47C8-4734-98C3-070499CDD7D8}" authorId="{AC60BC49-8315-574E-00A9-D2B737274540}" created="2026-06-16T12:38:38.724">
    <pc:sldMkLst xmlns:pc="http://schemas.microsoft.com/office/powerpoint/2013/main/command">
      <pc:docMk/>
      <pc:sldMk cId="0" sldId="258"/>
    </pc:sldMkLst>
    <p188:txBody>
      <a:bodyPr/>
      <a:lstStyle/>
      <a:p>
        <a:r>
          <a:rPr lang="en-US"/>
          <a:t>Murtaza khalid</a:t>
        </a:r>
      </a:p>
    </p188:txBody>
  </p188:cm>
</p188:cmLst>
</file>

<file path=ppt/comments/modernComment_103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1B7BB1A-E854-4F02-80E3-EF7EA72C59F9}" authorId="{AC60BC49-8315-574E-00A9-D2B737274540}" created="2026-06-16T12:38:52.631">
    <pc:sldMkLst xmlns:pc="http://schemas.microsoft.com/office/powerpoint/2013/main/command">
      <pc:docMk/>
      <pc:sldMk cId="0" sldId="259"/>
    </pc:sldMkLst>
    <p188:txBody>
      <a:bodyPr/>
      <a:lstStyle/>
      <a:p>
        <a:r>
          <a:rPr lang="en-US"/>
          <a:t>Murtaza khalid</a:t>
        </a:r>
      </a:p>
    </p188:txBody>
  </p188:cm>
</p188:cmLst>
</file>

<file path=ppt/comments/modernComment_10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9CBADE5-4044-4F78-B53D-E554B3FEB995}" authorId="{AC60BC49-8315-574E-00A9-D2B737274540}" created="2026-06-16T14:23:27.475">
    <pc:sldMkLst xmlns:pc="http://schemas.microsoft.com/office/powerpoint/2013/main/command">
      <pc:docMk/>
      <pc:sldMk cId="0" sldId="260"/>
    </pc:sldMkLst>
    <p188:txBody>
      <a:bodyPr/>
      <a:lstStyle/>
      <a:p>
        <a:r>
          <a:rPr lang="en-US"/>
          <a:t>Murtaza Khalid</a:t>
        </a:r>
      </a:p>
    </p188:txBody>
  </p188:cm>
</p188:cmLst>
</file>

<file path=ppt/comments/modernComment_105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846753E-21B9-4414-92C1-FF58BA47F30A}" authorId="{AC60BC49-8315-574E-00A9-D2B737274540}" created="2026-06-16T14:23:38.834">
    <pc:sldMkLst xmlns:pc="http://schemas.microsoft.com/office/powerpoint/2013/main/command">
      <pc:docMk/>
      <pc:sldMk cId="0" sldId="261"/>
    </pc:sldMkLst>
    <p188:txBody>
      <a:bodyPr/>
      <a:lstStyle/>
      <a:p>
        <a:r>
          <a:rPr lang="en-US"/>
          <a:t>Murtaza khalid</a:t>
        </a:r>
      </a:p>
    </p188:txBody>
  </p188:cm>
</p188:cmLst>
</file>

<file path=ppt/comments/modernComment_107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86783DC-2019-48FF-9352-BF7A40AE38D4}" authorId="{AC60BC49-8315-574E-00A9-D2B737274540}" created="2026-06-16T14:23:45.943">
    <pc:sldMkLst xmlns:pc="http://schemas.microsoft.com/office/powerpoint/2013/main/command">
      <pc:docMk/>
      <pc:sldMk cId="0" sldId="263"/>
    </pc:sldMkLst>
    <p188:txBody>
      <a:bodyPr/>
      <a:lstStyle/>
      <a:p>
        <a:r>
          <a:rPr lang="en-US"/>
          <a:t>Huzaifa khan</a:t>
        </a:r>
      </a:p>
    </p188:txBody>
  </p188:cm>
</p188:cmLst>
</file>

<file path=ppt/comments/modernComment_122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C5F822A-64C3-4F00-8C07-43F984BADF65}" authorId="{AC60BC49-8315-574E-00A9-D2B737274540}" created="2026-06-16T14:25:27.553">
    <pc:sldMkLst xmlns:pc="http://schemas.microsoft.com/office/powerpoint/2013/main/command">
      <pc:docMk/>
      <pc:sldMk cId="0" sldId="290"/>
    </pc:sldMkLst>
    <p188:txBody>
      <a:bodyPr/>
      <a:lstStyle/>
      <a:p>
        <a:r>
          <a:rPr lang="en-US"/>
          <a:t>Huzaifa khan</a:t>
        </a:r>
      </a:p>
    </p188:txBody>
  </p188:cm>
</p188:cmLst>
</file>

<file path=ppt/comments/modernComment_12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D4A28E0-6B51-4042-BA64-D6E1402C9EEA}" authorId="{AC60BC49-8315-574E-00A9-D2B737274540}" created="2026-06-16T14:24:53.944">
    <pc:sldMkLst xmlns:pc="http://schemas.microsoft.com/office/powerpoint/2013/main/command">
      <pc:docMk/>
      <pc:sldMk cId="0" sldId="292"/>
    </pc:sldMkLst>
    <p188:txBody>
      <a:bodyPr/>
      <a:lstStyle/>
      <a:p>
        <a:r>
          <a:rPr lang="en-US"/>
          <a:t>Murtaza khalid</a:t>
        </a:r>
      </a:p>
    </p188:txBody>
  </p188:cm>
</p188:cmLst>
</file>

<file path=ppt/comments/modernComment_125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D46990E-9E9E-44F6-A28D-40AE7990DC8D}" authorId="{AC60BC49-8315-574E-00A9-D2B737274540}" created="2026-06-16T14:25:00.662">
    <pc:sldMkLst xmlns:pc="http://schemas.microsoft.com/office/powerpoint/2013/main/command">
      <pc:docMk/>
      <pc:sldMk cId="0" sldId="293"/>
    </pc:sldMkLst>
    <p188:txBody>
      <a:bodyPr/>
      <a:lstStyle/>
      <a:p>
        <a:r>
          <a:rPr lang="en-US"/>
          <a:t>Murtaza khalid</a:t>
        </a:r>
      </a:p>
    </p188:txBody>
  </p188:cm>
</p188:cmLst>
</file>

<file path=ppt/comments/modernComment_13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56D4895-4835-4EEE-AB64-308C3C691A5D}" authorId="{AC60BC49-8315-574E-00A9-D2B737274540}" created="2026-06-16T14:25:36.865">
    <pc:sldMkLst xmlns:pc="http://schemas.microsoft.com/office/powerpoint/2013/main/command">
      <pc:docMk/>
      <pc:sldMk cId="0" sldId="304"/>
    </pc:sldMkLst>
    <p188:txBody>
      <a:bodyPr/>
      <a:lstStyle/>
      <a:p>
        <a:r>
          <a:rPr lang="en-US"/>
          <a:t>Huzaifa khan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AF6E14-173A-4F4B-819D-7E12F95F1FDA}" type="datetimeFigureOut">
              <a:rPr lang="en-PK" smtClean="0"/>
              <a:t>06/16/2026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7EF36A-C834-443C-B7B1-07259981C53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62371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points: (1) v7.16 achieves 90.83% test accuracy on 327 real images. (2) On-device inference at 872ms on ESP32-CAM. (3) Entirely from scratch. (4) Balanced recall: 87.5% Human, 92.6% NonHuman. (5) Only ~13 KB with full INT8 quantization.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5871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6619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7853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229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38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88825" cy="6858000"/>
          </a:xfrm>
          <a:custGeom>
            <a:avLst/>
            <a:gdLst/>
            <a:ahLst/>
            <a:cxnLst/>
            <a:rect l="l" t="t" r="r" b="b"/>
            <a:pathLst>
              <a:path w="12188825" h="6858000">
                <a:moveTo>
                  <a:pt x="12188825" y="0"/>
                </a:moveTo>
                <a:lnTo>
                  <a:pt x="0" y="0"/>
                </a:lnTo>
                <a:lnTo>
                  <a:pt x="0" y="6858000"/>
                </a:lnTo>
                <a:lnTo>
                  <a:pt x="12188825" y="6858000"/>
                </a:lnTo>
                <a:lnTo>
                  <a:pt x="12188825" y="0"/>
                </a:lnTo>
                <a:close/>
              </a:path>
            </a:pathLst>
          </a:custGeom>
          <a:solidFill>
            <a:srgbClr val="1F4E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554348" y="2639390"/>
            <a:ext cx="5083302" cy="940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7774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89460" cy="841375"/>
          </a:xfrm>
          <a:custGeom>
            <a:avLst/>
            <a:gdLst/>
            <a:ahLst/>
            <a:cxnLst/>
            <a:rect l="l" t="t" r="r" b="b"/>
            <a:pathLst>
              <a:path w="12189460" h="841375">
                <a:moveTo>
                  <a:pt x="12188952" y="0"/>
                </a:moveTo>
                <a:lnTo>
                  <a:pt x="0" y="0"/>
                </a:lnTo>
                <a:lnTo>
                  <a:pt x="0" y="841248"/>
                </a:lnTo>
                <a:lnTo>
                  <a:pt x="12188952" y="841248"/>
                </a:lnTo>
                <a:lnTo>
                  <a:pt x="12188952" y="0"/>
                </a:lnTo>
                <a:close/>
              </a:path>
            </a:pathLst>
          </a:custGeom>
          <a:solidFill>
            <a:srgbClr val="1F4E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57200" y="192023"/>
            <a:ext cx="603885" cy="457200"/>
          </a:xfrm>
          <a:custGeom>
            <a:avLst/>
            <a:gdLst/>
            <a:ahLst/>
            <a:cxnLst/>
            <a:rect l="l" t="t" r="r" b="b"/>
            <a:pathLst>
              <a:path w="603885" h="457200">
                <a:moveTo>
                  <a:pt x="530352" y="0"/>
                </a:moveTo>
                <a:lnTo>
                  <a:pt x="73151" y="0"/>
                </a:lnTo>
                <a:lnTo>
                  <a:pt x="44678" y="5750"/>
                </a:lnTo>
                <a:lnTo>
                  <a:pt x="21426" y="21431"/>
                </a:lnTo>
                <a:lnTo>
                  <a:pt x="5748" y="44684"/>
                </a:lnTo>
                <a:lnTo>
                  <a:pt x="0" y="73151"/>
                </a:lnTo>
                <a:lnTo>
                  <a:pt x="0" y="384048"/>
                </a:lnTo>
                <a:lnTo>
                  <a:pt x="5748" y="412515"/>
                </a:lnTo>
                <a:lnTo>
                  <a:pt x="21426" y="435768"/>
                </a:lnTo>
                <a:lnTo>
                  <a:pt x="44678" y="451449"/>
                </a:lnTo>
                <a:lnTo>
                  <a:pt x="73151" y="457200"/>
                </a:lnTo>
                <a:lnTo>
                  <a:pt x="530352" y="457200"/>
                </a:lnTo>
                <a:lnTo>
                  <a:pt x="558825" y="451449"/>
                </a:lnTo>
                <a:lnTo>
                  <a:pt x="582077" y="435768"/>
                </a:lnTo>
                <a:lnTo>
                  <a:pt x="597755" y="412515"/>
                </a:lnTo>
                <a:lnTo>
                  <a:pt x="603504" y="384048"/>
                </a:lnTo>
                <a:lnTo>
                  <a:pt x="603504" y="73151"/>
                </a:lnTo>
                <a:lnTo>
                  <a:pt x="597755" y="44684"/>
                </a:lnTo>
                <a:lnTo>
                  <a:pt x="582077" y="21431"/>
                </a:lnTo>
                <a:lnTo>
                  <a:pt x="558825" y="5750"/>
                </a:lnTo>
                <a:lnTo>
                  <a:pt x="530352" y="0"/>
                </a:lnTo>
                <a:close/>
              </a:path>
            </a:pathLst>
          </a:custGeom>
          <a:solidFill>
            <a:srgbClr val="2095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1739" y="264032"/>
            <a:ext cx="7324090" cy="2927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9100" y="1326058"/>
            <a:ext cx="11351260" cy="39287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2.mp4"/><Relationship Id="rId7" Type="http://schemas.openxmlformats.org/officeDocument/2006/relationships/image" Target="../media/image2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6.xml"/><Relationship Id="rId4" Type="http://schemas.openxmlformats.org/officeDocument/2006/relationships/video" Target="../media/media2.mp4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microsoft.com/office/2018/10/relationships/comments" Target="../comments/modernComment_102_0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microsoft.com/office/2018/10/relationships/comments" Target="../comments/modernComment_103_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4_0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microsoft.com/office/2018/10/relationships/comments" Target="../comments/modernComment_105_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microsoft.com/office/2018/10/relationships/comments" Target="../comments/modernComment_107_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A_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4_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5_0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image" Target="../media/image29.png"/><Relationship Id="rId7" Type="http://schemas.openxmlformats.org/officeDocument/2006/relationships/image" Target="../media/image3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2_0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30_0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3.png"/><Relationship Id="rId5" Type="http://schemas.openxmlformats.org/officeDocument/2006/relationships/image" Target="../media/image49.png"/><Relationship Id="rId4" Type="http://schemas.openxmlformats.org/officeDocument/2006/relationships/image" Target="../media/image52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jpeg"/><Relationship Id="rId3" Type="http://schemas.openxmlformats.org/officeDocument/2006/relationships/image" Target="../media/image55.png"/><Relationship Id="rId7" Type="http://schemas.openxmlformats.org/officeDocument/2006/relationships/image" Target="../media/image5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9" Type="http://schemas.openxmlformats.org/officeDocument/2006/relationships/image" Target="../media/image61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8.png"/><Relationship Id="rId5" Type="http://schemas.openxmlformats.org/officeDocument/2006/relationships/image" Target="../media/image53.png"/><Relationship Id="rId4" Type="http://schemas.openxmlformats.org/officeDocument/2006/relationships/image" Target="../media/image51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723"/>
            <a:ext cx="12188825" cy="6858000"/>
          </a:xfrm>
          <a:custGeom>
            <a:avLst/>
            <a:gdLst/>
            <a:ahLst/>
            <a:cxnLst/>
            <a:rect l="l" t="t" r="r" b="b"/>
            <a:pathLst>
              <a:path w="12188825" h="6858000">
                <a:moveTo>
                  <a:pt x="12188825" y="0"/>
                </a:moveTo>
                <a:lnTo>
                  <a:pt x="0" y="0"/>
                </a:lnTo>
                <a:lnTo>
                  <a:pt x="0" y="6858000"/>
                </a:lnTo>
                <a:lnTo>
                  <a:pt x="12188825" y="6858000"/>
                </a:lnTo>
                <a:lnTo>
                  <a:pt x="12188825" y="0"/>
                </a:lnTo>
                <a:close/>
              </a:path>
            </a:pathLst>
          </a:custGeom>
          <a:solidFill>
            <a:srgbClr val="1F4E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10259" y="965962"/>
            <a:ext cx="591502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762760" algn="l"/>
                <a:tab pos="3377565" algn="l"/>
                <a:tab pos="4858385" algn="l"/>
                <a:tab pos="5046980" algn="l"/>
              </a:tabLst>
            </a:pPr>
            <a:r>
              <a:rPr sz="1400" b="1">
                <a:solidFill>
                  <a:srgbClr val="2095F3"/>
                </a:solidFill>
                <a:latin typeface="Calibri"/>
                <a:cs typeface="Calibri"/>
              </a:rPr>
              <a:t>I</a:t>
            </a:r>
            <a:r>
              <a:rPr sz="1400" b="1" spc="70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400" b="1">
                <a:solidFill>
                  <a:srgbClr val="2095F3"/>
                </a:solidFill>
                <a:latin typeface="Calibri"/>
                <a:cs typeface="Calibri"/>
              </a:rPr>
              <a:t>N</a:t>
            </a:r>
            <a:r>
              <a:rPr sz="1400" b="1" spc="7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400" b="1">
                <a:solidFill>
                  <a:srgbClr val="2095F3"/>
                </a:solidFill>
                <a:latin typeface="Calibri"/>
                <a:cs typeface="Calibri"/>
              </a:rPr>
              <a:t>F</a:t>
            </a:r>
            <a:r>
              <a:rPr sz="1400" b="1" spc="7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400" b="1">
                <a:solidFill>
                  <a:srgbClr val="2095F3"/>
                </a:solidFill>
                <a:latin typeface="Calibri"/>
                <a:cs typeface="Calibri"/>
              </a:rPr>
              <a:t>O</a:t>
            </a:r>
            <a:r>
              <a:rPr sz="1400" b="1" spc="7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400" b="1">
                <a:solidFill>
                  <a:srgbClr val="2095F3"/>
                </a:solidFill>
                <a:latin typeface="Calibri"/>
                <a:cs typeface="Calibri"/>
              </a:rPr>
              <a:t>R</a:t>
            </a:r>
            <a:r>
              <a:rPr sz="1400" b="1" spc="70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400" b="1">
                <a:solidFill>
                  <a:srgbClr val="2095F3"/>
                </a:solidFill>
                <a:latin typeface="Calibri"/>
                <a:cs typeface="Calibri"/>
              </a:rPr>
              <a:t>M</a:t>
            </a:r>
            <a:r>
              <a:rPr sz="1400" b="1" spc="7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400" b="1">
                <a:solidFill>
                  <a:srgbClr val="2095F3"/>
                </a:solidFill>
                <a:latin typeface="Calibri"/>
                <a:cs typeface="Calibri"/>
              </a:rPr>
              <a:t>A</a:t>
            </a:r>
            <a:r>
              <a:rPr sz="1400" b="1" spc="70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400" b="1">
                <a:solidFill>
                  <a:srgbClr val="2095F3"/>
                </a:solidFill>
                <a:latin typeface="Calibri"/>
                <a:cs typeface="Calibri"/>
              </a:rPr>
              <a:t>T</a:t>
            </a:r>
            <a:r>
              <a:rPr sz="1400" b="1" spc="7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400" b="1">
                <a:solidFill>
                  <a:srgbClr val="2095F3"/>
                </a:solidFill>
                <a:latin typeface="Calibri"/>
                <a:cs typeface="Calibri"/>
              </a:rPr>
              <a:t>I</a:t>
            </a:r>
            <a:r>
              <a:rPr sz="1400" b="1" spc="70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400" b="1">
                <a:solidFill>
                  <a:srgbClr val="2095F3"/>
                </a:solidFill>
                <a:latin typeface="Calibri"/>
                <a:cs typeface="Calibri"/>
              </a:rPr>
              <a:t>O</a:t>
            </a:r>
            <a:r>
              <a:rPr sz="1400" b="1" spc="7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400" b="1" spc="-50">
                <a:solidFill>
                  <a:srgbClr val="2095F3"/>
                </a:solidFill>
                <a:latin typeface="Calibri"/>
                <a:cs typeface="Calibri"/>
              </a:rPr>
              <a:t>N</a:t>
            </a:r>
            <a:r>
              <a:rPr sz="1400" b="1">
                <a:solidFill>
                  <a:srgbClr val="2095F3"/>
                </a:solidFill>
                <a:latin typeface="Calibri"/>
                <a:cs typeface="Calibri"/>
              </a:rPr>
              <a:t>	T</a:t>
            </a:r>
            <a:r>
              <a:rPr sz="1400" b="1" spc="70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400" b="1">
                <a:solidFill>
                  <a:srgbClr val="2095F3"/>
                </a:solidFill>
                <a:latin typeface="Calibri"/>
                <a:cs typeface="Calibri"/>
              </a:rPr>
              <a:t>E</a:t>
            </a:r>
            <a:r>
              <a:rPr sz="1400" b="1" spc="70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400" b="1">
                <a:solidFill>
                  <a:srgbClr val="2095F3"/>
                </a:solidFill>
                <a:latin typeface="Calibri"/>
                <a:cs typeface="Calibri"/>
              </a:rPr>
              <a:t>C</a:t>
            </a:r>
            <a:r>
              <a:rPr sz="1400" b="1" spc="70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400" b="1">
                <a:solidFill>
                  <a:srgbClr val="2095F3"/>
                </a:solidFill>
                <a:latin typeface="Calibri"/>
                <a:cs typeface="Calibri"/>
              </a:rPr>
              <a:t>H</a:t>
            </a:r>
            <a:r>
              <a:rPr sz="1400" b="1" spc="80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400" b="1">
                <a:solidFill>
                  <a:srgbClr val="2095F3"/>
                </a:solidFill>
                <a:latin typeface="Calibri"/>
                <a:cs typeface="Calibri"/>
              </a:rPr>
              <a:t>N</a:t>
            </a:r>
            <a:r>
              <a:rPr sz="1400" b="1" spc="70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400" b="1">
                <a:solidFill>
                  <a:srgbClr val="2095F3"/>
                </a:solidFill>
                <a:latin typeface="Calibri"/>
                <a:cs typeface="Calibri"/>
              </a:rPr>
              <a:t>O</a:t>
            </a:r>
            <a:r>
              <a:rPr sz="1400" b="1" spc="70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400" b="1">
                <a:solidFill>
                  <a:srgbClr val="2095F3"/>
                </a:solidFill>
                <a:latin typeface="Calibri"/>
                <a:cs typeface="Calibri"/>
              </a:rPr>
              <a:t>L</a:t>
            </a:r>
            <a:r>
              <a:rPr sz="1400" b="1" spc="70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400" b="1">
                <a:solidFill>
                  <a:srgbClr val="2095F3"/>
                </a:solidFill>
                <a:latin typeface="Calibri"/>
                <a:cs typeface="Calibri"/>
              </a:rPr>
              <a:t>O</a:t>
            </a:r>
            <a:r>
              <a:rPr sz="1400" b="1" spc="70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400" b="1">
                <a:solidFill>
                  <a:srgbClr val="2095F3"/>
                </a:solidFill>
                <a:latin typeface="Calibri"/>
                <a:cs typeface="Calibri"/>
              </a:rPr>
              <a:t>G</a:t>
            </a:r>
            <a:r>
              <a:rPr sz="1400" b="1" spc="7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400" b="1" spc="-60">
                <a:solidFill>
                  <a:srgbClr val="2095F3"/>
                </a:solidFill>
                <a:latin typeface="Calibri"/>
                <a:cs typeface="Calibri"/>
              </a:rPr>
              <a:t>Y</a:t>
            </a:r>
            <a:r>
              <a:rPr sz="1400" b="1">
                <a:solidFill>
                  <a:srgbClr val="2095F3"/>
                </a:solidFill>
                <a:latin typeface="Calibri"/>
                <a:cs typeface="Calibri"/>
              </a:rPr>
              <a:t>	U</a:t>
            </a:r>
            <a:r>
              <a:rPr sz="1400" b="1" spc="6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400" b="1">
                <a:solidFill>
                  <a:srgbClr val="2095F3"/>
                </a:solidFill>
                <a:latin typeface="Calibri"/>
                <a:cs typeface="Calibri"/>
              </a:rPr>
              <a:t>N</a:t>
            </a:r>
            <a:r>
              <a:rPr sz="1400" b="1" spc="7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400" b="1">
                <a:solidFill>
                  <a:srgbClr val="2095F3"/>
                </a:solidFill>
                <a:latin typeface="Calibri"/>
                <a:cs typeface="Calibri"/>
              </a:rPr>
              <a:t>I</a:t>
            </a:r>
            <a:r>
              <a:rPr sz="1400" b="1" spc="70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400" b="1">
                <a:solidFill>
                  <a:srgbClr val="2095F3"/>
                </a:solidFill>
                <a:latin typeface="Calibri"/>
                <a:cs typeface="Calibri"/>
              </a:rPr>
              <a:t>V</a:t>
            </a:r>
            <a:r>
              <a:rPr sz="1400" b="1" spc="7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400" b="1">
                <a:solidFill>
                  <a:srgbClr val="2095F3"/>
                </a:solidFill>
                <a:latin typeface="Calibri"/>
                <a:cs typeface="Calibri"/>
              </a:rPr>
              <a:t>E</a:t>
            </a:r>
            <a:r>
              <a:rPr sz="1400" b="1" spc="7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400" b="1">
                <a:solidFill>
                  <a:srgbClr val="2095F3"/>
                </a:solidFill>
                <a:latin typeface="Calibri"/>
                <a:cs typeface="Calibri"/>
              </a:rPr>
              <a:t>R</a:t>
            </a:r>
            <a:r>
              <a:rPr sz="1400" b="1" spc="70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400" b="1">
                <a:solidFill>
                  <a:srgbClr val="2095F3"/>
                </a:solidFill>
                <a:latin typeface="Calibri"/>
                <a:cs typeface="Calibri"/>
              </a:rPr>
              <a:t>S</a:t>
            </a:r>
            <a:r>
              <a:rPr sz="1400" b="1" spc="70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400" b="1">
                <a:solidFill>
                  <a:srgbClr val="2095F3"/>
                </a:solidFill>
                <a:latin typeface="Calibri"/>
                <a:cs typeface="Calibri"/>
              </a:rPr>
              <a:t>I</a:t>
            </a:r>
            <a:r>
              <a:rPr sz="1400" b="1" spc="7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400" b="1">
                <a:solidFill>
                  <a:srgbClr val="2095F3"/>
                </a:solidFill>
                <a:latin typeface="Calibri"/>
                <a:cs typeface="Calibri"/>
              </a:rPr>
              <a:t>T</a:t>
            </a:r>
            <a:r>
              <a:rPr sz="1400" b="1" spc="70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400" b="1" spc="-50">
                <a:solidFill>
                  <a:srgbClr val="2095F3"/>
                </a:solidFill>
                <a:latin typeface="Calibri"/>
                <a:cs typeface="Calibri"/>
              </a:rPr>
              <a:t>Y</a:t>
            </a:r>
            <a:r>
              <a:rPr sz="1400" b="1">
                <a:solidFill>
                  <a:srgbClr val="2095F3"/>
                </a:solidFill>
                <a:latin typeface="Calibri"/>
                <a:cs typeface="Calibri"/>
              </a:rPr>
              <a:t>	</a:t>
            </a:r>
            <a:r>
              <a:rPr sz="1400" b="1" spc="-50">
                <a:solidFill>
                  <a:srgbClr val="2095F3"/>
                </a:solidFill>
                <a:latin typeface="Calibri"/>
                <a:cs typeface="Calibri"/>
              </a:rPr>
              <a:t>·</a:t>
            </a:r>
            <a:r>
              <a:rPr sz="1400" b="1">
                <a:solidFill>
                  <a:srgbClr val="2095F3"/>
                </a:solidFill>
                <a:latin typeface="Calibri"/>
                <a:cs typeface="Calibri"/>
              </a:rPr>
              <a:t>	L</a:t>
            </a:r>
            <a:r>
              <a:rPr sz="1400" b="1" spc="6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400" b="1">
                <a:solidFill>
                  <a:srgbClr val="2095F3"/>
                </a:solidFill>
                <a:latin typeface="Calibri"/>
                <a:cs typeface="Calibri"/>
              </a:rPr>
              <a:t>A</a:t>
            </a:r>
            <a:r>
              <a:rPr sz="1400" b="1" spc="7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400" b="1">
                <a:solidFill>
                  <a:srgbClr val="2095F3"/>
                </a:solidFill>
                <a:latin typeface="Calibri"/>
                <a:cs typeface="Calibri"/>
              </a:rPr>
              <a:t>H</a:t>
            </a:r>
            <a:r>
              <a:rPr sz="1400" b="1" spc="7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400" b="1">
                <a:solidFill>
                  <a:srgbClr val="2095F3"/>
                </a:solidFill>
                <a:latin typeface="Calibri"/>
                <a:cs typeface="Calibri"/>
              </a:rPr>
              <a:t>O</a:t>
            </a:r>
            <a:r>
              <a:rPr sz="1400" b="1" spc="7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400" b="1">
                <a:solidFill>
                  <a:srgbClr val="2095F3"/>
                </a:solidFill>
                <a:latin typeface="Calibri"/>
                <a:cs typeface="Calibri"/>
              </a:rPr>
              <a:t>R</a:t>
            </a:r>
            <a:r>
              <a:rPr sz="1400" b="1" spc="70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400" b="1" spc="-50">
                <a:solidFill>
                  <a:srgbClr val="2095F3"/>
                </a:solidFill>
                <a:latin typeface="Calibri"/>
                <a:cs typeface="Calibri"/>
              </a:rPr>
              <a:t>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10259" y="1677416"/>
            <a:ext cx="7350759" cy="11950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20"/>
              </a:spcBef>
            </a:pPr>
            <a:r>
              <a:rPr sz="3800" spc="70"/>
              <a:t>EagleEye:</a:t>
            </a:r>
            <a:r>
              <a:rPr sz="3800" spc="85"/>
              <a:t> </a:t>
            </a:r>
            <a:r>
              <a:rPr sz="3800"/>
              <a:t>Intelligent</a:t>
            </a:r>
            <a:r>
              <a:rPr sz="3800" spc="110"/>
              <a:t> </a:t>
            </a:r>
            <a:r>
              <a:rPr sz="3800" spc="210">
                <a:solidFill>
                  <a:srgbClr val="2095F3"/>
                </a:solidFill>
              </a:rPr>
              <a:t>Edge</a:t>
            </a:r>
            <a:r>
              <a:rPr sz="3800" spc="65">
                <a:solidFill>
                  <a:srgbClr val="2095F3"/>
                </a:solidFill>
              </a:rPr>
              <a:t> </a:t>
            </a:r>
            <a:r>
              <a:rPr sz="3800" spc="-25">
                <a:solidFill>
                  <a:srgbClr val="2095F3"/>
                </a:solidFill>
              </a:rPr>
              <a:t>AI </a:t>
            </a:r>
            <a:r>
              <a:rPr sz="3800" spc="75"/>
              <a:t>Surveillance</a:t>
            </a:r>
            <a:r>
              <a:rPr sz="3800" spc="-5"/>
              <a:t> </a:t>
            </a:r>
            <a:r>
              <a:rPr sz="3800" spc="100"/>
              <a:t>System</a:t>
            </a:r>
            <a:endParaRPr sz="3800"/>
          </a:p>
        </p:txBody>
      </p:sp>
      <p:sp>
        <p:nvSpPr>
          <p:cNvPr id="5" name="object 5"/>
          <p:cNvSpPr txBox="1"/>
          <p:nvPr/>
        </p:nvSpPr>
        <p:spPr>
          <a:xfrm>
            <a:off x="810259" y="3341954"/>
            <a:ext cx="506920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50">
                <a:solidFill>
                  <a:srgbClr val="CFDFEF"/>
                </a:solidFill>
                <a:latin typeface="Tahoma"/>
                <a:cs typeface="Tahoma"/>
              </a:rPr>
              <a:t>Final</a:t>
            </a:r>
            <a:r>
              <a:rPr sz="2200" b="1" spc="85">
                <a:solidFill>
                  <a:srgbClr val="CFDFEF"/>
                </a:solidFill>
                <a:latin typeface="Tahoma"/>
                <a:cs typeface="Tahoma"/>
              </a:rPr>
              <a:t> </a:t>
            </a:r>
            <a:r>
              <a:rPr sz="2200" b="1">
                <a:solidFill>
                  <a:srgbClr val="CFDFEF"/>
                </a:solidFill>
                <a:latin typeface="Tahoma"/>
                <a:cs typeface="Tahoma"/>
              </a:rPr>
              <a:t>Year</a:t>
            </a:r>
            <a:r>
              <a:rPr sz="2200" b="1" spc="70">
                <a:solidFill>
                  <a:srgbClr val="CFDFEF"/>
                </a:solidFill>
                <a:latin typeface="Tahoma"/>
                <a:cs typeface="Tahoma"/>
              </a:rPr>
              <a:t> </a:t>
            </a:r>
            <a:r>
              <a:rPr sz="2200" b="1">
                <a:solidFill>
                  <a:srgbClr val="CFDFEF"/>
                </a:solidFill>
                <a:latin typeface="Tahoma"/>
                <a:cs typeface="Tahoma"/>
              </a:rPr>
              <a:t>Project</a:t>
            </a:r>
            <a:r>
              <a:rPr sz="2200" b="1" spc="100">
                <a:solidFill>
                  <a:srgbClr val="CFDFEF"/>
                </a:solidFill>
                <a:latin typeface="Tahoma"/>
                <a:cs typeface="Tahoma"/>
              </a:rPr>
              <a:t> </a:t>
            </a:r>
            <a:r>
              <a:rPr sz="2200" b="1" spc="180">
                <a:solidFill>
                  <a:srgbClr val="CFDFEF"/>
                </a:solidFill>
                <a:latin typeface="Tahoma"/>
                <a:cs typeface="Tahoma"/>
              </a:rPr>
              <a:t>—</a:t>
            </a:r>
            <a:r>
              <a:rPr sz="2200" b="1" spc="65">
                <a:solidFill>
                  <a:srgbClr val="CFDFEF"/>
                </a:solidFill>
                <a:latin typeface="Tahoma"/>
                <a:cs typeface="Tahoma"/>
              </a:rPr>
              <a:t> </a:t>
            </a:r>
            <a:r>
              <a:rPr sz="2200" b="1" spc="50">
                <a:solidFill>
                  <a:srgbClr val="CFDFEF"/>
                </a:solidFill>
                <a:latin typeface="Tahoma"/>
                <a:cs typeface="Tahoma"/>
              </a:rPr>
              <a:t>Final</a:t>
            </a:r>
            <a:r>
              <a:rPr sz="2200" b="1" spc="90">
                <a:solidFill>
                  <a:srgbClr val="CFDFEF"/>
                </a:solidFill>
                <a:latin typeface="Tahoma"/>
                <a:cs typeface="Tahoma"/>
              </a:rPr>
              <a:t> </a:t>
            </a:r>
            <a:r>
              <a:rPr sz="2200" b="1" spc="75">
                <a:solidFill>
                  <a:srgbClr val="CFDFEF"/>
                </a:solidFill>
                <a:latin typeface="Tahoma"/>
                <a:cs typeface="Tahoma"/>
              </a:rPr>
              <a:t>Defence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0259" y="4055745"/>
            <a:ext cx="98996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>
                <a:solidFill>
                  <a:srgbClr val="2095F3"/>
                </a:solidFill>
                <a:latin typeface="Calibri"/>
                <a:cs typeface="Calibri"/>
              </a:rPr>
              <a:t>P</a:t>
            </a:r>
            <a:r>
              <a:rPr sz="1100" b="1" spc="-5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2095F3"/>
                </a:solidFill>
                <a:latin typeface="Calibri"/>
                <a:cs typeface="Calibri"/>
              </a:rPr>
              <a:t>R</a:t>
            </a:r>
            <a:r>
              <a:rPr sz="1100" b="1" spc="-4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2095F3"/>
                </a:solidFill>
                <a:latin typeface="Calibri"/>
                <a:cs typeface="Calibri"/>
              </a:rPr>
              <a:t>E</a:t>
            </a:r>
            <a:r>
              <a:rPr sz="1100" b="1" spc="-50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2095F3"/>
                </a:solidFill>
                <a:latin typeface="Calibri"/>
                <a:cs typeface="Calibri"/>
              </a:rPr>
              <a:t>S</a:t>
            </a:r>
            <a:r>
              <a:rPr sz="1100" b="1" spc="-5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2095F3"/>
                </a:solidFill>
                <a:latin typeface="Calibri"/>
                <a:cs typeface="Calibri"/>
              </a:rPr>
              <a:t>E</a:t>
            </a:r>
            <a:r>
              <a:rPr sz="1100" b="1" spc="-4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2095F3"/>
                </a:solidFill>
                <a:latin typeface="Calibri"/>
                <a:cs typeface="Calibri"/>
              </a:rPr>
              <a:t>N</a:t>
            </a:r>
            <a:r>
              <a:rPr sz="1100" b="1" spc="-50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2095F3"/>
                </a:solidFill>
                <a:latin typeface="Calibri"/>
                <a:cs typeface="Calibri"/>
              </a:rPr>
              <a:t>T</a:t>
            </a:r>
            <a:r>
              <a:rPr sz="1100" b="1" spc="-4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2095F3"/>
                </a:solidFill>
                <a:latin typeface="Calibri"/>
                <a:cs typeface="Calibri"/>
              </a:rPr>
              <a:t>E</a:t>
            </a:r>
            <a:r>
              <a:rPr sz="1100" b="1" spc="-4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100" b="1" spc="-10">
                <a:solidFill>
                  <a:srgbClr val="2095F3"/>
                </a:solidFill>
                <a:latin typeface="Calibri"/>
                <a:cs typeface="Calibri"/>
              </a:rPr>
              <a:t>R</a:t>
            </a:r>
            <a:r>
              <a:rPr sz="1100" b="1" spc="-60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100" b="1" spc="-50">
                <a:solidFill>
                  <a:srgbClr val="2095F3"/>
                </a:solidFill>
                <a:latin typeface="Calibri"/>
                <a:cs typeface="Calibri"/>
              </a:rPr>
              <a:t>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0259" y="4313397"/>
            <a:ext cx="4971415" cy="448841"/>
          </a:xfrm>
          <a:prstGeom prst="rect">
            <a:avLst/>
          </a:prstGeom>
        </p:spPr>
        <p:txBody>
          <a:bodyPr vert="horz" wrap="square" lIns="0" tIns="22860" rIns="0" bIns="0" rtlCol="0" anchor="t">
            <a:spAutoFit/>
          </a:bodyPr>
          <a:lstStyle/>
          <a:p>
            <a:pPr marL="12700">
              <a:spcBef>
                <a:spcPts val="180"/>
              </a:spcBef>
            </a:pPr>
            <a:r>
              <a:rPr sz="1300">
                <a:solidFill>
                  <a:srgbClr val="DCE8F4"/>
                </a:solidFill>
                <a:latin typeface="Calibri"/>
                <a:cs typeface="Calibri"/>
              </a:rPr>
              <a:t>Murtaza</a:t>
            </a:r>
            <a:r>
              <a:rPr sz="1300" spc="-20">
                <a:solidFill>
                  <a:srgbClr val="DCE8F4"/>
                </a:solidFill>
                <a:latin typeface="Calibri"/>
                <a:cs typeface="Calibri"/>
              </a:rPr>
              <a:t> </a:t>
            </a:r>
            <a:r>
              <a:rPr sz="1300">
                <a:solidFill>
                  <a:srgbClr val="DCE8F4"/>
                </a:solidFill>
                <a:latin typeface="Calibri"/>
                <a:cs typeface="Calibri"/>
              </a:rPr>
              <a:t>Khalid</a:t>
            </a:r>
            <a:r>
              <a:rPr sz="1300" spc="-15">
                <a:solidFill>
                  <a:srgbClr val="DCE8F4"/>
                </a:solidFill>
                <a:latin typeface="Calibri"/>
                <a:cs typeface="Calibri"/>
              </a:rPr>
              <a:t> </a:t>
            </a:r>
            <a:r>
              <a:rPr sz="1300">
                <a:solidFill>
                  <a:srgbClr val="DCE8F4"/>
                </a:solidFill>
                <a:latin typeface="Calibri"/>
                <a:cs typeface="Calibri"/>
              </a:rPr>
              <a:t>(BSCE22004) ·</a:t>
            </a:r>
            <a:r>
              <a:rPr sz="1300" spc="-35">
                <a:solidFill>
                  <a:srgbClr val="DCE8F4"/>
                </a:solidFill>
                <a:latin typeface="Calibri"/>
                <a:cs typeface="Calibri"/>
              </a:rPr>
              <a:t> </a:t>
            </a:r>
            <a:r>
              <a:rPr sz="1300">
                <a:solidFill>
                  <a:srgbClr val="DCE8F4"/>
                </a:solidFill>
                <a:latin typeface="Calibri"/>
                <a:cs typeface="Calibri"/>
              </a:rPr>
              <a:t>Huzaifa</a:t>
            </a:r>
            <a:r>
              <a:rPr sz="1300" spc="-15">
                <a:solidFill>
                  <a:srgbClr val="DCE8F4"/>
                </a:solidFill>
                <a:latin typeface="Calibri"/>
                <a:cs typeface="Calibri"/>
              </a:rPr>
              <a:t> </a:t>
            </a:r>
            <a:r>
              <a:rPr sz="1300">
                <a:solidFill>
                  <a:srgbClr val="DCE8F4"/>
                </a:solidFill>
                <a:latin typeface="Calibri"/>
                <a:cs typeface="Calibri"/>
              </a:rPr>
              <a:t>Khan</a:t>
            </a:r>
            <a:r>
              <a:rPr sz="1300" spc="-15">
                <a:solidFill>
                  <a:srgbClr val="DCE8F4"/>
                </a:solidFill>
                <a:latin typeface="Calibri"/>
                <a:cs typeface="Calibri"/>
              </a:rPr>
              <a:t> </a:t>
            </a:r>
            <a:r>
              <a:rPr sz="1300">
                <a:solidFill>
                  <a:srgbClr val="DCE8F4"/>
                </a:solidFill>
                <a:latin typeface="Calibri"/>
                <a:cs typeface="Calibri"/>
              </a:rPr>
              <a:t>(BSCE22025)</a:t>
            </a:r>
            <a:r>
              <a:rPr lang="en-US" sz="1300" spc="-15">
                <a:solidFill>
                  <a:srgbClr val="DCE8F4"/>
                </a:solidFill>
                <a:latin typeface="Calibri"/>
                <a:cs typeface="Calibri"/>
              </a:rPr>
              <a:t> .</a:t>
            </a:r>
            <a:r>
              <a:rPr lang="en-US" sz="1300">
                <a:solidFill>
                  <a:srgbClr val="DCE8F4"/>
                </a:solidFill>
                <a:latin typeface="Calibri"/>
                <a:cs typeface="Calibri"/>
              </a:rPr>
              <a:t> </a:t>
            </a:r>
            <a:endParaRPr lang="en-US" sz="1300" spc="-30">
              <a:solidFill>
                <a:srgbClr val="DCE8F4"/>
              </a:solidFill>
              <a:latin typeface="Calibri"/>
              <a:ea typeface="Calibri"/>
              <a:cs typeface="Calibri"/>
            </a:endParaRPr>
          </a:p>
          <a:p>
            <a:pPr marL="12700">
              <a:spcBef>
                <a:spcPts val="180"/>
              </a:spcBef>
            </a:pPr>
            <a:r>
              <a:rPr lang="en-US" sz="1300" spc="-30">
                <a:solidFill>
                  <a:srgbClr val="DCE8F4"/>
                </a:solidFill>
                <a:latin typeface="Calibri"/>
                <a:cs typeface="Calibri"/>
              </a:rPr>
              <a:t>Muhammad </a:t>
            </a:r>
            <a:r>
              <a:rPr lang="en-US" sz="1300">
                <a:solidFill>
                  <a:srgbClr val="DCE8F4"/>
                </a:solidFill>
                <a:latin typeface="Calibri"/>
                <a:cs typeface="Calibri"/>
              </a:rPr>
              <a:t>Haseeb</a:t>
            </a:r>
            <a:r>
              <a:rPr sz="1300" spc="10">
                <a:solidFill>
                  <a:srgbClr val="DCE8F4"/>
                </a:solidFill>
                <a:latin typeface="Calibri"/>
                <a:cs typeface="Calibri"/>
              </a:rPr>
              <a:t> </a:t>
            </a:r>
            <a:r>
              <a:rPr lang="en-US" sz="1300" spc="10">
                <a:solidFill>
                  <a:srgbClr val="DCE8F4"/>
                </a:solidFill>
                <a:latin typeface="Calibri"/>
                <a:cs typeface="Calibri"/>
              </a:rPr>
              <a:t> </a:t>
            </a:r>
            <a:r>
              <a:rPr sz="1300" spc="-10">
                <a:solidFill>
                  <a:srgbClr val="DCE8F4"/>
                </a:solidFill>
                <a:latin typeface="Calibri"/>
                <a:cs typeface="Calibri"/>
              </a:rPr>
              <a:t>(BSCE22048)</a:t>
            </a:r>
            <a:endParaRPr lang="en-US" sz="13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71868" y="4055745"/>
            <a:ext cx="107251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>
                <a:solidFill>
                  <a:srgbClr val="2095F3"/>
                </a:solidFill>
                <a:latin typeface="Calibri"/>
                <a:cs typeface="Calibri"/>
              </a:rPr>
              <a:t>S</a:t>
            </a:r>
            <a:r>
              <a:rPr sz="1100" b="1" spc="-60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2095F3"/>
                </a:solidFill>
                <a:latin typeface="Calibri"/>
                <a:cs typeface="Calibri"/>
              </a:rPr>
              <a:t>U</a:t>
            </a:r>
            <a:r>
              <a:rPr sz="1100" b="1" spc="-50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2095F3"/>
                </a:solidFill>
                <a:latin typeface="Calibri"/>
                <a:cs typeface="Calibri"/>
              </a:rPr>
              <a:t>P</a:t>
            </a:r>
            <a:r>
              <a:rPr sz="1100" b="1" spc="-50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2095F3"/>
                </a:solidFill>
                <a:latin typeface="Calibri"/>
                <a:cs typeface="Calibri"/>
              </a:rPr>
              <a:t>E</a:t>
            </a:r>
            <a:r>
              <a:rPr sz="1100" b="1" spc="-4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2095F3"/>
                </a:solidFill>
                <a:latin typeface="Calibri"/>
                <a:cs typeface="Calibri"/>
              </a:rPr>
              <a:t>R</a:t>
            </a:r>
            <a:r>
              <a:rPr sz="1100" b="1" spc="-4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2095F3"/>
                </a:solidFill>
                <a:latin typeface="Calibri"/>
                <a:cs typeface="Calibri"/>
              </a:rPr>
              <a:t>V</a:t>
            </a:r>
            <a:r>
              <a:rPr sz="1100" b="1" spc="-5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2095F3"/>
                </a:solidFill>
                <a:latin typeface="Calibri"/>
                <a:cs typeface="Calibri"/>
              </a:rPr>
              <a:t>I</a:t>
            </a:r>
            <a:r>
              <a:rPr sz="1100" b="1" spc="-40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2095F3"/>
                </a:solidFill>
                <a:latin typeface="Calibri"/>
                <a:cs typeface="Calibri"/>
              </a:rPr>
              <a:t>S</a:t>
            </a:r>
            <a:r>
              <a:rPr sz="1100" b="1" spc="-5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2095F3"/>
                </a:solidFill>
                <a:latin typeface="Calibri"/>
                <a:cs typeface="Calibri"/>
              </a:rPr>
              <a:t>I</a:t>
            </a:r>
            <a:r>
              <a:rPr sz="1100" b="1" spc="-60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2095F3"/>
                </a:solidFill>
                <a:latin typeface="Calibri"/>
                <a:cs typeface="Calibri"/>
              </a:rPr>
              <a:t>O</a:t>
            </a:r>
            <a:r>
              <a:rPr sz="1100" b="1" spc="-50">
                <a:solidFill>
                  <a:srgbClr val="2095F3"/>
                </a:solidFill>
                <a:latin typeface="Calibri"/>
                <a:cs typeface="Calibri"/>
              </a:rPr>
              <a:t> 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71868" y="4313397"/>
            <a:ext cx="5232400" cy="44323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300" spc="-40">
                <a:solidFill>
                  <a:srgbClr val="DCE8F4"/>
                </a:solidFill>
                <a:latin typeface="Calibri"/>
                <a:cs typeface="Calibri"/>
              </a:rPr>
              <a:t>Dr.</a:t>
            </a:r>
            <a:r>
              <a:rPr sz="1300" spc="-35">
                <a:solidFill>
                  <a:srgbClr val="DCE8F4"/>
                </a:solidFill>
                <a:latin typeface="Calibri"/>
                <a:cs typeface="Calibri"/>
              </a:rPr>
              <a:t> </a:t>
            </a:r>
            <a:r>
              <a:rPr sz="1300">
                <a:solidFill>
                  <a:srgbClr val="DCE8F4"/>
                </a:solidFill>
                <a:latin typeface="Calibri"/>
                <a:cs typeface="Calibri"/>
              </a:rPr>
              <a:t>Rehan</a:t>
            </a:r>
            <a:r>
              <a:rPr sz="1300" spc="-35">
                <a:solidFill>
                  <a:srgbClr val="DCE8F4"/>
                </a:solidFill>
                <a:latin typeface="Calibri"/>
                <a:cs typeface="Calibri"/>
              </a:rPr>
              <a:t> </a:t>
            </a:r>
            <a:r>
              <a:rPr sz="1300">
                <a:solidFill>
                  <a:srgbClr val="DCE8F4"/>
                </a:solidFill>
                <a:latin typeface="Calibri"/>
                <a:cs typeface="Calibri"/>
              </a:rPr>
              <a:t>Hafiz</a:t>
            </a:r>
            <a:r>
              <a:rPr sz="1300" spc="-20">
                <a:solidFill>
                  <a:srgbClr val="DCE8F4"/>
                </a:solidFill>
                <a:latin typeface="Calibri"/>
                <a:cs typeface="Calibri"/>
              </a:rPr>
              <a:t> </a:t>
            </a:r>
            <a:r>
              <a:rPr sz="1300" spc="-10">
                <a:solidFill>
                  <a:srgbClr val="DCE8F4"/>
                </a:solidFill>
                <a:latin typeface="Calibri"/>
                <a:cs typeface="Calibri"/>
              </a:rPr>
              <a:t>(Professor)</a:t>
            </a:r>
            <a:r>
              <a:rPr sz="1300">
                <a:solidFill>
                  <a:srgbClr val="DCE8F4"/>
                </a:solidFill>
                <a:latin typeface="Calibri"/>
                <a:cs typeface="Calibri"/>
              </a:rPr>
              <a:t> ·</a:t>
            </a:r>
            <a:r>
              <a:rPr sz="1300" spc="-35">
                <a:solidFill>
                  <a:srgbClr val="DCE8F4"/>
                </a:solidFill>
                <a:latin typeface="Calibri"/>
                <a:cs typeface="Calibri"/>
              </a:rPr>
              <a:t> Dr.</a:t>
            </a:r>
            <a:r>
              <a:rPr sz="1300" spc="-30">
                <a:solidFill>
                  <a:srgbClr val="DCE8F4"/>
                </a:solidFill>
                <a:latin typeface="Calibri"/>
                <a:cs typeface="Calibri"/>
              </a:rPr>
              <a:t> </a:t>
            </a:r>
            <a:r>
              <a:rPr sz="1300" spc="-10">
                <a:solidFill>
                  <a:srgbClr val="DCE8F4"/>
                </a:solidFill>
                <a:latin typeface="Calibri"/>
                <a:cs typeface="Calibri"/>
              </a:rPr>
              <a:t>Rehan</a:t>
            </a:r>
            <a:r>
              <a:rPr sz="1300" spc="-40">
                <a:solidFill>
                  <a:srgbClr val="DCE8F4"/>
                </a:solidFill>
                <a:latin typeface="Calibri"/>
                <a:cs typeface="Calibri"/>
              </a:rPr>
              <a:t> </a:t>
            </a:r>
            <a:r>
              <a:rPr sz="1300">
                <a:solidFill>
                  <a:srgbClr val="DCE8F4"/>
                </a:solidFill>
                <a:latin typeface="Calibri"/>
                <a:cs typeface="Calibri"/>
              </a:rPr>
              <a:t>Ahmed</a:t>
            </a:r>
            <a:r>
              <a:rPr sz="1300" spc="-10">
                <a:solidFill>
                  <a:srgbClr val="DCE8F4"/>
                </a:solidFill>
                <a:latin typeface="Calibri"/>
                <a:cs typeface="Calibri"/>
              </a:rPr>
              <a:t> </a:t>
            </a:r>
            <a:r>
              <a:rPr sz="1300">
                <a:solidFill>
                  <a:srgbClr val="DCE8F4"/>
                </a:solidFill>
                <a:latin typeface="Calibri"/>
                <a:cs typeface="Calibri"/>
              </a:rPr>
              <a:t>(Asst.</a:t>
            </a:r>
            <a:r>
              <a:rPr sz="1300" spc="-10">
                <a:solidFill>
                  <a:srgbClr val="DCE8F4"/>
                </a:solidFill>
                <a:latin typeface="Calibri"/>
                <a:cs typeface="Calibri"/>
              </a:rPr>
              <a:t> </a:t>
            </a:r>
            <a:r>
              <a:rPr sz="1300">
                <a:solidFill>
                  <a:srgbClr val="DCE8F4"/>
                </a:solidFill>
                <a:latin typeface="Calibri"/>
                <a:cs typeface="Calibri"/>
              </a:rPr>
              <a:t>Professor</a:t>
            </a:r>
            <a:r>
              <a:rPr sz="1300" spc="-10">
                <a:solidFill>
                  <a:srgbClr val="DCE8F4"/>
                </a:solidFill>
                <a:latin typeface="Calibri"/>
                <a:cs typeface="Calibri"/>
              </a:rPr>
              <a:t> </a:t>
            </a:r>
            <a:r>
              <a:rPr sz="1300">
                <a:solidFill>
                  <a:srgbClr val="DCE8F4"/>
                </a:solidFill>
                <a:latin typeface="Calibri"/>
                <a:cs typeface="Calibri"/>
              </a:rPr>
              <a:t>&amp;</a:t>
            </a:r>
            <a:r>
              <a:rPr sz="1300" spc="-30">
                <a:solidFill>
                  <a:srgbClr val="DCE8F4"/>
                </a:solidFill>
                <a:latin typeface="Calibri"/>
                <a:cs typeface="Calibri"/>
              </a:rPr>
              <a:t> </a:t>
            </a:r>
            <a:r>
              <a:rPr sz="1300" spc="-10">
                <a:solidFill>
                  <a:srgbClr val="DCE8F4"/>
                </a:solidFill>
                <a:latin typeface="Calibri"/>
                <a:cs typeface="Calibri"/>
              </a:rPr>
              <a:t>Chairperson)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300" spc="-10">
                <a:solidFill>
                  <a:srgbClr val="DCE8F4"/>
                </a:solidFill>
                <a:latin typeface="Calibri"/>
                <a:cs typeface="Calibri"/>
              </a:rPr>
              <a:t>Chairperson)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0259" y="4924425"/>
            <a:ext cx="107378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>
                <a:solidFill>
                  <a:srgbClr val="2095F3"/>
                </a:solidFill>
                <a:latin typeface="Calibri"/>
                <a:cs typeface="Calibri"/>
              </a:rPr>
              <a:t>D</a:t>
            </a:r>
            <a:r>
              <a:rPr sz="1100" b="1" spc="-5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2095F3"/>
                </a:solidFill>
                <a:latin typeface="Calibri"/>
                <a:cs typeface="Calibri"/>
              </a:rPr>
              <a:t>E</a:t>
            </a:r>
            <a:r>
              <a:rPr sz="1100" b="1" spc="-4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2095F3"/>
                </a:solidFill>
                <a:latin typeface="Calibri"/>
                <a:cs typeface="Calibri"/>
              </a:rPr>
              <a:t>P</a:t>
            </a:r>
            <a:r>
              <a:rPr sz="1100" b="1" spc="-50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2095F3"/>
                </a:solidFill>
                <a:latin typeface="Calibri"/>
                <a:cs typeface="Calibri"/>
              </a:rPr>
              <a:t>A</a:t>
            </a:r>
            <a:r>
              <a:rPr sz="1100" b="1" spc="-4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2095F3"/>
                </a:solidFill>
                <a:latin typeface="Calibri"/>
                <a:cs typeface="Calibri"/>
              </a:rPr>
              <a:t>R</a:t>
            </a:r>
            <a:r>
              <a:rPr sz="1100" b="1" spc="-4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2095F3"/>
                </a:solidFill>
                <a:latin typeface="Calibri"/>
                <a:cs typeface="Calibri"/>
              </a:rPr>
              <a:t>T</a:t>
            </a:r>
            <a:r>
              <a:rPr sz="1100" b="1" spc="-5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2095F3"/>
                </a:solidFill>
                <a:latin typeface="Calibri"/>
                <a:cs typeface="Calibri"/>
              </a:rPr>
              <a:t>M</a:t>
            </a:r>
            <a:r>
              <a:rPr sz="1100" b="1" spc="-5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2095F3"/>
                </a:solidFill>
                <a:latin typeface="Calibri"/>
                <a:cs typeface="Calibri"/>
              </a:rPr>
              <a:t>E</a:t>
            </a:r>
            <a:r>
              <a:rPr sz="1100" b="1" spc="-60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2095F3"/>
                </a:solidFill>
                <a:latin typeface="Calibri"/>
                <a:cs typeface="Calibri"/>
              </a:rPr>
              <a:t>N</a:t>
            </a:r>
            <a:r>
              <a:rPr sz="1100" b="1" spc="-4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100" b="1" spc="-50">
                <a:solidFill>
                  <a:srgbClr val="2095F3"/>
                </a:solidFill>
                <a:latin typeface="Calibri"/>
                <a:cs typeface="Calibri"/>
              </a:rPr>
              <a:t>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0259" y="5297170"/>
            <a:ext cx="469011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>
                <a:solidFill>
                  <a:srgbClr val="DCE8F4"/>
                </a:solidFill>
                <a:latin typeface="Calibri"/>
                <a:cs typeface="Calibri"/>
              </a:rPr>
              <a:t>Computer</a:t>
            </a:r>
            <a:r>
              <a:rPr sz="1300" spc="-30">
                <a:solidFill>
                  <a:srgbClr val="DCE8F4"/>
                </a:solidFill>
                <a:latin typeface="Calibri"/>
                <a:cs typeface="Calibri"/>
              </a:rPr>
              <a:t> </a:t>
            </a:r>
            <a:r>
              <a:rPr sz="1300">
                <a:solidFill>
                  <a:srgbClr val="DCE8F4"/>
                </a:solidFill>
                <a:latin typeface="Calibri"/>
                <a:cs typeface="Calibri"/>
              </a:rPr>
              <a:t>&amp;</a:t>
            </a:r>
            <a:r>
              <a:rPr sz="1300" spc="-45">
                <a:solidFill>
                  <a:srgbClr val="DCE8F4"/>
                </a:solidFill>
                <a:latin typeface="Calibri"/>
                <a:cs typeface="Calibri"/>
              </a:rPr>
              <a:t> </a:t>
            </a:r>
            <a:r>
              <a:rPr sz="1300">
                <a:solidFill>
                  <a:srgbClr val="DCE8F4"/>
                </a:solidFill>
                <a:latin typeface="Calibri"/>
                <a:cs typeface="Calibri"/>
              </a:rPr>
              <a:t>Software</a:t>
            </a:r>
            <a:r>
              <a:rPr sz="1300" spc="-30">
                <a:solidFill>
                  <a:srgbClr val="DCE8F4"/>
                </a:solidFill>
                <a:latin typeface="Calibri"/>
                <a:cs typeface="Calibri"/>
              </a:rPr>
              <a:t> </a:t>
            </a:r>
            <a:r>
              <a:rPr sz="1300">
                <a:solidFill>
                  <a:srgbClr val="DCE8F4"/>
                </a:solidFill>
                <a:latin typeface="Calibri"/>
                <a:cs typeface="Calibri"/>
              </a:rPr>
              <a:t>Engineering,</a:t>
            </a:r>
            <a:r>
              <a:rPr sz="1300" spc="-30">
                <a:solidFill>
                  <a:srgbClr val="DCE8F4"/>
                </a:solidFill>
                <a:latin typeface="Calibri"/>
                <a:cs typeface="Calibri"/>
              </a:rPr>
              <a:t> </a:t>
            </a:r>
            <a:r>
              <a:rPr sz="1300" spc="-10">
                <a:solidFill>
                  <a:srgbClr val="DCE8F4"/>
                </a:solidFill>
                <a:latin typeface="Calibri"/>
                <a:cs typeface="Calibri"/>
              </a:rPr>
              <a:t>Faculty</a:t>
            </a:r>
            <a:r>
              <a:rPr sz="1300" spc="-45">
                <a:solidFill>
                  <a:srgbClr val="DCE8F4"/>
                </a:solidFill>
                <a:latin typeface="Calibri"/>
                <a:cs typeface="Calibri"/>
              </a:rPr>
              <a:t> </a:t>
            </a:r>
            <a:r>
              <a:rPr sz="1300">
                <a:solidFill>
                  <a:srgbClr val="DCE8F4"/>
                </a:solidFill>
                <a:latin typeface="Calibri"/>
                <a:cs typeface="Calibri"/>
              </a:rPr>
              <a:t>of</a:t>
            </a:r>
            <a:r>
              <a:rPr sz="1300" spc="-35">
                <a:solidFill>
                  <a:srgbClr val="DCE8F4"/>
                </a:solidFill>
                <a:latin typeface="Calibri"/>
                <a:cs typeface="Calibri"/>
              </a:rPr>
              <a:t> </a:t>
            </a:r>
            <a:r>
              <a:rPr sz="1300">
                <a:solidFill>
                  <a:srgbClr val="DCE8F4"/>
                </a:solidFill>
                <a:latin typeface="Calibri"/>
                <a:cs typeface="Calibri"/>
              </a:rPr>
              <a:t>Engineering,</a:t>
            </a:r>
            <a:r>
              <a:rPr sz="1300" spc="-35">
                <a:solidFill>
                  <a:srgbClr val="DCE8F4"/>
                </a:solidFill>
                <a:latin typeface="Calibri"/>
                <a:cs typeface="Calibri"/>
              </a:rPr>
              <a:t> </a:t>
            </a:r>
            <a:r>
              <a:rPr sz="1300">
                <a:solidFill>
                  <a:srgbClr val="DCE8F4"/>
                </a:solidFill>
                <a:latin typeface="Calibri"/>
                <a:cs typeface="Calibri"/>
              </a:rPr>
              <a:t>ITU</a:t>
            </a:r>
            <a:r>
              <a:rPr sz="1300" spc="-30">
                <a:solidFill>
                  <a:srgbClr val="DCE8F4"/>
                </a:solidFill>
                <a:latin typeface="Calibri"/>
                <a:cs typeface="Calibri"/>
              </a:rPr>
              <a:t> </a:t>
            </a:r>
            <a:r>
              <a:rPr sz="1300" spc="-10">
                <a:solidFill>
                  <a:srgbClr val="DCE8F4"/>
                </a:solidFill>
                <a:latin typeface="Calibri"/>
                <a:cs typeface="Calibri"/>
              </a:rPr>
              <a:t>Lahore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71868" y="4924425"/>
            <a:ext cx="70421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>
                <a:solidFill>
                  <a:srgbClr val="2095F3"/>
                </a:solidFill>
                <a:latin typeface="Calibri"/>
                <a:cs typeface="Calibri"/>
              </a:rPr>
              <a:t>D</a:t>
            </a:r>
            <a:r>
              <a:rPr sz="1100" b="1" spc="-50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2095F3"/>
                </a:solidFill>
                <a:latin typeface="Calibri"/>
                <a:cs typeface="Calibri"/>
              </a:rPr>
              <a:t>E</a:t>
            </a:r>
            <a:r>
              <a:rPr sz="1100" b="1" spc="-4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2095F3"/>
                </a:solidFill>
                <a:latin typeface="Calibri"/>
                <a:cs typeface="Calibri"/>
              </a:rPr>
              <a:t>F</a:t>
            </a:r>
            <a:r>
              <a:rPr sz="1100" b="1" spc="-50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2095F3"/>
                </a:solidFill>
                <a:latin typeface="Calibri"/>
                <a:cs typeface="Calibri"/>
              </a:rPr>
              <a:t>E</a:t>
            </a:r>
            <a:r>
              <a:rPr sz="1100" b="1" spc="-4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2095F3"/>
                </a:solidFill>
                <a:latin typeface="Calibri"/>
                <a:cs typeface="Calibri"/>
              </a:rPr>
              <a:t>N</a:t>
            </a:r>
            <a:r>
              <a:rPr sz="1100" b="1" spc="-50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2095F3"/>
                </a:solidFill>
                <a:latin typeface="Calibri"/>
                <a:cs typeface="Calibri"/>
              </a:rPr>
              <a:t>C</a:t>
            </a:r>
            <a:r>
              <a:rPr sz="1100" b="1" spc="-4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100" b="1" spc="-50">
                <a:solidFill>
                  <a:srgbClr val="2095F3"/>
                </a:solidFill>
                <a:latin typeface="Calibri"/>
                <a:cs typeface="Calibri"/>
              </a:rPr>
              <a:t>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71868" y="5297804"/>
            <a:ext cx="208788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>
                <a:solidFill>
                  <a:srgbClr val="DCE8F4"/>
                </a:solidFill>
                <a:latin typeface="Calibri"/>
                <a:cs typeface="Calibri"/>
              </a:rPr>
              <a:t>Final</a:t>
            </a:r>
            <a:r>
              <a:rPr sz="1300" spc="-30">
                <a:solidFill>
                  <a:srgbClr val="DCE8F4"/>
                </a:solidFill>
                <a:latin typeface="Calibri"/>
                <a:cs typeface="Calibri"/>
              </a:rPr>
              <a:t> </a:t>
            </a:r>
            <a:r>
              <a:rPr sz="1300" spc="-20">
                <a:solidFill>
                  <a:srgbClr val="DCE8F4"/>
                </a:solidFill>
                <a:latin typeface="Calibri"/>
                <a:cs typeface="Calibri"/>
              </a:rPr>
              <a:t>Year</a:t>
            </a:r>
            <a:r>
              <a:rPr sz="1300" spc="-30">
                <a:solidFill>
                  <a:srgbClr val="DCE8F4"/>
                </a:solidFill>
                <a:latin typeface="Calibri"/>
                <a:cs typeface="Calibri"/>
              </a:rPr>
              <a:t> </a:t>
            </a:r>
            <a:r>
              <a:rPr sz="1300">
                <a:solidFill>
                  <a:srgbClr val="DCE8F4"/>
                </a:solidFill>
                <a:latin typeface="Calibri"/>
                <a:cs typeface="Calibri"/>
              </a:rPr>
              <a:t>Project</a:t>
            </a:r>
            <a:r>
              <a:rPr sz="1300" spc="-15">
                <a:solidFill>
                  <a:srgbClr val="DCE8F4"/>
                </a:solidFill>
                <a:latin typeface="Calibri"/>
                <a:cs typeface="Calibri"/>
              </a:rPr>
              <a:t> </a:t>
            </a:r>
            <a:r>
              <a:rPr sz="1300">
                <a:solidFill>
                  <a:srgbClr val="DCE8F4"/>
                </a:solidFill>
                <a:latin typeface="Calibri"/>
                <a:cs typeface="Calibri"/>
              </a:rPr>
              <a:t>—</a:t>
            </a:r>
            <a:r>
              <a:rPr sz="1300" spc="-30">
                <a:solidFill>
                  <a:srgbClr val="DCE8F4"/>
                </a:solidFill>
                <a:latin typeface="Calibri"/>
                <a:cs typeface="Calibri"/>
              </a:rPr>
              <a:t> </a:t>
            </a:r>
            <a:r>
              <a:rPr sz="1300">
                <a:solidFill>
                  <a:srgbClr val="DCE8F4"/>
                </a:solidFill>
                <a:latin typeface="Calibri"/>
                <a:cs typeface="Calibri"/>
              </a:rPr>
              <a:t>June</a:t>
            </a:r>
            <a:r>
              <a:rPr sz="1300" spc="-15">
                <a:solidFill>
                  <a:srgbClr val="DCE8F4"/>
                </a:solidFill>
                <a:latin typeface="Calibri"/>
                <a:cs typeface="Calibri"/>
              </a:rPr>
              <a:t> </a:t>
            </a:r>
            <a:r>
              <a:rPr sz="1300" spc="-20">
                <a:solidFill>
                  <a:srgbClr val="DCE8F4"/>
                </a:solidFill>
                <a:latin typeface="Calibri"/>
                <a:cs typeface="Calibri"/>
              </a:rPr>
              <a:t>2026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770869" y="6087567"/>
            <a:ext cx="7639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>
                <a:solidFill>
                  <a:srgbClr val="9FC0DF"/>
                </a:solidFill>
                <a:latin typeface="Calibri"/>
                <a:cs typeface="Calibri"/>
              </a:rPr>
              <a:t>June</a:t>
            </a:r>
            <a:r>
              <a:rPr sz="1400" b="1" spc="-35">
                <a:solidFill>
                  <a:srgbClr val="9FC0DF"/>
                </a:solidFill>
                <a:latin typeface="Calibri"/>
                <a:cs typeface="Calibri"/>
              </a:rPr>
              <a:t> </a:t>
            </a:r>
            <a:r>
              <a:rPr sz="1400" b="1" spc="-20">
                <a:solidFill>
                  <a:srgbClr val="9FC0DF"/>
                </a:solidFill>
                <a:latin typeface="Calibri"/>
                <a:cs typeface="Calibri"/>
              </a:rPr>
              <a:t>2026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488F865-F0B5-D6C4-56BB-0DF95DA010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9747" y="1471884"/>
            <a:ext cx="3210341" cy="17149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11364" y="2686160"/>
            <a:ext cx="2747010" cy="30753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0" b="1" spc="-2070">
                <a:solidFill>
                  <a:srgbClr val="16395A"/>
                </a:solidFill>
                <a:latin typeface="Tahoma"/>
                <a:cs typeface="Tahoma"/>
              </a:rPr>
              <a:t>01</a:t>
            </a:r>
            <a:endParaRPr sz="20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31714" y="2185542"/>
            <a:ext cx="14204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84555" algn="l"/>
              </a:tabLst>
            </a:pP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P</a:t>
            </a:r>
            <a:r>
              <a:rPr sz="1600" b="1" spc="22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A</a:t>
            </a:r>
            <a:r>
              <a:rPr sz="1600" b="1" spc="22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R</a:t>
            </a:r>
            <a:r>
              <a:rPr sz="1600" b="1" spc="22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 spc="-50">
                <a:solidFill>
                  <a:srgbClr val="2095F3"/>
                </a:solidFill>
                <a:latin typeface="Calibri"/>
                <a:cs typeface="Calibri"/>
              </a:rPr>
              <a:t>T</a:t>
            </a: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	O</a:t>
            </a:r>
            <a:r>
              <a:rPr sz="1600" b="1" spc="22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N</a:t>
            </a:r>
            <a:r>
              <a:rPr sz="1600" b="1" spc="23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 spc="-50">
                <a:solidFill>
                  <a:srgbClr val="2095F3"/>
                </a:solidFill>
                <a:latin typeface="Calibri"/>
                <a:cs typeface="Calibri"/>
              </a:rPr>
              <a:t>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85"/>
              <a:t>Introduction</a:t>
            </a:r>
            <a:endParaRPr sz="6000"/>
          </a:p>
        </p:txBody>
      </p:sp>
      <p:sp>
        <p:nvSpPr>
          <p:cNvPr id="5" name="object 5"/>
          <p:cNvSpPr/>
          <p:nvPr/>
        </p:nvSpPr>
        <p:spPr>
          <a:xfrm>
            <a:off x="5454396" y="3977640"/>
            <a:ext cx="1280160" cy="55244"/>
          </a:xfrm>
          <a:custGeom>
            <a:avLst/>
            <a:gdLst/>
            <a:ahLst/>
            <a:cxnLst/>
            <a:rect l="l" t="t" r="r" b="b"/>
            <a:pathLst>
              <a:path w="1280159" h="55245">
                <a:moveTo>
                  <a:pt x="1280159" y="0"/>
                </a:moveTo>
                <a:lnTo>
                  <a:pt x="0" y="0"/>
                </a:lnTo>
                <a:lnTo>
                  <a:pt x="0" y="54863"/>
                </a:lnTo>
                <a:lnTo>
                  <a:pt x="1280159" y="54863"/>
                </a:lnTo>
                <a:lnTo>
                  <a:pt x="1280159" y="0"/>
                </a:lnTo>
                <a:close/>
              </a:path>
            </a:pathLst>
          </a:custGeom>
          <a:solidFill>
            <a:srgbClr val="2095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078226" y="4224908"/>
            <a:ext cx="6003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The</a:t>
            </a:r>
            <a:r>
              <a:rPr sz="1800" spc="-3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problem,</a:t>
            </a:r>
            <a:r>
              <a:rPr sz="1800" spc="-1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the</a:t>
            </a:r>
            <a:r>
              <a:rPr sz="1800" spc="-1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gap,</a:t>
            </a:r>
            <a:r>
              <a:rPr sz="1800" spc="-30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and</a:t>
            </a:r>
            <a:r>
              <a:rPr sz="1800" spc="-2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the</a:t>
            </a:r>
            <a:r>
              <a:rPr sz="1800" spc="-30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BBD3EB"/>
                </a:solidFill>
                <a:latin typeface="Calibri"/>
                <a:cs typeface="Calibri"/>
              </a:rPr>
              <a:t>privacy-</a:t>
            </a: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first</a:t>
            </a:r>
            <a:r>
              <a:rPr sz="1800" spc="-30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solution</a:t>
            </a:r>
            <a:r>
              <a:rPr sz="1800" spc="-20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we</a:t>
            </a:r>
            <a:r>
              <a:rPr sz="1800" spc="-20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BBD3EB"/>
                </a:solidFill>
                <a:latin typeface="Calibri"/>
                <a:cs typeface="Calibri"/>
              </a:rPr>
              <a:t>propose.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" y="3918"/>
            <a:ext cx="12188952" cy="86868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219456"/>
            <a:ext cx="713232" cy="457200"/>
          </a:xfrm>
          <a:prstGeom prst="roundRect">
            <a:avLst>
              <a:gd name="adj" fmla="val 14000"/>
            </a:avLst>
          </a:prstGeom>
          <a:solidFill>
            <a:srgbClr val="2A7DE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57200" y="219456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01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1325880" y="16459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1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Collection</a:t>
            </a:r>
            <a:endParaRPr lang="en-US" sz="2200"/>
          </a:p>
        </p:txBody>
      </p:sp>
      <p:sp>
        <p:nvSpPr>
          <p:cNvPr id="6" name="Text 4"/>
          <p:cNvSpPr/>
          <p:nvPr/>
        </p:nvSpPr>
        <p:spPr>
          <a:xfrm>
            <a:off x="9326880" y="274320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474692" y="1013676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736" y="1098373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1520" y="5166360"/>
            <a:ext cx="30449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>
                <a:solidFill>
                  <a:srgbClr val="94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\</a:t>
            </a:r>
            <a:endParaRPr lang="en-US" sz="950"/>
          </a:p>
        </p:txBody>
      </p:sp>
      <p:sp>
        <p:nvSpPr>
          <p:cNvPr id="26" name="Text 19"/>
          <p:cNvSpPr/>
          <p:nvPr/>
        </p:nvSpPr>
        <p:spPr>
          <a:xfrm>
            <a:off x="9098280" y="1719072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400"/>
          </a:p>
        </p:txBody>
      </p:sp>
      <p:pic>
        <p:nvPicPr>
          <p:cNvPr id="8" name="WhatsApp Video 2026-06-16 at 11.29.21 PM (1)">
            <a:hlinkClick r:id="" action="ppaction://media"/>
            <a:extLst>
              <a:ext uri="{FF2B5EF4-FFF2-40B4-BE49-F238E27FC236}">
                <a16:creationId xmlns:a16="http://schemas.microsoft.com/office/drawing/2014/main" id="{08F4C4AC-609A-9CA6-AAFB-AC287AD6287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10696" y="1012371"/>
            <a:ext cx="3078163" cy="5486400"/>
          </a:xfrm>
          <a:prstGeom prst="rect">
            <a:avLst/>
          </a:prstGeom>
        </p:spPr>
      </p:pic>
      <p:pic>
        <p:nvPicPr>
          <p:cNvPr id="9" name="WhatsApp Video 2026-06-16 at 11.29.25 PM">
            <a:hlinkClick r:id="" action="ppaction://media"/>
            <a:extLst>
              <a:ext uri="{FF2B5EF4-FFF2-40B4-BE49-F238E27FC236}">
                <a16:creationId xmlns:a16="http://schemas.microsoft.com/office/drawing/2014/main" id="{0932BBEC-9AE3-6937-D2EA-625DF28DD1D4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4882696" y="1012371"/>
            <a:ext cx="3078163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958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11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>
                <p:cTn id="1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5012" y="230835"/>
            <a:ext cx="4048760" cy="34607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8970" algn="l"/>
              </a:tabLst>
            </a:pPr>
            <a:r>
              <a:rPr lang="en-US" sz="2000" spc="-25"/>
              <a:t>02</a:t>
            </a:r>
            <a:r>
              <a:rPr sz="2000"/>
              <a:t>	</a:t>
            </a:r>
            <a:r>
              <a:rPr spc="190"/>
              <a:t>PROBLEM</a:t>
            </a:r>
            <a:r>
              <a:rPr spc="215"/>
              <a:t> </a:t>
            </a:r>
            <a:r>
              <a:rPr spc="140"/>
              <a:t>STATEMENT</a:t>
            </a:r>
            <a:endParaRPr lang="en-US" sz="2000">
              <a:ea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47426" y="324103"/>
            <a:ext cx="12509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>
                <a:solidFill>
                  <a:srgbClr val="BBD3EB"/>
                </a:solidFill>
                <a:latin typeface="Microsoft JhengHei"/>
                <a:cs typeface="Microsoft JhengHei"/>
              </a:rPr>
              <a:t>I</a:t>
            </a:r>
            <a:r>
              <a:rPr sz="1100" b="1" spc="-114">
                <a:solidFill>
                  <a:srgbClr val="BBD3EB"/>
                </a:solidFill>
                <a:latin typeface="Microsoft JhengHei"/>
                <a:cs typeface="Microsoft JhengHei"/>
              </a:rPr>
              <a:t> </a:t>
            </a:r>
            <a:r>
              <a:rPr sz="1100" b="1" spc="55">
                <a:solidFill>
                  <a:srgbClr val="BBD3EB"/>
                </a:solidFill>
                <a:latin typeface="Microsoft JhengHei"/>
                <a:cs typeface="Microsoft JhengHei"/>
              </a:rPr>
              <a:t>NTRODUCTI</a:t>
            </a:r>
            <a:r>
              <a:rPr sz="1100" b="1" spc="-120">
                <a:solidFill>
                  <a:srgbClr val="BBD3EB"/>
                </a:solidFill>
                <a:latin typeface="Microsoft JhengHei"/>
                <a:cs typeface="Microsoft JhengHei"/>
              </a:rPr>
              <a:t> </a:t>
            </a:r>
            <a:r>
              <a:rPr sz="1100" b="1" spc="-25">
                <a:solidFill>
                  <a:srgbClr val="BBD3EB"/>
                </a:solidFill>
                <a:latin typeface="Microsoft JhengHei"/>
                <a:cs typeface="Microsoft JhengHei"/>
              </a:rPr>
              <a:t>ON</a:t>
            </a:r>
            <a:endParaRPr sz="11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2016919"/>
            <a:ext cx="6119495" cy="2600584"/>
          </a:xfrm>
          <a:prstGeom prst="rect">
            <a:avLst/>
          </a:prstGeom>
        </p:spPr>
        <p:txBody>
          <a:bodyPr vert="horz" wrap="square" lIns="0" tIns="5016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800" b="1">
                <a:solidFill>
                  <a:srgbClr val="1F4E79"/>
                </a:solidFill>
                <a:latin typeface="Tahoma"/>
                <a:cs typeface="Tahoma"/>
              </a:rPr>
              <a:t>The</a:t>
            </a:r>
            <a:r>
              <a:rPr sz="1800" b="1" spc="125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800" b="1" spc="-10">
                <a:solidFill>
                  <a:srgbClr val="1F4E79"/>
                </a:solidFill>
                <a:latin typeface="Tahoma"/>
                <a:cs typeface="Tahoma"/>
              </a:rPr>
              <a:t>issue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14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surveillance is </a:t>
            </a:r>
            <a:r>
              <a:rPr lang="en-US" sz="14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</a:t>
            </a:r>
            <a:r>
              <a:rPr sz="14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r>
              <a:rPr lang="en-US" sz="14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band</a:t>
            </a:r>
            <a:r>
              <a:rPr sz="14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width-heavy, expensive and privacy-</a:t>
            </a: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4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privacy-invasive —24/7 streamed to the cloud.</a:t>
            </a:r>
          </a:p>
          <a:p>
            <a:pPr marL="12700">
              <a:lnSpc>
                <a:spcPct val="100000"/>
              </a:lnSpc>
              <a:spcBef>
                <a:spcPts val="2035"/>
              </a:spcBef>
            </a:pPr>
            <a:r>
              <a:rPr sz="1800" b="1">
                <a:solidFill>
                  <a:srgbClr val="1F4E79"/>
                </a:solidFill>
                <a:latin typeface="Tahoma"/>
                <a:cs typeface="Tahoma"/>
              </a:rPr>
              <a:t>The</a:t>
            </a:r>
            <a:r>
              <a:rPr sz="1800" b="1" spc="125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800" b="1" spc="50">
                <a:solidFill>
                  <a:srgbClr val="1F4E79"/>
                </a:solidFill>
                <a:latin typeface="Tahoma"/>
                <a:cs typeface="Tahoma"/>
              </a:rPr>
              <a:t>gap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11900"/>
              </a:lnSpc>
              <a:spcBef>
                <a:spcPts val="30"/>
              </a:spcBef>
            </a:pPr>
            <a:r>
              <a:rPr sz="1400">
                <a:solidFill>
                  <a:srgbClr val="1A2B3C"/>
                </a:solidFill>
                <a:latin typeface="Calibri"/>
                <a:ea typeface="Calibri"/>
                <a:cs typeface="Calibri"/>
              </a:rPr>
              <a:t>Few affordable, privacy-first smart cameras process data </a:t>
            </a:r>
            <a:r>
              <a:rPr lang="en-US" sz="1400">
                <a:solidFill>
                  <a:srgbClr val="1A2B3C"/>
                </a:solidFill>
                <a:latin typeface="Calibri"/>
                <a:ea typeface="Calibri"/>
                <a:cs typeface="Calibri"/>
              </a:rPr>
              <a:t>on edge</a:t>
            </a:r>
            <a:r>
              <a:rPr sz="1400">
                <a:solidFill>
                  <a:srgbClr val="1A2B3C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marL="12700">
              <a:lnSpc>
                <a:spcPct val="100000"/>
              </a:lnSpc>
              <a:spcBef>
                <a:spcPts val="2035"/>
              </a:spcBef>
            </a:pPr>
            <a:r>
              <a:rPr sz="1800" b="1" spc="65">
                <a:solidFill>
                  <a:srgbClr val="1F4E79"/>
                </a:solidFill>
                <a:latin typeface="Tahoma"/>
                <a:cs typeface="Tahoma"/>
              </a:rPr>
              <a:t>Our</a:t>
            </a:r>
            <a:r>
              <a:rPr sz="1800" b="1" spc="-2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800" b="1" spc="30">
                <a:solidFill>
                  <a:srgbClr val="1F4E79"/>
                </a:solidFill>
                <a:latin typeface="Tahoma"/>
                <a:cs typeface="Tahoma"/>
              </a:rPr>
              <a:t>goal</a:t>
            </a:r>
            <a:endParaRPr sz="1800">
              <a:latin typeface="Tahoma"/>
              <a:cs typeface="Tahoma"/>
            </a:endParaRPr>
          </a:p>
          <a:p>
            <a:pPr marL="12700" marR="259715">
              <a:lnSpc>
                <a:spcPct val="111900"/>
              </a:lnSpc>
              <a:spcBef>
                <a:spcPts val="30"/>
              </a:spcBef>
            </a:pPr>
            <a:r>
              <a:rPr sz="1400">
                <a:solidFill>
                  <a:srgbClr val="1A2B3C"/>
                </a:solidFill>
                <a:latin typeface="Calibri"/>
                <a:ea typeface="Calibri"/>
                <a:cs typeface="Calibri"/>
              </a:rPr>
              <a:t>A </a:t>
            </a:r>
            <a:r>
              <a:rPr lang="en-US" sz="1400">
                <a:solidFill>
                  <a:srgbClr val="1A2B3C"/>
                </a:solidFill>
                <a:latin typeface="Calibri"/>
                <a:ea typeface="Calibri"/>
                <a:cs typeface="Calibri"/>
              </a:rPr>
              <a:t>decentralized</a:t>
            </a:r>
            <a:r>
              <a:rPr sz="1400">
                <a:solidFill>
                  <a:srgbClr val="1A2B3C"/>
                </a:solidFill>
                <a:latin typeface="Calibri"/>
                <a:ea typeface="Calibri"/>
                <a:cs typeface="Calibri"/>
              </a:rPr>
              <a:t>, low-power system that detects intruders locally on an</a:t>
            </a:r>
            <a:r>
              <a:rPr lang="en-US" sz="1400">
                <a:solidFill>
                  <a:srgbClr val="1A2B3C"/>
                </a:solidFill>
                <a:latin typeface="Calibri"/>
                <a:ea typeface="Calibri"/>
                <a:cs typeface="Calibri"/>
              </a:rPr>
              <a:t> </a:t>
            </a:r>
            <a:r>
              <a:rPr sz="1400">
                <a:solidFill>
                  <a:srgbClr val="1A2B3C"/>
                </a:solidFill>
                <a:latin typeface="Calibri"/>
                <a:ea typeface="Calibri"/>
                <a:cs typeface="Calibri"/>
              </a:rPr>
              <a:t>ESP32-CAM and transmits only confirmed threats.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7028180" y="1541780"/>
            <a:ext cx="4597400" cy="3774440"/>
            <a:chOff x="7028180" y="1541780"/>
            <a:chExt cx="4597400" cy="3774440"/>
          </a:xfrm>
        </p:grpSpPr>
        <p:sp>
          <p:nvSpPr>
            <p:cNvPr id="6" name="object 6"/>
            <p:cNvSpPr/>
            <p:nvPr/>
          </p:nvSpPr>
          <p:spPr>
            <a:xfrm>
              <a:off x="7040880" y="1554480"/>
              <a:ext cx="4572000" cy="3749040"/>
            </a:xfrm>
            <a:custGeom>
              <a:avLst/>
              <a:gdLst/>
              <a:ahLst/>
              <a:cxnLst/>
              <a:rect l="l" t="t" r="r" b="b"/>
              <a:pathLst>
                <a:path w="4572000" h="3749040">
                  <a:moveTo>
                    <a:pt x="4472051" y="0"/>
                  </a:moveTo>
                  <a:lnTo>
                    <a:pt x="99949" y="0"/>
                  </a:lnTo>
                  <a:lnTo>
                    <a:pt x="61025" y="7848"/>
                  </a:lnTo>
                  <a:lnTo>
                    <a:pt x="29257" y="29257"/>
                  </a:lnTo>
                  <a:lnTo>
                    <a:pt x="7848" y="61025"/>
                  </a:lnTo>
                  <a:lnTo>
                    <a:pt x="0" y="99949"/>
                  </a:lnTo>
                  <a:lnTo>
                    <a:pt x="0" y="3649091"/>
                  </a:lnTo>
                  <a:lnTo>
                    <a:pt x="7848" y="3688014"/>
                  </a:lnTo>
                  <a:lnTo>
                    <a:pt x="29257" y="3719782"/>
                  </a:lnTo>
                  <a:lnTo>
                    <a:pt x="61025" y="3741191"/>
                  </a:lnTo>
                  <a:lnTo>
                    <a:pt x="99949" y="3749040"/>
                  </a:lnTo>
                  <a:lnTo>
                    <a:pt x="4472051" y="3749040"/>
                  </a:lnTo>
                  <a:lnTo>
                    <a:pt x="4510974" y="3741191"/>
                  </a:lnTo>
                  <a:lnTo>
                    <a:pt x="4542742" y="3719782"/>
                  </a:lnTo>
                  <a:lnTo>
                    <a:pt x="4564151" y="3688014"/>
                  </a:lnTo>
                  <a:lnTo>
                    <a:pt x="4572000" y="3649091"/>
                  </a:lnTo>
                  <a:lnTo>
                    <a:pt x="4572000" y="99949"/>
                  </a:lnTo>
                  <a:lnTo>
                    <a:pt x="4564151" y="61025"/>
                  </a:lnTo>
                  <a:lnTo>
                    <a:pt x="4542742" y="29257"/>
                  </a:lnTo>
                  <a:lnTo>
                    <a:pt x="4510974" y="7848"/>
                  </a:lnTo>
                  <a:lnTo>
                    <a:pt x="4472051" y="0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040880" y="1554480"/>
              <a:ext cx="4572000" cy="3749040"/>
            </a:xfrm>
            <a:custGeom>
              <a:avLst/>
              <a:gdLst/>
              <a:ahLst/>
              <a:cxnLst/>
              <a:rect l="l" t="t" r="r" b="b"/>
              <a:pathLst>
                <a:path w="4572000" h="3749040">
                  <a:moveTo>
                    <a:pt x="0" y="99949"/>
                  </a:moveTo>
                  <a:lnTo>
                    <a:pt x="7848" y="61025"/>
                  </a:lnTo>
                  <a:lnTo>
                    <a:pt x="29257" y="29257"/>
                  </a:lnTo>
                  <a:lnTo>
                    <a:pt x="61025" y="7848"/>
                  </a:lnTo>
                  <a:lnTo>
                    <a:pt x="99949" y="0"/>
                  </a:lnTo>
                  <a:lnTo>
                    <a:pt x="4472051" y="0"/>
                  </a:lnTo>
                  <a:lnTo>
                    <a:pt x="4510974" y="7848"/>
                  </a:lnTo>
                  <a:lnTo>
                    <a:pt x="4542742" y="29257"/>
                  </a:lnTo>
                  <a:lnTo>
                    <a:pt x="4564151" y="61025"/>
                  </a:lnTo>
                  <a:lnTo>
                    <a:pt x="4572000" y="99949"/>
                  </a:lnTo>
                  <a:lnTo>
                    <a:pt x="4572000" y="3649091"/>
                  </a:lnTo>
                  <a:lnTo>
                    <a:pt x="4564151" y="3688014"/>
                  </a:lnTo>
                  <a:lnTo>
                    <a:pt x="4542742" y="3719782"/>
                  </a:lnTo>
                  <a:lnTo>
                    <a:pt x="4510974" y="3741191"/>
                  </a:lnTo>
                  <a:lnTo>
                    <a:pt x="4472051" y="3749040"/>
                  </a:lnTo>
                  <a:lnTo>
                    <a:pt x="99949" y="3749040"/>
                  </a:lnTo>
                  <a:lnTo>
                    <a:pt x="61025" y="3741191"/>
                  </a:lnTo>
                  <a:lnTo>
                    <a:pt x="29257" y="3719782"/>
                  </a:lnTo>
                  <a:lnTo>
                    <a:pt x="7848" y="3688014"/>
                  </a:lnTo>
                  <a:lnTo>
                    <a:pt x="0" y="3649091"/>
                  </a:lnTo>
                  <a:lnTo>
                    <a:pt x="0" y="99949"/>
                  </a:lnTo>
                  <a:close/>
                </a:path>
              </a:pathLst>
            </a:custGeom>
            <a:ln w="25400">
              <a:solidFill>
                <a:srgbClr val="2095F3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23760" y="1554480"/>
              <a:ext cx="4206240" cy="3607689"/>
            </a:xfrm>
            <a:prstGeom prst="rect">
              <a:avLst/>
            </a:prstGeom>
          </p:spPr>
        </p:pic>
      </p:grp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5012" y="230835"/>
            <a:ext cx="805116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8970" algn="l"/>
              </a:tabLst>
            </a:pPr>
            <a:r>
              <a:rPr sz="2000" spc="-25"/>
              <a:t>03</a:t>
            </a:r>
            <a:r>
              <a:rPr sz="2000"/>
              <a:t>	</a:t>
            </a:r>
            <a:r>
              <a:rPr spc="195"/>
              <a:t>PROPOSED</a:t>
            </a:r>
            <a:r>
              <a:rPr spc="175"/>
              <a:t> </a:t>
            </a:r>
            <a:r>
              <a:rPr spc="110"/>
              <a:t>SOLUTION</a:t>
            </a:r>
            <a:r>
              <a:rPr spc="175"/>
              <a:t> </a:t>
            </a:r>
            <a:r>
              <a:t>&amp;</a:t>
            </a:r>
            <a:r>
              <a:rPr spc="160"/>
              <a:t> </a:t>
            </a:r>
            <a:r>
              <a:rPr spc="175"/>
              <a:t>CORE </a:t>
            </a:r>
            <a:r>
              <a:rPr spc="80"/>
              <a:t>FUNCTIONALITIES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10647426" y="324103"/>
            <a:ext cx="122745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I</a:t>
            </a:r>
            <a:r>
              <a:rPr sz="1100" b="1" spc="-4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N</a:t>
            </a:r>
            <a:r>
              <a:rPr sz="1100" b="1" spc="-4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T</a:t>
            </a:r>
            <a:r>
              <a:rPr sz="1100" b="1" spc="-4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R</a:t>
            </a:r>
            <a:r>
              <a:rPr sz="1100" b="1" spc="-4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O</a:t>
            </a:r>
            <a:r>
              <a:rPr sz="1100" b="1" spc="-5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D</a:t>
            </a:r>
            <a:r>
              <a:rPr sz="1100" b="1" spc="-60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U</a:t>
            </a:r>
            <a:r>
              <a:rPr sz="1100" b="1" spc="-60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C</a:t>
            </a:r>
            <a:r>
              <a:rPr sz="1100" b="1" spc="-4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T</a:t>
            </a:r>
            <a:r>
              <a:rPr sz="1100" b="1" spc="-60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I</a:t>
            </a:r>
            <a:r>
              <a:rPr sz="1100" b="1" spc="-5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O</a:t>
            </a:r>
            <a:r>
              <a:rPr sz="1100" b="1" spc="-50">
                <a:solidFill>
                  <a:srgbClr val="BBD3EB"/>
                </a:solidFill>
                <a:latin typeface="Calibri"/>
                <a:cs typeface="Calibri"/>
              </a:rPr>
              <a:t> 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033018"/>
            <a:ext cx="770382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>
                <a:solidFill>
                  <a:srgbClr val="545454"/>
                </a:solidFill>
                <a:latin typeface="Calibri"/>
                <a:cs typeface="Calibri"/>
              </a:rPr>
              <a:t>A</a:t>
            </a:r>
            <a:r>
              <a:rPr sz="1700" spc="-10">
                <a:solidFill>
                  <a:srgbClr val="545454"/>
                </a:solidFill>
                <a:latin typeface="Calibri"/>
                <a:cs typeface="Calibri"/>
              </a:rPr>
              <a:t> proactive,</a:t>
            </a:r>
            <a:r>
              <a:rPr sz="1700" spc="-4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700" spc="-10">
                <a:solidFill>
                  <a:srgbClr val="545454"/>
                </a:solidFill>
                <a:latin typeface="Calibri"/>
                <a:cs typeface="Calibri"/>
              </a:rPr>
              <a:t>multi-</a:t>
            </a:r>
            <a:r>
              <a:rPr sz="1700">
                <a:solidFill>
                  <a:srgbClr val="545454"/>
                </a:solidFill>
                <a:latin typeface="Calibri"/>
                <a:cs typeface="Calibri"/>
              </a:rPr>
              <a:t>layered</a:t>
            </a:r>
            <a:r>
              <a:rPr sz="1700" spc="-5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700">
                <a:solidFill>
                  <a:srgbClr val="545454"/>
                </a:solidFill>
                <a:latin typeface="Calibri"/>
                <a:cs typeface="Calibri"/>
              </a:rPr>
              <a:t>security</a:t>
            </a:r>
            <a:r>
              <a:rPr sz="1700" spc="-4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700">
                <a:solidFill>
                  <a:srgbClr val="545454"/>
                </a:solidFill>
                <a:latin typeface="Calibri"/>
                <a:cs typeface="Calibri"/>
              </a:rPr>
              <a:t>system</a:t>
            </a:r>
            <a:r>
              <a:rPr sz="1700" spc="-3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700">
                <a:solidFill>
                  <a:srgbClr val="545454"/>
                </a:solidFill>
                <a:latin typeface="Calibri"/>
                <a:cs typeface="Calibri"/>
              </a:rPr>
              <a:t>combining</a:t>
            </a:r>
            <a:r>
              <a:rPr sz="1700" spc="-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700" b="1" spc="-10">
                <a:solidFill>
                  <a:srgbClr val="1F4E79"/>
                </a:solidFill>
                <a:latin typeface="Calibri"/>
                <a:cs typeface="Calibri"/>
              </a:rPr>
              <a:t>Edge</a:t>
            </a:r>
            <a:r>
              <a:rPr sz="1700" b="1" spc="-45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1700" b="1">
                <a:solidFill>
                  <a:srgbClr val="1F4E79"/>
                </a:solidFill>
                <a:latin typeface="Calibri"/>
                <a:cs typeface="Calibri"/>
              </a:rPr>
              <a:t>AI</a:t>
            </a:r>
            <a:r>
              <a:rPr sz="1700" b="1" spc="-25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1700">
                <a:solidFill>
                  <a:srgbClr val="545454"/>
                </a:solidFill>
                <a:latin typeface="Calibri"/>
                <a:cs typeface="Calibri"/>
              </a:rPr>
              <a:t>with</a:t>
            </a:r>
            <a:r>
              <a:rPr sz="1700" spc="-4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700">
                <a:solidFill>
                  <a:srgbClr val="545454"/>
                </a:solidFill>
                <a:latin typeface="Calibri"/>
                <a:cs typeface="Calibri"/>
              </a:rPr>
              <a:t>physical</a:t>
            </a:r>
            <a:r>
              <a:rPr sz="1700" spc="-4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700" spc="-10">
                <a:solidFill>
                  <a:srgbClr val="545454"/>
                </a:solidFill>
                <a:latin typeface="Calibri"/>
                <a:cs typeface="Calibri"/>
              </a:rPr>
              <a:t>automation.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48639" y="1562176"/>
            <a:ext cx="3514725" cy="2286000"/>
            <a:chOff x="548639" y="1554479"/>
            <a:chExt cx="3514725" cy="2286000"/>
          </a:xfrm>
        </p:grpSpPr>
        <p:sp>
          <p:nvSpPr>
            <p:cNvPr id="7" name="object 7"/>
            <p:cNvSpPr/>
            <p:nvPr/>
          </p:nvSpPr>
          <p:spPr>
            <a:xfrm>
              <a:off x="548639" y="1554479"/>
              <a:ext cx="3514725" cy="2286000"/>
            </a:xfrm>
            <a:custGeom>
              <a:avLst/>
              <a:gdLst/>
              <a:ahLst/>
              <a:cxnLst/>
              <a:rect l="l" t="t" r="r" b="b"/>
              <a:pathLst>
                <a:path w="3514725" h="2286000">
                  <a:moveTo>
                    <a:pt x="3422904" y="0"/>
                  </a:moveTo>
                  <a:lnTo>
                    <a:pt x="91439" y="0"/>
                  </a:lnTo>
                  <a:lnTo>
                    <a:pt x="55849" y="7179"/>
                  </a:lnTo>
                  <a:lnTo>
                    <a:pt x="26784" y="26765"/>
                  </a:lnTo>
                  <a:lnTo>
                    <a:pt x="7186" y="55828"/>
                  </a:lnTo>
                  <a:lnTo>
                    <a:pt x="0" y="91440"/>
                  </a:lnTo>
                  <a:lnTo>
                    <a:pt x="0" y="2194560"/>
                  </a:lnTo>
                  <a:lnTo>
                    <a:pt x="7186" y="2230171"/>
                  </a:lnTo>
                  <a:lnTo>
                    <a:pt x="26784" y="2259234"/>
                  </a:lnTo>
                  <a:lnTo>
                    <a:pt x="55849" y="2278820"/>
                  </a:lnTo>
                  <a:lnTo>
                    <a:pt x="91439" y="2286000"/>
                  </a:lnTo>
                  <a:lnTo>
                    <a:pt x="3422904" y="2286000"/>
                  </a:lnTo>
                  <a:lnTo>
                    <a:pt x="3458515" y="2278820"/>
                  </a:lnTo>
                  <a:lnTo>
                    <a:pt x="3487578" y="2259234"/>
                  </a:lnTo>
                  <a:lnTo>
                    <a:pt x="3507164" y="2230171"/>
                  </a:lnTo>
                  <a:lnTo>
                    <a:pt x="3514344" y="2194560"/>
                  </a:lnTo>
                  <a:lnTo>
                    <a:pt x="3514344" y="91440"/>
                  </a:lnTo>
                  <a:lnTo>
                    <a:pt x="3507164" y="55828"/>
                  </a:lnTo>
                  <a:lnTo>
                    <a:pt x="3487578" y="26765"/>
                  </a:lnTo>
                  <a:lnTo>
                    <a:pt x="3458515" y="7179"/>
                  </a:lnTo>
                  <a:lnTo>
                    <a:pt x="3422904" y="0"/>
                  </a:lnTo>
                  <a:close/>
                </a:path>
              </a:pathLst>
            </a:custGeom>
            <a:solidFill>
              <a:srgbClr val="F4F6F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04671" y="1792223"/>
              <a:ext cx="603885" cy="603885"/>
            </a:xfrm>
            <a:custGeom>
              <a:avLst/>
              <a:gdLst/>
              <a:ahLst/>
              <a:cxnLst/>
              <a:rect l="l" t="t" r="r" b="b"/>
              <a:pathLst>
                <a:path w="603885" h="603885">
                  <a:moveTo>
                    <a:pt x="301752" y="0"/>
                  </a:moveTo>
                  <a:lnTo>
                    <a:pt x="252807" y="3950"/>
                  </a:lnTo>
                  <a:lnTo>
                    <a:pt x="206376" y="15386"/>
                  </a:lnTo>
                  <a:lnTo>
                    <a:pt x="163081" y="33686"/>
                  </a:lnTo>
                  <a:lnTo>
                    <a:pt x="123542" y="58228"/>
                  </a:lnTo>
                  <a:lnTo>
                    <a:pt x="88382" y="88392"/>
                  </a:lnTo>
                  <a:lnTo>
                    <a:pt x="58221" y="123553"/>
                  </a:lnTo>
                  <a:lnTo>
                    <a:pt x="33681" y="163092"/>
                  </a:lnTo>
                  <a:lnTo>
                    <a:pt x="15383" y="206386"/>
                  </a:lnTo>
                  <a:lnTo>
                    <a:pt x="3949" y="252813"/>
                  </a:lnTo>
                  <a:lnTo>
                    <a:pt x="0" y="301751"/>
                  </a:lnTo>
                  <a:lnTo>
                    <a:pt x="3949" y="350690"/>
                  </a:lnTo>
                  <a:lnTo>
                    <a:pt x="15383" y="397117"/>
                  </a:lnTo>
                  <a:lnTo>
                    <a:pt x="33681" y="440411"/>
                  </a:lnTo>
                  <a:lnTo>
                    <a:pt x="58221" y="479950"/>
                  </a:lnTo>
                  <a:lnTo>
                    <a:pt x="88382" y="515111"/>
                  </a:lnTo>
                  <a:lnTo>
                    <a:pt x="123542" y="545275"/>
                  </a:lnTo>
                  <a:lnTo>
                    <a:pt x="163081" y="569817"/>
                  </a:lnTo>
                  <a:lnTo>
                    <a:pt x="206376" y="588117"/>
                  </a:lnTo>
                  <a:lnTo>
                    <a:pt x="252807" y="599553"/>
                  </a:lnTo>
                  <a:lnTo>
                    <a:pt x="301752" y="603503"/>
                  </a:lnTo>
                  <a:lnTo>
                    <a:pt x="350690" y="599553"/>
                  </a:lnTo>
                  <a:lnTo>
                    <a:pt x="397117" y="588117"/>
                  </a:lnTo>
                  <a:lnTo>
                    <a:pt x="440411" y="569817"/>
                  </a:lnTo>
                  <a:lnTo>
                    <a:pt x="479950" y="545275"/>
                  </a:lnTo>
                  <a:lnTo>
                    <a:pt x="515111" y="515111"/>
                  </a:lnTo>
                  <a:lnTo>
                    <a:pt x="545275" y="479950"/>
                  </a:lnTo>
                  <a:lnTo>
                    <a:pt x="569817" y="440411"/>
                  </a:lnTo>
                  <a:lnTo>
                    <a:pt x="588117" y="397117"/>
                  </a:lnTo>
                  <a:lnTo>
                    <a:pt x="599553" y="350690"/>
                  </a:lnTo>
                  <a:lnTo>
                    <a:pt x="603504" y="301751"/>
                  </a:lnTo>
                  <a:lnTo>
                    <a:pt x="599553" y="252813"/>
                  </a:lnTo>
                  <a:lnTo>
                    <a:pt x="588117" y="206386"/>
                  </a:lnTo>
                  <a:lnTo>
                    <a:pt x="569817" y="163092"/>
                  </a:lnTo>
                  <a:lnTo>
                    <a:pt x="545275" y="123553"/>
                  </a:lnTo>
                  <a:lnTo>
                    <a:pt x="515112" y="88392"/>
                  </a:lnTo>
                  <a:lnTo>
                    <a:pt x="479950" y="58228"/>
                  </a:lnTo>
                  <a:lnTo>
                    <a:pt x="440411" y="33686"/>
                  </a:lnTo>
                  <a:lnTo>
                    <a:pt x="397117" y="15386"/>
                  </a:lnTo>
                  <a:lnTo>
                    <a:pt x="350690" y="3950"/>
                  </a:lnTo>
                  <a:lnTo>
                    <a:pt x="301752" y="0"/>
                  </a:lnTo>
                  <a:close/>
                </a:path>
              </a:pathLst>
            </a:custGeom>
            <a:solidFill>
              <a:srgbClr val="1F4E79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7612" y="1955177"/>
              <a:ext cx="277609" cy="277609"/>
            </a:xfrm>
            <a:prstGeom prst="rect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</p:pic>
      </p:grpSp>
      <p:sp>
        <p:nvSpPr>
          <p:cNvPr id="10" name="object 10"/>
          <p:cNvSpPr txBox="1"/>
          <p:nvPr/>
        </p:nvSpPr>
        <p:spPr>
          <a:xfrm>
            <a:off x="791972" y="2444623"/>
            <a:ext cx="20713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45">
                <a:solidFill>
                  <a:srgbClr val="1F4E79"/>
                </a:solidFill>
                <a:latin typeface="Tahoma"/>
                <a:cs typeface="Tahoma"/>
              </a:rPr>
              <a:t>AI</a:t>
            </a:r>
            <a:r>
              <a:rPr sz="1600" b="1" spc="7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600" b="1">
                <a:solidFill>
                  <a:srgbClr val="1F4E79"/>
                </a:solidFill>
                <a:latin typeface="Tahoma"/>
                <a:cs typeface="Tahoma"/>
              </a:rPr>
              <a:t>Vision</a:t>
            </a:r>
            <a:r>
              <a:rPr sz="1600" b="1" spc="10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600" b="1" spc="40">
                <a:solidFill>
                  <a:srgbClr val="1F4E79"/>
                </a:solidFill>
                <a:latin typeface="Tahoma"/>
                <a:cs typeface="Tahoma"/>
              </a:rPr>
              <a:t>Detection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1972" y="2893593"/>
            <a:ext cx="3038475" cy="424412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5080">
              <a:lnSpc>
                <a:spcPct val="105400"/>
              </a:lnSpc>
              <a:spcBef>
                <a:spcPts val="100"/>
              </a:spcBef>
            </a:pPr>
            <a:r>
              <a:rPr sz="1300" spc="-20">
                <a:solidFill>
                  <a:srgbClr val="545454"/>
                </a:solidFill>
                <a:latin typeface="Calibri"/>
                <a:cs typeface="Calibri"/>
              </a:rPr>
              <a:t>Real-</a:t>
            </a:r>
            <a:r>
              <a:rPr sz="1300">
                <a:solidFill>
                  <a:srgbClr val="545454"/>
                </a:solidFill>
                <a:latin typeface="Calibri"/>
                <a:cs typeface="Calibri"/>
              </a:rPr>
              <a:t>time</a:t>
            </a:r>
            <a:r>
              <a:rPr sz="1300" spc="-3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300">
                <a:solidFill>
                  <a:srgbClr val="545454"/>
                </a:solidFill>
                <a:latin typeface="Calibri"/>
                <a:cs typeface="Calibri"/>
              </a:rPr>
              <a:t>human</a:t>
            </a:r>
            <a:r>
              <a:rPr sz="1300" spc="-2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300">
                <a:solidFill>
                  <a:srgbClr val="545454"/>
                </a:solidFill>
                <a:latin typeface="Calibri"/>
                <a:cs typeface="Calibri"/>
              </a:rPr>
              <a:t>recognition</a:t>
            </a:r>
            <a:r>
              <a:rPr sz="1300" spc="-1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300">
                <a:solidFill>
                  <a:srgbClr val="545454"/>
                </a:solidFill>
                <a:latin typeface="Calibri"/>
                <a:cs typeface="Calibri"/>
              </a:rPr>
              <a:t>with</a:t>
            </a:r>
            <a:r>
              <a:rPr sz="1300" spc="-2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300" err="1">
                <a:solidFill>
                  <a:srgbClr val="545454"/>
                </a:solidFill>
                <a:latin typeface="Calibri"/>
                <a:cs typeface="Calibri"/>
              </a:rPr>
              <a:t>TinyML</a:t>
            </a:r>
            <a:r>
              <a:rPr lang="en-US" sz="1300">
                <a:solidFill>
                  <a:srgbClr val="545454"/>
                </a:solidFill>
                <a:latin typeface="Calibri"/>
                <a:cs typeface="Calibri"/>
              </a:rPr>
              <a:t> </a:t>
            </a:r>
            <a:r>
              <a:rPr sz="1300" spc="-2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lang="en-US" sz="1300" spc="-50">
                <a:solidFill>
                  <a:srgbClr val="545454"/>
                </a:solidFill>
                <a:latin typeface="Calibri"/>
                <a:cs typeface="Calibri"/>
              </a:rPr>
              <a:t>—</a:t>
            </a:r>
            <a:r>
              <a:rPr lang="en-US" sz="1300">
                <a:solidFill>
                  <a:srgbClr val="545454"/>
                </a:solidFill>
                <a:latin typeface="Calibri"/>
                <a:cs typeface="Calibri"/>
              </a:rPr>
              <a:t> </a:t>
            </a:r>
            <a:r>
              <a:rPr sz="1300">
                <a:solidFill>
                  <a:srgbClr val="545454"/>
                </a:solidFill>
                <a:latin typeface="Calibri"/>
                <a:cs typeface="Calibri"/>
              </a:rPr>
              <a:t>no</a:t>
            </a:r>
            <a:r>
              <a:rPr sz="1300" spc="-2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300">
                <a:solidFill>
                  <a:srgbClr val="545454"/>
                </a:solidFill>
                <a:latin typeface="Calibri"/>
                <a:cs typeface="Calibri"/>
              </a:rPr>
              <a:t>motion</a:t>
            </a:r>
            <a:r>
              <a:rPr sz="1300" spc="-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300">
                <a:solidFill>
                  <a:srgbClr val="545454"/>
                </a:solidFill>
                <a:latin typeface="Calibri"/>
                <a:cs typeface="Calibri"/>
              </a:rPr>
              <a:t>false</a:t>
            </a:r>
            <a:r>
              <a:rPr sz="1300" spc="-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300" spc="-10">
                <a:solidFill>
                  <a:srgbClr val="545454"/>
                </a:solidFill>
                <a:latin typeface="Calibri"/>
                <a:cs typeface="Calibri"/>
              </a:rPr>
              <a:t>alarms.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506394" y="1562462"/>
            <a:ext cx="3514725" cy="2286000"/>
            <a:chOff x="4337303" y="1554479"/>
            <a:chExt cx="3514725" cy="2286000"/>
          </a:xfrm>
        </p:grpSpPr>
        <p:sp>
          <p:nvSpPr>
            <p:cNvPr id="14" name="object 14"/>
            <p:cNvSpPr/>
            <p:nvPr/>
          </p:nvSpPr>
          <p:spPr>
            <a:xfrm>
              <a:off x="4337303" y="1554479"/>
              <a:ext cx="3514725" cy="2286000"/>
            </a:xfrm>
            <a:custGeom>
              <a:avLst/>
              <a:gdLst/>
              <a:ahLst/>
              <a:cxnLst/>
              <a:rect l="l" t="t" r="r" b="b"/>
              <a:pathLst>
                <a:path w="3514725" h="2286000">
                  <a:moveTo>
                    <a:pt x="3422904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40"/>
                  </a:lnTo>
                  <a:lnTo>
                    <a:pt x="0" y="2194560"/>
                  </a:lnTo>
                  <a:lnTo>
                    <a:pt x="7179" y="2230171"/>
                  </a:lnTo>
                  <a:lnTo>
                    <a:pt x="26765" y="2259234"/>
                  </a:lnTo>
                  <a:lnTo>
                    <a:pt x="55828" y="2278820"/>
                  </a:lnTo>
                  <a:lnTo>
                    <a:pt x="91440" y="2286000"/>
                  </a:lnTo>
                  <a:lnTo>
                    <a:pt x="3422904" y="2286000"/>
                  </a:lnTo>
                  <a:lnTo>
                    <a:pt x="3458515" y="2278820"/>
                  </a:lnTo>
                  <a:lnTo>
                    <a:pt x="3487578" y="2259234"/>
                  </a:lnTo>
                  <a:lnTo>
                    <a:pt x="3507164" y="2230171"/>
                  </a:lnTo>
                  <a:lnTo>
                    <a:pt x="3514344" y="2194560"/>
                  </a:lnTo>
                  <a:lnTo>
                    <a:pt x="3514344" y="91440"/>
                  </a:lnTo>
                  <a:lnTo>
                    <a:pt x="3507164" y="55828"/>
                  </a:lnTo>
                  <a:lnTo>
                    <a:pt x="3487578" y="26765"/>
                  </a:lnTo>
                  <a:lnTo>
                    <a:pt x="3458515" y="7179"/>
                  </a:lnTo>
                  <a:lnTo>
                    <a:pt x="3422904" y="0"/>
                  </a:lnTo>
                  <a:close/>
                </a:path>
              </a:pathLst>
            </a:custGeom>
            <a:solidFill>
              <a:srgbClr val="F4F6F8"/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93335" y="1792223"/>
              <a:ext cx="603885" cy="603885"/>
            </a:xfrm>
            <a:custGeom>
              <a:avLst/>
              <a:gdLst/>
              <a:ahLst/>
              <a:cxnLst/>
              <a:rect l="l" t="t" r="r" b="b"/>
              <a:pathLst>
                <a:path w="603885" h="603885">
                  <a:moveTo>
                    <a:pt x="301751" y="0"/>
                  </a:moveTo>
                  <a:lnTo>
                    <a:pt x="252813" y="3950"/>
                  </a:lnTo>
                  <a:lnTo>
                    <a:pt x="206386" y="15386"/>
                  </a:lnTo>
                  <a:lnTo>
                    <a:pt x="163092" y="33686"/>
                  </a:lnTo>
                  <a:lnTo>
                    <a:pt x="123553" y="58228"/>
                  </a:lnTo>
                  <a:lnTo>
                    <a:pt x="88392" y="88392"/>
                  </a:lnTo>
                  <a:lnTo>
                    <a:pt x="58228" y="123553"/>
                  </a:lnTo>
                  <a:lnTo>
                    <a:pt x="33686" y="163092"/>
                  </a:lnTo>
                  <a:lnTo>
                    <a:pt x="15386" y="206386"/>
                  </a:lnTo>
                  <a:lnTo>
                    <a:pt x="3950" y="252813"/>
                  </a:lnTo>
                  <a:lnTo>
                    <a:pt x="0" y="301751"/>
                  </a:lnTo>
                  <a:lnTo>
                    <a:pt x="3950" y="350690"/>
                  </a:lnTo>
                  <a:lnTo>
                    <a:pt x="15386" y="397117"/>
                  </a:lnTo>
                  <a:lnTo>
                    <a:pt x="33686" y="440411"/>
                  </a:lnTo>
                  <a:lnTo>
                    <a:pt x="58228" y="479950"/>
                  </a:lnTo>
                  <a:lnTo>
                    <a:pt x="88392" y="515111"/>
                  </a:lnTo>
                  <a:lnTo>
                    <a:pt x="123553" y="545275"/>
                  </a:lnTo>
                  <a:lnTo>
                    <a:pt x="163092" y="569817"/>
                  </a:lnTo>
                  <a:lnTo>
                    <a:pt x="206386" y="588117"/>
                  </a:lnTo>
                  <a:lnTo>
                    <a:pt x="252813" y="599553"/>
                  </a:lnTo>
                  <a:lnTo>
                    <a:pt x="301751" y="603503"/>
                  </a:lnTo>
                  <a:lnTo>
                    <a:pt x="350690" y="599553"/>
                  </a:lnTo>
                  <a:lnTo>
                    <a:pt x="397117" y="588117"/>
                  </a:lnTo>
                  <a:lnTo>
                    <a:pt x="440411" y="569817"/>
                  </a:lnTo>
                  <a:lnTo>
                    <a:pt x="479950" y="545275"/>
                  </a:lnTo>
                  <a:lnTo>
                    <a:pt x="515111" y="515111"/>
                  </a:lnTo>
                  <a:lnTo>
                    <a:pt x="545275" y="479950"/>
                  </a:lnTo>
                  <a:lnTo>
                    <a:pt x="569817" y="440411"/>
                  </a:lnTo>
                  <a:lnTo>
                    <a:pt x="588117" y="397117"/>
                  </a:lnTo>
                  <a:lnTo>
                    <a:pt x="599553" y="350690"/>
                  </a:lnTo>
                  <a:lnTo>
                    <a:pt x="603503" y="301751"/>
                  </a:lnTo>
                  <a:lnTo>
                    <a:pt x="599553" y="252813"/>
                  </a:lnTo>
                  <a:lnTo>
                    <a:pt x="588117" y="206386"/>
                  </a:lnTo>
                  <a:lnTo>
                    <a:pt x="569817" y="163092"/>
                  </a:lnTo>
                  <a:lnTo>
                    <a:pt x="545275" y="123553"/>
                  </a:lnTo>
                  <a:lnTo>
                    <a:pt x="515111" y="88392"/>
                  </a:lnTo>
                  <a:lnTo>
                    <a:pt x="479950" y="58228"/>
                  </a:lnTo>
                  <a:lnTo>
                    <a:pt x="440411" y="33686"/>
                  </a:lnTo>
                  <a:lnTo>
                    <a:pt x="397117" y="15386"/>
                  </a:lnTo>
                  <a:lnTo>
                    <a:pt x="350690" y="3950"/>
                  </a:lnTo>
                  <a:lnTo>
                    <a:pt x="301751" y="0"/>
                  </a:lnTo>
                  <a:close/>
                </a:path>
              </a:pathLst>
            </a:custGeom>
            <a:solidFill>
              <a:srgbClr val="1F4E79"/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56276" y="1955177"/>
              <a:ext cx="277609" cy="326124"/>
            </a:xfrm>
            <a:prstGeom prst="rect">
              <a:avLst/>
            </a:prstGeom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</p:pic>
      </p:grpSp>
      <p:sp>
        <p:nvSpPr>
          <p:cNvPr id="17" name="object 17"/>
          <p:cNvSpPr txBox="1"/>
          <p:nvPr/>
        </p:nvSpPr>
        <p:spPr>
          <a:xfrm>
            <a:off x="4608122" y="2564366"/>
            <a:ext cx="20447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60">
                <a:solidFill>
                  <a:srgbClr val="1F4E79"/>
                </a:solidFill>
                <a:latin typeface="Tahoma"/>
                <a:cs typeface="Tahoma"/>
              </a:rPr>
              <a:t>Voice</a:t>
            </a:r>
            <a:r>
              <a:rPr sz="1600" b="1" spc="75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600" b="1">
                <a:solidFill>
                  <a:srgbClr val="1F4E79"/>
                </a:solidFill>
                <a:latin typeface="Tahoma"/>
                <a:cs typeface="Tahoma"/>
              </a:rPr>
              <a:t>Alert</a:t>
            </a:r>
            <a:r>
              <a:rPr sz="1600" b="1" spc="75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600" b="1" spc="-10">
                <a:solidFill>
                  <a:srgbClr val="1F4E79"/>
                </a:solidFill>
                <a:latin typeface="Tahoma"/>
                <a:cs typeface="Tahoma"/>
              </a:rPr>
              <a:t>System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08122" y="3013336"/>
            <a:ext cx="2941955" cy="424412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5080">
              <a:lnSpc>
                <a:spcPct val="105400"/>
              </a:lnSpc>
              <a:spcBef>
                <a:spcPts val="100"/>
              </a:spcBef>
            </a:pPr>
            <a:r>
              <a:rPr sz="1300">
                <a:solidFill>
                  <a:srgbClr val="545454"/>
                </a:solidFill>
                <a:latin typeface="Calibri"/>
                <a:cs typeface="Calibri"/>
              </a:rPr>
              <a:t>Audible</a:t>
            </a:r>
            <a:r>
              <a:rPr sz="1300" spc="-1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lang="en-US" sz="1300">
                <a:solidFill>
                  <a:srgbClr val="545454"/>
                </a:solidFill>
                <a:latin typeface="Calibri"/>
                <a:cs typeface="Calibri"/>
              </a:rPr>
              <a:t> </a:t>
            </a:r>
            <a:r>
              <a:rPr sz="1300">
                <a:solidFill>
                  <a:srgbClr val="545454"/>
                </a:solidFill>
                <a:latin typeface="Calibri"/>
                <a:cs typeface="Calibri"/>
              </a:rPr>
              <a:t>warning</a:t>
            </a:r>
            <a:r>
              <a:rPr sz="1300" spc="-2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300">
                <a:solidFill>
                  <a:srgbClr val="545454"/>
                </a:solidFill>
                <a:latin typeface="Calibri"/>
                <a:cs typeface="Calibri"/>
              </a:rPr>
              <a:t>on</a:t>
            </a:r>
            <a:r>
              <a:rPr sz="1300" spc="-3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300">
                <a:solidFill>
                  <a:srgbClr val="545454"/>
                </a:solidFill>
                <a:latin typeface="Calibri"/>
                <a:cs typeface="Calibri"/>
              </a:rPr>
              <a:t>detection</a:t>
            </a:r>
            <a:r>
              <a:rPr sz="1300" spc="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300" spc="-25">
                <a:solidFill>
                  <a:srgbClr val="545454"/>
                </a:solidFill>
                <a:latin typeface="Calibri"/>
                <a:cs typeface="Calibri"/>
              </a:rPr>
              <a:t>to </a:t>
            </a:r>
            <a:r>
              <a:rPr sz="1300">
                <a:solidFill>
                  <a:srgbClr val="545454"/>
                </a:solidFill>
                <a:latin typeface="Calibri"/>
                <a:cs typeface="Calibri"/>
              </a:rPr>
              <a:t>deter</a:t>
            </a:r>
            <a:r>
              <a:rPr sz="1300" spc="-2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300" spc="-10">
                <a:solidFill>
                  <a:srgbClr val="545454"/>
                </a:solidFill>
                <a:latin typeface="Calibri"/>
                <a:cs typeface="Calibri"/>
              </a:rPr>
              <a:t>intruders.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145176" y="1493519"/>
            <a:ext cx="3635693" cy="2407310"/>
            <a:chOff x="8145176" y="1493519"/>
            <a:chExt cx="3635693" cy="2407310"/>
          </a:xfrm>
        </p:grpSpPr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45176" y="1493519"/>
              <a:ext cx="3635693" cy="240731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8239759" y="1554479"/>
              <a:ext cx="3514725" cy="2286000"/>
            </a:xfrm>
            <a:custGeom>
              <a:avLst/>
              <a:gdLst/>
              <a:ahLst/>
              <a:cxnLst/>
              <a:rect l="l" t="t" r="r" b="b"/>
              <a:pathLst>
                <a:path w="3514725" h="2286000">
                  <a:moveTo>
                    <a:pt x="3422904" y="0"/>
                  </a:moveTo>
                  <a:lnTo>
                    <a:pt x="91439" y="0"/>
                  </a:lnTo>
                  <a:lnTo>
                    <a:pt x="55849" y="7179"/>
                  </a:lnTo>
                  <a:lnTo>
                    <a:pt x="26784" y="26765"/>
                  </a:lnTo>
                  <a:lnTo>
                    <a:pt x="7186" y="55828"/>
                  </a:lnTo>
                  <a:lnTo>
                    <a:pt x="0" y="91439"/>
                  </a:lnTo>
                  <a:lnTo>
                    <a:pt x="0" y="2194560"/>
                  </a:lnTo>
                  <a:lnTo>
                    <a:pt x="7186" y="2230150"/>
                  </a:lnTo>
                  <a:lnTo>
                    <a:pt x="26784" y="2259215"/>
                  </a:lnTo>
                  <a:lnTo>
                    <a:pt x="55849" y="2278813"/>
                  </a:lnTo>
                  <a:lnTo>
                    <a:pt x="91439" y="2286000"/>
                  </a:lnTo>
                  <a:lnTo>
                    <a:pt x="3422904" y="2286000"/>
                  </a:lnTo>
                  <a:lnTo>
                    <a:pt x="3458515" y="2278813"/>
                  </a:lnTo>
                  <a:lnTo>
                    <a:pt x="3487578" y="2259215"/>
                  </a:lnTo>
                  <a:lnTo>
                    <a:pt x="3507164" y="2230150"/>
                  </a:lnTo>
                  <a:lnTo>
                    <a:pt x="3514344" y="2194560"/>
                  </a:lnTo>
                  <a:lnTo>
                    <a:pt x="3514344" y="91439"/>
                  </a:lnTo>
                  <a:lnTo>
                    <a:pt x="3507164" y="55828"/>
                  </a:lnTo>
                  <a:lnTo>
                    <a:pt x="3487578" y="26765"/>
                  </a:lnTo>
                  <a:lnTo>
                    <a:pt x="3458515" y="7179"/>
                  </a:lnTo>
                  <a:lnTo>
                    <a:pt x="3422904" y="0"/>
                  </a:lnTo>
                  <a:close/>
                </a:path>
              </a:pathLst>
            </a:custGeom>
            <a:solidFill>
              <a:srgbClr val="F4F6F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373871" y="1710943"/>
              <a:ext cx="603885" cy="603885"/>
            </a:xfrm>
            <a:custGeom>
              <a:avLst/>
              <a:gdLst/>
              <a:ahLst/>
              <a:cxnLst/>
              <a:rect l="l" t="t" r="r" b="b"/>
              <a:pathLst>
                <a:path w="603885" h="603885">
                  <a:moveTo>
                    <a:pt x="301752" y="0"/>
                  </a:moveTo>
                  <a:lnTo>
                    <a:pt x="252807" y="3950"/>
                  </a:lnTo>
                  <a:lnTo>
                    <a:pt x="206376" y="15386"/>
                  </a:lnTo>
                  <a:lnTo>
                    <a:pt x="163081" y="33686"/>
                  </a:lnTo>
                  <a:lnTo>
                    <a:pt x="123542" y="58228"/>
                  </a:lnTo>
                  <a:lnTo>
                    <a:pt x="88382" y="88391"/>
                  </a:lnTo>
                  <a:lnTo>
                    <a:pt x="58221" y="123553"/>
                  </a:lnTo>
                  <a:lnTo>
                    <a:pt x="33681" y="163092"/>
                  </a:lnTo>
                  <a:lnTo>
                    <a:pt x="15383" y="206386"/>
                  </a:lnTo>
                  <a:lnTo>
                    <a:pt x="3949" y="252813"/>
                  </a:lnTo>
                  <a:lnTo>
                    <a:pt x="0" y="301751"/>
                  </a:lnTo>
                  <a:lnTo>
                    <a:pt x="3949" y="350690"/>
                  </a:lnTo>
                  <a:lnTo>
                    <a:pt x="15383" y="397117"/>
                  </a:lnTo>
                  <a:lnTo>
                    <a:pt x="33681" y="440411"/>
                  </a:lnTo>
                  <a:lnTo>
                    <a:pt x="58221" y="479950"/>
                  </a:lnTo>
                  <a:lnTo>
                    <a:pt x="88382" y="515112"/>
                  </a:lnTo>
                  <a:lnTo>
                    <a:pt x="123542" y="545275"/>
                  </a:lnTo>
                  <a:lnTo>
                    <a:pt x="163081" y="569817"/>
                  </a:lnTo>
                  <a:lnTo>
                    <a:pt x="206376" y="588117"/>
                  </a:lnTo>
                  <a:lnTo>
                    <a:pt x="252807" y="599553"/>
                  </a:lnTo>
                  <a:lnTo>
                    <a:pt x="301752" y="603503"/>
                  </a:lnTo>
                  <a:lnTo>
                    <a:pt x="350690" y="599553"/>
                  </a:lnTo>
                  <a:lnTo>
                    <a:pt x="397117" y="588117"/>
                  </a:lnTo>
                  <a:lnTo>
                    <a:pt x="440411" y="569817"/>
                  </a:lnTo>
                  <a:lnTo>
                    <a:pt x="479950" y="545275"/>
                  </a:lnTo>
                  <a:lnTo>
                    <a:pt x="515111" y="515111"/>
                  </a:lnTo>
                  <a:lnTo>
                    <a:pt x="545275" y="479950"/>
                  </a:lnTo>
                  <a:lnTo>
                    <a:pt x="569817" y="440411"/>
                  </a:lnTo>
                  <a:lnTo>
                    <a:pt x="588117" y="397117"/>
                  </a:lnTo>
                  <a:lnTo>
                    <a:pt x="599553" y="350690"/>
                  </a:lnTo>
                  <a:lnTo>
                    <a:pt x="603504" y="301751"/>
                  </a:lnTo>
                  <a:lnTo>
                    <a:pt x="599553" y="252813"/>
                  </a:lnTo>
                  <a:lnTo>
                    <a:pt x="588117" y="206386"/>
                  </a:lnTo>
                  <a:lnTo>
                    <a:pt x="569817" y="163092"/>
                  </a:lnTo>
                  <a:lnTo>
                    <a:pt x="545275" y="123553"/>
                  </a:lnTo>
                  <a:lnTo>
                    <a:pt x="515112" y="88391"/>
                  </a:lnTo>
                  <a:lnTo>
                    <a:pt x="479950" y="58228"/>
                  </a:lnTo>
                  <a:lnTo>
                    <a:pt x="440411" y="33686"/>
                  </a:lnTo>
                  <a:lnTo>
                    <a:pt x="397117" y="15386"/>
                  </a:lnTo>
                  <a:lnTo>
                    <a:pt x="350690" y="3950"/>
                  </a:lnTo>
                  <a:lnTo>
                    <a:pt x="301752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 descr="preencoded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86012" y="1884057"/>
              <a:ext cx="277609" cy="277609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8371332" y="2566492"/>
            <a:ext cx="18192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>
                <a:solidFill>
                  <a:srgbClr val="1F4E79"/>
                </a:solidFill>
                <a:latin typeface="Tahoma"/>
                <a:cs typeface="Tahoma"/>
              </a:rPr>
              <a:t>Live</a:t>
            </a:r>
            <a:r>
              <a:rPr sz="1600" b="1" spc="105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600" b="1" spc="-10">
                <a:solidFill>
                  <a:srgbClr val="1F4E79"/>
                </a:solidFill>
                <a:latin typeface="Tahoma"/>
                <a:cs typeface="Tahoma"/>
              </a:rPr>
              <a:t>Surveillance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371332" y="2894177"/>
            <a:ext cx="231965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400"/>
              </a:lnSpc>
              <a:spcBef>
                <a:spcPts val="100"/>
              </a:spcBef>
            </a:pPr>
            <a:r>
              <a:rPr sz="1300" spc="-20">
                <a:solidFill>
                  <a:srgbClr val="545454"/>
                </a:solidFill>
                <a:latin typeface="Calibri"/>
                <a:cs typeface="Calibri"/>
              </a:rPr>
              <a:t>Low-</a:t>
            </a:r>
            <a:r>
              <a:rPr sz="1300">
                <a:solidFill>
                  <a:srgbClr val="545454"/>
                </a:solidFill>
                <a:latin typeface="Calibri"/>
                <a:cs typeface="Calibri"/>
              </a:rPr>
              <a:t>latency</a:t>
            </a:r>
            <a:r>
              <a:rPr sz="1300" spc="-1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300">
                <a:solidFill>
                  <a:srgbClr val="545454"/>
                </a:solidFill>
                <a:latin typeface="Calibri"/>
                <a:cs typeface="Calibri"/>
              </a:rPr>
              <a:t>streaming for</a:t>
            </a:r>
            <a:r>
              <a:rPr sz="1300" spc="-3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300" spc="-10">
                <a:solidFill>
                  <a:srgbClr val="545454"/>
                </a:solidFill>
                <a:latin typeface="Calibri"/>
                <a:cs typeface="Calibri"/>
              </a:rPr>
              <a:t>manual verification.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337303" y="4114799"/>
            <a:ext cx="3514725" cy="2286000"/>
            <a:chOff x="4337303" y="4114799"/>
            <a:chExt cx="3514725" cy="2286000"/>
          </a:xfrm>
        </p:grpSpPr>
        <p:sp>
          <p:nvSpPr>
            <p:cNvPr id="35" name="object 35"/>
            <p:cNvSpPr/>
            <p:nvPr/>
          </p:nvSpPr>
          <p:spPr>
            <a:xfrm>
              <a:off x="4337303" y="4114799"/>
              <a:ext cx="3514725" cy="2286000"/>
            </a:xfrm>
            <a:custGeom>
              <a:avLst/>
              <a:gdLst/>
              <a:ahLst/>
              <a:cxnLst/>
              <a:rect l="l" t="t" r="r" b="b"/>
              <a:pathLst>
                <a:path w="3514725" h="2286000">
                  <a:moveTo>
                    <a:pt x="3422904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2194560"/>
                  </a:lnTo>
                  <a:lnTo>
                    <a:pt x="7179" y="2230150"/>
                  </a:lnTo>
                  <a:lnTo>
                    <a:pt x="26765" y="2259215"/>
                  </a:lnTo>
                  <a:lnTo>
                    <a:pt x="55828" y="2278813"/>
                  </a:lnTo>
                  <a:lnTo>
                    <a:pt x="91440" y="2286000"/>
                  </a:lnTo>
                  <a:lnTo>
                    <a:pt x="3422904" y="2286000"/>
                  </a:lnTo>
                  <a:lnTo>
                    <a:pt x="3458515" y="2278813"/>
                  </a:lnTo>
                  <a:lnTo>
                    <a:pt x="3487578" y="2259215"/>
                  </a:lnTo>
                  <a:lnTo>
                    <a:pt x="3507164" y="2230150"/>
                  </a:lnTo>
                  <a:lnTo>
                    <a:pt x="3514344" y="2194560"/>
                  </a:lnTo>
                  <a:lnTo>
                    <a:pt x="3514344" y="91439"/>
                  </a:lnTo>
                  <a:lnTo>
                    <a:pt x="3507164" y="55828"/>
                  </a:lnTo>
                  <a:lnTo>
                    <a:pt x="3487578" y="26765"/>
                  </a:lnTo>
                  <a:lnTo>
                    <a:pt x="3458515" y="7179"/>
                  </a:lnTo>
                  <a:lnTo>
                    <a:pt x="3422904" y="0"/>
                  </a:lnTo>
                  <a:close/>
                </a:path>
              </a:pathLst>
            </a:custGeom>
            <a:solidFill>
              <a:srgbClr val="F4F6F8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593335" y="4352543"/>
              <a:ext cx="603885" cy="603885"/>
            </a:xfrm>
            <a:custGeom>
              <a:avLst/>
              <a:gdLst/>
              <a:ahLst/>
              <a:cxnLst/>
              <a:rect l="l" t="t" r="r" b="b"/>
              <a:pathLst>
                <a:path w="603885" h="603885">
                  <a:moveTo>
                    <a:pt x="301751" y="0"/>
                  </a:moveTo>
                  <a:lnTo>
                    <a:pt x="252813" y="3950"/>
                  </a:lnTo>
                  <a:lnTo>
                    <a:pt x="206386" y="15386"/>
                  </a:lnTo>
                  <a:lnTo>
                    <a:pt x="163092" y="33686"/>
                  </a:lnTo>
                  <a:lnTo>
                    <a:pt x="123553" y="58228"/>
                  </a:lnTo>
                  <a:lnTo>
                    <a:pt x="88392" y="88391"/>
                  </a:lnTo>
                  <a:lnTo>
                    <a:pt x="58228" y="123553"/>
                  </a:lnTo>
                  <a:lnTo>
                    <a:pt x="33686" y="163092"/>
                  </a:lnTo>
                  <a:lnTo>
                    <a:pt x="15386" y="206386"/>
                  </a:lnTo>
                  <a:lnTo>
                    <a:pt x="3950" y="252813"/>
                  </a:lnTo>
                  <a:lnTo>
                    <a:pt x="0" y="301751"/>
                  </a:lnTo>
                  <a:lnTo>
                    <a:pt x="3950" y="350690"/>
                  </a:lnTo>
                  <a:lnTo>
                    <a:pt x="15386" y="397117"/>
                  </a:lnTo>
                  <a:lnTo>
                    <a:pt x="33686" y="440411"/>
                  </a:lnTo>
                  <a:lnTo>
                    <a:pt x="58228" y="479950"/>
                  </a:lnTo>
                  <a:lnTo>
                    <a:pt x="88392" y="515112"/>
                  </a:lnTo>
                  <a:lnTo>
                    <a:pt x="123553" y="545275"/>
                  </a:lnTo>
                  <a:lnTo>
                    <a:pt x="163092" y="569817"/>
                  </a:lnTo>
                  <a:lnTo>
                    <a:pt x="206386" y="588117"/>
                  </a:lnTo>
                  <a:lnTo>
                    <a:pt x="252813" y="599553"/>
                  </a:lnTo>
                  <a:lnTo>
                    <a:pt x="301751" y="603503"/>
                  </a:lnTo>
                  <a:lnTo>
                    <a:pt x="350690" y="599553"/>
                  </a:lnTo>
                  <a:lnTo>
                    <a:pt x="397117" y="588117"/>
                  </a:lnTo>
                  <a:lnTo>
                    <a:pt x="440411" y="569817"/>
                  </a:lnTo>
                  <a:lnTo>
                    <a:pt x="479950" y="545275"/>
                  </a:lnTo>
                  <a:lnTo>
                    <a:pt x="515111" y="515111"/>
                  </a:lnTo>
                  <a:lnTo>
                    <a:pt x="545275" y="479950"/>
                  </a:lnTo>
                  <a:lnTo>
                    <a:pt x="569817" y="440411"/>
                  </a:lnTo>
                  <a:lnTo>
                    <a:pt x="588117" y="397117"/>
                  </a:lnTo>
                  <a:lnTo>
                    <a:pt x="599553" y="350690"/>
                  </a:lnTo>
                  <a:lnTo>
                    <a:pt x="603503" y="301751"/>
                  </a:lnTo>
                  <a:lnTo>
                    <a:pt x="599553" y="252813"/>
                  </a:lnTo>
                  <a:lnTo>
                    <a:pt x="588117" y="206386"/>
                  </a:lnTo>
                  <a:lnTo>
                    <a:pt x="569817" y="163092"/>
                  </a:lnTo>
                  <a:lnTo>
                    <a:pt x="545275" y="123553"/>
                  </a:lnTo>
                  <a:lnTo>
                    <a:pt x="515111" y="88391"/>
                  </a:lnTo>
                  <a:lnTo>
                    <a:pt x="479950" y="58228"/>
                  </a:lnTo>
                  <a:lnTo>
                    <a:pt x="440411" y="33686"/>
                  </a:lnTo>
                  <a:lnTo>
                    <a:pt x="397117" y="15386"/>
                  </a:lnTo>
                  <a:lnTo>
                    <a:pt x="350690" y="3950"/>
                  </a:lnTo>
                  <a:lnTo>
                    <a:pt x="301751" y="0"/>
                  </a:lnTo>
                  <a:close/>
                </a:path>
              </a:pathLst>
            </a:custGeom>
            <a:solidFill>
              <a:srgbClr val="1F4E79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 descr="preencoded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56276" y="4515497"/>
              <a:ext cx="277609" cy="277609"/>
            </a:xfrm>
            <a:prstGeom prst="rect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</p:pic>
      </p:grpSp>
      <p:sp>
        <p:nvSpPr>
          <p:cNvPr id="38" name="object 38"/>
          <p:cNvSpPr txBox="1"/>
          <p:nvPr/>
        </p:nvSpPr>
        <p:spPr>
          <a:xfrm>
            <a:off x="4581271" y="5004892"/>
            <a:ext cx="27095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5">
                <a:solidFill>
                  <a:srgbClr val="1F4E79"/>
                </a:solidFill>
                <a:latin typeface="Tahoma"/>
                <a:cs typeface="Tahoma"/>
              </a:rPr>
              <a:t>Dynamic</a:t>
            </a:r>
            <a:r>
              <a:rPr sz="1600" b="1" spc="1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600" b="1" spc="50">
                <a:solidFill>
                  <a:srgbClr val="1F4E79"/>
                </a:solidFill>
                <a:latin typeface="Tahoma"/>
                <a:cs typeface="Tahoma"/>
              </a:rPr>
              <a:t>Camera</a:t>
            </a:r>
            <a:r>
              <a:rPr sz="1600" b="1" spc="3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600" b="1" spc="-10">
                <a:solidFill>
                  <a:srgbClr val="1F4E79"/>
                </a:solidFill>
                <a:latin typeface="Tahoma"/>
                <a:cs typeface="Tahoma"/>
              </a:rPr>
              <a:t>Control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581271" y="5454497"/>
            <a:ext cx="3048635" cy="223779"/>
          </a:xfrm>
          <a:prstGeom prst="rect">
            <a:avLst/>
          </a:prstGeom>
        </p:spPr>
        <p:txBody>
          <a:bodyPr vert="horz" wrap="square" lIns="0" tIns="23495" rIns="0" bIns="0" rtlCol="0" anchor="t">
            <a:spAutoFit/>
          </a:bodyPr>
          <a:lstStyle/>
          <a:p>
            <a:pPr marL="12700">
              <a:spcBef>
                <a:spcPts val="185"/>
              </a:spcBef>
            </a:pPr>
            <a:r>
              <a:rPr lang="en-US" sz="1300">
                <a:solidFill>
                  <a:srgbClr val="545454"/>
                </a:solidFill>
                <a:latin typeface="Calibri"/>
                <a:cs typeface="Calibri"/>
              </a:rPr>
              <a:t>Manual</a:t>
            </a:r>
            <a:r>
              <a:rPr sz="1300" spc="-2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300">
                <a:solidFill>
                  <a:srgbClr val="545454"/>
                </a:solidFill>
                <a:latin typeface="Calibri"/>
                <a:cs typeface="Calibri"/>
              </a:rPr>
              <a:t>remote</a:t>
            </a:r>
            <a:r>
              <a:rPr sz="1300" spc="-1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lang="en-US" sz="1300" spc="-25">
                <a:solidFill>
                  <a:srgbClr val="545454"/>
                </a:solidFill>
                <a:latin typeface="Calibri"/>
                <a:cs typeface="Calibri"/>
              </a:rPr>
              <a:t>pan</a:t>
            </a:r>
            <a:r>
              <a:rPr sz="1300">
                <a:solidFill>
                  <a:srgbClr val="545454"/>
                </a:solidFill>
                <a:latin typeface="Calibri"/>
                <a:cs typeface="Calibri"/>
              </a:rPr>
              <a:t>/</a:t>
            </a:r>
            <a:r>
              <a:rPr sz="1300" spc="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300" spc="-10">
                <a:solidFill>
                  <a:srgbClr val="545454"/>
                </a:solidFill>
                <a:latin typeface="Calibri"/>
                <a:cs typeface="Calibri"/>
              </a:rPr>
              <a:t>tilt</a:t>
            </a:r>
            <a:r>
              <a:rPr lang="en-US" sz="1300" spc="-10">
                <a:solidFill>
                  <a:srgbClr val="545454"/>
                </a:solidFill>
                <a:latin typeface="Calibri"/>
                <a:cs typeface="Calibri"/>
              </a:rPr>
              <a:t> from the app</a:t>
            </a:r>
            <a:endParaRPr lang="en-US" sz="13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70189" y="5465775"/>
            <a:ext cx="2485390" cy="21223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endParaRPr sz="1300" spc="-10">
              <a:solidFill>
                <a:srgbClr val="545454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A3D13-836A-40A8-4998-A8A584DF6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94B15712-057E-3DD9-9F9A-609E8E2FC3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0871" y="252300"/>
            <a:ext cx="8051165" cy="34607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8970" algn="l"/>
              </a:tabLst>
            </a:pPr>
            <a:r>
              <a:rPr lang="en-US" sz="2000" spc="-25"/>
              <a:t>04</a:t>
            </a:r>
            <a:r>
              <a:rPr sz="2000"/>
              <a:t>	</a:t>
            </a:r>
            <a:r>
              <a:rPr spc="195"/>
              <a:t>PROPOSED</a:t>
            </a:r>
            <a:r>
              <a:rPr spc="175"/>
              <a:t> </a:t>
            </a:r>
            <a:r>
              <a:rPr spc="110"/>
              <a:t>SOLUTION</a:t>
            </a:r>
            <a:r>
              <a:rPr spc="175"/>
              <a:t> </a:t>
            </a:r>
            <a:r>
              <a:t>&amp;</a:t>
            </a:r>
            <a:r>
              <a:rPr spc="160"/>
              <a:t> </a:t>
            </a:r>
            <a:r>
              <a:rPr spc="175"/>
              <a:t>CORE </a:t>
            </a:r>
            <a:r>
              <a:rPr spc="80"/>
              <a:t>FUNCTIONALITIES</a:t>
            </a:r>
            <a:endParaRPr sz="200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915F20B-7170-6383-E7E4-0E9B10563468}"/>
              </a:ext>
            </a:extLst>
          </p:cNvPr>
          <p:cNvSpPr txBox="1"/>
          <p:nvPr/>
        </p:nvSpPr>
        <p:spPr>
          <a:xfrm>
            <a:off x="10647426" y="324103"/>
            <a:ext cx="122745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I</a:t>
            </a:r>
            <a:r>
              <a:rPr sz="1100" b="1" spc="-4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N</a:t>
            </a:r>
            <a:r>
              <a:rPr sz="1100" b="1" spc="-4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T</a:t>
            </a:r>
            <a:r>
              <a:rPr sz="1100" b="1" spc="-4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R</a:t>
            </a:r>
            <a:r>
              <a:rPr sz="1100" b="1" spc="-4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O</a:t>
            </a:r>
            <a:r>
              <a:rPr sz="1100" b="1" spc="-5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D</a:t>
            </a:r>
            <a:r>
              <a:rPr sz="1100" b="1" spc="-60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U</a:t>
            </a:r>
            <a:r>
              <a:rPr sz="1100" b="1" spc="-60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C</a:t>
            </a:r>
            <a:r>
              <a:rPr sz="1100" b="1" spc="-4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T</a:t>
            </a:r>
            <a:r>
              <a:rPr sz="1100" b="1" spc="-60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I</a:t>
            </a:r>
            <a:r>
              <a:rPr sz="1100" b="1" spc="-5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O</a:t>
            </a:r>
            <a:r>
              <a:rPr sz="1100" b="1" spc="-50">
                <a:solidFill>
                  <a:srgbClr val="BBD3EB"/>
                </a:solidFill>
                <a:latin typeface="Calibri"/>
                <a:cs typeface="Calibri"/>
              </a:rPr>
              <a:t> 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2DDDF0A-8AB9-93BF-3924-F9CBD62F3C98}"/>
              </a:ext>
            </a:extLst>
          </p:cNvPr>
          <p:cNvSpPr txBox="1"/>
          <p:nvPr/>
        </p:nvSpPr>
        <p:spPr>
          <a:xfrm>
            <a:off x="535940" y="1033018"/>
            <a:ext cx="770382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>
                <a:solidFill>
                  <a:srgbClr val="545454"/>
                </a:solidFill>
                <a:latin typeface="Calibri"/>
                <a:cs typeface="Calibri"/>
              </a:rPr>
              <a:t>A</a:t>
            </a:r>
            <a:r>
              <a:rPr sz="1700" spc="-10">
                <a:solidFill>
                  <a:srgbClr val="545454"/>
                </a:solidFill>
                <a:latin typeface="Calibri"/>
                <a:cs typeface="Calibri"/>
              </a:rPr>
              <a:t> proactive,</a:t>
            </a:r>
            <a:r>
              <a:rPr sz="1700" spc="-4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700" spc="-10">
                <a:solidFill>
                  <a:srgbClr val="545454"/>
                </a:solidFill>
                <a:latin typeface="Calibri"/>
                <a:cs typeface="Calibri"/>
              </a:rPr>
              <a:t>multi-</a:t>
            </a:r>
            <a:r>
              <a:rPr sz="1700">
                <a:solidFill>
                  <a:srgbClr val="545454"/>
                </a:solidFill>
                <a:latin typeface="Calibri"/>
                <a:cs typeface="Calibri"/>
              </a:rPr>
              <a:t>layered</a:t>
            </a:r>
            <a:r>
              <a:rPr sz="1700" spc="-5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700">
                <a:solidFill>
                  <a:srgbClr val="545454"/>
                </a:solidFill>
                <a:latin typeface="Calibri"/>
                <a:cs typeface="Calibri"/>
              </a:rPr>
              <a:t>security</a:t>
            </a:r>
            <a:r>
              <a:rPr sz="1700" spc="-4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700">
                <a:solidFill>
                  <a:srgbClr val="545454"/>
                </a:solidFill>
                <a:latin typeface="Calibri"/>
                <a:cs typeface="Calibri"/>
              </a:rPr>
              <a:t>system</a:t>
            </a:r>
            <a:r>
              <a:rPr sz="1700" spc="-3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700">
                <a:solidFill>
                  <a:srgbClr val="545454"/>
                </a:solidFill>
                <a:latin typeface="Calibri"/>
                <a:cs typeface="Calibri"/>
              </a:rPr>
              <a:t>combining</a:t>
            </a:r>
            <a:r>
              <a:rPr sz="1700" spc="-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700" b="1" spc="-10">
                <a:solidFill>
                  <a:srgbClr val="1F4E79"/>
                </a:solidFill>
                <a:latin typeface="Calibri"/>
                <a:cs typeface="Calibri"/>
              </a:rPr>
              <a:t>Edge</a:t>
            </a:r>
            <a:r>
              <a:rPr sz="1700" b="1" spc="-45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1700" b="1">
                <a:solidFill>
                  <a:srgbClr val="1F4E79"/>
                </a:solidFill>
                <a:latin typeface="Calibri"/>
                <a:cs typeface="Calibri"/>
              </a:rPr>
              <a:t>AI</a:t>
            </a:r>
            <a:r>
              <a:rPr sz="1700" b="1" spc="-25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1700">
                <a:solidFill>
                  <a:srgbClr val="545454"/>
                </a:solidFill>
                <a:latin typeface="Calibri"/>
                <a:cs typeface="Calibri"/>
              </a:rPr>
              <a:t>with</a:t>
            </a:r>
            <a:r>
              <a:rPr sz="1700" spc="-4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700">
                <a:solidFill>
                  <a:srgbClr val="545454"/>
                </a:solidFill>
                <a:latin typeface="Calibri"/>
                <a:cs typeface="Calibri"/>
              </a:rPr>
              <a:t>physical</a:t>
            </a:r>
            <a:r>
              <a:rPr sz="1700" spc="-4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700" spc="-10">
                <a:solidFill>
                  <a:srgbClr val="545454"/>
                </a:solidFill>
                <a:latin typeface="Calibri"/>
                <a:cs typeface="Calibri"/>
              </a:rPr>
              <a:t>automation.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6" name="Picture 5" descr="A black box with wires and a black box with a black box on a colorful quilted blanket&#10;&#10;AI-generated content may be incorrect.">
            <a:extLst>
              <a:ext uri="{FF2B5EF4-FFF2-40B4-BE49-F238E27FC236}">
                <a16:creationId xmlns:a16="http://schemas.microsoft.com/office/drawing/2014/main" id="{7F14269A-D4E5-A2C7-8761-C379329A7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241" y="1590260"/>
            <a:ext cx="4696909" cy="3522870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E716876-D7D8-5F2B-4594-F8466C6B3020}"/>
              </a:ext>
            </a:extLst>
          </p:cNvPr>
          <p:cNvSpPr/>
          <p:nvPr/>
        </p:nvSpPr>
        <p:spPr>
          <a:xfrm>
            <a:off x="10452652" y="1584738"/>
            <a:ext cx="1424608" cy="9442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cam</a:t>
            </a:r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841956D-77C1-5687-0A95-4DBF611D8270}"/>
              </a:ext>
            </a:extLst>
          </p:cNvPr>
          <p:cNvSpPr/>
          <p:nvPr/>
        </p:nvSpPr>
        <p:spPr>
          <a:xfrm>
            <a:off x="535608" y="2954129"/>
            <a:ext cx="1424608" cy="944217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err="1">
                <a:ea typeface="Calibri"/>
                <a:cs typeface="Calibri"/>
              </a:rPr>
              <a:t>Oled</a:t>
            </a:r>
            <a:r>
              <a:rPr lang="en-US">
                <a:ea typeface="Calibri"/>
                <a:cs typeface="Calibri"/>
              </a:rPr>
              <a:t> display</a:t>
            </a:r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7203B7A-C043-1884-B606-1B6E8A9D8155}"/>
              </a:ext>
            </a:extLst>
          </p:cNvPr>
          <p:cNvCxnSpPr/>
          <p:nvPr/>
        </p:nvCxnSpPr>
        <p:spPr>
          <a:xfrm flipV="1">
            <a:off x="9155044" y="2096051"/>
            <a:ext cx="1610137" cy="499165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 descr="A black rectangular object with wires attached to it&#10;&#10;AI-generated content may be incorrect.">
            <a:extLst>
              <a:ext uri="{FF2B5EF4-FFF2-40B4-BE49-F238E27FC236}">
                <a16:creationId xmlns:a16="http://schemas.microsoft.com/office/drawing/2014/main" id="{091C4861-1CA9-DAD1-0ACA-CB62101B4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0454" y="1479826"/>
            <a:ext cx="2905961" cy="3898348"/>
          </a:xfrm>
          <a:prstGeom prst="rect">
            <a:avLst/>
          </a:prstGeom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17D0E23-7241-E044-EAEA-28E8830D56FF}"/>
              </a:ext>
            </a:extLst>
          </p:cNvPr>
          <p:cNvSpPr/>
          <p:nvPr/>
        </p:nvSpPr>
        <p:spPr>
          <a:xfrm>
            <a:off x="535608" y="1573695"/>
            <a:ext cx="1424608" cy="9442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esp32</a:t>
            </a:r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01550CA-6B77-F1EE-94C2-00DADB548127}"/>
              </a:ext>
            </a:extLst>
          </p:cNvPr>
          <p:cNvCxnSpPr/>
          <p:nvPr/>
        </p:nvCxnSpPr>
        <p:spPr>
          <a:xfrm>
            <a:off x="1049131" y="2341219"/>
            <a:ext cx="1311962" cy="1786833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A98F61B-DE0B-939A-B780-91A1DC4F8E7C}"/>
              </a:ext>
            </a:extLst>
          </p:cNvPr>
          <p:cNvCxnSpPr/>
          <p:nvPr/>
        </p:nvCxnSpPr>
        <p:spPr>
          <a:xfrm flipH="1" flipV="1">
            <a:off x="997225" y="3564834"/>
            <a:ext cx="2531166" cy="388732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653EE30C-F09C-52BF-D5B1-2ED3AB56DC76}"/>
              </a:ext>
            </a:extLst>
          </p:cNvPr>
          <p:cNvSpPr/>
          <p:nvPr/>
        </p:nvSpPr>
        <p:spPr>
          <a:xfrm>
            <a:off x="535608" y="4632738"/>
            <a:ext cx="1424608" cy="9442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Servo sg90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6DE1505-24DD-A78C-3555-2A63ED70E962}"/>
              </a:ext>
            </a:extLst>
          </p:cNvPr>
          <p:cNvCxnSpPr/>
          <p:nvPr/>
        </p:nvCxnSpPr>
        <p:spPr>
          <a:xfrm flipH="1">
            <a:off x="1311964" y="4897782"/>
            <a:ext cx="2133599" cy="163443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3E640BE-A059-ACE9-8B0F-C652A19353DF}"/>
              </a:ext>
            </a:extLst>
          </p:cNvPr>
          <p:cNvSpPr/>
          <p:nvPr/>
        </p:nvSpPr>
        <p:spPr>
          <a:xfrm>
            <a:off x="4391310" y="5587914"/>
            <a:ext cx="1424608" cy="9442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Pir sensor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EA052F1-DFF0-FBD2-FEEE-C24AFFC409A2}"/>
              </a:ext>
            </a:extLst>
          </p:cNvPr>
          <p:cNvCxnSpPr/>
          <p:nvPr/>
        </p:nvCxnSpPr>
        <p:spPr>
          <a:xfrm flipH="1" flipV="1">
            <a:off x="4745976" y="3143399"/>
            <a:ext cx="57938" cy="2582645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0880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72820" y="243027"/>
            <a:ext cx="5434330" cy="331470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61035" algn="l"/>
              </a:tabLst>
            </a:pPr>
            <a:r>
              <a:rPr lang="en-US" sz="2000" spc="55"/>
              <a:t>05</a:t>
            </a:r>
            <a:r>
              <a:rPr sz="2000"/>
              <a:t>	</a:t>
            </a:r>
            <a:r>
              <a:rPr sz="2000" spc="95"/>
              <a:t>LITERATURE</a:t>
            </a:r>
            <a:r>
              <a:rPr sz="2000" spc="75"/>
              <a:t> </a:t>
            </a:r>
            <a:r>
              <a:rPr sz="2000" spc="114"/>
              <a:t>REVIEW</a:t>
            </a:r>
            <a:r>
              <a:rPr sz="2000" spc="80"/>
              <a:t> </a:t>
            </a:r>
            <a:r>
              <a:rPr sz="2000"/>
              <a:t>&amp;</a:t>
            </a:r>
            <a:r>
              <a:rPr sz="2000" spc="105"/>
              <a:t> </a:t>
            </a:r>
            <a:r>
              <a:rPr sz="2000" spc="75"/>
              <a:t>ANALYSIS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10504678" y="332613"/>
            <a:ext cx="134683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>
                <a:solidFill>
                  <a:srgbClr val="BBD3EB"/>
                </a:solidFill>
                <a:latin typeface="Calibri"/>
                <a:cs typeface="Calibri"/>
              </a:rPr>
              <a:t>I</a:t>
            </a:r>
            <a:r>
              <a:rPr sz="1050" b="1" spc="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050" b="1">
                <a:solidFill>
                  <a:srgbClr val="BBD3EB"/>
                </a:solidFill>
                <a:latin typeface="Calibri"/>
                <a:cs typeface="Calibri"/>
              </a:rPr>
              <a:t>N</a:t>
            </a:r>
            <a:r>
              <a:rPr sz="1050" b="1" spc="130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050" b="1">
                <a:solidFill>
                  <a:srgbClr val="BBD3EB"/>
                </a:solidFill>
                <a:latin typeface="Calibri"/>
                <a:cs typeface="Calibri"/>
              </a:rPr>
              <a:t>T</a:t>
            </a:r>
            <a:r>
              <a:rPr sz="1050" b="1" spc="70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050" b="1">
                <a:solidFill>
                  <a:srgbClr val="BBD3EB"/>
                </a:solidFill>
                <a:latin typeface="Calibri"/>
                <a:cs typeface="Calibri"/>
              </a:rPr>
              <a:t>R</a:t>
            </a:r>
            <a:r>
              <a:rPr sz="1050" b="1" spc="7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050" b="1">
                <a:solidFill>
                  <a:srgbClr val="BBD3EB"/>
                </a:solidFill>
                <a:latin typeface="Calibri"/>
                <a:cs typeface="Calibri"/>
              </a:rPr>
              <a:t>O</a:t>
            </a:r>
            <a:r>
              <a:rPr sz="1050" b="1" spc="114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050" b="1">
                <a:solidFill>
                  <a:srgbClr val="BBD3EB"/>
                </a:solidFill>
                <a:latin typeface="Calibri"/>
                <a:cs typeface="Calibri"/>
              </a:rPr>
              <a:t>D</a:t>
            </a:r>
            <a:r>
              <a:rPr sz="1050" b="1" spc="10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050" b="1">
                <a:solidFill>
                  <a:srgbClr val="BBD3EB"/>
                </a:solidFill>
                <a:latin typeface="Calibri"/>
                <a:cs typeface="Calibri"/>
              </a:rPr>
              <a:t>U</a:t>
            </a:r>
            <a:r>
              <a:rPr sz="1050" b="1" spc="6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050" b="1">
                <a:solidFill>
                  <a:srgbClr val="BBD3EB"/>
                </a:solidFill>
                <a:latin typeface="Calibri"/>
                <a:cs typeface="Calibri"/>
              </a:rPr>
              <a:t>C</a:t>
            </a:r>
            <a:r>
              <a:rPr sz="1050" b="1" spc="100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050" b="1">
                <a:solidFill>
                  <a:srgbClr val="BBD3EB"/>
                </a:solidFill>
                <a:latin typeface="Calibri"/>
                <a:cs typeface="Calibri"/>
              </a:rPr>
              <a:t>T</a:t>
            </a:r>
            <a:r>
              <a:rPr sz="1050" b="1" spc="70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050" b="1">
                <a:solidFill>
                  <a:srgbClr val="BBD3EB"/>
                </a:solidFill>
                <a:latin typeface="Calibri"/>
                <a:cs typeface="Calibri"/>
              </a:rPr>
              <a:t>I</a:t>
            </a:r>
            <a:r>
              <a:rPr sz="1050" b="1" spc="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050" b="1">
                <a:solidFill>
                  <a:srgbClr val="BBD3EB"/>
                </a:solidFill>
                <a:latin typeface="Calibri"/>
                <a:cs typeface="Calibri"/>
              </a:rPr>
              <a:t>O</a:t>
            </a:r>
            <a:r>
              <a:rPr sz="1050" b="1" spc="100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050" b="1" spc="-50">
                <a:solidFill>
                  <a:srgbClr val="BBD3EB"/>
                </a:solidFill>
                <a:latin typeface="Calibri"/>
                <a:cs typeface="Calibri"/>
              </a:rPr>
              <a:t>N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4500" y="1015765"/>
            <a:ext cx="10060178" cy="19813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>
                <a:solidFill>
                  <a:srgbClr val="545454"/>
                </a:solidFill>
                <a:latin typeface="Calibri"/>
                <a:cs typeface="Calibri"/>
              </a:rPr>
              <a:t>A</a:t>
            </a:r>
            <a:r>
              <a:rPr sz="1200" spc="-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545454"/>
                </a:solidFill>
                <a:latin typeface="Calibri"/>
                <a:cs typeface="Calibri"/>
              </a:rPr>
              <a:t>systematic</a:t>
            </a:r>
            <a:r>
              <a:rPr sz="1200" spc="-4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545454"/>
                </a:solidFill>
                <a:latin typeface="Calibri"/>
                <a:cs typeface="Calibri"/>
              </a:rPr>
              <a:t>review</a:t>
            </a:r>
            <a:r>
              <a:rPr sz="1200" spc="-2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545454"/>
                </a:solidFill>
                <a:latin typeface="Calibri"/>
                <a:cs typeface="Calibri"/>
              </a:rPr>
              <a:t>across</a:t>
            </a:r>
            <a:r>
              <a:rPr sz="1200" spc="-3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545454"/>
                </a:solidFill>
                <a:latin typeface="Calibri"/>
                <a:cs typeface="Calibri"/>
              </a:rPr>
              <a:t>the</a:t>
            </a:r>
            <a:r>
              <a:rPr sz="1200" spc="-2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545454"/>
                </a:solidFill>
                <a:latin typeface="Calibri"/>
                <a:cs typeface="Calibri"/>
              </a:rPr>
              <a:t>project's</a:t>
            </a:r>
            <a:r>
              <a:rPr sz="1200" spc="-3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545454"/>
                </a:solidFill>
                <a:latin typeface="Calibri"/>
                <a:cs typeface="Calibri"/>
              </a:rPr>
              <a:t>domains</a:t>
            </a:r>
            <a:r>
              <a:rPr sz="1200" spc="-2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545454"/>
                </a:solidFill>
                <a:latin typeface="Calibri"/>
                <a:cs typeface="Calibri"/>
              </a:rPr>
              <a:t>—</a:t>
            </a:r>
            <a:r>
              <a:rPr sz="1200" spc="-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545454"/>
                </a:solidFill>
                <a:latin typeface="Calibri"/>
                <a:cs typeface="Calibri"/>
              </a:rPr>
              <a:t>surveillance,</a:t>
            </a:r>
            <a:r>
              <a:rPr sz="1200" spc="-3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545454"/>
                </a:solidFill>
                <a:latin typeface="Calibri"/>
                <a:cs typeface="Calibri"/>
              </a:rPr>
              <a:t>on-device</a:t>
            </a:r>
            <a:r>
              <a:rPr sz="1200" spc="-2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545454"/>
                </a:solidFill>
                <a:latin typeface="Calibri"/>
                <a:cs typeface="Calibri"/>
              </a:rPr>
              <a:t>vision,</a:t>
            </a:r>
            <a:r>
              <a:rPr sz="1200" spc="-3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545454"/>
                </a:solidFill>
                <a:latin typeface="Calibri"/>
                <a:cs typeface="Calibri"/>
              </a:rPr>
              <a:t>model</a:t>
            </a:r>
            <a:r>
              <a:rPr sz="1200" spc="-4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200" spc="-10">
                <a:solidFill>
                  <a:srgbClr val="545454"/>
                </a:solidFill>
                <a:latin typeface="Calibri"/>
                <a:cs typeface="Calibri"/>
              </a:rPr>
              <a:t>compression,</a:t>
            </a:r>
            <a:r>
              <a:rPr sz="1200" spc="-3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545454"/>
                </a:solidFill>
                <a:latin typeface="Calibri"/>
                <a:cs typeface="Calibri"/>
              </a:rPr>
              <a:t>IoT</a:t>
            </a:r>
            <a:r>
              <a:rPr sz="1200" spc="-2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545454"/>
                </a:solidFill>
                <a:latin typeface="Calibri"/>
                <a:cs typeface="Calibri"/>
              </a:rPr>
              <a:t>&amp; sensing</a:t>
            </a:r>
            <a:r>
              <a:rPr sz="1200" spc="-1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545454"/>
                </a:solidFill>
                <a:latin typeface="Calibri"/>
                <a:cs typeface="Calibri"/>
              </a:rPr>
              <a:t>—</a:t>
            </a:r>
            <a:r>
              <a:rPr sz="1200" spc="-1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545454"/>
                </a:solidFill>
                <a:latin typeface="Calibri"/>
                <a:cs typeface="Calibri"/>
              </a:rPr>
              <a:t>with</a:t>
            </a:r>
            <a:r>
              <a:rPr sz="1200" spc="-3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545454"/>
                </a:solidFill>
                <a:latin typeface="Calibri"/>
                <a:cs typeface="Calibri"/>
              </a:rPr>
              <a:t>the</a:t>
            </a:r>
            <a:r>
              <a:rPr sz="1200" spc="-1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545454"/>
                </a:solidFill>
                <a:latin typeface="Calibri"/>
                <a:cs typeface="Calibri"/>
              </a:rPr>
              <a:t>gap</a:t>
            </a:r>
            <a:r>
              <a:rPr sz="1200" spc="-2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545454"/>
                </a:solidFill>
                <a:latin typeface="Calibri"/>
                <a:cs typeface="Calibri"/>
              </a:rPr>
              <a:t>each</a:t>
            </a:r>
            <a:r>
              <a:rPr sz="1200" spc="-1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545454"/>
                </a:solidFill>
                <a:latin typeface="Calibri"/>
                <a:cs typeface="Calibri"/>
              </a:rPr>
              <a:t>leaves</a:t>
            </a:r>
            <a:r>
              <a:rPr sz="1200" spc="-2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200" spc="-10">
                <a:solidFill>
                  <a:srgbClr val="545454"/>
                </a:solidFill>
                <a:latin typeface="Calibri"/>
                <a:cs typeface="Calibri"/>
              </a:rPr>
              <a:t>open.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637787"/>
              </p:ext>
            </p:extLst>
          </p:nvPr>
        </p:nvGraphicFramePr>
        <p:xfrm>
          <a:off x="160985" y="1330816"/>
          <a:ext cx="11935045" cy="53719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8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1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54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898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30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49860">
                        <a:lnSpc>
                          <a:spcPct val="100000"/>
                        </a:lnSpc>
                      </a:pPr>
                      <a:r>
                        <a:rPr sz="1200" b="1" spc="70">
                          <a:solidFill>
                            <a:srgbClr val="1F4E79"/>
                          </a:solidFill>
                          <a:latin typeface="Tahoma"/>
                          <a:cs typeface="Tahoma"/>
                        </a:rPr>
                        <a:t>THEME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5715" marB="0">
                    <a:lnB w="12700">
                      <a:solidFill>
                        <a:srgbClr val="1F4E79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224154">
                        <a:lnSpc>
                          <a:spcPct val="100000"/>
                        </a:lnSpc>
                      </a:pPr>
                      <a:r>
                        <a:rPr sz="1200" b="1" spc="70">
                          <a:solidFill>
                            <a:srgbClr val="1F4E79"/>
                          </a:solidFill>
                          <a:latin typeface="Tahoma"/>
                          <a:cs typeface="Tahoma"/>
                        </a:rPr>
                        <a:t>KEY </a:t>
                      </a:r>
                      <a:r>
                        <a:rPr sz="1200" b="1" spc="85">
                          <a:solidFill>
                            <a:srgbClr val="1F4E79"/>
                          </a:solidFill>
                          <a:latin typeface="Tahoma"/>
                          <a:cs typeface="Tahoma"/>
                        </a:rPr>
                        <a:t>WORKS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5715" marB="0">
                    <a:lnB w="12700">
                      <a:solidFill>
                        <a:srgbClr val="1F4E79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56210">
                        <a:lnSpc>
                          <a:spcPct val="100000"/>
                        </a:lnSpc>
                      </a:pPr>
                      <a:r>
                        <a:rPr sz="1200" b="1" spc="100">
                          <a:solidFill>
                            <a:srgbClr val="1F4E79"/>
                          </a:solidFill>
                          <a:latin typeface="Tahoma"/>
                          <a:cs typeface="Tahoma"/>
                        </a:rPr>
                        <a:t>WHAT</a:t>
                      </a:r>
                      <a:r>
                        <a:rPr sz="1200" b="1" spc="75">
                          <a:solidFill>
                            <a:srgbClr val="1F4E7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b="1" spc="65">
                          <a:solidFill>
                            <a:srgbClr val="1F4E79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sz="1200" b="1" spc="70">
                          <a:solidFill>
                            <a:srgbClr val="1F4E7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b="1" spc="55">
                          <a:solidFill>
                            <a:srgbClr val="1F4E79"/>
                          </a:solidFill>
                          <a:latin typeface="Tahoma"/>
                          <a:cs typeface="Tahoma"/>
                        </a:rPr>
                        <a:t>LITERATURE</a:t>
                      </a:r>
                      <a:r>
                        <a:rPr sz="1200" b="1" spc="50">
                          <a:solidFill>
                            <a:srgbClr val="1F4E7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b="1" spc="70">
                          <a:solidFill>
                            <a:srgbClr val="1F4E79"/>
                          </a:solidFill>
                          <a:latin typeface="Tahoma"/>
                          <a:cs typeface="Tahoma"/>
                        </a:rPr>
                        <a:t>SHOWS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5715" marB="0">
                    <a:lnB w="12700">
                      <a:solidFill>
                        <a:srgbClr val="1F4E79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50495">
                        <a:lnSpc>
                          <a:spcPct val="100000"/>
                        </a:lnSpc>
                      </a:pPr>
                      <a:r>
                        <a:rPr sz="1200" b="1" spc="9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GAP</a:t>
                      </a:r>
                      <a:r>
                        <a:rPr sz="1200" b="1" spc="8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b="1" spc="-355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→</a:t>
                      </a:r>
                      <a:r>
                        <a:rPr sz="1200" b="1" spc="85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b="1" spc="8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OUR</a:t>
                      </a:r>
                      <a:r>
                        <a:rPr sz="1200" b="1" spc="65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b="1" spc="55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OPPORTUNITY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5715" marB="0">
                    <a:lnB w="12700">
                      <a:solidFill>
                        <a:srgbClr val="1F4E79"/>
                      </a:solidFill>
                      <a:prstDash val="solid"/>
                    </a:lnB>
                    <a:solidFill>
                      <a:srgbClr val="0D8B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49860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  <a:cs typeface="Calibri"/>
                        </a:rPr>
                        <a:t>Cloud</a:t>
                      </a:r>
                      <a:r>
                        <a:rPr sz="1200" b="1" spc="245">
                          <a:solidFill>
                            <a:srgbClr val="1F4E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1200" b="1" spc="130">
                          <a:solidFill>
                            <a:srgbClr val="1F4E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50">
                          <a:solidFill>
                            <a:srgbClr val="1F4E79"/>
                          </a:solidFill>
                          <a:latin typeface="Calibri"/>
                          <a:cs typeface="Calibri"/>
                        </a:rPr>
                        <a:t>com</a:t>
                      </a:r>
                      <a:r>
                        <a:rPr sz="1200" b="1" spc="-10">
                          <a:solidFill>
                            <a:srgbClr val="1F4E79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  <a:cs typeface="Calibri"/>
                        </a:rPr>
                        <a:t>ercial</a:t>
                      </a:r>
                      <a:r>
                        <a:rPr sz="1200" b="1" spc="110">
                          <a:solidFill>
                            <a:srgbClr val="1F4E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  <a:cs typeface="Calibri"/>
                        </a:rPr>
                        <a:t>cam</a:t>
                      </a:r>
                      <a:r>
                        <a:rPr sz="1200" b="1" spc="-35">
                          <a:solidFill>
                            <a:srgbClr val="1F4E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>
                          <a:solidFill>
                            <a:srgbClr val="1F4E79"/>
                          </a:solidFill>
                          <a:latin typeface="Calibri"/>
                          <a:cs typeface="Calibri"/>
                        </a:rPr>
                        <a:t>eras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88900" marB="0">
                    <a:lnT w="12700">
                      <a:solidFill>
                        <a:srgbClr val="1F4E79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223520">
                        <a:lnSpc>
                          <a:spcPct val="100000"/>
                        </a:lnSpc>
                      </a:pPr>
                      <a:r>
                        <a:rPr lang="en-US" sz="1000" spc="45">
                          <a:solidFill>
                            <a:srgbClr val="5454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000">
                          <a:solidFill>
                            <a:srgbClr val="545454"/>
                          </a:solidFill>
                          <a:latin typeface="Calibri"/>
                          <a:cs typeface="Calibri"/>
                        </a:rPr>
                        <a:t>Cloud</a:t>
                      </a:r>
                      <a:endParaRPr lang="en-US" sz="1000" spc="55">
                        <a:solidFill>
                          <a:srgbClr val="545454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99060" marB="0">
                    <a:lnT w="12700">
                      <a:solidFill>
                        <a:srgbClr val="1F4E79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56210">
                        <a:lnSpc>
                          <a:spcPct val="100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Continuous</a:t>
                      </a:r>
                      <a:r>
                        <a:rPr sz="1100" spc="6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cloud</a:t>
                      </a:r>
                      <a:r>
                        <a:rPr sz="1100" spc="4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streaming</a:t>
                      </a:r>
                      <a:r>
                        <a:rPr sz="1100" spc="7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enables</a:t>
                      </a:r>
                      <a:r>
                        <a:rPr sz="1100" spc="6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smart</a:t>
                      </a:r>
                      <a:r>
                        <a:rPr sz="1100" spc="7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alerts.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9060" marB="0">
                    <a:lnT w="12700">
                      <a:solidFill>
                        <a:srgbClr val="1F4E79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50495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Privacy</a:t>
                      </a:r>
                      <a:r>
                        <a:rPr sz="1100" b="1" spc="20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risk,</a:t>
                      </a:r>
                      <a:r>
                        <a:rPr sz="1100" b="1" spc="70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high</a:t>
                      </a:r>
                      <a:r>
                        <a:rPr sz="1100" b="1" spc="65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bandwidth,</a:t>
                      </a:r>
                      <a:r>
                        <a:rPr sz="1100" b="1" spc="114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recurring</a:t>
                      </a:r>
                      <a:r>
                        <a:rPr sz="1100" b="1" spc="35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0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fees.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9060" marB="0">
                    <a:lnT w="12700">
                      <a:solidFill>
                        <a:srgbClr val="1F4E79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3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9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49860">
                        <a:lnSpc>
                          <a:spcPct val="100000"/>
                        </a:lnSpc>
                      </a:pPr>
                      <a:r>
                        <a:rPr sz="1200" b="1" spc="50">
                          <a:solidFill>
                            <a:srgbClr val="1F4E79"/>
                          </a:solidFill>
                          <a:latin typeface="Calibri"/>
                          <a:cs typeface="Calibri"/>
                        </a:rPr>
                        <a:t>Edg</a:t>
                      </a:r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  <a:cs typeface="Calibri"/>
                        </a:rPr>
                        <a:t>e</a:t>
                      </a:r>
                      <a:r>
                        <a:rPr sz="1200" b="1" spc="75">
                          <a:solidFill>
                            <a:srgbClr val="1F4E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1200" b="1" spc="180">
                          <a:solidFill>
                            <a:srgbClr val="1F4E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45">
                          <a:solidFill>
                            <a:srgbClr val="1F4E79"/>
                          </a:solidFill>
                          <a:latin typeface="Calibri"/>
                          <a:cs typeface="Calibri"/>
                        </a:rPr>
                        <a:t>privacy</a:t>
                      </a:r>
                      <a:r>
                        <a:rPr sz="1200" b="1" spc="70">
                          <a:solidFill>
                            <a:srgbClr val="1F4E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50">
                          <a:solidFill>
                            <a:srgbClr val="1F4E79"/>
                          </a:solidFill>
                          <a:latin typeface="Calibri"/>
                          <a:cs typeface="Calibri"/>
                        </a:rPr>
                        <a:t>com</a:t>
                      </a:r>
                      <a:r>
                        <a:rPr sz="1200" b="1" spc="40">
                          <a:solidFill>
                            <a:srgbClr val="1F4E79"/>
                          </a:solidFill>
                          <a:latin typeface="Calibri"/>
                          <a:cs typeface="Calibri"/>
                        </a:rPr>
                        <a:t>puting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88900" marB="0"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2235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1000">
                          <a:solidFill>
                            <a:srgbClr val="545454"/>
                          </a:solidFill>
                          <a:latin typeface="Calibri"/>
                          <a:cs typeface="Calibri"/>
                        </a:rPr>
                        <a:t>Edge devices</a:t>
                      </a:r>
                      <a:endParaRPr sz="1000">
                        <a:solidFill>
                          <a:srgbClr val="2095F3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99060" marB="0"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56210">
                        <a:lnSpc>
                          <a:spcPct val="100000"/>
                        </a:lnSpc>
                      </a:pPr>
                      <a:r>
                        <a:rPr sz="1100" spc="6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Moving</a:t>
                      </a:r>
                      <a:r>
                        <a:rPr sz="1100" spc="23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6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com</a:t>
                      </a:r>
                      <a:r>
                        <a:rPr sz="1100" spc="5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pute</a:t>
                      </a:r>
                      <a:r>
                        <a:rPr sz="1100" spc="15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100" spc="16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100" spc="14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100" spc="5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edg</a:t>
                      </a:r>
                      <a:r>
                        <a:rPr lang="en-US" sz="11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e</a:t>
                      </a:r>
                      <a:r>
                        <a:rPr sz="1100" spc="15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cuts</a:t>
                      </a:r>
                      <a:r>
                        <a:rPr sz="1100" spc="15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4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latency</a:t>
                      </a:r>
                      <a:r>
                        <a:rPr sz="1100" spc="16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1100" spc="24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4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exposure.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0965" marB="0"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504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Most</a:t>
                      </a:r>
                      <a:r>
                        <a:rPr sz="1100" b="1" spc="55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still</a:t>
                      </a:r>
                      <a:r>
                        <a:rPr sz="1100" b="1" spc="35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offload</a:t>
                      </a:r>
                      <a:r>
                        <a:rPr sz="1100" b="1" spc="65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inference;</a:t>
                      </a:r>
                      <a:r>
                        <a:rPr sz="1100" b="1" spc="20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few</a:t>
                      </a:r>
                      <a:r>
                        <a:rPr sz="1100" b="1" spc="30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run</a:t>
                      </a:r>
                      <a:r>
                        <a:rPr sz="1100" b="1" spc="65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fully</a:t>
                      </a:r>
                      <a:r>
                        <a:rPr sz="1100" b="1" spc="45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on-</a:t>
                      </a:r>
                      <a:r>
                        <a:rPr sz="1100" b="1" spc="-10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device.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9060" marB="0"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3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9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49860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  <a:cs typeface="Calibri"/>
                        </a:rPr>
                        <a:t>Detection</a:t>
                      </a:r>
                      <a:r>
                        <a:rPr sz="1200" b="1" spc="-40">
                          <a:solidFill>
                            <a:srgbClr val="1F4E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>
                          <a:solidFill>
                            <a:srgbClr val="1F4E79"/>
                          </a:solidFill>
                          <a:latin typeface="Calibri"/>
                          <a:cs typeface="Calibri"/>
                        </a:rPr>
                        <a:t>models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86995" marB="0"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223520"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545454"/>
                          </a:solidFill>
                          <a:latin typeface="Calibri"/>
                          <a:cs typeface="Calibri"/>
                        </a:rPr>
                        <a:t>YOLO</a:t>
                      </a:r>
                      <a:r>
                        <a:rPr sz="1000" spc="45">
                          <a:solidFill>
                            <a:srgbClr val="5454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000">
                          <a:solidFill>
                            <a:srgbClr val="545454"/>
                          </a:solidFill>
                          <a:latin typeface="Calibri"/>
                          <a:cs typeface="Calibri"/>
                        </a:rPr>
                        <a:t>,</a:t>
                      </a:r>
                      <a:r>
                        <a:rPr sz="1000" spc="70">
                          <a:solidFill>
                            <a:srgbClr val="5454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>
                          <a:solidFill>
                            <a:srgbClr val="545454"/>
                          </a:solidFill>
                          <a:latin typeface="Calibri"/>
                          <a:cs typeface="Calibri"/>
                        </a:rPr>
                        <a:t>SSD</a:t>
                      </a:r>
                      <a:r>
                        <a:rPr sz="1000" spc="15">
                          <a:solidFill>
                            <a:srgbClr val="5454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000">
                          <a:solidFill>
                            <a:srgbClr val="2095F3"/>
                          </a:solidFill>
                          <a:latin typeface="Calibri"/>
                          <a:cs typeface="Calibri"/>
                        </a:rPr>
                        <a:t> </a:t>
                      </a:r>
                      <a:r>
                        <a:rPr sz="1000">
                          <a:solidFill>
                            <a:srgbClr val="545454"/>
                          </a:solidFill>
                          <a:latin typeface="Calibri"/>
                          <a:cs typeface="Calibri"/>
                        </a:rPr>
                        <a:t>vs</a:t>
                      </a:r>
                      <a:r>
                        <a:rPr sz="1000" spc="45">
                          <a:solidFill>
                            <a:srgbClr val="5454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err="1">
                          <a:solidFill>
                            <a:srgbClr val="545454"/>
                          </a:solidFill>
                          <a:latin typeface="Calibri"/>
                          <a:cs typeface="Calibri"/>
                        </a:rPr>
                        <a:t>MobileNet</a:t>
                      </a:r>
                      <a:r>
                        <a:rPr sz="1000" spc="60">
                          <a:solidFill>
                            <a:srgbClr val="5454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endParaRPr lang="en-US" sz="1000" spc="-10">
                        <a:solidFill>
                          <a:srgbClr val="2095F3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99060" marB="0"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56210">
                        <a:lnSpc>
                          <a:spcPct val="100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Accurate</a:t>
                      </a:r>
                      <a:r>
                        <a:rPr sz="1100" spc="8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detectors</a:t>
                      </a:r>
                      <a:r>
                        <a:rPr sz="1100" spc="9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exist;</a:t>
                      </a:r>
                      <a:r>
                        <a:rPr sz="1100" spc="4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depthwise-separable</a:t>
                      </a:r>
                      <a:r>
                        <a:rPr sz="1100" spc="9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conv</a:t>
                      </a:r>
                      <a:r>
                        <a:rPr sz="1100" spc="4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sz="1100" spc="3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far</a:t>
                      </a:r>
                      <a:r>
                        <a:rPr sz="1100" spc="4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lighter.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9060" marB="0"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50495" marR="158115">
                        <a:lnSpc>
                          <a:spcPct val="109400"/>
                        </a:lnSpc>
                      </a:pP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Heavy</a:t>
                      </a:r>
                      <a:r>
                        <a:rPr sz="1100" b="1" spc="35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nets</a:t>
                      </a:r>
                      <a:r>
                        <a:rPr sz="1100" b="1" spc="55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exhaust</a:t>
                      </a:r>
                      <a:r>
                        <a:rPr sz="1100" b="1" spc="55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520</a:t>
                      </a:r>
                      <a:r>
                        <a:rPr sz="1100" b="1" spc="75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KB</a:t>
                      </a:r>
                      <a:r>
                        <a:rPr sz="1100" b="1" spc="60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SRAM</a:t>
                      </a:r>
                      <a:r>
                        <a:rPr sz="1100" b="1" spc="80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(1–3</a:t>
                      </a:r>
                      <a:r>
                        <a:rPr sz="1100" b="1" spc="85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FPS,</a:t>
                      </a:r>
                      <a:r>
                        <a:rPr sz="1100" b="1" spc="20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brownouts);</a:t>
                      </a:r>
                      <a:r>
                        <a:rPr sz="1100" b="1" spc="105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light</a:t>
                      </a:r>
                      <a:r>
                        <a:rPr sz="1100" b="1" spc="35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nets</a:t>
                      </a:r>
                      <a:r>
                        <a:rPr sz="1100" b="1" spc="55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target</a:t>
                      </a:r>
                      <a:r>
                        <a:rPr sz="1100" b="1" spc="500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phones,</a:t>
                      </a:r>
                      <a:r>
                        <a:rPr sz="1100" b="1" spc="55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not</a:t>
                      </a:r>
                      <a:r>
                        <a:rPr sz="1100" b="1" spc="50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100" b="1" spc="45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~100</a:t>
                      </a:r>
                      <a:r>
                        <a:rPr sz="1100" b="1" spc="70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KB</a:t>
                      </a:r>
                      <a:r>
                        <a:rPr sz="1100" b="1" spc="45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0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MCU.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3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9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49860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  <a:cs typeface="Calibri"/>
                        </a:rPr>
                        <a:t>Model</a:t>
                      </a:r>
                      <a:r>
                        <a:rPr sz="1200" b="1" spc="-30">
                          <a:solidFill>
                            <a:srgbClr val="1F4E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>
                          <a:solidFill>
                            <a:srgbClr val="1F4E79"/>
                          </a:solidFill>
                          <a:latin typeface="Calibri"/>
                          <a:cs typeface="Calibri"/>
                        </a:rPr>
                        <a:t>compression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87630" marB="0"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223520"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545454"/>
                          </a:solidFill>
                          <a:latin typeface="Calibri"/>
                          <a:cs typeface="Calibri"/>
                        </a:rPr>
                        <a:t>INT8</a:t>
                      </a:r>
                      <a:r>
                        <a:rPr sz="1000" spc="30">
                          <a:solidFill>
                            <a:srgbClr val="5454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>
                          <a:solidFill>
                            <a:srgbClr val="545454"/>
                          </a:solidFill>
                          <a:latin typeface="Calibri"/>
                          <a:cs typeface="Calibri"/>
                        </a:rPr>
                        <a:t>quant</a:t>
                      </a:r>
                      <a:r>
                        <a:rPr lang="en-US" sz="1000">
                          <a:solidFill>
                            <a:srgbClr val="545454"/>
                          </a:solidFill>
                          <a:latin typeface="Calibri"/>
                          <a:cs typeface="Calibri"/>
                        </a:rPr>
                        <a:t>,</a:t>
                      </a:r>
                      <a:r>
                        <a:rPr sz="1000" spc="55">
                          <a:solidFill>
                            <a:srgbClr val="5454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>
                          <a:solidFill>
                            <a:srgbClr val="545454"/>
                          </a:solidFill>
                          <a:latin typeface="Calibri"/>
                          <a:cs typeface="Calibri"/>
                        </a:rPr>
                        <a:t>distillation</a:t>
                      </a:r>
                      <a:endParaRPr sz="1000" spc="60">
                        <a:solidFill>
                          <a:srgbClr val="545454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56210">
                        <a:lnSpc>
                          <a:spcPct val="100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~4×</a:t>
                      </a:r>
                      <a:r>
                        <a:rPr sz="1100" spc="4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smaller</a:t>
                      </a:r>
                      <a:r>
                        <a:rPr sz="1100" spc="4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models</a:t>
                      </a:r>
                      <a:r>
                        <a:rPr sz="1100" spc="5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with</a:t>
                      </a:r>
                      <a:r>
                        <a:rPr sz="1100" spc="4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integer-only</a:t>
                      </a:r>
                      <a:r>
                        <a:rPr sz="1100" spc="9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math.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50495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100" b="1" spc="40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real</a:t>
                      </a:r>
                      <a:r>
                        <a:rPr sz="1100" b="1" spc="45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quantization</a:t>
                      </a:r>
                      <a:r>
                        <a:rPr sz="1100" b="1" spc="85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gap;</a:t>
                      </a:r>
                      <a:r>
                        <a:rPr sz="1100" b="1" spc="40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tiny</a:t>
                      </a:r>
                      <a:r>
                        <a:rPr sz="1100" b="1" spc="35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models</a:t>
                      </a:r>
                      <a:r>
                        <a:rPr sz="1100" b="1" spc="55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lose</a:t>
                      </a:r>
                      <a:r>
                        <a:rPr sz="1100" b="1" spc="35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generalization.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3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4688">
                <a:tc>
                  <a:txBody>
                    <a:bodyPr/>
                    <a:lstStyle/>
                    <a:p>
                      <a:pPr marL="14986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69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rgbClr val="1F4E79"/>
                          </a:solidFill>
                          <a:latin typeface="Calibri"/>
                          <a:ea typeface="+mn-ea"/>
                          <a:cs typeface="Calibri"/>
                        </a:rPr>
                        <a:t>Hardware-optimized libraries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22352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000">
                          <a:solidFill>
                            <a:srgbClr val="545454"/>
                          </a:solidFill>
                          <a:latin typeface="Calibri"/>
                          <a:ea typeface="+mn-ea"/>
                          <a:cs typeface="Calibri"/>
                        </a:rPr>
                        <a:t>CMSIS-NN ,</a:t>
                      </a:r>
                      <a:r>
                        <a:rPr lang="en-US" sz="1000">
                          <a:solidFill>
                            <a:srgbClr val="2095F3"/>
                          </a:solidFill>
                          <a:latin typeface="Calibri"/>
                          <a:ea typeface="+mn-ea"/>
                          <a:cs typeface="Calibri"/>
                        </a:rPr>
                        <a:t> </a:t>
                      </a:r>
                      <a:r>
                        <a:rPr lang="en-US" sz="1000">
                          <a:solidFill>
                            <a:srgbClr val="545454"/>
                          </a:solidFill>
                          <a:latin typeface="Calibri"/>
                          <a:ea typeface="+mn-ea"/>
                          <a:cs typeface="Calibri"/>
                        </a:rPr>
                        <a:t>ESP-NN;</a:t>
                      </a:r>
                    </a:p>
                    <a:p>
                      <a:pPr marL="22352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000">
                          <a:solidFill>
                            <a:srgbClr val="545454"/>
                          </a:solidFill>
                          <a:latin typeface="Calibri"/>
                          <a:ea typeface="+mn-ea"/>
                          <a:cs typeface="Calibri"/>
                        </a:rPr>
                        <a:t>TFLite-Micro </a:t>
                      </a:r>
                      <a:endParaRPr lang="en-US" sz="1000">
                        <a:solidFill>
                          <a:srgbClr val="2095F3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99695" marB="0"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5621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Calibri"/>
                          <a:ea typeface="+mn-ea"/>
                          <a:cs typeface="Calibri"/>
                        </a:rPr>
                        <a:t>   CPU-specific assembly kernels yield 3–5× speedup; OS-         free inference runtime.</a:t>
                      </a:r>
                    </a:p>
                  </a:txBody>
                  <a:tcPr marL="0" marR="0" marT="99695" marB="0"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0495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7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>
                          <a:solidFill>
                            <a:srgbClr val="224944"/>
                          </a:solidFill>
                          <a:latin typeface="Calibri"/>
                          <a:ea typeface="+mn-ea"/>
                          <a:cs typeface="Calibri"/>
                        </a:rPr>
                        <a:t>Few combine custom kernels with on-device CNN on a ~$10 MCU.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endParaRPr sz="1100">
                        <a:solidFill>
                          <a:srgbClr val="333333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99695" marB="0"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3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79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49860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  <a:cs typeface="Calibri"/>
                        </a:rPr>
                        <a:t>Sensing</a:t>
                      </a:r>
                      <a:r>
                        <a:rPr sz="1200" b="1" spc="-15">
                          <a:solidFill>
                            <a:srgbClr val="1F4E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1200" b="1" spc="-25">
                          <a:solidFill>
                            <a:srgbClr val="1F4E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>
                          <a:solidFill>
                            <a:srgbClr val="1F4E79"/>
                          </a:solidFill>
                          <a:latin typeface="Calibri"/>
                          <a:cs typeface="Calibri"/>
                        </a:rPr>
                        <a:t>connectivity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87630" marB="0"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223520">
                        <a:lnSpc>
                          <a:spcPct val="100000"/>
                        </a:lnSpc>
                      </a:pPr>
                      <a:r>
                        <a:rPr sz="1100">
                          <a:solidFill>
                            <a:srgbClr val="545454"/>
                          </a:solidFill>
                          <a:latin typeface="Calibri"/>
                          <a:cs typeface="Calibri"/>
                        </a:rPr>
                        <a:t>PIR</a:t>
                      </a:r>
                      <a:r>
                        <a:rPr sz="1100" spc="40">
                          <a:solidFill>
                            <a:srgbClr val="5454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>
                          <a:solidFill>
                            <a:srgbClr val="545454"/>
                          </a:solidFill>
                          <a:latin typeface="Calibri"/>
                          <a:cs typeface="Calibri"/>
                        </a:rPr>
                        <a:t>motion;</a:t>
                      </a:r>
                      <a:r>
                        <a:rPr sz="1100" spc="75">
                          <a:solidFill>
                            <a:srgbClr val="5454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>
                          <a:solidFill>
                            <a:srgbClr val="545454"/>
                          </a:solidFill>
                          <a:latin typeface="Calibri"/>
                          <a:cs typeface="Calibri"/>
                        </a:rPr>
                        <a:t>MQTT</a:t>
                      </a:r>
                      <a:r>
                        <a:rPr sz="1100" spc="55">
                          <a:solidFill>
                            <a:srgbClr val="5454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endParaRPr lang="en-US" sz="1100">
                        <a:solidFill>
                          <a:srgbClr val="545454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56210">
                        <a:lnSpc>
                          <a:spcPct val="100000"/>
                        </a:lnSpc>
                      </a:pPr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Cheap</a:t>
                      </a:r>
                      <a:r>
                        <a:rPr sz="1100" spc="6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triggers;</a:t>
                      </a:r>
                      <a:r>
                        <a:rPr sz="1100" spc="9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lightweight</a:t>
                      </a:r>
                      <a:r>
                        <a:rPr sz="1100" spc="7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pub/sub;</a:t>
                      </a:r>
                      <a:r>
                        <a:rPr sz="1100" spc="6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urban-sound</a:t>
                      </a:r>
                      <a:r>
                        <a:rPr sz="1100" spc="8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classification.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50495" marR="109220">
                        <a:lnSpc>
                          <a:spcPct val="109400"/>
                        </a:lnSpc>
                      </a:pP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PIR</a:t>
                      </a:r>
                      <a:r>
                        <a:rPr sz="1100" b="1" spc="55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alone</a:t>
                      </a:r>
                      <a:r>
                        <a:rPr sz="1100" b="1" spc="45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100" b="1" spc="40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85–95%</a:t>
                      </a:r>
                      <a:r>
                        <a:rPr sz="1100" b="1" spc="70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false</a:t>
                      </a:r>
                      <a:r>
                        <a:rPr sz="1100" b="1" spc="45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alarms;</a:t>
                      </a:r>
                      <a:r>
                        <a:rPr sz="1100" b="1" spc="55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MQTT</a:t>
                      </a:r>
                      <a:r>
                        <a:rPr sz="1100" b="1" spc="55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demos</a:t>
                      </a:r>
                      <a:r>
                        <a:rPr sz="1100" b="1" spc="60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are</a:t>
                      </a:r>
                      <a:r>
                        <a:rPr sz="1100" b="1" spc="35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LAN-only;</a:t>
                      </a:r>
                      <a:r>
                        <a:rPr sz="1100" b="1" spc="70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audio</a:t>
                      </a:r>
                      <a:r>
                        <a:rPr sz="1100" b="1" spc="50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rarely</a:t>
                      </a:r>
                      <a:r>
                        <a:rPr sz="1100" b="1" spc="500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fused</a:t>
                      </a:r>
                      <a:r>
                        <a:rPr sz="1100" b="1" spc="50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with</a:t>
                      </a:r>
                      <a:r>
                        <a:rPr sz="1100" b="1" spc="40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>
                          <a:solidFill>
                            <a:srgbClr val="224944"/>
                          </a:solidFill>
                          <a:latin typeface="Calibri"/>
                          <a:cs typeface="Calibri"/>
                        </a:rPr>
                        <a:t>vision.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3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5012" y="243027"/>
            <a:ext cx="4833620" cy="331470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48970" algn="l"/>
              </a:tabLst>
            </a:pPr>
            <a:r>
              <a:rPr lang="en-US" sz="2000" spc="-25"/>
              <a:t>06</a:t>
            </a:r>
            <a:r>
              <a:rPr sz="2000"/>
              <a:t>	</a:t>
            </a:r>
            <a:r>
              <a:rPr sz="2000" spc="130"/>
              <a:t>FOUNDATIONS</a:t>
            </a:r>
            <a:r>
              <a:rPr sz="2000" spc="105"/>
              <a:t> </a:t>
            </a:r>
            <a:r>
              <a:rPr sz="2000" spc="225"/>
              <a:t>WE</a:t>
            </a:r>
            <a:r>
              <a:rPr sz="2000" spc="125"/>
              <a:t> </a:t>
            </a:r>
            <a:r>
              <a:rPr sz="2000" spc="90"/>
              <a:t>BUILD</a:t>
            </a:r>
            <a:r>
              <a:rPr sz="2000" spc="100"/>
              <a:t> </a:t>
            </a:r>
            <a:r>
              <a:rPr sz="2000" spc="130"/>
              <a:t>ON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10690606" y="328041"/>
            <a:ext cx="120650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10">
                <a:solidFill>
                  <a:srgbClr val="BBD3EB"/>
                </a:solidFill>
                <a:latin typeface="Microsoft JhengHei"/>
                <a:cs typeface="Microsoft JhengHei"/>
              </a:rPr>
              <a:t>I</a:t>
            </a:r>
            <a:r>
              <a:rPr sz="1050" b="1" spc="-95">
                <a:solidFill>
                  <a:srgbClr val="BBD3EB"/>
                </a:solidFill>
                <a:latin typeface="Microsoft JhengHei"/>
                <a:cs typeface="Microsoft JhengHei"/>
              </a:rPr>
              <a:t> </a:t>
            </a:r>
            <a:r>
              <a:rPr sz="1050" b="1" spc="55">
                <a:solidFill>
                  <a:srgbClr val="BBD3EB"/>
                </a:solidFill>
                <a:latin typeface="Microsoft JhengHei"/>
                <a:cs typeface="Microsoft JhengHei"/>
              </a:rPr>
              <a:t>NTRODUCTI</a:t>
            </a:r>
            <a:r>
              <a:rPr sz="1050" b="1" spc="-95">
                <a:solidFill>
                  <a:srgbClr val="BBD3EB"/>
                </a:solidFill>
                <a:latin typeface="Microsoft JhengHei"/>
                <a:cs typeface="Microsoft JhengHei"/>
              </a:rPr>
              <a:t> </a:t>
            </a:r>
            <a:r>
              <a:rPr sz="1050" b="1" spc="-25">
                <a:solidFill>
                  <a:srgbClr val="BBD3EB"/>
                </a:solidFill>
                <a:latin typeface="Microsoft JhengHei"/>
                <a:cs typeface="Microsoft JhengHei"/>
              </a:rPr>
              <a:t>ON</a:t>
            </a:r>
            <a:endParaRPr sz="105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4500" y="932003"/>
            <a:ext cx="7429372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-75">
                <a:solidFill>
                  <a:srgbClr val="545454"/>
                </a:solidFill>
                <a:latin typeface="+mj-lt"/>
                <a:cs typeface="Microsoft JhengHei"/>
              </a:rPr>
              <a:t>We don't just cite these techniques  we benchmarked and adapted them(18 model variants; see “AI Vision”).</a:t>
            </a:r>
            <a:endParaRPr sz="1400" b="1">
              <a:latin typeface="+mj-lt"/>
              <a:cs typeface="Microsoft JhengHe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94638" y="1601850"/>
            <a:ext cx="1563370" cy="36258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ct val="107600"/>
              </a:lnSpc>
              <a:spcBef>
                <a:spcPts val="35"/>
              </a:spcBef>
            </a:pPr>
            <a:r>
              <a:rPr sz="1100" b="1" err="1">
                <a:solidFill>
                  <a:srgbClr val="1F4E79"/>
                </a:solidFill>
                <a:latin typeface="Tahoma"/>
                <a:cs typeface="Tahoma"/>
              </a:rPr>
              <a:t>Depthwise</a:t>
            </a:r>
            <a:r>
              <a:rPr sz="1100" b="1">
                <a:solidFill>
                  <a:srgbClr val="1F4E79"/>
                </a:solidFill>
                <a:latin typeface="Tahoma"/>
                <a:cs typeface="Tahoma"/>
              </a:rPr>
              <a:t>-</a:t>
            </a:r>
            <a:r>
              <a:rPr sz="1100" b="1" spc="-10">
                <a:solidFill>
                  <a:srgbClr val="1F4E79"/>
                </a:solidFill>
                <a:latin typeface="Tahoma"/>
                <a:cs typeface="Tahoma"/>
              </a:rPr>
              <a:t>separable </a:t>
            </a:r>
            <a:r>
              <a:rPr sz="1100" b="1" spc="20">
                <a:solidFill>
                  <a:srgbClr val="1F4E79"/>
                </a:solidFill>
                <a:latin typeface="Tahoma"/>
                <a:cs typeface="Tahoma"/>
              </a:rPr>
              <a:t>convolutions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4682" y="2133980"/>
            <a:ext cx="2917825" cy="4013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7800"/>
              </a:lnSpc>
              <a:spcBef>
                <a:spcPts val="100"/>
              </a:spcBef>
            </a:pPr>
            <a:r>
              <a:rPr sz="1200">
                <a:solidFill>
                  <a:srgbClr val="545454"/>
                </a:solidFill>
                <a:latin typeface="+mj-lt"/>
                <a:cs typeface="Microsoft JhengHei"/>
              </a:rPr>
              <a:t>Factorize</a:t>
            </a:r>
            <a:r>
              <a:rPr sz="1200" spc="-10">
                <a:solidFill>
                  <a:srgbClr val="545454"/>
                </a:solidFill>
                <a:latin typeface="+mj-lt"/>
                <a:cs typeface="Microsoft JhengHei"/>
              </a:rPr>
              <a:t> </a:t>
            </a:r>
            <a:r>
              <a:rPr sz="1200">
                <a:solidFill>
                  <a:srgbClr val="545454"/>
                </a:solidFill>
                <a:latin typeface="+mj-lt"/>
                <a:cs typeface="Microsoft JhengHei"/>
              </a:rPr>
              <a:t>conv</a:t>
            </a:r>
            <a:r>
              <a:rPr sz="1200" spc="-25">
                <a:solidFill>
                  <a:srgbClr val="545454"/>
                </a:solidFill>
                <a:latin typeface="+mj-lt"/>
                <a:cs typeface="Microsoft JhengHei"/>
              </a:rPr>
              <a:t> </a:t>
            </a:r>
            <a:r>
              <a:rPr sz="1200">
                <a:solidFill>
                  <a:srgbClr val="545454"/>
                </a:solidFill>
                <a:latin typeface="+mj-lt"/>
                <a:cs typeface="Microsoft JhengHei"/>
              </a:rPr>
              <a:t>into</a:t>
            </a:r>
            <a:r>
              <a:rPr sz="1200" spc="-35">
                <a:solidFill>
                  <a:srgbClr val="545454"/>
                </a:solidFill>
                <a:latin typeface="+mj-lt"/>
                <a:cs typeface="Microsoft JhengHei"/>
              </a:rPr>
              <a:t> </a:t>
            </a:r>
            <a:r>
              <a:rPr sz="1200" spc="-10">
                <a:solidFill>
                  <a:srgbClr val="545454"/>
                </a:solidFill>
                <a:latin typeface="+mj-lt"/>
                <a:cs typeface="Microsoft JhengHei"/>
              </a:rPr>
              <a:t>depthwise </a:t>
            </a:r>
            <a:r>
              <a:rPr sz="1200">
                <a:solidFill>
                  <a:srgbClr val="545454"/>
                </a:solidFill>
                <a:latin typeface="+mj-lt"/>
                <a:cs typeface="Microsoft JhengHei"/>
              </a:rPr>
              <a:t>+</a:t>
            </a:r>
            <a:r>
              <a:rPr sz="1200" spc="-35">
                <a:solidFill>
                  <a:srgbClr val="545454"/>
                </a:solidFill>
                <a:latin typeface="+mj-lt"/>
                <a:cs typeface="Microsoft JhengHei"/>
              </a:rPr>
              <a:t> </a:t>
            </a:r>
            <a:r>
              <a:rPr sz="1200">
                <a:solidFill>
                  <a:srgbClr val="545454"/>
                </a:solidFill>
                <a:latin typeface="+mj-lt"/>
                <a:cs typeface="Microsoft JhengHei"/>
              </a:rPr>
              <a:t>1×1</a:t>
            </a:r>
            <a:r>
              <a:rPr sz="1200" spc="-25">
                <a:solidFill>
                  <a:srgbClr val="545454"/>
                </a:solidFill>
                <a:latin typeface="+mj-lt"/>
                <a:cs typeface="Microsoft JhengHei"/>
              </a:rPr>
              <a:t> </a:t>
            </a:r>
            <a:r>
              <a:rPr sz="1200">
                <a:solidFill>
                  <a:srgbClr val="545454"/>
                </a:solidFill>
                <a:latin typeface="+mj-lt"/>
                <a:cs typeface="Microsoft JhengHei"/>
              </a:rPr>
              <a:t>pointwise →</a:t>
            </a:r>
            <a:r>
              <a:rPr sz="1200" spc="-35">
                <a:solidFill>
                  <a:srgbClr val="545454"/>
                </a:solidFill>
                <a:latin typeface="+mj-lt"/>
                <a:cs typeface="Microsoft JhengHei"/>
              </a:rPr>
              <a:t> </a:t>
            </a:r>
            <a:r>
              <a:rPr sz="1200" spc="-25">
                <a:solidFill>
                  <a:srgbClr val="545454"/>
                </a:solidFill>
                <a:latin typeface="+mj-lt"/>
                <a:cs typeface="Microsoft JhengHei"/>
              </a:rPr>
              <a:t>~8–</a:t>
            </a:r>
            <a:r>
              <a:rPr sz="1200">
                <a:solidFill>
                  <a:srgbClr val="545454"/>
                </a:solidFill>
                <a:latin typeface="+mj-lt"/>
                <a:cs typeface="Microsoft JhengHei"/>
              </a:rPr>
              <a:t>10×</a:t>
            </a:r>
            <a:r>
              <a:rPr sz="1200" spc="-25">
                <a:solidFill>
                  <a:srgbClr val="545454"/>
                </a:solidFill>
                <a:latin typeface="+mj-lt"/>
                <a:cs typeface="Microsoft JhengHei"/>
              </a:rPr>
              <a:t> </a:t>
            </a:r>
            <a:r>
              <a:rPr sz="1200">
                <a:solidFill>
                  <a:srgbClr val="545454"/>
                </a:solidFill>
                <a:latin typeface="+mj-lt"/>
                <a:cs typeface="Microsoft JhengHei"/>
              </a:rPr>
              <a:t>fewer</a:t>
            </a:r>
            <a:r>
              <a:rPr sz="1200" spc="-10">
                <a:solidFill>
                  <a:srgbClr val="545454"/>
                </a:solidFill>
                <a:latin typeface="+mj-lt"/>
                <a:cs typeface="Microsoft JhengHei"/>
              </a:rPr>
              <a:t> </a:t>
            </a:r>
            <a:r>
              <a:rPr sz="1200" spc="-20">
                <a:solidFill>
                  <a:srgbClr val="545454"/>
                </a:solidFill>
                <a:latin typeface="+mj-lt"/>
                <a:cs typeface="Microsoft JhengHei"/>
              </a:rPr>
              <a:t>MACs.</a:t>
            </a:r>
            <a:endParaRPr sz="1200">
              <a:latin typeface="+mj-lt"/>
              <a:cs typeface="Microsoft JhengHe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4682" y="2644900"/>
            <a:ext cx="3049118" cy="354584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sz="1100" b="1">
                <a:solidFill>
                  <a:srgbClr val="0D8B7E"/>
                </a:solidFill>
                <a:latin typeface="Microsoft JhengHei"/>
                <a:cs typeface="Microsoft JhengHei"/>
              </a:rPr>
              <a:t>→</a:t>
            </a:r>
            <a:r>
              <a:rPr sz="1100" b="1" spc="60">
                <a:solidFill>
                  <a:srgbClr val="0D8B7E"/>
                </a:solidFill>
                <a:latin typeface="Microsoft JhengHei"/>
                <a:cs typeface="Microsoft JhengHei"/>
              </a:rPr>
              <a:t> </a:t>
            </a:r>
            <a:r>
              <a:rPr sz="1100" b="1">
                <a:solidFill>
                  <a:srgbClr val="0D8B7E"/>
                </a:solidFill>
                <a:latin typeface="Microsoft JhengHei"/>
                <a:cs typeface="Microsoft JhengHei"/>
              </a:rPr>
              <a:t>Enables</a:t>
            </a:r>
            <a:r>
              <a:rPr sz="1100" b="1" spc="45">
                <a:solidFill>
                  <a:srgbClr val="0D8B7E"/>
                </a:solidFill>
                <a:latin typeface="Microsoft JhengHei"/>
                <a:cs typeface="Microsoft JhengHei"/>
              </a:rPr>
              <a:t> </a:t>
            </a:r>
            <a:r>
              <a:rPr sz="1100" b="1">
                <a:solidFill>
                  <a:srgbClr val="0D8B7E"/>
                </a:solidFill>
                <a:latin typeface="Microsoft JhengHei"/>
                <a:cs typeface="Microsoft JhengHei"/>
              </a:rPr>
              <a:t>our</a:t>
            </a:r>
            <a:r>
              <a:rPr sz="1100" b="1" spc="60">
                <a:solidFill>
                  <a:srgbClr val="0D8B7E"/>
                </a:solidFill>
                <a:latin typeface="Microsoft JhengHei"/>
                <a:cs typeface="Microsoft JhengHei"/>
              </a:rPr>
              <a:t> </a:t>
            </a:r>
            <a:r>
              <a:rPr sz="1100" b="1">
                <a:solidFill>
                  <a:srgbClr val="0D8B7E"/>
                </a:solidFill>
                <a:latin typeface="Microsoft JhengHei"/>
                <a:cs typeface="Microsoft JhengHei"/>
              </a:rPr>
              <a:t>from-scratch</a:t>
            </a:r>
            <a:r>
              <a:rPr sz="1100" b="1" spc="50">
                <a:solidFill>
                  <a:srgbClr val="0D8B7E"/>
                </a:solidFill>
                <a:latin typeface="Microsoft JhengHei"/>
                <a:cs typeface="Microsoft JhengHei"/>
              </a:rPr>
              <a:t> </a:t>
            </a:r>
            <a:r>
              <a:rPr sz="1100" b="1">
                <a:solidFill>
                  <a:srgbClr val="0D8B7E"/>
                </a:solidFill>
                <a:latin typeface="Microsoft JhengHei"/>
                <a:cs typeface="Microsoft JhengHei"/>
              </a:rPr>
              <a:t>on-device</a:t>
            </a:r>
            <a:r>
              <a:rPr sz="1100" b="1" spc="35">
                <a:solidFill>
                  <a:srgbClr val="0D8B7E"/>
                </a:solidFill>
                <a:latin typeface="Microsoft JhengHei"/>
                <a:cs typeface="Microsoft JhengHei"/>
              </a:rPr>
              <a:t> </a:t>
            </a:r>
            <a:r>
              <a:rPr sz="1100" b="1">
                <a:solidFill>
                  <a:srgbClr val="0D8B7E"/>
                </a:solidFill>
                <a:latin typeface="Microsoft JhengHei"/>
                <a:cs typeface="Microsoft JhengHei"/>
              </a:rPr>
              <a:t>CNN</a:t>
            </a:r>
            <a:r>
              <a:rPr sz="1100" b="1" spc="55">
                <a:solidFill>
                  <a:srgbClr val="0D8B7E"/>
                </a:solidFill>
                <a:latin typeface="Microsoft JhengHei"/>
                <a:cs typeface="Microsoft JhengHei"/>
              </a:rPr>
              <a:t> </a:t>
            </a:r>
            <a:r>
              <a:rPr lang="en-US" sz="1100" b="1" spc="-10">
                <a:solidFill>
                  <a:srgbClr val="0D8B7E"/>
                </a:solidFill>
                <a:latin typeface="Microsoft JhengHei"/>
                <a:cs typeface="Microsoft JhengHei"/>
              </a:rPr>
              <a:t>(v7)</a:t>
            </a:r>
            <a:endParaRPr lang="en-US" sz="1100">
              <a:solidFill>
                <a:srgbClr val="000000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53405" y="1687449"/>
            <a:ext cx="2519680" cy="18274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107600"/>
              </a:lnSpc>
              <a:spcBef>
                <a:spcPts val="35"/>
              </a:spcBef>
            </a:pPr>
            <a:r>
              <a:rPr sz="1100" b="1">
                <a:solidFill>
                  <a:srgbClr val="1F4E79"/>
                </a:solidFill>
                <a:latin typeface="Tahoma"/>
                <a:cs typeface="Tahoma"/>
              </a:rPr>
              <a:t>INT8 post-training quantization 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543170" y="2137080"/>
            <a:ext cx="269583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95">
                <a:solidFill>
                  <a:srgbClr val="545454"/>
                </a:solidFill>
                <a:latin typeface="+mj-lt"/>
                <a:cs typeface="Microsoft JhengHei"/>
              </a:rPr>
              <a:t>32-</a:t>
            </a:r>
            <a:r>
              <a:rPr sz="1200" spc="-55">
                <a:solidFill>
                  <a:srgbClr val="545454"/>
                </a:solidFill>
                <a:latin typeface="+mj-lt"/>
                <a:cs typeface="Microsoft JhengHei"/>
              </a:rPr>
              <a:t>bit</a:t>
            </a:r>
            <a:r>
              <a:rPr sz="1200" spc="-40">
                <a:solidFill>
                  <a:srgbClr val="545454"/>
                </a:solidFill>
                <a:latin typeface="+mj-lt"/>
                <a:cs typeface="Microsoft JhengHei"/>
              </a:rPr>
              <a:t> </a:t>
            </a:r>
            <a:r>
              <a:rPr sz="1200">
                <a:solidFill>
                  <a:srgbClr val="545454"/>
                </a:solidFill>
                <a:latin typeface="+mj-lt"/>
                <a:cs typeface="Microsoft JhengHei"/>
              </a:rPr>
              <a:t>→</a:t>
            </a:r>
            <a:r>
              <a:rPr sz="1200" spc="-110">
                <a:solidFill>
                  <a:srgbClr val="545454"/>
                </a:solidFill>
                <a:latin typeface="+mj-lt"/>
                <a:cs typeface="Microsoft JhengHei"/>
              </a:rPr>
              <a:t> </a:t>
            </a:r>
            <a:r>
              <a:rPr sz="1200" spc="-105">
                <a:solidFill>
                  <a:srgbClr val="545454"/>
                </a:solidFill>
                <a:latin typeface="+mj-lt"/>
                <a:cs typeface="Microsoft JhengHei"/>
              </a:rPr>
              <a:t>8-</a:t>
            </a:r>
            <a:r>
              <a:rPr sz="1200" spc="-55">
                <a:solidFill>
                  <a:srgbClr val="545454"/>
                </a:solidFill>
                <a:latin typeface="+mj-lt"/>
                <a:cs typeface="Microsoft JhengHei"/>
              </a:rPr>
              <a:t>bit</a:t>
            </a:r>
            <a:r>
              <a:rPr sz="1200" spc="-25">
                <a:solidFill>
                  <a:srgbClr val="545454"/>
                </a:solidFill>
                <a:latin typeface="+mj-lt"/>
                <a:cs typeface="Microsoft JhengHei"/>
              </a:rPr>
              <a:t> </a:t>
            </a:r>
            <a:r>
              <a:rPr sz="1200">
                <a:solidFill>
                  <a:srgbClr val="545454"/>
                </a:solidFill>
                <a:latin typeface="+mj-lt"/>
                <a:cs typeface="Microsoft JhengHei"/>
              </a:rPr>
              <a:t>· </a:t>
            </a:r>
            <a:r>
              <a:rPr sz="1200" spc="-70">
                <a:solidFill>
                  <a:srgbClr val="545454"/>
                </a:solidFill>
                <a:latin typeface="+mj-lt"/>
                <a:cs typeface="Microsoft JhengHei"/>
              </a:rPr>
              <a:t>~75%smaller</a:t>
            </a:r>
            <a:r>
              <a:rPr sz="1200" spc="-10">
                <a:solidFill>
                  <a:srgbClr val="545454"/>
                </a:solidFill>
                <a:latin typeface="+mj-lt"/>
                <a:cs typeface="Microsoft JhengHei"/>
              </a:rPr>
              <a:t> </a:t>
            </a:r>
            <a:r>
              <a:rPr sz="1200">
                <a:solidFill>
                  <a:srgbClr val="545454"/>
                </a:solidFill>
                <a:latin typeface="+mj-lt"/>
                <a:cs typeface="Microsoft JhengHei"/>
              </a:rPr>
              <a:t>· </a:t>
            </a:r>
            <a:r>
              <a:rPr sz="1200" spc="-75">
                <a:solidFill>
                  <a:srgbClr val="545454"/>
                </a:solidFill>
                <a:latin typeface="+mj-lt"/>
                <a:cs typeface="Microsoft JhengHei"/>
              </a:rPr>
              <a:t>integer-</a:t>
            </a:r>
            <a:r>
              <a:rPr sz="1200" spc="-55">
                <a:solidFill>
                  <a:srgbClr val="545454"/>
                </a:solidFill>
                <a:latin typeface="+mj-lt"/>
                <a:cs typeface="Microsoft JhengHei"/>
              </a:rPr>
              <a:t>only</a:t>
            </a:r>
            <a:r>
              <a:rPr sz="1200" spc="-20">
                <a:solidFill>
                  <a:srgbClr val="545454"/>
                </a:solidFill>
                <a:latin typeface="+mj-lt"/>
                <a:cs typeface="Microsoft JhengHei"/>
              </a:rPr>
              <a:t> math.</a:t>
            </a:r>
            <a:endParaRPr sz="1200">
              <a:latin typeface="+mj-lt"/>
              <a:cs typeface="Microsoft JhengHe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78382" y="2633287"/>
            <a:ext cx="1610360" cy="354584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sz="1100" b="1">
                <a:solidFill>
                  <a:srgbClr val="0D8B7E"/>
                </a:solidFill>
                <a:latin typeface="Microsoft JhengHei"/>
                <a:cs typeface="Microsoft JhengHei"/>
              </a:rPr>
              <a:t>→</a:t>
            </a:r>
            <a:r>
              <a:rPr sz="1100" b="1" spc="-85">
                <a:solidFill>
                  <a:srgbClr val="0D8B7E"/>
                </a:solidFill>
                <a:latin typeface="Microsoft JhengHei"/>
                <a:cs typeface="Microsoft JhengHei"/>
              </a:rPr>
              <a:t> </a:t>
            </a:r>
            <a:r>
              <a:rPr sz="1100" b="1" spc="-40">
                <a:solidFill>
                  <a:srgbClr val="0D8B7E"/>
                </a:solidFill>
                <a:latin typeface="Microsoft JhengHei"/>
                <a:cs typeface="Microsoft JhengHei"/>
              </a:rPr>
              <a:t>Fits</a:t>
            </a:r>
            <a:r>
              <a:rPr sz="1100" b="1" spc="-45">
                <a:solidFill>
                  <a:srgbClr val="0D8B7E"/>
                </a:solidFill>
                <a:latin typeface="Microsoft JhengHei"/>
                <a:cs typeface="Microsoft JhengHei"/>
              </a:rPr>
              <a:t> </a:t>
            </a:r>
            <a:r>
              <a:rPr sz="1100" b="1" spc="-40">
                <a:solidFill>
                  <a:srgbClr val="0D8B7E"/>
                </a:solidFill>
                <a:latin typeface="Microsoft JhengHei"/>
                <a:cs typeface="Microsoft JhengHei"/>
              </a:rPr>
              <a:t>the</a:t>
            </a:r>
            <a:r>
              <a:rPr sz="1100" b="1" spc="-55">
                <a:solidFill>
                  <a:srgbClr val="0D8B7E"/>
                </a:solidFill>
                <a:latin typeface="Microsoft JhengHei"/>
                <a:cs typeface="Microsoft JhengHei"/>
              </a:rPr>
              <a:t> </a:t>
            </a:r>
            <a:r>
              <a:rPr sz="1100" b="1" spc="-95">
                <a:solidFill>
                  <a:srgbClr val="0D8B7E"/>
                </a:solidFill>
                <a:latin typeface="Microsoft JhengHei"/>
                <a:cs typeface="Microsoft JhengHei"/>
              </a:rPr>
              <a:t>~</a:t>
            </a:r>
            <a:r>
              <a:rPr lang="en-US" sz="1100" b="1" spc="-95">
                <a:solidFill>
                  <a:srgbClr val="0D8B7E"/>
                </a:solidFill>
                <a:latin typeface="Microsoft JhengHei"/>
                <a:cs typeface="Microsoft JhengHei"/>
              </a:rPr>
              <a:t>126</a:t>
            </a:r>
            <a:r>
              <a:rPr lang="en-US" sz="1100" b="1" spc="-45">
                <a:solidFill>
                  <a:srgbClr val="0D8B7E"/>
                </a:solidFill>
                <a:latin typeface="Microsoft JhengHei"/>
                <a:cs typeface="Microsoft JhengHei"/>
              </a:rPr>
              <a:t>KB</a:t>
            </a:r>
            <a:r>
              <a:rPr sz="1100" b="1" spc="-60">
                <a:solidFill>
                  <a:srgbClr val="0D8B7E"/>
                </a:solidFill>
                <a:latin typeface="Microsoft JhengHei"/>
                <a:cs typeface="Microsoft JhengHei"/>
              </a:rPr>
              <a:t> </a:t>
            </a:r>
            <a:r>
              <a:rPr sz="1100" b="1" spc="-55">
                <a:solidFill>
                  <a:srgbClr val="0D8B7E"/>
                </a:solidFill>
                <a:latin typeface="Microsoft JhengHei"/>
                <a:cs typeface="Microsoft JhengHei"/>
              </a:rPr>
              <a:t>tensor</a:t>
            </a:r>
            <a:r>
              <a:rPr sz="1100" b="1" spc="-45">
                <a:solidFill>
                  <a:srgbClr val="0D8B7E"/>
                </a:solidFill>
                <a:latin typeface="Microsoft JhengHei"/>
                <a:cs typeface="Microsoft JhengHei"/>
              </a:rPr>
              <a:t> </a:t>
            </a:r>
            <a:r>
              <a:rPr sz="1100" b="1" spc="-20">
                <a:solidFill>
                  <a:srgbClr val="0D8B7E"/>
                </a:solidFill>
                <a:latin typeface="Microsoft JhengHei"/>
                <a:cs typeface="Microsoft JhengHei"/>
              </a:rPr>
              <a:t>arena.</a:t>
            </a:r>
            <a:endParaRPr sz="1100">
              <a:latin typeface="Microsoft JhengHei"/>
              <a:cs typeface="Microsoft JhengHe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294638" y="3727830"/>
            <a:ext cx="2613532" cy="18537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 rtl="0">
              <a:lnSpc>
                <a:spcPct val="107600"/>
              </a:lnSpc>
              <a:spcBef>
                <a:spcPts val="35"/>
              </a:spcBef>
            </a:pPr>
            <a:r>
              <a:rPr lang="en-US" sz="1100" b="1">
                <a:solidFill>
                  <a:srgbClr val="1F4E79"/>
                </a:solidFill>
                <a:latin typeface="Tahoma"/>
                <a:cs typeface="Tahoma"/>
              </a:rPr>
              <a:t>Hardware-optimized kernels </a:t>
            </a:r>
            <a:endParaRPr sz="1100" b="1">
              <a:solidFill>
                <a:srgbClr val="1F4E79"/>
              </a:solidFill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84682" y="4185030"/>
            <a:ext cx="291782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CPU-specific assembly (ESP-NN / CMSIS-NN) replaces generic C → 3–5× speedup.</a:t>
            </a:r>
            <a:endParaRPr lang="en-US" sz="1200"/>
          </a:p>
        </p:txBody>
      </p:sp>
      <p:sp>
        <p:nvSpPr>
          <p:cNvPr id="40" name="object 40"/>
          <p:cNvSpPr txBox="1"/>
          <p:nvPr/>
        </p:nvSpPr>
        <p:spPr>
          <a:xfrm>
            <a:off x="956691" y="4672150"/>
            <a:ext cx="1986723" cy="52386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indent="0" algn="ctr">
              <a:spcBef>
                <a:spcPts val="125"/>
              </a:spcBef>
              <a:buNone/>
            </a:pPr>
            <a:r>
              <a:rPr lang="en-US" sz="1100" b="1">
                <a:solidFill>
                  <a:srgbClr val="0D8B7E"/>
                </a:solidFill>
                <a:latin typeface="Microsoft JhengHei"/>
              </a:rPr>
              <a:t>→ Accelerates inference on the ESP32’s Xtensa LX6 cores.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5153405" y="3727830"/>
            <a:ext cx="2390395" cy="18274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107600"/>
              </a:lnSpc>
              <a:spcBef>
                <a:spcPts val="35"/>
              </a:spcBef>
            </a:pPr>
            <a:r>
              <a:rPr sz="1100" b="1">
                <a:solidFill>
                  <a:srgbClr val="1F4E79"/>
                </a:solidFill>
                <a:latin typeface="Tahoma"/>
                <a:cs typeface="Tahoma"/>
              </a:rPr>
              <a:t>Edge / privacy-by-design 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4543171" y="4185030"/>
            <a:ext cx="216242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rtl="0">
              <a:lnSpc>
                <a:spcPct val="100000"/>
              </a:lnSpc>
              <a:spcBef>
                <a:spcPts val="100"/>
              </a:spcBef>
            </a:pPr>
            <a:r>
              <a:rPr sz="1200" spc="-95">
                <a:solidFill>
                  <a:srgbClr val="545454"/>
                </a:solidFill>
                <a:latin typeface="+mj-lt"/>
              </a:rPr>
              <a:t>Analyze locally; never stream raw video.</a:t>
            </a:r>
          </a:p>
        </p:txBody>
      </p:sp>
      <p:sp>
        <p:nvSpPr>
          <p:cNvPr id="49" name="object 49"/>
          <p:cNvSpPr txBox="1"/>
          <p:nvPr/>
        </p:nvSpPr>
        <p:spPr>
          <a:xfrm>
            <a:off x="4746815" y="4685157"/>
            <a:ext cx="1755139" cy="3545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spcBef>
                <a:spcPts val="125"/>
              </a:spcBef>
            </a:pPr>
            <a:r>
              <a:rPr sz="1100" b="1">
                <a:solidFill>
                  <a:srgbClr val="0D8B7E"/>
                </a:solidFill>
                <a:latin typeface="Microsoft JhengHei"/>
              </a:rPr>
              <a:t>→ Transmit only confirmed threats.</a:t>
            </a:r>
          </a:p>
        </p:txBody>
      </p:sp>
      <p:grpSp>
        <p:nvGrpSpPr>
          <p:cNvPr id="50" name="object 50"/>
          <p:cNvGrpSpPr/>
          <p:nvPr/>
        </p:nvGrpSpPr>
        <p:grpSpPr>
          <a:xfrm>
            <a:off x="8283427" y="1332665"/>
            <a:ext cx="3664626" cy="1956199"/>
            <a:chOff x="8116740" y="3332915"/>
            <a:chExt cx="3664626" cy="1956199"/>
          </a:xfrm>
        </p:grpSpPr>
        <p:pic>
          <p:nvPicPr>
            <p:cNvPr id="51" name="object 5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16740" y="3332915"/>
              <a:ext cx="3664626" cy="1956199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8173593" y="3369945"/>
              <a:ext cx="3558540" cy="1850389"/>
            </a:xfrm>
            <a:custGeom>
              <a:avLst/>
              <a:gdLst/>
              <a:ahLst/>
              <a:cxnLst/>
              <a:rect l="l" t="t" r="r" b="b"/>
              <a:pathLst>
                <a:path w="3558540" h="1850389">
                  <a:moveTo>
                    <a:pt x="0" y="27812"/>
                  </a:moveTo>
                  <a:lnTo>
                    <a:pt x="2182" y="16984"/>
                  </a:lnTo>
                  <a:lnTo>
                    <a:pt x="8127" y="8143"/>
                  </a:lnTo>
                  <a:lnTo>
                    <a:pt x="16930" y="2184"/>
                  </a:lnTo>
                  <a:lnTo>
                    <a:pt x="27685" y="0"/>
                  </a:lnTo>
                  <a:lnTo>
                    <a:pt x="3530346" y="0"/>
                  </a:lnTo>
                  <a:lnTo>
                    <a:pt x="3541174" y="2184"/>
                  </a:lnTo>
                  <a:lnTo>
                    <a:pt x="3550015" y="8143"/>
                  </a:lnTo>
                  <a:lnTo>
                    <a:pt x="3555974" y="16984"/>
                  </a:lnTo>
                  <a:lnTo>
                    <a:pt x="3558158" y="27812"/>
                  </a:lnTo>
                  <a:lnTo>
                    <a:pt x="3558158" y="1822322"/>
                  </a:lnTo>
                  <a:lnTo>
                    <a:pt x="3555974" y="1833131"/>
                  </a:lnTo>
                  <a:lnTo>
                    <a:pt x="3550015" y="1841928"/>
                  </a:lnTo>
                  <a:lnTo>
                    <a:pt x="3541174" y="1847844"/>
                  </a:lnTo>
                  <a:lnTo>
                    <a:pt x="3530346" y="1850008"/>
                  </a:lnTo>
                  <a:lnTo>
                    <a:pt x="27685" y="1850008"/>
                  </a:lnTo>
                  <a:lnTo>
                    <a:pt x="16930" y="1847844"/>
                  </a:lnTo>
                  <a:lnTo>
                    <a:pt x="8127" y="1841928"/>
                  </a:lnTo>
                  <a:lnTo>
                    <a:pt x="2182" y="1833131"/>
                  </a:lnTo>
                  <a:lnTo>
                    <a:pt x="0" y="1822322"/>
                  </a:lnTo>
                  <a:lnTo>
                    <a:pt x="0" y="27812"/>
                  </a:lnTo>
                  <a:close/>
                </a:path>
              </a:pathLst>
            </a:custGeom>
            <a:ln w="12700">
              <a:solidFill>
                <a:srgbClr val="DCE2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8393557" y="3550031"/>
              <a:ext cx="560070" cy="560070"/>
            </a:xfrm>
            <a:custGeom>
              <a:avLst/>
              <a:gdLst/>
              <a:ahLst/>
              <a:cxnLst/>
              <a:rect l="l" t="t" r="r" b="b"/>
              <a:pathLst>
                <a:path w="560070" h="560070">
                  <a:moveTo>
                    <a:pt x="280035" y="0"/>
                  </a:moveTo>
                  <a:lnTo>
                    <a:pt x="234605" y="3664"/>
                  </a:lnTo>
                  <a:lnTo>
                    <a:pt x="191511" y="14272"/>
                  </a:lnTo>
                  <a:lnTo>
                    <a:pt x="151330" y="31248"/>
                  </a:lnTo>
                  <a:lnTo>
                    <a:pt x="114638" y="54014"/>
                  </a:lnTo>
                  <a:lnTo>
                    <a:pt x="82010" y="81994"/>
                  </a:lnTo>
                  <a:lnTo>
                    <a:pt x="54022" y="114610"/>
                  </a:lnTo>
                  <a:lnTo>
                    <a:pt x="31251" y="151287"/>
                  </a:lnTo>
                  <a:lnTo>
                    <a:pt x="14273" y="191446"/>
                  </a:lnTo>
                  <a:lnTo>
                    <a:pt x="3664" y="234512"/>
                  </a:lnTo>
                  <a:lnTo>
                    <a:pt x="0" y="279908"/>
                  </a:lnTo>
                  <a:lnTo>
                    <a:pt x="3664" y="325337"/>
                  </a:lnTo>
                  <a:lnTo>
                    <a:pt x="14273" y="368431"/>
                  </a:lnTo>
                  <a:lnTo>
                    <a:pt x="31251" y="408612"/>
                  </a:lnTo>
                  <a:lnTo>
                    <a:pt x="54022" y="445304"/>
                  </a:lnTo>
                  <a:lnTo>
                    <a:pt x="82010" y="477932"/>
                  </a:lnTo>
                  <a:lnTo>
                    <a:pt x="114638" y="505920"/>
                  </a:lnTo>
                  <a:lnTo>
                    <a:pt x="151330" y="528691"/>
                  </a:lnTo>
                  <a:lnTo>
                    <a:pt x="191511" y="545669"/>
                  </a:lnTo>
                  <a:lnTo>
                    <a:pt x="234605" y="556278"/>
                  </a:lnTo>
                  <a:lnTo>
                    <a:pt x="280035" y="559943"/>
                  </a:lnTo>
                  <a:lnTo>
                    <a:pt x="325433" y="556278"/>
                  </a:lnTo>
                  <a:lnTo>
                    <a:pt x="368509" y="545669"/>
                  </a:lnTo>
                  <a:lnTo>
                    <a:pt x="408683" y="528691"/>
                  </a:lnTo>
                  <a:lnTo>
                    <a:pt x="445376" y="505920"/>
                  </a:lnTo>
                  <a:lnTo>
                    <a:pt x="478012" y="477932"/>
                  </a:lnTo>
                  <a:lnTo>
                    <a:pt x="506010" y="445304"/>
                  </a:lnTo>
                  <a:lnTo>
                    <a:pt x="528794" y="408612"/>
                  </a:lnTo>
                  <a:lnTo>
                    <a:pt x="545784" y="368431"/>
                  </a:lnTo>
                  <a:lnTo>
                    <a:pt x="556402" y="325337"/>
                  </a:lnTo>
                  <a:lnTo>
                    <a:pt x="560070" y="279908"/>
                  </a:lnTo>
                  <a:lnTo>
                    <a:pt x="556402" y="234512"/>
                  </a:lnTo>
                  <a:lnTo>
                    <a:pt x="545784" y="191446"/>
                  </a:lnTo>
                  <a:lnTo>
                    <a:pt x="528794" y="151287"/>
                  </a:lnTo>
                  <a:lnTo>
                    <a:pt x="506010" y="114610"/>
                  </a:lnTo>
                  <a:lnTo>
                    <a:pt x="478012" y="81994"/>
                  </a:lnTo>
                  <a:lnTo>
                    <a:pt x="445376" y="54014"/>
                  </a:lnTo>
                  <a:lnTo>
                    <a:pt x="408683" y="31248"/>
                  </a:lnTo>
                  <a:lnTo>
                    <a:pt x="368509" y="14272"/>
                  </a:lnTo>
                  <a:lnTo>
                    <a:pt x="325433" y="3664"/>
                  </a:lnTo>
                  <a:lnTo>
                    <a:pt x="280035" y="0"/>
                  </a:lnTo>
                  <a:close/>
                </a:path>
              </a:pathLst>
            </a:custGeom>
            <a:solidFill>
              <a:srgbClr val="EAF4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10956" y="3640836"/>
              <a:ext cx="523494" cy="427481"/>
            </a:xfrm>
            <a:prstGeom prst="rect">
              <a:avLst/>
            </a:prstGeom>
          </p:spPr>
        </p:pic>
      </p:grpSp>
      <p:sp>
        <p:nvSpPr>
          <p:cNvPr id="56" name="object 56"/>
          <p:cNvSpPr txBox="1"/>
          <p:nvPr/>
        </p:nvSpPr>
        <p:spPr>
          <a:xfrm>
            <a:off x="9130855" y="1629949"/>
            <a:ext cx="2035860" cy="170560"/>
          </a:xfrm>
          <a:prstGeom prst="rect">
            <a:avLst/>
          </a:prstGeom>
        </p:spPr>
        <p:txBody>
          <a:bodyPr vert="horz" wrap="square" lIns="0" tIns="4445" rIns="0" bIns="0" rtlCol="0" anchor="t">
            <a:spAutoFit/>
          </a:bodyPr>
          <a:lstStyle/>
          <a:p>
            <a:pPr marL="12700" marR="5080">
              <a:lnSpc>
                <a:spcPct val="107600"/>
              </a:lnSpc>
              <a:spcBef>
                <a:spcPts val="35"/>
              </a:spcBef>
            </a:pPr>
            <a:r>
              <a:rPr lang="en-US" sz="1100" b="1">
                <a:solidFill>
                  <a:srgbClr val="1F4E79"/>
                </a:solidFill>
                <a:latin typeface="Tahoma"/>
                <a:cs typeface="Tahoma"/>
              </a:rPr>
              <a:t>FREERTOS</a:t>
            </a:r>
            <a:endParaRPr lang="en-US" sz="1100" b="1">
              <a:solidFill>
                <a:srgbClr val="1F4E79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568627" y="2184779"/>
            <a:ext cx="2609850" cy="19749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1200" spc="-95">
                <a:solidFill>
                  <a:srgbClr val="545454"/>
                </a:solidFill>
                <a:latin typeface="+mj-lt"/>
              </a:rPr>
              <a:t>Use </a:t>
            </a:r>
            <a:r>
              <a:rPr lang="en-US" sz="1200" spc="-95" err="1">
                <a:solidFill>
                  <a:srgbClr val="545454"/>
                </a:solidFill>
                <a:latin typeface="+mj-lt"/>
              </a:rPr>
              <a:t>freeRtos</a:t>
            </a:r>
            <a:r>
              <a:rPr lang="en-US" sz="1200" spc="-95">
                <a:solidFill>
                  <a:srgbClr val="545454"/>
                </a:solidFill>
                <a:latin typeface="+mj-lt"/>
              </a:rPr>
              <a:t> for multiple tasks</a:t>
            </a:r>
            <a:endParaRPr lang="en-US"/>
          </a:p>
        </p:txBody>
      </p:sp>
      <p:sp>
        <p:nvSpPr>
          <p:cNvPr id="58" name="object 58"/>
          <p:cNvSpPr txBox="1"/>
          <p:nvPr/>
        </p:nvSpPr>
        <p:spPr>
          <a:xfrm>
            <a:off x="8568627" y="2684907"/>
            <a:ext cx="2571750" cy="354584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 algn="ctr">
              <a:spcBef>
                <a:spcPts val="125"/>
              </a:spcBef>
            </a:pPr>
            <a:r>
              <a:rPr lang="en-US" sz="1100" b="1">
                <a:solidFill>
                  <a:srgbClr val="0D8B7E"/>
                </a:solidFill>
                <a:latin typeface="Microsoft JhengHei"/>
                <a:ea typeface="Microsoft JhengHei"/>
              </a:rPr>
              <a:t>-&gt; enables use to control servo smoothly 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DB5C06D-0368-28DC-257E-6B160836F69F}"/>
              </a:ext>
            </a:extLst>
          </p:cNvPr>
          <p:cNvSpPr txBox="1"/>
          <p:nvPr/>
        </p:nvSpPr>
        <p:spPr>
          <a:xfrm>
            <a:off x="585012" y="1510029"/>
            <a:ext cx="3323158" cy="1834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PK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63AA893-1FB2-02B6-F5B8-18E8908D9AEB}"/>
              </a:ext>
            </a:extLst>
          </p:cNvPr>
          <p:cNvSpPr txBox="1"/>
          <p:nvPr/>
        </p:nvSpPr>
        <p:spPr>
          <a:xfrm>
            <a:off x="4438402" y="3385365"/>
            <a:ext cx="3323158" cy="1850029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PK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FDB22D1-5211-02E6-7E57-9DA86580E17A}"/>
              </a:ext>
            </a:extLst>
          </p:cNvPr>
          <p:cNvSpPr txBox="1"/>
          <p:nvPr/>
        </p:nvSpPr>
        <p:spPr>
          <a:xfrm>
            <a:off x="4438970" y="1440705"/>
            <a:ext cx="3323158" cy="1850029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PK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C982C4B-1B5F-7B78-D3A4-5453E9E2A701}"/>
              </a:ext>
            </a:extLst>
          </p:cNvPr>
          <p:cNvSpPr txBox="1"/>
          <p:nvPr/>
        </p:nvSpPr>
        <p:spPr>
          <a:xfrm>
            <a:off x="585012" y="3385999"/>
            <a:ext cx="3323158" cy="1850029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PK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FEE06A9-6918-4EEB-AAD2-81A98D8AADCC}"/>
              </a:ext>
            </a:extLst>
          </p:cNvPr>
          <p:cNvSpPr txBox="1"/>
          <p:nvPr/>
        </p:nvSpPr>
        <p:spPr>
          <a:xfrm>
            <a:off x="545627" y="1385816"/>
            <a:ext cx="3323158" cy="1850029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PK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B14D490-3AC7-AF8A-82A3-22B31CB801AE}"/>
              </a:ext>
            </a:extLst>
          </p:cNvPr>
          <p:cNvSpPr txBox="1"/>
          <p:nvPr/>
        </p:nvSpPr>
        <p:spPr>
          <a:xfrm>
            <a:off x="8279142" y="1455165"/>
            <a:ext cx="3323158" cy="1850029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PK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88825" cy="6858000"/>
          </a:xfrm>
          <a:custGeom>
            <a:avLst/>
            <a:gdLst/>
            <a:ahLst/>
            <a:cxnLst/>
            <a:rect l="l" t="t" r="r" b="b"/>
            <a:pathLst>
              <a:path w="12188825" h="6858000">
                <a:moveTo>
                  <a:pt x="12188825" y="0"/>
                </a:moveTo>
                <a:lnTo>
                  <a:pt x="0" y="0"/>
                </a:lnTo>
                <a:lnTo>
                  <a:pt x="0" y="6858000"/>
                </a:lnTo>
                <a:lnTo>
                  <a:pt x="12188825" y="6858000"/>
                </a:lnTo>
                <a:lnTo>
                  <a:pt x="12188825" y="0"/>
                </a:lnTo>
                <a:close/>
              </a:path>
            </a:pathLst>
          </a:custGeom>
          <a:solidFill>
            <a:srgbClr val="1F4E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16365" y="2653030"/>
            <a:ext cx="3250565" cy="30753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0" b="1" spc="-25">
                <a:solidFill>
                  <a:srgbClr val="16395A"/>
                </a:solidFill>
                <a:latin typeface="Tahoma"/>
                <a:cs typeface="Tahoma"/>
              </a:rPr>
              <a:t>02</a:t>
            </a:r>
            <a:endParaRPr sz="20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05805" y="2187067"/>
            <a:ext cx="14719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84555" algn="l"/>
              </a:tabLst>
            </a:pP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P</a:t>
            </a:r>
            <a:r>
              <a:rPr sz="1600" b="1" spc="22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A</a:t>
            </a:r>
            <a:r>
              <a:rPr sz="1600" b="1" spc="22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R</a:t>
            </a:r>
            <a:r>
              <a:rPr sz="1600" b="1" spc="22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 spc="-50">
                <a:solidFill>
                  <a:srgbClr val="2095F3"/>
                </a:solidFill>
                <a:latin typeface="Calibri"/>
                <a:cs typeface="Calibri"/>
              </a:rPr>
              <a:t>T</a:t>
            </a: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	T</a:t>
            </a:r>
            <a:r>
              <a:rPr sz="1600" b="1" spc="22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W</a:t>
            </a:r>
            <a:r>
              <a:rPr sz="1600" b="1" spc="23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 spc="-50">
                <a:solidFill>
                  <a:srgbClr val="2095F3"/>
                </a:solidFill>
                <a:latin typeface="Calibri"/>
                <a:cs typeface="Calibri"/>
              </a:rPr>
              <a:t>O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749802" y="2639390"/>
            <a:ext cx="465963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180"/>
              <a:t>The</a:t>
            </a:r>
            <a:r>
              <a:rPr sz="6000" spc="-60"/>
              <a:t> </a:t>
            </a:r>
            <a:r>
              <a:rPr sz="6000" spc="140"/>
              <a:t>System</a:t>
            </a:r>
            <a:endParaRPr sz="6000"/>
          </a:p>
        </p:txBody>
      </p:sp>
      <p:sp>
        <p:nvSpPr>
          <p:cNvPr id="6" name="object 6"/>
          <p:cNvSpPr/>
          <p:nvPr/>
        </p:nvSpPr>
        <p:spPr>
          <a:xfrm>
            <a:off x="5454396" y="3977640"/>
            <a:ext cx="1280160" cy="55244"/>
          </a:xfrm>
          <a:custGeom>
            <a:avLst/>
            <a:gdLst/>
            <a:ahLst/>
            <a:cxnLst/>
            <a:rect l="l" t="t" r="r" b="b"/>
            <a:pathLst>
              <a:path w="1280159" h="55245">
                <a:moveTo>
                  <a:pt x="1280159" y="0"/>
                </a:moveTo>
                <a:lnTo>
                  <a:pt x="0" y="0"/>
                </a:lnTo>
                <a:lnTo>
                  <a:pt x="0" y="54863"/>
                </a:lnTo>
                <a:lnTo>
                  <a:pt x="1280159" y="54863"/>
                </a:lnTo>
                <a:lnTo>
                  <a:pt x="1280159" y="0"/>
                </a:lnTo>
                <a:close/>
              </a:path>
            </a:pathLst>
          </a:custGeom>
          <a:solidFill>
            <a:srgbClr val="2095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688082" y="4234053"/>
            <a:ext cx="678560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BBD3EB"/>
                </a:solidFill>
                <a:latin typeface="Calibri"/>
                <a:cs typeface="Calibri"/>
              </a:rPr>
              <a:t>End-to-</a:t>
            </a: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end</a:t>
            </a:r>
            <a:r>
              <a:rPr sz="1800" spc="-20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BBD3EB"/>
                </a:solidFill>
                <a:latin typeface="Calibri"/>
                <a:cs typeface="Calibri"/>
              </a:rPr>
              <a:t>architecture</a:t>
            </a:r>
            <a:r>
              <a:rPr sz="1800" spc="-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—</a:t>
            </a:r>
            <a:r>
              <a:rPr sz="1800" spc="-30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from</a:t>
            </a:r>
            <a:r>
              <a:rPr sz="1800" spc="-2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the</a:t>
            </a:r>
            <a:r>
              <a:rPr sz="1800" spc="-10">
                <a:solidFill>
                  <a:srgbClr val="BBD3EB"/>
                </a:solidFill>
                <a:latin typeface="Calibri"/>
                <a:cs typeface="Calibri"/>
              </a:rPr>
              <a:t> ESP32-</a:t>
            </a: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CAM</a:t>
            </a:r>
            <a:r>
              <a:rPr sz="1800" spc="-3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edge</a:t>
            </a:r>
            <a:r>
              <a:rPr sz="1800" spc="-20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to</a:t>
            </a:r>
            <a:r>
              <a:rPr sz="1800" spc="-30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the</a:t>
            </a:r>
            <a:r>
              <a:rPr sz="1800" spc="-1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mobile</a:t>
            </a:r>
            <a:r>
              <a:rPr sz="1800" spc="-10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 spc="-20">
                <a:solidFill>
                  <a:srgbClr val="BBD3EB"/>
                </a:solidFill>
                <a:latin typeface="Calibri"/>
                <a:cs typeface="Calibri"/>
              </a:rPr>
              <a:t>app.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64478" y="4499229"/>
            <a:ext cx="4337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>
                <a:solidFill>
                  <a:srgbClr val="BBD3EB"/>
                </a:solidFill>
                <a:latin typeface="Calibri"/>
                <a:cs typeface="Calibri"/>
              </a:rPr>
              <a:t>app.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78916" y="243027"/>
            <a:ext cx="7701915" cy="331470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>
              <a:spcBef>
                <a:spcPts val="105"/>
              </a:spcBef>
              <a:tabLst>
                <a:tab pos="655320" algn="l"/>
              </a:tabLst>
            </a:pPr>
            <a:r>
              <a:rPr lang="en-US" sz="2000" spc="-25"/>
              <a:t>07 </a:t>
            </a:r>
            <a:r>
              <a:rPr lang="en-US" sz="2000" spc="110"/>
              <a:t>SYSTEM</a:t>
            </a:r>
            <a:r>
              <a:rPr sz="2000" spc="70"/>
              <a:t> </a:t>
            </a:r>
            <a:r>
              <a:rPr sz="2000" spc="114"/>
              <a:t>ARCHITECTURE</a:t>
            </a:r>
            <a:r>
              <a:rPr sz="2000" spc="75"/>
              <a:t> </a:t>
            </a:r>
            <a:r>
              <a:rPr sz="2000" spc="180"/>
              <a:t>—</a:t>
            </a:r>
            <a:r>
              <a:rPr sz="2000" spc="114"/>
              <a:t> </a:t>
            </a:r>
            <a:r>
              <a:rPr sz="2000" spc="-125"/>
              <a:t>v1:</a:t>
            </a:r>
            <a:r>
              <a:rPr sz="2000" spc="114"/>
              <a:t> </a:t>
            </a:r>
            <a:r>
              <a:rPr sz="2000" spc="170"/>
              <a:t>LOCAL</a:t>
            </a:r>
            <a:r>
              <a:rPr sz="2000" spc="90"/>
              <a:t> </a:t>
            </a:r>
            <a:r>
              <a:rPr sz="2000" spc="140"/>
              <a:t>PROTOTYPE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10828781" y="332613"/>
            <a:ext cx="104711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10">
                <a:solidFill>
                  <a:srgbClr val="BBD3EB"/>
                </a:solidFill>
                <a:latin typeface="Microsoft JhengHei"/>
                <a:cs typeface="Microsoft JhengHei"/>
              </a:rPr>
              <a:t>T</a:t>
            </a:r>
            <a:r>
              <a:rPr sz="1050" b="1" spc="-85">
                <a:solidFill>
                  <a:srgbClr val="BBD3EB"/>
                </a:solidFill>
                <a:latin typeface="Microsoft JhengHei"/>
                <a:cs typeface="Microsoft JhengHei"/>
              </a:rPr>
              <a:t> </a:t>
            </a:r>
            <a:r>
              <a:rPr sz="1050" b="1">
                <a:solidFill>
                  <a:srgbClr val="BBD3EB"/>
                </a:solidFill>
                <a:latin typeface="Microsoft JhengHei"/>
                <a:cs typeface="Microsoft JhengHei"/>
              </a:rPr>
              <a:t>H</a:t>
            </a:r>
            <a:r>
              <a:rPr sz="1050" b="1" spc="-90">
                <a:solidFill>
                  <a:srgbClr val="BBD3EB"/>
                </a:solidFill>
                <a:latin typeface="Microsoft JhengHei"/>
                <a:cs typeface="Microsoft JhengHei"/>
              </a:rPr>
              <a:t> </a:t>
            </a:r>
            <a:r>
              <a:rPr sz="1050" b="1">
                <a:solidFill>
                  <a:srgbClr val="BBD3EB"/>
                </a:solidFill>
                <a:latin typeface="Microsoft JhengHei"/>
                <a:cs typeface="Microsoft JhengHei"/>
              </a:rPr>
              <a:t>E</a:t>
            </a:r>
            <a:r>
              <a:rPr sz="1050" b="1" spc="355">
                <a:solidFill>
                  <a:srgbClr val="BBD3EB"/>
                </a:solidFill>
                <a:latin typeface="Microsoft JhengHei"/>
                <a:cs typeface="Microsoft JhengHei"/>
              </a:rPr>
              <a:t> </a:t>
            </a:r>
            <a:r>
              <a:rPr sz="1050" b="1">
                <a:solidFill>
                  <a:srgbClr val="BBD3EB"/>
                </a:solidFill>
                <a:latin typeface="Microsoft JhengHei"/>
                <a:cs typeface="Microsoft JhengHei"/>
              </a:rPr>
              <a:t>S</a:t>
            </a:r>
            <a:r>
              <a:rPr sz="1050" b="1" spc="-90">
                <a:solidFill>
                  <a:srgbClr val="BBD3EB"/>
                </a:solidFill>
                <a:latin typeface="Microsoft JhengHei"/>
                <a:cs typeface="Microsoft JhengHei"/>
              </a:rPr>
              <a:t> </a:t>
            </a:r>
            <a:r>
              <a:rPr sz="1050" b="1">
                <a:solidFill>
                  <a:srgbClr val="BBD3EB"/>
                </a:solidFill>
                <a:latin typeface="Microsoft JhengHei"/>
                <a:cs typeface="Microsoft JhengHei"/>
              </a:rPr>
              <a:t>Y</a:t>
            </a:r>
            <a:r>
              <a:rPr sz="1050" b="1" spc="-85">
                <a:solidFill>
                  <a:srgbClr val="BBD3EB"/>
                </a:solidFill>
                <a:latin typeface="Microsoft JhengHei"/>
                <a:cs typeface="Microsoft JhengHei"/>
              </a:rPr>
              <a:t> </a:t>
            </a:r>
            <a:r>
              <a:rPr sz="1050" b="1">
                <a:solidFill>
                  <a:srgbClr val="BBD3EB"/>
                </a:solidFill>
                <a:latin typeface="Microsoft JhengHei"/>
                <a:cs typeface="Microsoft JhengHei"/>
              </a:rPr>
              <a:t>S</a:t>
            </a:r>
            <a:r>
              <a:rPr sz="1050" b="1" spc="-90">
                <a:solidFill>
                  <a:srgbClr val="BBD3EB"/>
                </a:solidFill>
                <a:latin typeface="Microsoft JhengHei"/>
                <a:cs typeface="Microsoft JhengHei"/>
              </a:rPr>
              <a:t> </a:t>
            </a:r>
            <a:r>
              <a:rPr sz="1050" b="1" spc="-10">
                <a:solidFill>
                  <a:srgbClr val="BBD3EB"/>
                </a:solidFill>
                <a:latin typeface="Microsoft JhengHei"/>
                <a:cs typeface="Microsoft JhengHei"/>
              </a:rPr>
              <a:t>T</a:t>
            </a:r>
            <a:r>
              <a:rPr sz="1050" b="1" spc="-85">
                <a:solidFill>
                  <a:srgbClr val="BBD3EB"/>
                </a:solidFill>
                <a:latin typeface="Microsoft JhengHei"/>
                <a:cs typeface="Microsoft JhengHei"/>
              </a:rPr>
              <a:t> </a:t>
            </a:r>
            <a:r>
              <a:rPr sz="1050" b="1">
                <a:solidFill>
                  <a:srgbClr val="BBD3EB"/>
                </a:solidFill>
                <a:latin typeface="Microsoft JhengHei"/>
                <a:cs typeface="Microsoft JhengHei"/>
              </a:rPr>
              <a:t>E</a:t>
            </a:r>
            <a:r>
              <a:rPr sz="1050" b="1" spc="-85">
                <a:solidFill>
                  <a:srgbClr val="BBD3EB"/>
                </a:solidFill>
                <a:latin typeface="Microsoft JhengHei"/>
                <a:cs typeface="Microsoft JhengHei"/>
              </a:rPr>
              <a:t> </a:t>
            </a:r>
            <a:r>
              <a:rPr sz="1050" b="1" spc="-50">
                <a:solidFill>
                  <a:srgbClr val="BBD3EB"/>
                </a:solidFill>
                <a:latin typeface="Microsoft JhengHei"/>
                <a:cs typeface="Microsoft JhengHei"/>
              </a:rPr>
              <a:t>M</a:t>
            </a:r>
            <a:endParaRPr sz="1050">
              <a:latin typeface="Microsoft JhengHei"/>
              <a:cs typeface="Microsoft JhengHe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87086" y="1240202"/>
            <a:ext cx="11408410" cy="949960"/>
            <a:chOff x="387086" y="1240202"/>
            <a:chExt cx="11408410" cy="94996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7086" y="1240202"/>
              <a:ext cx="11407920" cy="94933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57200" y="1284986"/>
              <a:ext cx="11275060" cy="815340"/>
            </a:xfrm>
            <a:custGeom>
              <a:avLst/>
              <a:gdLst/>
              <a:ahLst/>
              <a:cxnLst/>
              <a:rect l="l" t="t" r="r" b="b"/>
              <a:pathLst>
                <a:path w="11275060" h="815339">
                  <a:moveTo>
                    <a:pt x="11245977" y="0"/>
                  </a:moveTo>
                  <a:lnTo>
                    <a:pt x="28524" y="0"/>
                  </a:lnTo>
                  <a:lnTo>
                    <a:pt x="17418" y="2250"/>
                  </a:lnTo>
                  <a:lnTo>
                    <a:pt x="8351" y="8382"/>
                  </a:lnTo>
                  <a:lnTo>
                    <a:pt x="2240" y="17466"/>
                  </a:lnTo>
                  <a:lnTo>
                    <a:pt x="0" y="28575"/>
                  </a:lnTo>
                  <a:lnTo>
                    <a:pt x="0" y="786511"/>
                  </a:lnTo>
                  <a:lnTo>
                    <a:pt x="2240" y="797599"/>
                  </a:lnTo>
                  <a:lnTo>
                    <a:pt x="8351" y="806640"/>
                  </a:lnTo>
                  <a:lnTo>
                    <a:pt x="17418" y="812728"/>
                  </a:lnTo>
                  <a:lnTo>
                    <a:pt x="28524" y="814959"/>
                  </a:lnTo>
                  <a:lnTo>
                    <a:pt x="11245977" y="814959"/>
                  </a:lnTo>
                  <a:lnTo>
                    <a:pt x="11257085" y="812728"/>
                  </a:lnTo>
                  <a:lnTo>
                    <a:pt x="11266170" y="806640"/>
                  </a:lnTo>
                  <a:lnTo>
                    <a:pt x="11272301" y="797599"/>
                  </a:lnTo>
                  <a:lnTo>
                    <a:pt x="11274552" y="786511"/>
                  </a:lnTo>
                  <a:lnTo>
                    <a:pt x="11274552" y="28575"/>
                  </a:lnTo>
                  <a:lnTo>
                    <a:pt x="11272301" y="17466"/>
                  </a:lnTo>
                  <a:lnTo>
                    <a:pt x="11266170" y="8382"/>
                  </a:lnTo>
                  <a:lnTo>
                    <a:pt x="11257085" y="2250"/>
                  </a:lnTo>
                  <a:lnTo>
                    <a:pt x="11245977" y="0"/>
                  </a:lnTo>
                  <a:close/>
                </a:path>
              </a:pathLst>
            </a:custGeom>
            <a:solidFill>
              <a:srgbClr val="EAF4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1284986"/>
              <a:ext cx="11275060" cy="815340"/>
            </a:xfrm>
            <a:custGeom>
              <a:avLst/>
              <a:gdLst/>
              <a:ahLst/>
              <a:cxnLst/>
              <a:rect l="l" t="t" r="r" b="b"/>
              <a:pathLst>
                <a:path w="11275060" h="815339">
                  <a:moveTo>
                    <a:pt x="0" y="28575"/>
                  </a:moveTo>
                  <a:lnTo>
                    <a:pt x="2240" y="17466"/>
                  </a:lnTo>
                  <a:lnTo>
                    <a:pt x="8351" y="8382"/>
                  </a:lnTo>
                  <a:lnTo>
                    <a:pt x="17418" y="2250"/>
                  </a:lnTo>
                  <a:lnTo>
                    <a:pt x="28524" y="0"/>
                  </a:lnTo>
                  <a:lnTo>
                    <a:pt x="11245977" y="0"/>
                  </a:lnTo>
                  <a:lnTo>
                    <a:pt x="11257085" y="2250"/>
                  </a:lnTo>
                  <a:lnTo>
                    <a:pt x="11266170" y="8382"/>
                  </a:lnTo>
                  <a:lnTo>
                    <a:pt x="11272301" y="17466"/>
                  </a:lnTo>
                  <a:lnTo>
                    <a:pt x="11274552" y="28575"/>
                  </a:lnTo>
                  <a:lnTo>
                    <a:pt x="11274552" y="786511"/>
                  </a:lnTo>
                  <a:lnTo>
                    <a:pt x="11272301" y="797599"/>
                  </a:lnTo>
                  <a:lnTo>
                    <a:pt x="11266170" y="806640"/>
                  </a:lnTo>
                  <a:lnTo>
                    <a:pt x="11257085" y="812728"/>
                  </a:lnTo>
                  <a:lnTo>
                    <a:pt x="11245977" y="814959"/>
                  </a:lnTo>
                  <a:lnTo>
                    <a:pt x="28524" y="814959"/>
                  </a:lnTo>
                  <a:lnTo>
                    <a:pt x="17418" y="812728"/>
                  </a:lnTo>
                  <a:lnTo>
                    <a:pt x="8351" y="806640"/>
                  </a:lnTo>
                  <a:lnTo>
                    <a:pt x="2240" y="797599"/>
                  </a:lnTo>
                  <a:lnTo>
                    <a:pt x="0" y="786511"/>
                  </a:lnTo>
                  <a:lnTo>
                    <a:pt x="0" y="28575"/>
                  </a:lnTo>
                  <a:close/>
                </a:path>
              </a:pathLst>
            </a:custGeom>
            <a:ln w="12699">
              <a:solidFill>
                <a:srgbClr val="2095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44500" y="939102"/>
            <a:ext cx="5141595" cy="62611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00" spc="-45">
                <a:solidFill>
                  <a:srgbClr val="1F4E79"/>
                </a:solidFill>
                <a:latin typeface="Microsoft JhengHei"/>
                <a:cs typeface="Microsoft JhengHei"/>
              </a:rPr>
              <a:t>One</a:t>
            </a:r>
            <a:r>
              <a:rPr sz="1300" spc="-40">
                <a:solidFill>
                  <a:srgbClr val="1F4E79"/>
                </a:solidFill>
                <a:latin typeface="Microsoft JhengHei"/>
                <a:cs typeface="Microsoft JhengHei"/>
              </a:rPr>
              <a:t> </a:t>
            </a:r>
            <a:r>
              <a:rPr sz="1300" spc="-35">
                <a:solidFill>
                  <a:srgbClr val="1F4E79"/>
                </a:solidFill>
                <a:latin typeface="Microsoft JhengHei"/>
                <a:cs typeface="Microsoft JhengHei"/>
              </a:rPr>
              <a:t>network</a:t>
            </a:r>
            <a:r>
              <a:rPr sz="1300" spc="-45">
                <a:solidFill>
                  <a:srgbClr val="1F4E79"/>
                </a:solidFill>
                <a:latin typeface="Microsoft JhengHei"/>
                <a:cs typeface="Microsoft JhengHei"/>
              </a:rPr>
              <a:t> </a:t>
            </a:r>
            <a:r>
              <a:rPr sz="1300" spc="-20">
                <a:solidFill>
                  <a:srgbClr val="1F4E79"/>
                </a:solidFill>
                <a:latin typeface="Microsoft JhengHei"/>
                <a:cs typeface="Microsoft JhengHei"/>
              </a:rPr>
              <a:t>for</a:t>
            </a:r>
            <a:r>
              <a:rPr sz="1300" spc="-60">
                <a:solidFill>
                  <a:srgbClr val="1F4E79"/>
                </a:solidFill>
                <a:latin typeface="Microsoft JhengHei"/>
                <a:cs typeface="Microsoft JhengHei"/>
              </a:rPr>
              <a:t> </a:t>
            </a:r>
            <a:r>
              <a:rPr sz="1300" spc="-30">
                <a:solidFill>
                  <a:srgbClr val="1F4E79"/>
                </a:solidFill>
                <a:latin typeface="Microsoft JhengHei"/>
                <a:cs typeface="Microsoft JhengHei"/>
              </a:rPr>
              <a:t>everything</a:t>
            </a:r>
            <a:r>
              <a:rPr sz="1300" spc="-50">
                <a:solidFill>
                  <a:srgbClr val="1F4E79"/>
                </a:solidFill>
                <a:latin typeface="Microsoft JhengHei"/>
                <a:cs typeface="Microsoft JhengHei"/>
              </a:rPr>
              <a:t> </a:t>
            </a:r>
            <a:r>
              <a:rPr sz="1300">
                <a:solidFill>
                  <a:srgbClr val="1F4E79"/>
                </a:solidFill>
                <a:latin typeface="Microsoft JhengHei"/>
                <a:cs typeface="Microsoft JhengHei"/>
              </a:rPr>
              <a:t>—</a:t>
            </a:r>
            <a:r>
              <a:rPr sz="1300" spc="-85">
                <a:solidFill>
                  <a:srgbClr val="1F4E79"/>
                </a:solidFill>
                <a:latin typeface="Microsoft JhengHei"/>
                <a:cs typeface="Microsoft JhengHei"/>
              </a:rPr>
              <a:t> </a:t>
            </a:r>
            <a:r>
              <a:rPr sz="1300">
                <a:solidFill>
                  <a:srgbClr val="1F4E79"/>
                </a:solidFill>
                <a:latin typeface="Microsoft JhengHei"/>
                <a:cs typeface="Microsoft JhengHei"/>
              </a:rPr>
              <a:t>a</a:t>
            </a:r>
            <a:r>
              <a:rPr sz="1300" spc="-60">
                <a:solidFill>
                  <a:srgbClr val="1F4E79"/>
                </a:solidFill>
                <a:latin typeface="Microsoft JhengHei"/>
                <a:cs typeface="Microsoft JhengHei"/>
              </a:rPr>
              <a:t> </a:t>
            </a:r>
            <a:r>
              <a:rPr sz="1300" spc="-20">
                <a:solidFill>
                  <a:srgbClr val="1F4E79"/>
                </a:solidFill>
                <a:latin typeface="Microsoft JhengHei"/>
                <a:cs typeface="Microsoft JhengHei"/>
              </a:rPr>
              <a:t>PC</a:t>
            </a:r>
            <a:r>
              <a:rPr sz="1300" spc="-50">
                <a:solidFill>
                  <a:srgbClr val="1F4E79"/>
                </a:solidFill>
                <a:latin typeface="Microsoft JhengHei"/>
                <a:cs typeface="Microsoft JhengHei"/>
              </a:rPr>
              <a:t> </a:t>
            </a:r>
            <a:r>
              <a:rPr sz="1300" spc="-25">
                <a:solidFill>
                  <a:srgbClr val="1F4E79"/>
                </a:solidFill>
                <a:latin typeface="Microsoft JhengHei"/>
                <a:cs typeface="Microsoft JhengHei"/>
              </a:rPr>
              <a:t>must </a:t>
            </a:r>
            <a:r>
              <a:rPr sz="1300" spc="-20">
                <a:solidFill>
                  <a:srgbClr val="1F4E79"/>
                </a:solidFill>
                <a:latin typeface="Microsoft JhengHei"/>
                <a:cs typeface="Microsoft JhengHei"/>
              </a:rPr>
              <a:t>stay</a:t>
            </a:r>
            <a:r>
              <a:rPr sz="1300" spc="-35">
                <a:solidFill>
                  <a:srgbClr val="1F4E79"/>
                </a:solidFill>
                <a:latin typeface="Microsoft JhengHei"/>
                <a:cs typeface="Microsoft JhengHei"/>
              </a:rPr>
              <a:t> </a:t>
            </a:r>
            <a:r>
              <a:rPr sz="1300" spc="-40">
                <a:solidFill>
                  <a:srgbClr val="1F4E79"/>
                </a:solidFill>
                <a:latin typeface="Microsoft JhengHei"/>
                <a:cs typeface="Microsoft JhengHei"/>
              </a:rPr>
              <a:t>powered</a:t>
            </a:r>
            <a:r>
              <a:rPr sz="1300" spc="-55">
                <a:solidFill>
                  <a:srgbClr val="1F4E79"/>
                </a:solidFill>
                <a:latin typeface="Microsoft JhengHei"/>
                <a:cs typeface="Microsoft JhengHei"/>
              </a:rPr>
              <a:t> </a:t>
            </a:r>
            <a:r>
              <a:rPr sz="1300" spc="-10">
                <a:solidFill>
                  <a:srgbClr val="1F4E79"/>
                </a:solidFill>
                <a:latin typeface="Microsoft JhengHei"/>
                <a:cs typeface="Microsoft JhengHei"/>
              </a:rPr>
              <a:t>on</a:t>
            </a:r>
            <a:r>
              <a:rPr sz="1300" spc="-45">
                <a:solidFill>
                  <a:srgbClr val="1F4E79"/>
                </a:solidFill>
                <a:latin typeface="Microsoft JhengHei"/>
                <a:cs typeface="Microsoft JhengHei"/>
              </a:rPr>
              <a:t> </a:t>
            </a:r>
            <a:r>
              <a:rPr sz="1300">
                <a:solidFill>
                  <a:srgbClr val="1F4E79"/>
                </a:solidFill>
                <a:latin typeface="Microsoft JhengHei"/>
                <a:cs typeface="Microsoft JhengHei"/>
              </a:rPr>
              <a:t>at</a:t>
            </a:r>
            <a:r>
              <a:rPr sz="1300" spc="-45">
                <a:solidFill>
                  <a:srgbClr val="1F4E79"/>
                </a:solidFill>
                <a:latin typeface="Microsoft JhengHei"/>
                <a:cs typeface="Microsoft JhengHei"/>
              </a:rPr>
              <a:t> </a:t>
            </a:r>
            <a:r>
              <a:rPr sz="1300" spc="-20">
                <a:solidFill>
                  <a:srgbClr val="1F4E79"/>
                </a:solidFill>
                <a:latin typeface="Microsoft JhengHei"/>
                <a:cs typeface="Microsoft JhengHei"/>
              </a:rPr>
              <a:t>the</a:t>
            </a:r>
            <a:r>
              <a:rPr sz="1300" spc="-40">
                <a:solidFill>
                  <a:srgbClr val="1F4E79"/>
                </a:solidFill>
                <a:latin typeface="Microsoft JhengHei"/>
                <a:cs typeface="Microsoft JhengHei"/>
              </a:rPr>
              <a:t> </a:t>
            </a:r>
            <a:r>
              <a:rPr sz="1300" spc="-10">
                <a:solidFill>
                  <a:srgbClr val="1F4E79"/>
                </a:solidFill>
                <a:latin typeface="Microsoft JhengHei"/>
                <a:cs typeface="Microsoft JhengHei"/>
              </a:rPr>
              <a:t>site.</a:t>
            </a:r>
            <a:endParaRPr sz="1300">
              <a:latin typeface="Microsoft JhengHei"/>
              <a:cs typeface="Microsoft JhengHei"/>
            </a:endParaRPr>
          </a:p>
          <a:p>
            <a:pPr marL="162560">
              <a:lnSpc>
                <a:spcPct val="100000"/>
              </a:lnSpc>
              <a:spcBef>
                <a:spcPts val="1889"/>
              </a:spcBef>
            </a:pPr>
            <a:r>
              <a:rPr sz="1050" b="1" spc="-10">
                <a:solidFill>
                  <a:srgbClr val="1F4E79"/>
                </a:solidFill>
                <a:latin typeface="Microsoft JhengHei"/>
                <a:cs typeface="Microsoft JhengHei"/>
              </a:rPr>
              <a:t>CLOUD</a:t>
            </a:r>
            <a:endParaRPr sz="1050">
              <a:latin typeface="Microsoft JhengHei"/>
              <a:cs typeface="Microsoft JhengHe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745295" y="1405191"/>
            <a:ext cx="3059430" cy="569595"/>
            <a:chOff x="2745295" y="1405191"/>
            <a:chExt cx="3059430" cy="569595"/>
          </a:xfrm>
        </p:grpSpPr>
        <p:sp>
          <p:nvSpPr>
            <p:cNvPr id="10" name="object 10"/>
            <p:cNvSpPr/>
            <p:nvPr/>
          </p:nvSpPr>
          <p:spPr>
            <a:xfrm>
              <a:off x="2750057" y="1409953"/>
              <a:ext cx="3049905" cy="560070"/>
            </a:xfrm>
            <a:custGeom>
              <a:avLst/>
              <a:gdLst/>
              <a:ahLst/>
              <a:cxnLst/>
              <a:rect l="l" t="t" r="r" b="b"/>
              <a:pathLst>
                <a:path w="3049904" h="560069">
                  <a:moveTo>
                    <a:pt x="2993897" y="0"/>
                  </a:moveTo>
                  <a:lnTo>
                    <a:pt x="55880" y="0"/>
                  </a:lnTo>
                  <a:lnTo>
                    <a:pt x="34129" y="4411"/>
                  </a:lnTo>
                  <a:lnTo>
                    <a:pt x="16367" y="16430"/>
                  </a:lnTo>
                  <a:lnTo>
                    <a:pt x="4391" y="34236"/>
                  </a:lnTo>
                  <a:lnTo>
                    <a:pt x="0" y="56007"/>
                  </a:lnTo>
                  <a:lnTo>
                    <a:pt x="0" y="504063"/>
                  </a:lnTo>
                  <a:lnTo>
                    <a:pt x="4391" y="525833"/>
                  </a:lnTo>
                  <a:lnTo>
                    <a:pt x="16367" y="543639"/>
                  </a:lnTo>
                  <a:lnTo>
                    <a:pt x="34129" y="555658"/>
                  </a:lnTo>
                  <a:lnTo>
                    <a:pt x="55880" y="560070"/>
                  </a:lnTo>
                  <a:lnTo>
                    <a:pt x="2993897" y="560070"/>
                  </a:lnTo>
                  <a:lnTo>
                    <a:pt x="3015722" y="555658"/>
                  </a:lnTo>
                  <a:lnTo>
                    <a:pt x="3033522" y="543639"/>
                  </a:lnTo>
                  <a:lnTo>
                    <a:pt x="3045511" y="525833"/>
                  </a:lnTo>
                  <a:lnTo>
                    <a:pt x="3049905" y="504063"/>
                  </a:lnTo>
                  <a:lnTo>
                    <a:pt x="3049905" y="56007"/>
                  </a:lnTo>
                  <a:lnTo>
                    <a:pt x="3045511" y="34236"/>
                  </a:lnTo>
                  <a:lnTo>
                    <a:pt x="3033522" y="16430"/>
                  </a:lnTo>
                  <a:lnTo>
                    <a:pt x="3015722" y="4411"/>
                  </a:lnTo>
                  <a:lnTo>
                    <a:pt x="29938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50057" y="1409953"/>
              <a:ext cx="3049905" cy="560070"/>
            </a:xfrm>
            <a:custGeom>
              <a:avLst/>
              <a:gdLst/>
              <a:ahLst/>
              <a:cxnLst/>
              <a:rect l="l" t="t" r="r" b="b"/>
              <a:pathLst>
                <a:path w="3049904" h="560069">
                  <a:moveTo>
                    <a:pt x="0" y="56007"/>
                  </a:moveTo>
                  <a:lnTo>
                    <a:pt x="4391" y="34236"/>
                  </a:lnTo>
                  <a:lnTo>
                    <a:pt x="16367" y="16430"/>
                  </a:lnTo>
                  <a:lnTo>
                    <a:pt x="34129" y="4411"/>
                  </a:lnTo>
                  <a:lnTo>
                    <a:pt x="55880" y="0"/>
                  </a:lnTo>
                  <a:lnTo>
                    <a:pt x="2993897" y="0"/>
                  </a:lnTo>
                  <a:lnTo>
                    <a:pt x="3015722" y="4411"/>
                  </a:lnTo>
                  <a:lnTo>
                    <a:pt x="3033522" y="16430"/>
                  </a:lnTo>
                  <a:lnTo>
                    <a:pt x="3045511" y="34236"/>
                  </a:lnTo>
                  <a:lnTo>
                    <a:pt x="3049905" y="56007"/>
                  </a:lnTo>
                  <a:lnTo>
                    <a:pt x="3049905" y="504063"/>
                  </a:lnTo>
                  <a:lnTo>
                    <a:pt x="3045511" y="525833"/>
                  </a:lnTo>
                  <a:lnTo>
                    <a:pt x="3033522" y="543639"/>
                  </a:lnTo>
                  <a:lnTo>
                    <a:pt x="3015722" y="555658"/>
                  </a:lnTo>
                  <a:lnTo>
                    <a:pt x="2993897" y="560070"/>
                  </a:lnTo>
                  <a:lnTo>
                    <a:pt x="55880" y="560070"/>
                  </a:lnTo>
                  <a:lnTo>
                    <a:pt x="34129" y="555658"/>
                  </a:lnTo>
                  <a:lnTo>
                    <a:pt x="16367" y="543639"/>
                  </a:lnTo>
                  <a:lnTo>
                    <a:pt x="4391" y="525833"/>
                  </a:lnTo>
                  <a:lnTo>
                    <a:pt x="0" y="504063"/>
                  </a:lnTo>
                  <a:lnTo>
                    <a:pt x="0" y="56007"/>
                  </a:lnTo>
                  <a:close/>
                </a:path>
              </a:pathLst>
            </a:custGeom>
            <a:ln w="9525">
              <a:solidFill>
                <a:srgbClr val="2095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711702" y="1506092"/>
            <a:ext cx="1129665" cy="357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spc="-10">
                <a:solidFill>
                  <a:srgbClr val="1F4E79"/>
                </a:solidFill>
                <a:latin typeface="Tahoma"/>
                <a:cs typeface="Tahoma"/>
              </a:rPr>
              <a:t>Cloudinary</a:t>
            </a:r>
            <a:endParaRPr sz="12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sz="950" spc="-90">
                <a:solidFill>
                  <a:srgbClr val="545454"/>
                </a:solidFill>
                <a:latin typeface="Microsoft JhengHei"/>
                <a:cs typeface="Microsoft JhengHei"/>
              </a:rPr>
              <a:t>image</a:t>
            </a:r>
            <a:r>
              <a:rPr sz="950" spc="-25">
                <a:solidFill>
                  <a:srgbClr val="545454"/>
                </a:solidFill>
                <a:latin typeface="Microsoft JhengHei"/>
                <a:cs typeface="Microsoft JhengHei"/>
              </a:rPr>
              <a:t> </a:t>
            </a:r>
            <a:r>
              <a:rPr sz="950" spc="-70">
                <a:solidFill>
                  <a:srgbClr val="545454"/>
                </a:solidFill>
                <a:latin typeface="Microsoft JhengHei"/>
                <a:cs typeface="Microsoft JhengHei"/>
              </a:rPr>
              <a:t>evidence</a:t>
            </a:r>
            <a:r>
              <a:rPr sz="950" spc="-45">
                <a:solidFill>
                  <a:srgbClr val="545454"/>
                </a:solidFill>
                <a:latin typeface="Microsoft JhengHei"/>
                <a:cs typeface="Microsoft JhengHei"/>
              </a:rPr>
              <a:t> </a:t>
            </a:r>
            <a:r>
              <a:rPr sz="950" spc="-25">
                <a:solidFill>
                  <a:srgbClr val="545454"/>
                </a:solidFill>
                <a:latin typeface="Microsoft JhengHei"/>
                <a:cs typeface="Microsoft JhengHei"/>
              </a:rPr>
              <a:t>(JPEG)</a:t>
            </a:r>
            <a:endParaRPr sz="950">
              <a:latin typeface="Microsoft JhengHei"/>
              <a:cs typeface="Microsoft JhengHe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195250" y="1405191"/>
            <a:ext cx="3559810" cy="569595"/>
            <a:chOff x="6195250" y="1405191"/>
            <a:chExt cx="3559810" cy="569595"/>
          </a:xfrm>
        </p:grpSpPr>
        <p:sp>
          <p:nvSpPr>
            <p:cNvPr id="14" name="object 14"/>
            <p:cNvSpPr/>
            <p:nvPr/>
          </p:nvSpPr>
          <p:spPr>
            <a:xfrm>
              <a:off x="6200013" y="1409953"/>
              <a:ext cx="3550285" cy="560070"/>
            </a:xfrm>
            <a:custGeom>
              <a:avLst/>
              <a:gdLst/>
              <a:ahLst/>
              <a:cxnLst/>
              <a:rect l="l" t="t" r="r" b="b"/>
              <a:pathLst>
                <a:path w="3550284" h="560069">
                  <a:moveTo>
                    <a:pt x="3494023" y="0"/>
                  </a:moveTo>
                  <a:lnTo>
                    <a:pt x="56007" y="0"/>
                  </a:lnTo>
                  <a:lnTo>
                    <a:pt x="34182" y="4411"/>
                  </a:lnTo>
                  <a:lnTo>
                    <a:pt x="16383" y="16430"/>
                  </a:lnTo>
                  <a:lnTo>
                    <a:pt x="4393" y="34236"/>
                  </a:lnTo>
                  <a:lnTo>
                    <a:pt x="0" y="56007"/>
                  </a:lnTo>
                  <a:lnTo>
                    <a:pt x="0" y="504063"/>
                  </a:lnTo>
                  <a:lnTo>
                    <a:pt x="4393" y="525833"/>
                  </a:lnTo>
                  <a:lnTo>
                    <a:pt x="16383" y="543639"/>
                  </a:lnTo>
                  <a:lnTo>
                    <a:pt x="34182" y="555658"/>
                  </a:lnTo>
                  <a:lnTo>
                    <a:pt x="56007" y="560070"/>
                  </a:lnTo>
                  <a:lnTo>
                    <a:pt x="3494023" y="560070"/>
                  </a:lnTo>
                  <a:lnTo>
                    <a:pt x="3515794" y="555658"/>
                  </a:lnTo>
                  <a:lnTo>
                    <a:pt x="3533600" y="543639"/>
                  </a:lnTo>
                  <a:lnTo>
                    <a:pt x="3545619" y="525833"/>
                  </a:lnTo>
                  <a:lnTo>
                    <a:pt x="3550031" y="504063"/>
                  </a:lnTo>
                  <a:lnTo>
                    <a:pt x="3550031" y="56007"/>
                  </a:lnTo>
                  <a:lnTo>
                    <a:pt x="3545619" y="34236"/>
                  </a:lnTo>
                  <a:lnTo>
                    <a:pt x="3533600" y="16430"/>
                  </a:lnTo>
                  <a:lnTo>
                    <a:pt x="3515794" y="4411"/>
                  </a:lnTo>
                  <a:lnTo>
                    <a:pt x="349402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200013" y="1409953"/>
              <a:ext cx="3550285" cy="560070"/>
            </a:xfrm>
            <a:custGeom>
              <a:avLst/>
              <a:gdLst/>
              <a:ahLst/>
              <a:cxnLst/>
              <a:rect l="l" t="t" r="r" b="b"/>
              <a:pathLst>
                <a:path w="3550284" h="560069">
                  <a:moveTo>
                    <a:pt x="0" y="56007"/>
                  </a:moveTo>
                  <a:lnTo>
                    <a:pt x="4393" y="34236"/>
                  </a:lnTo>
                  <a:lnTo>
                    <a:pt x="16383" y="16430"/>
                  </a:lnTo>
                  <a:lnTo>
                    <a:pt x="34182" y="4411"/>
                  </a:lnTo>
                  <a:lnTo>
                    <a:pt x="56007" y="0"/>
                  </a:lnTo>
                  <a:lnTo>
                    <a:pt x="3494023" y="0"/>
                  </a:lnTo>
                  <a:lnTo>
                    <a:pt x="3515794" y="4411"/>
                  </a:lnTo>
                  <a:lnTo>
                    <a:pt x="3533600" y="16430"/>
                  </a:lnTo>
                  <a:lnTo>
                    <a:pt x="3545619" y="34236"/>
                  </a:lnTo>
                  <a:lnTo>
                    <a:pt x="3550031" y="56007"/>
                  </a:lnTo>
                  <a:lnTo>
                    <a:pt x="3550031" y="504063"/>
                  </a:lnTo>
                  <a:lnTo>
                    <a:pt x="3545619" y="525833"/>
                  </a:lnTo>
                  <a:lnTo>
                    <a:pt x="3533600" y="543639"/>
                  </a:lnTo>
                  <a:lnTo>
                    <a:pt x="3515794" y="555658"/>
                  </a:lnTo>
                  <a:lnTo>
                    <a:pt x="3494023" y="560070"/>
                  </a:lnTo>
                  <a:lnTo>
                    <a:pt x="56007" y="560070"/>
                  </a:lnTo>
                  <a:lnTo>
                    <a:pt x="34182" y="555658"/>
                  </a:lnTo>
                  <a:lnTo>
                    <a:pt x="16383" y="543639"/>
                  </a:lnTo>
                  <a:lnTo>
                    <a:pt x="4393" y="525833"/>
                  </a:lnTo>
                  <a:lnTo>
                    <a:pt x="0" y="504063"/>
                  </a:lnTo>
                  <a:lnTo>
                    <a:pt x="0" y="56007"/>
                  </a:lnTo>
                  <a:close/>
                </a:path>
              </a:pathLst>
            </a:custGeom>
            <a:ln w="9525">
              <a:solidFill>
                <a:srgbClr val="2095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118095" y="1506092"/>
            <a:ext cx="1715135" cy="353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440"/>
              </a:lnSpc>
              <a:spcBef>
                <a:spcPts val="100"/>
              </a:spcBef>
            </a:pPr>
            <a:r>
              <a:rPr sz="1200" b="1" spc="-10">
                <a:solidFill>
                  <a:srgbClr val="1F4E79"/>
                </a:solidFill>
                <a:latin typeface="Tahoma"/>
                <a:cs typeface="Tahoma"/>
              </a:rPr>
              <a:t>Firebase</a:t>
            </a:r>
            <a:endParaRPr sz="12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950">
                <a:solidFill>
                  <a:srgbClr val="545454"/>
                </a:solidFill>
                <a:latin typeface="Microsoft JhengHei"/>
                <a:cs typeface="Microsoft JhengHei"/>
              </a:rPr>
              <a:t>alert</a:t>
            </a:r>
            <a:r>
              <a:rPr sz="950" spc="-30">
                <a:solidFill>
                  <a:srgbClr val="545454"/>
                </a:solidFill>
                <a:latin typeface="Microsoft JhengHei"/>
                <a:cs typeface="Microsoft JhengHei"/>
              </a:rPr>
              <a:t> </a:t>
            </a:r>
            <a:r>
              <a:rPr sz="950">
                <a:solidFill>
                  <a:srgbClr val="545454"/>
                </a:solidFill>
                <a:latin typeface="Microsoft JhengHei"/>
                <a:cs typeface="Microsoft JhengHei"/>
              </a:rPr>
              <a:t>metadata</a:t>
            </a:r>
            <a:r>
              <a:rPr sz="950" spc="-15">
                <a:solidFill>
                  <a:srgbClr val="545454"/>
                </a:solidFill>
                <a:latin typeface="Microsoft JhengHei"/>
                <a:cs typeface="Microsoft JhengHei"/>
              </a:rPr>
              <a:t> </a:t>
            </a:r>
            <a:r>
              <a:rPr sz="950">
                <a:solidFill>
                  <a:srgbClr val="545454"/>
                </a:solidFill>
                <a:latin typeface="Microsoft JhengHei"/>
                <a:cs typeface="Microsoft JhengHei"/>
              </a:rPr>
              <a:t>·</a:t>
            </a:r>
            <a:r>
              <a:rPr sz="950" spc="-40">
                <a:solidFill>
                  <a:srgbClr val="545454"/>
                </a:solidFill>
                <a:latin typeface="Microsoft JhengHei"/>
                <a:cs typeface="Microsoft JhengHei"/>
              </a:rPr>
              <a:t> </a:t>
            </a:r>
            <a:r>
              <a:rPr sz="950" spc="-10">
                <a:solidFill>
                  <a:srgbClr val="545454"/>
                </a:solidFill>
                <a:latin typeface="Microsoft JhengHei"/>
                <a:cs typeface="Microsoft JhengHei"/>
              </a:rPr>
              <a:t>config/armed</a:t>
            </a:r>
            <a:endParaRPr sz="950">
              <a:latin typeface="Microsoft JhengHei"/>
              <a:cs typeface="Microsoft JhengHe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53199" y="2500502"/>
            <a:ext cx="11294110" cy="2379345"/>
            <a:chOff x="453199" y="2500502"/>
            <a:chExt cx="11294110" cy="2379345"/>
          </a:xfrm>
        </p:grpSpPr>
        <p:sp>
          <p:nvSpPr>
            <p:cNvPr id="18" name="object 18"/>
            <p:cNvSpPr/>
            <p:nvPr/>
          </p:nvSpPr>
          <p:spPr>
            <a:xfrm>
              <a:off x="462724" y="2510027"/>
              <a:ext cx="11275060" cy="2360295"/>
            </a:xfrm>
            <a:custGeom>
              <a:avLst/>
              <a:gdLst/>
              <a:ahLst/>
              <a:cxnLst/>
              <a:rect l="l" t="t" r="r" b="b"/>
              <a:pathLst>
                <a:path w="11275060" h="2360295">
                  <a:moveTo>
                    <a:pt x="11222672" y="0"/>
                  </a:moveTo>
                  <a:lnTo>
                    <a:pt x="51917" y="0"/>
                  </a:lnTo>
                  <a:lnTo>
                    <a:pt x="31707" y="4079"/>
                  </a:lnTo>
                  <a:lnTo>
                    <a:pt x="15205" y="15208"/>
                  </a:lnTo>
                  <a:lnTo>
                    <a:pt x="4079" y="31718"/>
                  </a:lnTo>
                  <a:lnTo>
                    <a:pt x="0" y="51943"/>
                  </a:lnTo>
                  <a:lnTo>
                    <a:pt x="0" y="2308098"/>
                  </a:lnTo>
                  <a:lnTo>
                    <a:pt x="4079" y="2328249"/>
                  </a:lnTo>
                  <a:lnTo>
                    <a:pt x="15205" y="2344721"/>
                  </a:lnTo>
                  <a:lnTo>
                    <a:pt x="31707" y="2355836"/>
                  </a:lnTo>
                  <a:lnTo>
                    <a:pt x="51917" y="2359914"/>
                  </a:lnTo>
                  <a:lnTo>
                    <a:pt x="11222672" y="2359914"/>
                  </a:lnTo>
                  <a:lnTo>
                    <a:pt x="11242823" y="2355836"/>
                  </a:lnTo>
                  <a:lnTo>
                    <a:pt x="11259296" y="2344721"/>
                  </a:lnTo>
                  <a:lnTo>
                    <a:pt x="11270410" y="2328249"/>
                  </a:lnTo>
                  <a:lnTo>
                    <a:pt x="11274488" y="2308098"/>
                  </a:lnTo>
                  <a:lnTo>
                    <a:pt x="11274488" y="51943"/>
                  </a:lnTo>
                  <a:lnTo>
                    <a:pt x="11270410" y="31718"/>
                  </a:lnTo>
                  <a:lnTo>
                    <a:pt x="11259296" y="15208"/>
                  </a:lnTo>
                  <a:lnTo>
                    <a:pt x="11242823" y="4079"/>
                  </a:lnTo>
                  <a:lnTo>
                    <a:pt x="11222672" y="0"/>
                  </a:lnTo>
                  <a:close/>
                </a:path>
              </a:pathLst>
            </a:custGeom>
            <a:solidFill>
              <a:srgbClr val="F7F9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62724" y="2510027"/>
              <a:ext cx="11275060" cy="2360295"/>
            </a:xfrm>
            <a:custGeom>
              <a:avLst/>
              <a:gdLst/>
              <a:ahLst/>
              <a:cxnLst/>
              <a:rect l="l" t="t" r="r" b="b"/>
              <a:pathLst>
                <a:path w="11275060" h="2360295">
                  <a:moveTo>
                    <a:pt x="0" y="51943"/>
                  </a:moveTo>
                  <a:lnTo>
                    <a:pt x="4079" y="31718"/>
                  </a:lnTo>
                  <a:lnTo>
                    <a:pt x="15205" y="15208"/>
                  </a:lnTo>
                  <a:lnTo>
                    <a:pt x="31707" y="4079"/>
                  </a:lnTo>
                  <a:lnTo>
                    <a:pt x="51917" y="0"/>
                  </a:lnTo>
                  <a:lnTo>
                    <a:pt x="11222672" y="0"/>
                  </a:lnTo>
                  <a:lnTo>
                    <a:pt x="11242823" y="4079"/>
                  </a:lnTo>
                  <a:lnTo>
                    <a:pt x="11259296" y="15208"/>
                  </a:lnTo>
                  <a:lnTo>
                    <a:pt x="11270410" y="31718"/>
                  </a:lnTo>
                  <a:lnTo>
                    <a:pt x="11274488" y="51943"/>
                  </a:lnTo>
                  <a:lnTo>
                    <a:pt x="11274488" y="2308098"/>
                  </a:lnTo>
                  <a:lnTo>
                    <a:pt x="11270410" y="2328249"/>
                  </a:lnTo>
                  <a:lnTo>
                    <a:pt x="11259296" y="2344721"/>
                  </a:lnTo>
                  <a:lnTo>
                    <a:pt x="11242823" y="2355836"/>
                  </a:lnTo>
                  <a:lnTo>
                    <a:pt x="11222672" y="2359914"/>
                  </a:lnTo>
                  <a:lnTo>
                    <a:pt x="51917" y="2359914"/>
                  </a:lnTo>
                  <a:lnTo>
                    <a:pt x="31707" y="2355836"/>
                  </a:lnTo>
                  <a:lnTo>
                    <a:pt x="15205" y="2344721"/>
                  </a:lnTo>
                  <a:lnTo>
                    <a:pt x="4079" y="2328249"/>
                  </a:lnTo>
                  <a:lnTo>
                    <a:pt x="0" y="2308098"/>
                  </a:lnTo>
                  <a:lnTo>
                    <a:pt x="0" y="51943"/>
                  </a:lnTo>
                  <a:close/>
                </a:path>
              </a:pathLst>
            </a:custGeom>
            <a:ln w="19050">
              <a:solidFill>
                <a:srgbClr val="8FAFC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94461" y="2639059"/>
            <a:ext cx="332994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60">
                <a:solidFill>
                  <a:srgbClr val="5E7B99"/>
                </a:solidFill>
                <a:latin typeface="Microsoft JhengHei"/>
                <a:cs typeface="Microsoft JhengHei"/>
              </a:rPr>
              <a:t>LAN</a:t>
            </a:r>
            <a:r>
              <a:rPr sz="1050" b="1" spc="-145">
                <a:solidFill>
                  <a:srgbClr val="5E7B99"/>
                </a:solidFill>
                <a:latin typeface="Microsoft JhengHei"/>
                <a:cs typeface="Microsoft JhengHei"/>
              </a:rPr>
              <a:t> </a:t>
            </a:r>
            <a:r>
              <a:rPr sz="1050" b="1">
                <a:solidFill>
                  <a:srgbClr val="5E7B99"/>
                </a:solidFill>
                <a:latin typeface="Microsoft JhengHei"/>
                <a:cs typeface="Microsoft JhengHei"/>
              </a:rPr>
              <a:t>·</a:t>
            </a:r>
            <a:r>
              <a:rPr sz="1050" b="1" spc="55">
                <a:solidFill>
                  <a:srgbClr val="5E7B99"/>
                </a:solidFill>
                <a:latin typeface="Microsoft JhengHei"/>
                <a:cs typeface="Microsoft JhengHei"/>
              </a:rPr>
              <a:t> </a:t>
            </a:r>
            <a:r>
              <a:rPr sz="1050" b="1" spc="-55">
                <a:solidFill>
                  <a:srgbClr val="5E7B99"/>
                </a:solidFill>
                <a:latin typeface="Microsoft JhengHei"/>
                <a:cs typeface="Microsoft JhengHei"/>
              </a:rPr>
              <a:t>one</a:t>
            </a:r>
            <a:r>
              <a:rPr sz="1050" b="1" spc="-30">
                <a:solidFill>
                  <a:srgbClr val="5E7B99"/>
                </a:solidFill>
                <a:latin typeface="Microsoft JhengHei"/>
                <a:cs typeface="Microsoft JhengHei"/>
              </a:rPr>
              <a:t> </a:t>
            </a:r>
            <a:r>
              <a:rPr sz="1050" b="1" spc="-70">
                <a:solidFill>
                  <a:srgbClr val="5E7B99"/>
                </a:solidFill>
                <a:latin typeface="Microsoft JhengHei"/>
                <a:cs typeface="Microsoft JhengHei"/>
              </a:rPr>
              <a:t>Wi-</a:t>
            </a:r>
            <a:r>
              <a:rPr sz="1050" b="1" spc="-20">
                <a:solidFill>
                  <a:srgbClr val="5E7B99"/>
                </a:solidFill>
                <a:latin typeface="Microsoft JhengHei"/>
                <a:cs typeface="Microsoft JhengHei"/>
              </a:rPr>
              <a:t>Fi</a:t>
            </a:r>
            <a:r>
              <a:rPr sz="1050" b="1" spc="-10">
                <a:solidFill>
                  <a:srgbClr val="5E7B99"/>
                </a:solidFill>
                <a:latin typeface="Microsoft JhengHei"/>
                <a:cs typeface="Microsoft JhengHei"/>
              </a:rPr>
              <a:t> </a:t>
            </a:r>
            <a:r>
              <a:rPr sz="1050" b="1" spc="-40">
                <a:solidFill>
                  <a:srgbClr val="5E7B99"/>
                </a:solidFill>
                <a:latin typeface="Microsoft JhengHei"/>
                <a:cs typeface="Microsoft JhengHei"/>
              </a:rPr>
              <a:t>network</a:t>
            </a:r>
            <a:r>
              <a:rPr sz="1050" b="1" spc="-85">
                <a:solidFill>
                  <a:srgbClr val="5E7B99"/>
                </a:solidFill>
                <a:latin typeface="Microsoft JhengHei"/>
                <a:cs typeface="Microsoft JhengHei"/>
              </a:rPr>
              <a:t> </a:t>
            </a:r>
            <a:r>
              <a:rPr sz="1050" b="1">
                <a:solidFill>
                  <a:srgbClr val="5E7B99"/>
                </a:solidFill>
                <a:latin typeface="Microsoft JhengHei"/>
                <a:cs typeface="Microsoft JhengHei"/>
              </a:rPr>
              <a:t>—</a:t>
            </a:r>
            <a:r>
              <a:rPr sz="1050" b="1" spc="-150">
                <a:solidFill>
                  <a:srgbClr val="5E7B99"/>
                </a:solidFill>
                <a:latin typeface="Microsoft JhengHei"/>
                <a:cs typeface="Microsoft JhengHei"/>
              </a:rPr>
              <a:t> </a:t>
            </a:r>
            <a:r>
              <a:rPr sz="1050" b="1" spc="-60">
                <a:solidFill>
                  <a:srgbClr val="5E7B99"/>
                </a:solidFill>
                <a:latin typeface="Microsoft JhengHei"/>
                <a:cs typeface="Microsoft JhengHei"/>
              </a:rPr>
              <a:t>phone,</a:t>
            </a:r>
            <a:r>
              <a:rPr sz="1050" b="1" spc="25">
                <a:solidFill>
                  <a:srgbClr val="5E7B99"/>
                </a:solidFill>
                <a:latin typeface="Microsoft JhengHei"/>
                <a:cs typeface="Microsoft JhengHei"/>
              </a:rPr>
              <a:t> </a:t>
            </a:r>
            <a:r>
              <a:rPr sz="1050" b="1" spc="-55">
                <a:solidFill>
                  <a:srgbClr val="5E7B99"/>
                </a:solidFill>
                <a:latin typeface="Microsoft JhengHei"/>
                <a:cs typeface="Microsoft JhengHei"/>
              </a:rPr>
              <a:t>camera</a:t>
            </a:r>
            <a:r>
              <a:rPr sz="1050" b="1" spc="-65">
                <a:solidFill>
                  <a:srgbClr val="5E7B99"/>
                </a:solidFill>
                <a:latin typeface="Microsoft JhengHei"/>
                <a:cs typeface="Microsoft JhengHei"/>
              </a:rPr>
              <a:t> </a:t>
            </a:r>
            <a:r>
              <a:rPr sz="1050" b="1">
                <a:solidFill>
                  <a:srgbClr val="5E7B99"/>
                </a:solidFill>
                <a:latin typeface="Microsoft JhengHei"/>
                <a:cs typeface="Microsoft JhengHei"/>
              </a:rPr>
              <a:t>&amp;</a:t>
            </a:r>
            <a:r>
              <a:rPr sz="1050" b="1" spc="-155">
                <a:solidFill>
                  <a:srgbClr val="5E7B99"/>
                </a:solidFill>
                <a:latin typeface="Microsoft JhengHei"/>
                <a:cs typeface="Microsoft JhengHei"/>
              </a:rPr>
              <a:t> </a:t>
            </a:r>
            <a:r>
              <a:rPr sz="1050" b="1" spc="-40">
                <a:solidFill>
                  <a:srgbClr val="5E7B99"/>
                </a:solidFill>
                <a:latin typeface="Microsoft JhengHei"/>
                <a:cs typeface="Microsoft JhengHei"/>
              </a:rPr>
              <a:t>PC</a:t>
            </a:r>
            <a:r>
              <a:rPr sz="1050" b="1" spc="-125">
                <a:solidFill>
                  <a:srgbClr val="5E7B99"/>
                </a:solidFill>
                <a:latin typeface="Microsoft JhengHei"/>
                <a:cs typeface="Microsoft JhengHei"/>
              </a:rPr>
              <a:t> </a:t>
            </a:r>
            <a:r>
              <a:rPr sz="1050" b="1">
                <a:solidFill>
                  <a:srgbClr val="5E7B99"/>
                </a:solidFill>
                <a:latin typeface="Microsoft JhengHei"/>
                <a:cs typeface="Microsoft JhengHei"/>
              </a:rPr>
              <a:t>all</a:t>
            </a:r>
            <a:r>
              <a:rPr sz="1050" b="1" spc="5">
                <a:solidFill>
                  <a:srgbClr val="5E7B99"/>
                </a:solidFill>
                <a:latin typeface="Microsoft JhengHei"/>
                <a:cs typeface="Microsoft JhengHei"/>
              </a:rPr>
              <a:t> </a:t>
            </a:r>
            <a:r>
              <a:rPr sz="1050" b="1" spc="-20">
                <a:solidFill>
                  <a:srgbClr val="5E7B99"/>
                </a:solidFill>
                <a:latin typeface="Microsoft JhengHei"/>
                <a:cs typeface="Microsoft JhengHei"/>
              </a:rPr>
              <a:t>here</a:t>
            </a:r>
            <a:endParaRPr sz="1050">
              <a:latin typeface="Microsoft JhengHei"/>
              <a:cs typeface="Microsoft JhengHe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59891" y="2985516"/>
            <a:ext cx="2573655" cy="1372870"/>
            <a:chOff x="659891" y="2985516"/>
            <a:chExt cx="2573655" cy="1372870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9891" y="2985516"/>
              <a:ext cx="2573274" cy="1372362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760006" y="3059938"/>
              <a:ext cx="2379980" cy="1180465"/>
            </a:xfrm>
            <a:custGeom>
              <a:avLst/>
              <a:gdLst/>
              <a:ahLst/>
              <a:cxnLst/>
              <a:rect l="l" t="t" r="r" b="b"/>
              <a:pathLst>
                <a:path w="2379980" h="1180464">
                  <a:moveTo>
                    <a:pt x="2285580" y="0"/>
                  </a:moveTo>
                  <a:lnTo>
                    <a:pt x="94399" y="0"/>
                  </a:lnTo>
                  <a:lnTo>
                    <a:pt x="57650" y="7423"/>
                  </a:lnTo>
                  <a:lnTo>
                    <a:pt x="27644" y="27670"/>
                  </a:lnTo>
                  <a:lnTo>
                    <a:pt x="7416" y="57703"/>
                  </a:lnTo>
                  <a:lnTo>
                    <a:pt x="0" y="94487"/>
                  </a:lnTo>
                  <a:lnTo>
                    <a:pt x="0" y="1085723"/>
                  </a:lnTo>
                  <a:lnTo>
                    <a:pt x="7416" y="1122433"/>
                  </a:lnTo>
                  <a:lnTo>
                    <a:pt x="27644" y="1152429"/>
                  </a:lnTo>
                  <a:lnTo>
                    <a:pt x="57650" y="1172662"/>
                  </a:lnTo>
                  <a:lnTo>
                    <a:pt x="94399" y="1180084"/>
                  </a:lnTo>
                  <a:lnTo>
                    <a:pt x="2285580" y="1180084"/>
                  </a:lnTo>
                  <a:lnTo>
                    <a:pt x="2322345" y="1172662"/>
                  </a:lnTo>
                  <a:lnTo>
                    <a:pt x="2352335" y="1152429"/>
                  </a:lnTo>
                  <a:lnTo>
                    <a:pt x="2372538" y="1122433"/>
                  </a:lnTo>
                  <a:lnTo>
                    <a:pt x="2379941" y="1085723"/>
                  </a:lnTo>
                  <a:lnTo>
                    <a:pt x="2379941" y="94487"/>
                  </a:lnTo>
                  <a:lnTo>
                    <a:pt x="2372538" y="57703"/>
                  </a:lnTo>
                  <a:lnTo>
                    <a:pt x="2352335" y="27670"/>
                  </a:lnTo>
                  <a:lnTo>
                    <a:pt x="2322345" y="7423"/>
                  </a:lnTo>
                  <a:lnTo>
                    <a:pt x="22855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60006" y="3059938"/>
              <a:ext cx="2379980" cy="1180465"/>
            </a:xfrm>
            <a:custGeom>
              <a:avLst/>
              <a:gdLst/>
              <a:ahLst/>
              <a:cxnLst/>
              <a:rect l="l" t="t" r="r" b="b"/>
              <a:pathLst>
                <a:path w="2379980" h="1180464">
                  <a:moveTo>
                    <a:pt x="0" y="94487"/>
                  </a:moveTo>
                  <a:lnTo>
                    <a:pt x="7416" y="57703"/>
                  </a:lnTo>
                  <a:lnTo>
                    <a:pt x="27644" y="27670"/>
                  </a:lnTo>
                  <a:lnTo>
                    <a:pt x="57650" y="7423"/>
                  </a:lnTo>
                  <a:lnTo>
                    <a:pt x="94399" y="0"/>
                  </a:lnTo>
                  <a:lnTo>
                    <a:pt x="2285580" y="0"/>
                  </a:lnTo>
                  <a:lnTo>
                    <a:pt x="2322345" y="7423"/>
                  </a:lnTo>
                  <a:lnTo>
                    <a:pt x="2352335" y="27670"/>
                  </a:lnTo>
                  <a:lnTo>
                    <a:pt x="2372538" y="57703"/>
                  </a:lnTo>
                  <a:lnTo>
                    <a:pt x="2379941" y="94487"/>
                  </a:lnTo>
                  <a:lnTo>
                    <a:pt x="2379941" y="1085723"/>
                  </a:lnTo>
                  <a:lnTo>
                    <a:pt x="2372538" y="1122433"/>
                  </a:lnTo>
                  <a:lnTo>
                    <a:pt x="2352335" y="1152429"/>
                  </a:lnTo>
                  <a:lnTo>
                    <a:pt x="2322345" y="1172662"/>
                  </a:lnTo>
                  <a:lnTo>
                    <a:pt x="2285580" y="1180084"/>
                  </a:lnTo>
                  <a:lnTo>
                    <a:pt x="94399" y="1180084"/>
                  </a:lnTo>
                  <a:lnTo>
                    <a:pt x="57650" y="1172662"/>
                  </a:lnTo>
                  <a:lnTo>
                    <a:pt x="27644" y="1152429"/>
                  </a:lnTo>
                  <a:lnTo>
                    <a:pt x="7416" y="1122433"/>
                  </a:lnTo>
                  <a:lnTo>
                    <a:pt x="0" y="1085723"/>
                  </a:lnTo>
                  <a:lnTo>
                    <a:pt x="0" y="94487"/>
                  </a:lnTo>
                  <a:close/>
                </a:path>
              </a:pathLst>
            </a:custGeom>
            <a:ln w="15875">
              <a:solidFill>
                <a:srgbClr val="2095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397000" y="3445586"/>
            <a:ext cx="1107440" cy="397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400" b="1" spc="-10">
                <a:solidFill>
                  <a:srgbClr val="1F4E79"/>
                </a:solidFill>
                <a:latin typeface="Tahoma"/>
                <a:cs typeface="Tahoma"/>
              </a:rPr>
              <a:t>ESP32-</a:t>
            </a:r>
            <a:r>
              <a:rPr sz="1400" b="1" spc="60">
                <a:solidFill>
                  <a:srgbClr val="1F4E79"/>
                </a:solidFill>
                <a:latin typeface="Tahoma"/>
                <a:cs typeface="Tahoma"/>
              </a:rPr>
              <a:t>CAM</a:t>
            </a:r>
            <a:endParaRPr sz="1400">
              <a:latin typeface="Tahoma"/>
              <a:cs typeface="Tahoma"/>
            </a:endParaRPr>
          </a:p>
          <a:p>
            <a:pPr marL="7620" algn="ctr">
              <a:lnSpc>
                <a:spcPct val="100000"/>
              </a:lnSpc>
              <a:spcBef>
                <a:spcPts val="40"/>
              </a:spcBef>
            </a:pPr>
            <a:r>
              <a:rPr sz="1000" spc="-75">
                <a:solidFill>
                  <a:srgbClr val="545454"/>
                </a:solidFill>
                <a:latin typeface="Microsoft JhengHei"/>
                <a:cs typeface="Microsoft JhengHei"/>
              </a:rPr>
              <a:t>camera</a:t>
            </a:r>
            <a:r>
              <a:rPr sz="1000" spc="-50">
                <a:solidFill>
                  <a:srgbClr val="545454"/>
                </a:solidFill>
                <a:latin typeface="Microsoft JhengHei"/>
                <a:cs typeface="Microsoft JhengHei"/>
              </a:rPr>
              <a:t> </a:t>
            </a:r>
            <a:r>
              <a:rPr sz="1000" spc="-10">
                <a:solidFill>
                  <a:srgbClr val="545454"/>
                </a:solidFill>
                <a:latin typeface="Microsoft JhengHei"/>
                <a:cs typeface="Microsoft JhengHei"/>
              </a:rPr>
              <a:t>+TinyML</a:t>
            </a:r>
            <a:endParaRPr sz="1000">
              <a:latin typeface="Microsoft JhengHei"/>
              <a:cs typeface="Microsoft JhengHe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520184" y="2985516"/>
            <a:ext cx="3152775" cy="1372870"/>
            <a:chOff x="4520184" y="2985516"/>
            <a:chExt cx="3152775" cy="1372870"/>
          </a:xfrm>
        </p:grpSpPr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184" y="2985516"/>
              <a:ext cx="3152393" cy="1372362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4620006" y="3059938"/>
              <a:ext cx="2960370" cy="1180465"/>
            </a:xfrm>
            <a:custGeom>
              <a:avLst/>
              <a:gdLst/>
              <a:ahLst/>
              <a:cxnLst/>
              <a:rect l="l" t="t" r="r" b="b"/>
              <a:pathLst>
                <a:path w="2960370" h="1180464">
                  <a:moveTo>
                    <a:pt x="2865628" y="0"/>
                  </a:moveTo>
                  <a:lnTo>
                    <a:pt x="94361" y="0"/>
                  </a:lnTo>
                  <a:lnTo>
                    <a:pt x="57650" y="7423"/>
                  </a:lnTo>
                  <a:lnTo>
                    <a:pt x="27654" y="27670"/>
                  </a:lnTo>
                  <a:lnTo>
                    <a:pt x="7421" y="57703"/>
                  </a:lnTo>
                  <a:lnTo>
                    <a:pt x="0" y="94487"/>
                  </a:lnTo>
                  <a:lnTo>
                    <a:pt x="0" y="1085723"/>
                  </a:lnTo>
                  <a:lnTo>
                    <a:pt x="7421" y="1122433"/>
                  </a:lnTo>
                  <a:lnTo>
                    <a:pt x="27654" y="1152429"/>
                  </a:lnTo>
                  <a:lnTo>
                    <a:pt x="57650" y="1172662"/>
                  </a:lnTo>
                  <a:lnTo>
                    <a:pt x="94361" y="1180084"/>
                  </a:lnTo>
                  <a:lnTo>
                    <a:pt x="2865628" y="1180084"/>
                  </a:lnTo>
                  <a:lnTo>
                    <a:pt x="2902338" y="1172662"/>
                  </a:lnTo>
                  <a:lnTo>
                    <a:pt x="2932334" y="1152429"/>
                  </a:lnTo>
                  <a:lnTo>
                    <a:pt x="2952567" y="1122433"/>
                  </a:lnTo>
                  <a:lnTo>
                    <a:pt x="2959989" y="1085723"/>
                  </a:lnTo>
                  <a:lnTo>
                    <a:pt x="2959989" y="94487"/>
                  </a:lnTo>
                  <a:lnTo>
                    <a:pt x="2952567" y="57703"/>
                  </a:lnTo>
                  <a:lnTo>
                    <a:pt x="2932334" y="27670"/>
                  </a:lnTo>
                  <a:lnTo>
                    <a:pt x="2902338" y="7423"/>
                  </a:lnTo>
                  <a:lnTo>
                    <a:pt x="28656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620006" y="3059938"/>
              <a:ext cx="2960370" cy="1180465"/>
            </a:xfrm>
            <a:custGeom>
              <a:avLst/>
              <a:gdLst/>
              <a:ahLst/>
              <a:cxnLst/>
              <a:rect l="l" t="t" r="r" b="b"/>
              <a:pathLst>
                <a:path w="2960370" h="1180464">
                  <a:moveTo>
                    <a:pt x="0" y="94487"/>
                  </a:moveTo>
                  <a:lnTo>
                    <a:pt x="7421" y="57703"/>
                  </a:lnTo>
                  <a:lnTo>
                    <a:pt x="27654" y="27670"/>
                  </a:lnTo>
                  <a:lnTo>
                    <a:pt x="57650" y="7423"/>
                  </a:lnTo>
                  <a:lnTo>
                    <a:pt x="94361" y="0"/>
                  </a:lnTo>
                  <a:lnTo>
                    <a:pt x="2865628" y="0"/>
                  </a:lnTo>
                  <a:lnTo>
                    <a:pt x="2902338" y="7423"/>
                  </a:lnTo>
                  <a:lnTo>
                    <a:pt x="2932334" y="27670"/>
                  </a:lnTo>
                  <a:lnTo>
                    <a:pt x="2952567" y="57703"/>
                  </a:lnTo>
                  <a:lnTo>
                    <a:pt x="2959989" y="94487"/>
                  </a:lnTo>
                  <a:lnTo>
                    <a:pt x="2959989" y="1085723"/>
                  </a:lnTo>
                  <a:lnTo>
                    <a:pt x="2952567" y="1122433"/>
                  </a:lnTo>
                  <a:lnTo>
                    <a:pt x="2932334" y="1152429"/>
                  </a:lnTo>
                  <a:lnTo>
                    <a:pt x="2902338" y="1172662"/>
                  </a:lnTo>
                  <a:lnTo>
                    <a:pt x="2865628" y="1180084"/>
                  </a:lnTo>
                  <a:lnTo>
                    <a:pt x="94361" y="1180084"/>
                  </a:lnTo>
                  <a:lnTo>
                    <a:pt x="57650" y="1172662"/>
                  </a:lnTo>
                  <a:lnTo>
                    <a:pt x="27654" y="1152429"/>
                  </a:lnTo>
                  <a:lnTo>
                    <a:pt x="7421" y="1122433"/>
                  </a:lnTo>
                  <a:lnTo>
                    <a:pt x="0" y="1085723"/>
                  </a:lnTo>
                  <a:lnTo>
                    <a:pt x="0" y="94487"/>
                  </a:lnTo>
                  <a:close/>
                </a:path>
              </a:pathLst>
            </a:custGeom>
            <a:ln w="15875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48656" y="3756660"/>
              <a:ext cx="262889" cy="267462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4916170" y="3348608"/>
            <a:ext cx="2366645" cy="6089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5"/>
              </a:spcBef>
            </a:pPr>
            <a:r>
              <a:rPr sz="1400" b="1" spc="-25">
                <a:solidFill>
                  <a:srgbClr val="1F4E79"/>
                </a:solidFill>
                <a:latin typeface="Tahoma"/>
                <a:cs typeface="Tahoma"/>
              </a:rPr>
              <a:t>SITE</a:t>
            </a:r>
            <a:r>
              <a:rPr sz="1400" b="1" spc="-8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400" b="1" spc="65">
                <a:solidFill>
                  <a:srgbClr val="1F4E79"/>
                </a:solidFill>
                <a:latin typeface="Tahoma"/>
                <a:cs typeface="Tahoma"/>
              </a:rPr>
              <a:t>PC</a:t>
            </a:r>
            <a:endParaRPr sz="1400">
              <a:latin typeface="Tahoma"/>
              <a:cs typeface="Tahoma"/>
            </a:endParaRPr>
          </a:p>
          <a:p>
            <a:pPr algn="ctr">
              <a:lnSpc>
                <a:spcPts val="1075"/>
              </a:lnSpc>
              <a:spcBef>
                <a:spcPts val="760"/>
              </a:spcBef>
            </a:pPr>
            <a:r>
              <a:rPr sz="1000">
                <a:solidFill>
                  <a:srgbClr val="545454"/>
                </a:solidFill>
                <a:latin typeface="Microsoft JhengHei"/>
                <a:cs typeface="Microsoft JhengHei"/>
              </a:rPr>
              <a:t>Mosquitto</a:t>
            </a:r>
            <a:r>
              <a:rPr sz="1000" spc="-15">
                <a:solidFill>
                  <a:srgbClr val="545454"/>
                </a:solidFill>
                <a:latin typeface="Microsoft JhengHei"/>
                <a:cs typeface="Microsoft JhengHei"/>
              </a:rPr>
              <a:t> </a:t>
            </a:r>
            <a:r>
              <a:rPr sz="1000">
                <a:solidFill>
                  <a:srgbClr val="545454"/>
                </a:solidFill>
                <a:latin typeface="Microsoft JhengHei"/>
                <a:cs typeface="Microsoft JhengHei"/>
              </a:rPr>
              <a:t>broker</a:t>
            </a:r>
            <a:r>
              <a:rPr sz="1000" spc="240">
                <a:solidFill>
                  <a:srgbClr val="545454"/>
                </a:solidFill>
                <a:latin typeface="Microsoft JhengHei"/>
                <a:cs typeface="Microsoft JhengHei"/>
              </a:rPr>
              <a:t> </a:t>
            </a:r>
            <a:r>
              <a:rPr sz="1000">
                <a:solidFill>
                  <a:srgbClr val="545454"/>
                </a:solidFill>
                <a:latin typeface="Microsoft JhengHei"/>
                <a:cs typeface="Microsoft JhengHei"/>
              </a:rPr>
              <a:t>·</a:t>
            </a:r>
            <a:r>
              <a:rPr sz="1000" spc="220">
                <a:solidFill>
                  <a:srgbClr val="545454"/>
                </a:solidFill>
                <a:latin typeface="Microsoft JhengHei"/>
                <a:cs typeface="Microsoft JhengHei"/>
              </a:rPr>
              <a:t> </a:t>
            </a:r>
            <a:r>
              <a:rPr sz="1000" spc="-10">
                <a:solidFill>
                  <a:srgbClr val="545454"/>
                </a:solidFill>
                <a:latin typeface="Microsoft JhengHei"/>
                <a:cs typeface="Microsoft JhengHei"/>
              </a:rPr>
              <a:t>bridge.py uploader</a:t>
            </a:r>
            <a:endParaRPr sz="1000">
              <a:latin typeface="Microsoft JhengHei"/>
              <a:cs typeface="Microsoft JhengHei"/>
            </a:endParaRPr>
          </a:p>
          <a:p>
            <a:pPr marL="551815">
              <a:lnSpc>
                <a:spcPts val="1075"/>
              </a:lnSpc>
            </a:pPr>
            <a:r>
              <a:rPr sz="1000" b="1">
                <a:solidFill>
                  <a:srgbClr val="D6382B"/>
                </a:solidFill>
                <a:latin typeface="Microsoft JhengHei"/>
                <a:cs typeface="Microsoft JhengHei"/>
              </a:rPr>
              <a:t>must</a:t>
            </a:r>
            <a:r>
              <a:rPr sz="1000" b="1" spc="-40">
                <a:solidFill>
                  <a:srgbClr val="D6382B"/>
                </a:solidFill>
                <a:latin typeface="Microsoft JhengHei"/>
                <a:cs typeface="Microsoft JhengHei"/>
              </a:rPr>
              <a:t> </a:t>
            </a:r>
            <a:r>
              <a:rPr sz="1000" b="1">
                <a:solidFill>
                  <a:srgbClr val="D6382B"/>
                </a:solidFill>
                <a:latin typeface="Microsoft JhengHei"/>
                <a:cs typeface="Microsoft JhengHei"/>
              </a:rPr>
              <a:t>stay</a:t>
            </a:r>
            <a:r>
              <a:rPr sz="1000" b="1" spc="-40">
                <a:solidFill>
                  <a:srgbClr val="D6382B"/>
                </a:solidFill>
                <a:latin typeface="Microsoft JhengHei"/>
                <a:cs typeface="Microsoft JhengHei"/>
              </a:rPr>
              <a:t> </a:t>
            </a:r>
            <a:r>
              <a:rPr sz="1000" b="1">
                <a:solidFill>
                  <a:srgbClr val="D6382B"/>
                </a:solidFill>
                <a:latin typeface="Microsoft JhengHei"/>
                <a:cs typeface="Microsoft JhengHei"/>
              </a:rPr>
              <a:t>powered</a:t>
            </a:r>
            <a:r>
              <a:rPr sz="1000" b="1" spc="-5">
                <a:solidFill>
                  <a:srgbClr val="D6382B"/>
                </a:solidFill>
                <a:latin typeface="Microsoft JhengHei"/>
                <a:cs typeface="Microsoft JhengHei"/>
              </a:rPr>
              <a:t> </a:t>
            </a:r>
            <a:r>
              <a:rPr sz="1000" b="1" spc="-25">
                <a:solidFill>
                  <a:srgbClr val="D6382B"/>
                </a:solidFill>
                <a:latin typeface="Microsoft JhengHei"/>
                <a:cs typeface="Microsoft JhengHei"/>
              </a:rPr>
              <a:t>ON</a:t>
            </a:r>
            <a:endParaRPr sz="1000">
              <a:latin typeface="Microsoft JhengHei"/>
              <a:cs typeface="Microsoft JhengHe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8961119" y="2985516"/>
            <a:ext cx="2571750" cy="1372870"/>
            <a:chOff x="8961119" y="2985516"/>
            <a:chExt cx="2571750" cy="1372870"/>
          </a:xfrm>
        </p:grpSpPr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961119" y="2985516"/>
              <a:ext cx="2571750" cy="1372362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9060052" y="3059938"/>
              <a:ext cx="2379980" cy="1180465"/>
            </a:xfrm>
            <a:custGeom>
              <a:avLst/>
              <a:gdLst/>
              <a:ahLst/>
              <a:cxnLst/>
              <a:rect l="l" t="t" r="r" b="b"/>
              <a:pathLst>
                <a:path w="2379979" h="1180464">
                  <a:moveTo>
                    <a:pt x="2285492" y="0"/>
                  </a:moveTo>
                  <a:lnTo>
                    <a:pt x="94361" y="0"/>
                  </a:lnTo>
                  <a:lnTo>
                    <a:pt x="57596" y="7423"/>
                  </a:lnTo>
                  <a:lnTo>
                    <a:pt x="27606" y="27670"/>
                  </a:lnTo>
                  <a:lnTo>
                    <a:pt x="7403" y="57703"/>
                  </a:lnTo>
                  <a:lnTo>
                    <a:pt x="0" y="94487"/>
                  </a:lnTo>
                  <a:lnTo>
                    <a:pt x="0" y="1085723"/>
                  </a:lnTo>
                  <a:lnTo>
                    <a:pt x="7403" y="1122433"/>
                  </a:lnTo>
                  <a:lnTo>
                    <a:pt x="27606" y="1152429"/>
                  </a:lnTo>
                  <a:lnTo>
                    <a:pt x="57596" y="1172662"/>
                  </a:lnTo>
                  <a:lnTo>
                    <a:pt x="94361" y="1180084"/>
                  </a:lnTo>
                  <a:lnTo>
                    <a:pt x="2285492" y="1180084"/>
                  </a:lnTo>
                  <a:lnTo>
                    <a:pt x="2322276" y="1172662"/>
                  </a:lnTo>
                  <a:lnTo>
                    <a:pt x="2352309" y="1152429"/>
                  </a:lnTo>
                  <a:lnTo>
                    <a:pt x="2372556" y="1122433"/>
                  </a:lnTo>
                  <a:lnTo>
                    <a:pt x="2379979" y="1085723"/>
                  </a:lnTo>
                  <a:lnTo>
                    <a:pt x="2379979" y="94487"/>
                  </a:lnTo>
                  <a:lnTo>
                    <a:pt x="2372556" y="57703"/>
                  </a:lnTo>
                  <a:lnTo>
                    <a:pt x="2352309" y="27670"/>
                  </a:lnTo>
                  <a:lnTo>
                    <a:pt x="2322276" y="7423"/>
                  </a:lnTo>
                  <a:lnTo>
                    <a:pt x="22854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060052" y="3059938"/>
              <a:ext cx="2379980" cy="1180465"/>
            </a:xfrm>
            <a:custGeom>
              <a:avLst/>
              <a:gdLst/>
              <a:ahLst/>
              <a:cxnLst/>
              <a:rect l="l" t="t" r="r" b="b"/>
              <a:pathLst>
                <a:path w="2379979" h="1180464">
                  <a:moveTo>
                    <a:pt x="0" y="94487"/>
                  </a:moveTo>
                  <a:lnTo>
                    <a:pt x="7403" y="57703"/>
                  </a:lnTo>
                  <a:lnTo>
                    <a:pt x="27606" y="27670"/>
                  </a:lnTo>
                  <a:lnTo>
                    <a:pt x="57596" y="7423"/>
                  </a:lnTo>
                  <a:lnTo>
                    <a:pt x="94361" y="0"/>
                  </a:lnTo>
                  <a:lnTo>
                    <a:pt x="2285492" y="0"/>
                  </a:lnTo>
                  <a:lnTo>
                    <a:pt x="2322276" y="7423"/>
                  </a:lnTo>
                  <a:lnTo>
                    <a:pt x="2352309" y="27670"/>
                  </a:lnTo>
                  <a:lnTo>
                    <a:pt x="2372556" y="57703"/>
                  </a:lnTo>
                  <a:lnTo>
                    <a:pt x="2379979" y="94487"/>
                  </a:lnTo>
                  <a:lnTo>
                    <a:pt x="2379979" y="1085723"/>
                  </a:lnTo>
                  <a:lnTo>
                    <a:pt x="2372556" y="1122433"/>
                  </a:lnTo>
                  <a:lnTo>
                    <a:pt x="2352309" y="1152429"/>
                  </a:lnTo>
                  <a:lnTo>
                    <a:pt x="2322276" y="1172662"/>
                  </a:lnTo>
                  <a:lnTo>
                    <a:pt x="2285492" y="1180084"/>
                  </a:lnTo>
                  <a:lnTo>
                    <a:pt x="94361" y="1180084"/>
                  </a:lnTo>
                  <a:lnTo>
                    <a:pt x="57596" y="1172662"/>
                  </a:lnTo>
                  <a:lnTo>
                    <a:pt x="27606" y="1152429"/>
                  </a:lnTo>
                  <a:lnTo>
                    <a:pt x="7403" y="1122433"/>
                  </a:lnTo>
                  <a:lnTo>
                    <a:pt x="0" y="1085723"/>
                  </a:lnTo>
                  <a:lnTo>
                    <a:pt x="0" y="94487"/>
                  </a:lnTo>
                  <a:close/>
                </a:path>
              </a:pathLst>
            </a:custGeom>
            <a:ln w="15875">
              <a:solidFill>
                <a:srgbClr val="2095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9611106" y="3445586"/>
            <a:ext cx="1297940" cy="397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105"/>
              </a:spcBef>
            </a:pPr>
            <a:r>
              <a:rPr sz="1400" b="1" spc="65">
                <a:solidFill>
                  <a:srgbClr val="1F4E79"/>
                </a:solidFill>
                <a:latin typeface="Tahoma"/>
                <a:cs typeface="Tahoma"/>
              </a:rPr>
              <a:t>Phone</a:t>
            </a:r>
            <a:r>
              <a:rPr sz="1400" b="1" spc="-45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400" b="1" spc="-10">
                <a:solidFill>
                  <a:srgbClr val="1F4E79"/>
                </a:solidFill>
                <a:latin typeface="Tahoma"/>
                <a:cs typeface="Tahoma"/>
              </a:rPr>
              <a:t>(app)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000" spc="-75">
                <a:solidFill>
                  <a:srgbClr val="545454"/>
                </a:solidFill>
                <a:latin typeface="Microsoft JhengHei"/>
                <a:cs typeface="Microsoft JhengHei"/>
              </a:rPr>
              <a:t>React</a:t>
            </a:r>
            <a:r>
              <a:rPr sz="1000" spc="-25">
                <a:solidFill>
                  <a:srgbClr val="545454"/>
                </a:solidFill>
                <a:latin typeface="Microsoft JhengHei"/>
                <a:cs typeface="Microsoft JhengHei"/>
              </a:rPr>
              <a:t> </a:t>
            </a:r>
            <a:r>
              <a:rPr sz="1000" spc="-70">
                <a:solidFill>
                  <a:srgbClr val="545454"/>
                </a:solidFill>
                <a:latin typeface="Microsoft JhengHei"/>
                <a:cs typeface="Microsoft JhengHei"/>
              </a:rPr>
              <a:t>Native</a:t>
            </a:r>
            <a:r>
              <a:rPr sz="1000" spc="-60">
                <a:solidFill>
                  <a:srgbClr val="545454"/>
                </a:solidFill>
                <a:latin typeface="Microsoft JhengHei"/>
                <a:cs typeface="Microsoft JhengHei"/>
              </a:rPr>
              <a:t> </a:t>
            </a:r>
            <a:r>
              <a:rPr sz="1000">
                <a:solidFill>
                  <a:srgbClr val="545454"/>
                </a:solidFill>
                <a:latin typeface="Microsoft JhengHei"/>
                <a:cs typeface="Microsoft JhengHei"/>
              </a:rPr>
              <a:t>·</a:t>
            </a:r>
            <a:r>
              <a:rPr sz="1000" spc="15">
                <a:solidFill>
                  <a:srgbClr val="545454"/>
                </a:solidFill>
                <a:latin typeface="Microsoft JhengHei"/>
                <a:cs typeface="Microsoft JhengHei"/>
              </a:rPr>
              <a:t> </a:t>
            </a:r>
            <a:r>
              <a:rPr sz="1000" spc="-80">
                <a:solidFill>
                  <a:srgbClr val="545454"/>
                </a:solidFill>
                <a:latin typeface="Microsoft JhengHei"/>
                <a:cs typeface="Microsoft JhengHei"/>
              </a:rPr>
              <a:t>same</a:t>
            </a:r>
            <a:r>
              <a:rPr sz="1000" spc="-60">
                <a:solidFill>
                  <a:srgbClr val="545454"/>
                </a:solidFill>
                <a:latin typeface="Microsoft JhengHei"/>
                <a:cs typeface="Microsoft JhengHei"/>
              </a:rPr>
              <a:t> </a:t>
            </a:r>
            <a:r>
              <a:rPr sz="1000" spc="-25">
                <a:solidFill>
                  <a:srgbClr val="545454"/>
                </a:solidFill>
                <a:latin typeface="Microsoft JhengHei"/>
                <a:cs typeface="Microsoft JhengHei"/>
              </a:rPr>
              <a:t>LAN</a:t>
            </a:r>
            <a:endParaRPr sz="1000">
              <a:latin typeface="Microsoft JhengHei"/>
              <a:cs typeface="Microsoft JhengHe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949957" y="2098929"/>
            <a:ext cx="8338184" cy="2479675"/>
            <a:chOff x="1949957" y="2098929"/>
            <a:chExt cx="8338184" cy="2479675"/>
          </a:xfrm>
        </p:grpSpPr>
        <p:sp>
          <p:nvSpPr>
            <p:cNvPr id="38" name="object 38"/>
            <p:cNvSpPr/>
            <p:nvPr/>
          </p:nvSpPr>
          <p:spPr>
            <a:xfrm>
              <a:off x="3148838" y="2098928"/>
              <a:ext cx="7139305" cy="1589405"/>
            </a:xfrm>
            <a:custGeom>
              <a:avLst/>
              <a:gdLst/>
              <a:ahLst/>
              <a:cxnLst/>
              <a:rect l="l" t="t" r="r" b="b"/>
              <a:pathLst>
                <a:path w="7139305" h="1589404">
                  <a:moveTo>
                    <a:pt x="1451102" y="1551051"/>
                  </a:moveTo>
                  <a:lnTo>
                    <a:pt x="1429004" y="1540002"/>
                  </a:lnTo>
                  <a:lnTo>
                    <a:pt x="1374902" y="1512951"/>
                  </a:lnTo>
                  <a:lnTo>
                    <a:pt x="1374902" y="1540002"/>
                  </a:lnTo>
                  <a:lnTo>
                    <a:pt x="5080" y="1540002"/>
                  </a:lnTo>
                  <a:lnTo>
                    <a:pt x="0" y="1544955"/>
                  </a:lnTo>
                  <a:lnTo>
                    <a:pt x="0" y="1557147"/>
                  </a:lnTo>
                  <a:lnTo>
                    <a:pt x="5080" y="1562227"/>
                  </a:lnTo>
                  <a:lnTo>
                    <a:pt x="1374902" y="1562227"/>
                  </a:lnTo>
                  <a:lnTo>
                    <a:pt x="1374902" y="1589151"/>
                  </a:lnTo>
                  <a:lnTo>
                    <a:pt x="1428750" y="1562227"/>
                  </a:lnTo>
                  <a:lnTo>
                    <a:pt x="1451102" y="1551051"/>
                  </a:lnTo>
                  <a:close/>
                </a:path>
                <a:path w="7139305" h="1589404">
                  <a:moveTo>
                    <a:pt x="2989199" y="87249"/>
                  </a:moveTo>
                  <a:lnTo>
                    <a:pt x="2977324" y="63500"/>
                  </a:lnTo>
                  <a:lnTo>
                    <a:pt x="2951099" y="11049"/>
                  </a:lnTo>
                  <a:lnTo>
                    <a:pt x="2912999" y="87249"/>
                  </a:lnTo>
                  <a:lnTo>
                    <a:pt x="2940050" y="87249"/>
                  </a:lnTo>
                  <a:lnTo>
                    <a:pt x="2940050" y="967232"/>
                  </a:lnTo>
                  <a:lnTo>
                    <a:pt x="2945003" y="972185"/>
                  </a:lnTo>
                  <a:lnTo>
                    <a:pt x="2957322" y="972185"/>
                  </a:lnTo>
                  <a:lnTo>
                    <a:pt x="2962275" y="967232"/>
                  </a:lnTo>
                  <a:lnTo>
                    <a:pt x="2962275" y="87249"/>
                  </a:lnTo>
                  <a:lnTo>
                    <a:pt x="2989199" y="87249"/>
                  </a:lnTo>
                  <a:close/>
                </a:path>
                <a:path w="7139305" h="1589404">
                  <a:moveTo>
                    <a:pt x="7139305" y="884809"/>
                  </a:moveTo>
                  <a:lnTo>
                    <a:pt x="7112254" y="884809"/>
                  </a:lnTo>
                  <a:lnTo>
                    <a:pt x="7112254" y="4953"/>
                  </a:lnTo>
                  <a:lnTo>
                    <a:pt x="7107301" y="0"/>
                  </a:lnTo>
                  <a:lnTo>
                    <a:pt x="7094982" y="0"/>
                  </a:lnTo>
                  <a:lnTo>
                    <a:pt x="7090029" y="4953"/>
                  </a:lnTo>
                  <a:lnTo>
                    <a:pt x="7090029" y="884809"/>
                  </a:lnTo>
                  <a:lnTo>
                    <a:pt x="7063105" y="884809"/>
                  </a:lnTo>
                  <a:lnTo>
                    <a:pt x="7101205" y="961009"/>
                  </a:lnTo>
                  <a:lnTo>
                    <a:pt x="7127367" y="908685"/>
                  </a:lnTo>
                  <a:lnTo>
                    <a:pt x="7139305" y="884809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949957" y="4501896"/>
              <a:ext cx="8300084" cy="76200"/>
            </a:xfrm>
            <a:custGeom>
              <a:avLst/>
              <a:gdLst/>
              <a:ahLst/>
              <a:cxnLst/>
              <a:rect l="l" t="t" r="r" b="b"/>
              <a:pathLst>
                <a:path w="8300084" h="76200">
                  <a:moveTo>
                    <a:pt x="76200" y="0"/>
                  </a:moveTo>
                  <a:lnTo>
                    <a:pt x="0" y="38099"/>
                  </a:lnTo>
                  <a:lnTo>
                    <a:pt x="76200" y="76199"/>
                  </a:lnTo>
                  <a:lnTo>
                    <a:pt x="76200" y="49275"/>
                  </a:lnTo>
                  <a:lnTo>
                    <a:pt x="57531" y="49275"/>
                  </a:lnTo>
                  <a:lnTo>
                    <a:pt x="52450" y="44195"/>
                  </a:lnTo>
                  <a:lnTo>
                    <a:pt x="52450" y="32003"/>
                  </a:lnTo>
                  <a:lnTo>
                    <a:pt x="57531" y="27050"/>
                  </a:lnTo>
                  <a:lnTo>
                    <a:pt x="76200" y="27050"/>
                  </a:lnTo>
                  <a:lnTo>
                    <a:pt x="76200" y="0"/>
                  </a:lnTo>
                  <a:close/>
                </a:path>
                <a:path w="8300084" h="76200">
                  <a:moveTo>
                    <a:pt x="76200" y="27050"/>
                  </a:moveTo>
                  <a:lnTo>
                    <a:pt x="57531" y="27050"/>
                  </a:lnTo>
                  <a:lnTo>
                    <a:pt x="52450" y="32003"/>
                  </a:lnTo>
                  <a:lnTo>
                    <a:pt x="52450" y="44195"/>
                  </a:lnTo>
                  <a:lnTo>
                    <a:pt x="57531" y="49275"/>
                  </a:lnTo>
                  <a:lnTo>
                    <a:pt x="76200" y="49275"/>
                  </a:lnTo>
                  <a:lnTo>
                    <a:pt x="76200" y="27050"/>
                  </a:lnTo>
                  <a:close/>
                </a:path>
                <a:path w="8300084" h="76200">
                  <a:moveTo>
                    <a:pt x="136398" y="27050"/>
                  </a:moveTo>
                  <a:lnTo>
                    <a:pt x="76200" y="27050"/>
                  </a:lnTo>
                  <a:lnTo>
                    <a:pt x="76200" y="49275"/>
                  </a:lnTo>
                  <a:lnTo>
                    <a:pt x="136398" y="49275"/>
                  </a:lnTo>
                  <a:lnTo>
                    <a:pt x="141350" y="44195"/>
                  </a:lnTo>
                  <a:lnTo>
                    <a:pt x="141350" y="32003"/>
                  </a:lnTo>
                  <a:lnTo>
                    <a:pt x="136398" y="27050"/>
                  </a:lnTo>
                  <a:close/>
                </a:path>
                <a:path w="8300084" h="76200">
                  <a:moveTo>
                    <a:pt x="291973" y="27050"/>
                  </a:moveTo>
                  <a:lnTo>
                    <a:pt x="213106" y="27050"/>
                  </a:lnTo>
                  <a:lnTo>
                    <a:pt x="208025" y="32003"/>
                  </a:lnTo>
                  <a:lnTo>
                    <a:pt x="208025" y="44195"/>
                  </a:lnTo>
                  <a:lnTo>
                    <a:pt x="213106" y="49275"/>
                  </a:lnTo>
                  <a:lnTo>
                    <a:pt x="291973" y="49275"/>
                  </a:lnTo>
                  <a:lnTo>
                    <a:pt x="296925" y="44195"/>
                  </a:lnTo>
                  <a:lnTo>
                    <a:pt x="296925" y="32003"/>
                  </a:lnTo>
                  <a:lnTo>
                    <a:pt x="291973" y="27050"/>
                  </a:lnTo>
                  <a:close/>
                </a:path>
                <a:path w="8300084" h="76200">
                  <a:moveTo>
                    <a:pt x="447548" y="27050"/>
                  </a:moveTo>
                  <a:lnTo>
                    <a:pt x="368681" y="27050"/>
                  </a:lnTo>
                  <a:lnTo>
                    <a:pt x="363600" y="32003"/>
                  </a:lnTo>
                  <a:lnTo>
                    <a:pt x="363600" y="44195"/>
                  </a:lnTo>
                  <a:lnTo>
                    <a:pt x="368681" y="49275"/>
                  </a:lnTo>
                  <a:lnTo>
                    <a:pt x="447548" y="49275"/>
                  </a:lnTo>
                  <a:lnTo>
                    <a:pt x="452500" y="44195"/>
                  </a:lnTo>
                  <a:lnTo>
                    <a:pt x="452500" y="32003"/>
                  </a:lnTo>
                  <a:lnTo>
                    <a:pt x="447548" y="27050"/>
                  </a:lnTo>
                  <a:close/>
                </a:path>
                <a:path w="8300084" h="76200">
                  <a:moveTo>
                    <a:pt x="603123" y="27050"/>
                  </a:moveTo>
                  <a:lnTo>
                    <a:pt x="524256" y="27050"/>
                  </a:lnTo>
                  <a:lnTo>
                    <a:pt x="519175" y="32003"/>
                  </a:lnTo>
                  <a:lnTo>
                    <a:pt x="519175" y="44195"/>
                  </a:lnTo>
                  <a:lnTo>
                    <a:pt x="524256" y="49275"/>
                  </a:lnTo>
                  <a:lnTo>
                    <a:pt x="603123" y="49275"/>
                  </a:lnTo>
                  <a:lnTo>
                    <a:pt x="608076" y="44195"/>
                  </a:lnTo>
                  <a:lnTo>
                    <a:pt x="608076" y="32003"/>
                  </a:lnTo>
                  <a:lnTo>
                    <a:pt x="603123" y="27050"/>
                  </a:lnTo>
                  <a:close/>
                </a:path>
                <a:path w="8300084" h="76200">
                  <a:moveTo>
                    <a:pt x="758698" y="27050"/>
                  </a:moveTo>
                  <a:lnTo>
                    <a:pt x="679831" y="27050"/>
                  </a:lnTo>
                  <a:lnTo>
                    <a:pt x="674751" y="32003"/>
                  </a:lnTo>
                  <a:lnTo>
                    <a:pt x="674751" y="44195"/>
                  </a:lnTo>
                  <a:lnTo>
                    <a:pt x="679831" y="49275"/>
                  </a:lnTo>
                  <a:lnTo>
                    <a:pt x="758698" y="49275"/>
                  </a:lnTo>
                  <a:lnTo>
                    <a:pt x="763651" y="44195"/>
                  </a:lnTo>
                  <a:lnTo>
                    <a:pt x="763651" y="32003"/>
                  </a:lnTo>
                  <a:lnTo>
                    <a:pt x="758698" y="27050"/>
                  </a:lnTo>
                  <a:close/>
                </a:path>
                <a:path w="8300084" h="76200">
                  <a:moveTo>
                    <a:pt x="914273" y="27050"/>
                  </a:moveTo>
                  <a:lnTo>
                    <a:pt x="835406" y="27050"/>
                  </a:lnTo>
                  <a:lnTo>
                    <a:pt x="830326" y="32003"/>
                  </a:lnTo>
                  <a:lnTo>
                    <a:pt x="830326" y="44195"/>
                  </a:lnTo>
                  <a:lnTo>
                    <a:pt x="835406" y="49275"/>
                  </a:lnTo>
                  <a:lnTo>
                    <a:pt x="914273" y="49275"/>
                  </a:lnTo>
                  <a:lnTo>
                    <a:pt x="919226" y="44195"/>
                  </a:lnTo>
                  <a:lnTo>
                    <a:pt x="919226" y="32003"/>
                  </a:lnTo>
                  <a:lnTo>
                    <a:pt x="914273" y="27050"/>
                  </a:lnTo>
                  <a:close/>
                </a:path>
                <a:path w="8300084" h="76200">
                  <a:moveTo>
                    <a:pt x="1069848" y="27050"/>
                  </a:moveTo>
                  <a:lnTo>
                    <a:pt x="990981" y="27050"/>
                  </a:lnTo>
                  <a:lnTo>
                    <a:pt x="985901" y="32003"/>
                  </a:lnTo>
                  <a:lnTo>
                    <a:pt x="985901" y="44195"/>
                  </a:lnTo>
                  <a:lnTo>
                    <a:pt x="990981" y="49275"/>
                  </a:lnTo>
                  <a:lnTo>
                    <a:pt x="1069848" y="49275"/>
                  </a:lnTo>
                  <a:lnTo>
                    <a:pt x="1074801" y="44195"/>
                  </a:lnTo>
                  <a:lnTo>
                    <a:pt x="1074801" y="32003"/>
                  </a:lnTo>
                  <a:lnTo>
                    <a:pt x="1069848" y="27050"/>
                  </a:lnTo>
                  <a:close/>
                </a:path>
                <a:path w="8300084" h="76200">
                  <a:moveTo>
                    <a:pt x="1225423" y="27050"/>
                  </a:moveTo>
                  <a:lnTo>
                    <a:pt x="1146556" y="27050"/>
                  </a:lnTo>
                  <a:lnTo>
                    <a:pt x="1141476" y="32003"/>
                  </a:lnTo>
                  <a:lnTo>
                    <a:pt x="1141476" y="44195"/>
                  </a:lnTo>
                  <a:lnTo>
                    <a:pt x="1146556" y="49275"/>
                  </a:lnTo>
                  <a:lnTo>
                    <a:pt x="1225423" y="49275"/>
                  </a:lnTo>
                  <a:lnTo>
                    <a:pt x="1230376" y="44195"/>
                  </a:lnTo>
                  <a:lnTo>
                    <a:pt x="1230376" y="32003"/>
                  </a:lnTo>
                  <a:lnTo>
                    <a:pt x="1225423" y="27050"/>
                  </a:lnTo>
                  <a:close/>
                </a:path>
                <a:path w="8300084" h="76200">
                  <a:moveTo>
                    <a:pt x="1380997" y="27050"/>
                  </a:moveTo>
                  <a:lnTo>
                    <a:pt x="1302131" y="27050"/>
                  </a:lnTo>
                  <a:lnTo>
                    <a:pt x="1297051" y="32003"/>
                  </a:lnTo>
                  <a:lnTo>
                    <a:pt x="1297051" y="44195"/>
                  </a:lnTo>
                  <a:lnTo>
                    <a:pt x="1302131" y="49275"/>
                  </a:lnTo>
                  <a:lnTo>
                    <a:pt x="1380997" y="49275"/>
                  </a:lnTo>
                  <a:lnTo>
                    <a:pt x="1385951" y="44195"/>
                  </a:lnTo>
                  <a:lnTo>
                    <a:pt x="1385951" y="32003"/>
                  </a:lnTo>
                  <a:lnTo>
                    <a:pt x="1380997" y="27050"/>
                  </a:lnTo>
                  <a:close/>
                </a:path>
                <a:path w="8300084" h="76200">
                  <a:moveTo>
                    <a:pt x="1536572" y="27050"/>
                  </a:moveTo>
                  <a:lnTo>
                    <a:pt x="1457706" y="27050"/>
                  </a:lnTo>
                  <a:lnTo>
                    <a:pt x="1452626" y="32003"/>
                  </a:lnTo>
                  <a:lnTo>
                    <a:pt x="1452626" y="44195"/>
                  </a:lnTo>
                  <a:lnTo>
                    <a:pt x="1457706" y="49275"/>
                  </a:lnTo>
                  <a:lnTo>
                    <a:pt x="1536572" y="49275"/>
                  </a:lnTo>
                  <a:lnTo>
                    <a:pt x="1541526" y="44195"/>
                  </a:lnTo>
                  <a:lnTo>
                    <a:pt x="1541526" y="32003"/>
                  </a:lnTo>
                  <a:lnTo>
                    <a:pt x="1536572" y="27050"/>
                  </a:lnTo>
                  <a:close/>
                </a:path>
                <a:path w="8300084" h="76200">
                  <a:moveTo>
                    <a:pt x="1692147" y="27050"/>
                  </a:moveTo>
                  <a:lnTo>
                    <a:pt x="1613281" y="27050"/>
                  </a:lnTo>
                  <a:lnTo>
                    <a:pt x="1608201" y="32003"/>
                  </a:lnTo>
                  <a:lnTo>
                    <a:pt x="1608201" y="44195"/>
                  </a:lnTo>
                  <a:lnTo>
                    <a:pt x="1613281" y="49275"/>
                  </a:lnTo>
                  <a:lnTo>
                    <a:pt x="1692147" y="49275"/>
                  </a:lnTo>
                  <a:lnTo>
                    <a:pt x="1697101" y="44195"/>
                  </a:lnTo>
                  <a:lnTo>
                    <a:pt x="1697101" y="32003"/>
                  </a:lnTo>
                  <a:lnTo>
                    <a:pt x="1692147" y="27050"/>
                  </a:lnTo>
                  <a:close/>
                </a:path>
                <a:path w="8300084" h="76200">
                  <a:moveTo>
                    <a:pt x="1847722" y="27050"/>
                  </a:moveTo>
                  <a:lnTo>
                    <a:pt x="1768856" y="27050"/>
                  </a:lnTo>
                  <a:lnTo>
                    <a:pt x="1763776" y="32003"/>
                  </a:lnTo>
                  <a:lnTo>
                    <a:pt x="1763776" y="44195"/>
                  </a:lnTo>
                  <a:lnTo>
                    <a:pt x="1768856" y="49275"/>
                  </a:lnTo>
                  <a:lnTo>
                    <a:pt x="1847722" y="49275"/>
                  </a:lnTo>
                  <a:lnTo>
                    <a:pt x="1852676" y="44195"/>
                  </a:lnTo>
                  <a:lnTo>
                    <a:pt x="1852676" y="32003"/>
                  </a:lnTo>
                  <a:lnTo>
                    <a:pt x="1847722" y="27050"/>
                  </a:lnTo>
                  <a:close/>
                </a:path>
                <a:path w="8300084" h="76200">
                  <a:moveTo>
                    <a:pt x="2003297" y="27050"/>
                  </a:moveTo>
                  <a:lnTo>
                    <a:pt x="1924431" y="27050"/>
                  </a:lnTo>
                  <a:lnTo>
                    <a:pt x="1919351" y="32003"/>
                  </a:lnTo>
                  <a:lnTo>
                    <a:pt x="1919351" y="44195"/>
                  </a:lnTo>
                  <a:lnTo>
                    <a:pt x="1924431" y="49275"/>
                  </a:lnTo>
                  <a:lnTo>
                    <a:pt x="2003297" y="49275"/>
                  </a:lnTo>
                  <a:lnTo>
                    <a:pt x="2008251" y="44195"/>
                  </a:lnTo>
                  <a:lnTo>
                    <a:pt x="2008251" y="32003"/>
                  </a:lnTo>
                  <a:lnTo>
                    <a:pt x="2003297" y="27050"/>
                  </a:lnTo>
                  <a:close/>
                </a:path>
                <a:path w="8300084" h="76200">
                  <a:moveTo>
                    <a:pt x="2158872" y="27050"/>
                  </a:moveTo>
                  <a:lnTo>
                    <a:pt x="2080006" y="27050"/>
                  </a:lnTo>
                  <a:lnTo>
                    <a:pt x="2074926" y="32003"/>
                  </a:lnTo>
                  <a:lnTo>
                    <a:pt x="2074926" y="44195"/>
                  </a:lnTo>
                  <a:lnTo>
                    <a:pt x="2080006" y="49275"/>
                  </a:lnTo>
                  <a:lnTo>
                    <a:pt x="2158872" y="49275"/>
                  </a:lnTo>
                  <a:lnTo>
                    <a:pt x="2163826" y="44195"/>
                  </a:lnTo>
                  <a:lnTo>
                    <a:pt x="2163826" y="32003"/>
                  </a:lnTo>
                  <a:lnTo>
                    <a:pt x="2158872" y="27050"/>
                  </a:lnTo>
                  <a:close/>
                </a:path>
                <a:path w="8300084" h="76200">
                  <a:moveTo>
                    <a:pt x="2314447" y="27050"/>
                  </a:moveTo>
                  <a:lnTo>
                    <a:pt x="2235581" y="27050"/>
                  </a:lnTo>
                  <a:lnTo>
                    <a:pt x="2230501" y="32003"/>
                  </a:lnTo>
                  <a:lnTo>
                    <a:pt x="2230501" y="44195"/>
                  </a:lnTo>
                  <a:lnTo>
                    <a:pt x="2235581" y="49275"/>
                  </a:lnTo>
                  <a:lnTo>
                    <a:pt x="2314447" y="49275"/>
                  </a:lnTo>
                  <a:lnTo>
                    <a:pt x="2319401" y="44195"/>
                  </a:lnTo>
                  <a:lnTo>
                    <a:pt x="2319401" y="32003"/>
                  </a:lnTo>
                  <a:lnTo>
                    <a:pt x="2314447" y="27050"/>
                  </a:lnTo>
                  <a:close/>
                </a:path>
                <a:path w="8300084" h="76200">
                  <a:moveTo>
                    <a:pt x="2470022" y="27050"/>
                  </a:moveTo>
                  <a:lnTo>
                    <a:pt x="2391156" y="27050"/>
                  </a:lnTo>
                  <a:lnTo>
                    <a:pt x="2386076" y="32003"/>
                  </a:lnTo>
                  <a:lnTo>
                    <a:pt x="2386076" y="44195"/>
                  </a:lnTo>
                  <a:lnTo>
                    <a:pt x="2391156" y="49275"/>
                  </a:lnTo>
                  <a:lnTo>
                    <a:pt x="2470022" y="49275"/>
                  </a:lnTo>
                  <a:lnTo>
                    <a:pt x="2474976" y="44195"/>
                  </a:lnTo>
                  <a:lnTo>
                    <a:pt x="2474976" y="32003"/>
                  </a:lnTo>
                  <a:lnTo>
                    <a:pt x="2470022" y="27050"/>
                  </a:lnTo>
                  <a:close/>
                </a:path>
                <a:path w="8300084" h="76200">
                  <a:moveTo>
                    <a:pt x="2625597" y="27050"/>
                  </a:moveTo>
                  <a:lnTo>
                    <a:pt x="2546731" y="27050"/>
                  </a:lnTo>
                  <a:lnTo>
                    <a:pt x="2541651" y="32003"/>
                  </a:lnTo>
                  <a:lnTo>
                    <a:pt x="2541651" y="44195"/>
                  </a:lnTo>
                  <a:lnTo>
                    <a:pt x="2546731" y="49275"/>
                  </a:lnTo>
                  <a:lnTo>
                    <a:pt x="2625597" y="49275"/>
                  </a:lnTo>
                  <a:lnTo>
                    <a:pt x="2630551" y="44195"/>
                  </a:lnTo>
                  <a:lnTo>
                    <a:pt x="2630551" y="32003"/>
                  </a:lnTo>
                  <a:lnTo>
                    <a:pt x="2625597" y="27050"/>
                  </a:lnTo>
                  <a:close/>
                </a:path>
                <a:path w="8300084" h="76200">
                  <a:moveTo>
                    <a:pt x="2781172" y="27050"/>
                  </a:moveTo>
                  <a:lnTo>
                    <a:pt x="2702306" y="27050"/>
                  </a:lnTo>
                  <a:lnTo>
                    <a:pt x="2697226" y="32003"/>
                  </a:lnTo>
                  <a:lnTo>
                    <a:pt x="2697226" y="44195"/>
                  </a:lnTo>
                  <a:lnTo>
                    <a:pt x="2702306" y="49275"/>
                  </a:lnTo>
                  <a:lnTo>
                    <a:pt x="2781172" y="49275"/>
                  </a:lnTo>
                  <a:lnTo>
                    <a:pt x="2786126" y="44195"/>
                  </a:lnTo>
                  <a:lnTo>
                    <a:pt x="2786126" y="32003"/>
                  </a:lnTo>
                  <a:lnTo>
                    <a:pt x="2781172" y="27050"/>
                  </a:lnTo>
                  <a:close/>
                </a:path>
                <a:path w="8300084" h="76200">
                  <a:moveTo>
                    <a:pt x="2936747" y="27050"/>
                  </a:moveTo>
                  <a:lnTo>
                    <a:pt x="2857881" y="27050"/>
                  </a:lnTo>
                  <a:lnTo>
                    <a:pt x="2852801" y="32003"/>
                  </a:lnTo>
                  <a:lnTo>
                    <a:pt x="2852801" y="44195"/>
                  </a:lnTo>
                  <a:lnTo>
                    <a:pt x="2857881" y="49275"/>
                  </a:lnTo>
                  <a:lnTo>
                    <a:pt x="2936747" y="49275"/>
                  </a:lnTo>
                  <a:lnTo>
                    <a:pt x="2941701" y="44195"/>
                  </a:lnTo>
                  <a:lnTo>
                    <a:pt x="2941701" y="32003"/>
                  </a:lnTo>
                  <a:lnTo>
                    <a:pt x="2936747" y="27050"/>
                  </a:lnTo>
                  <a:close/>
                </a:path>
                <a:path w="8300084" h="76200">
                  <a:moveTo>
                    <a:pt x="3092322" y="27050"/>
                  </a:moveTo>
                  <a:lnTo>
                    <a:pt x="3013456" y="27050"/>
                  </a:lnTo>
                  <a:lnTo>
                    <a:pt x="3008376" y="32003"/>
                  </a:lnTo>
                  <a:lnTo>
                    <a:pt x="3008376" y="44195"/>
                  </a:lnTo>
                  <a:lnTo>
                    <a:pt x="3013456" y="49275"/>
                  </a:lnTo>
                  <a:lnTo>
                    <a:pt x="3092322" y="49275"/>
                  </a:lnTo>
                  <a:lnTo>
                    <a:pt x="3097276" y="44195"/>
                  </a:lnTo>
                  <a:lnTo>
                    <a:pt x="3097276" y="32003"/>
                  </a:lnTo>
                  <a:lnTo>
                    <a:pt x="3092322" y="27050"/>
                  </a:lnTo>
                  <a:close/>
                </a:path>
                <a:path w="8300084" h="76200">
                  <a:moveTo>
                    <a:pt x="3247897" y="27050"/>
                  </a:moveTo>
                  <a:lnTo>
                    <a:pt x="3169031" y="27050"/>
                  </a:lnTo>
                  <a:lnTo>
                    <a:pt x="3163951" y="32003"/>
                  </a:lnTo>
                  <a:lnTo>
                    <a:pt x="3163951" y="44195"/>
                  </a:lnTo>
                  <a:lnTo>
                    <a:pt x="3169031" y="49275"/>
                  </a:lnTo>
                  <a:lnTo>
                    <a:pt x="3247897" y="49275"/>
                  </a:lnTo>
                  <a:lnTo>
                    <a:pt x="3252851" y="44195"/>
                  </a:lnTo>
                  <a:lnTo>
                    <a:pt x="3252851" y="32003"/>
                  </a:lnTo>
                  <a:lnTo>
                    <a:pt x="3247897" y="27050"/>
                  </a:lnTo>
                  <a:close/>
                </a:path>
                <a:path w="8300084" h="76200">
                  <a:moveTo>
                    <a:pt x="3403473" y="27050"/>
                  </a:moveTo>
                  <a:lnTo>
                    <a:pt x="3324605" y="27050"/>
                  </a:lnTo>
                  <a:lnTo>
                    <a:pt x="3319526" y="32003"/>
                  </a:lnTo>
                  <a:lnTo>
                    <a:pt x="3319526" y="44195"/>
                  </a:lnTo>
                  <a:lnTo>
                    <a:pt x="3324605" y="49275"/>
                  </a:lnTo>
                  <a:lnTo>
                    <a:pt x="3403473" y="49275"/>
                  </a:lnTo>
                  <a:lnTo>
                    <a:pt x="3408426" y="44195"/>
                  </a:lnTo>
                  <a:lnTo>
                    <a:pt x="3408426" y="32003"/>
                  </a:lnTo>
                  <a:lnTo>
                    <a:pt x="3403473" y="27050"/>
                  </a:lnTo>
                  <a:close/>
                </a:path>
                <a:path w="8300084" h="76200">
                  <a:moveTo>
                    <a:pt x="3559048" y="27050"/>
                  </a:moveTo>
                  <a:lnTo>
                    <a:pt x="3480180" y="27050"/>
                  </a:lnTo>
                  <a:lnTo>
                    <a:pt x="3475101" y="32003"/>
                  </a:lnTo>
                  <a:lnTo>
                    <a:pt x="3475101" y="44195"/>
                  </a:lnTo>
                  <a:lnTo>
                    <a:pt x="3480180" y="49275"/>
                  </a:lnTo>
                  <a:lnTo>
                    <a:pt x="3559048" y="49275"/>
                  </a:lnTo>
                  <a:lnTo>
                    <a:pt x="3564001" y="44195"/>
                  </a:lnTo>
                  <a:lnTo>
                    <a:pt x="3564001" y="32003"/>
                  </a:lnTo>
                  <a:lnTo>
                    <a:pt x="3559048" y="27050"/>
                  </a:lnTo>
                  <a:close/>
                </a:path>
                <a:path w="8300084" h="76200">
                  <a:moveTo>
                    <a:pt x="3714623" y="27050"/>
                  </a:moveTo>
                  <a:lnTo>
                    <a:pt x="3635755" y="27050"/>
                  </a:lnTo>
                  <a:lnTo>
                    <a:pt x="3630676" y="32003"/>
                  </a:lnTo>
                  <a:lnTo>
                    <a:pt x="3630676" y="44195"/>
                  </a:lnTo>
                  <a:lnTo>
                    <a:pt x="3635755" y="49275"/>
                  </a:lnTo>
                  <a:lnTo>
                    <a:pt x="3714623" y="49275"/>
                  </a:lnTo>
                  <a:lnTo>
                    <a:pt x="3719576" y="44195"/>
                  </a:lnTo>
                  <a:lnTo>
                    <a:pt x="3719576" y="32003"/>
                  </a:lnTo>
                  <a:lnTo>
                    <a:pt x="3714623" y="27050"/>
                  </a:lnTo>
                  <a:close/>
                </a:path>
                <a:path w="8300084" h="76200">
                  <a:moveTo>
                    <a:pt x="3870198" y="27050"/>
                  </a:moveTo>
                  <a:lnTo>
                    <a:pt x="3791330" y="27050"/>
                  </a:lnTo>
                  <a:lnTo>
                    <a:pt x="3786251" y="32003"/>
                  </a:lnTo>
                  <a:lnTo>
                    <a:pt x="3786251" y="44195"/>
                  </a:lnTo>
                  <a:lnTo>
                    <a:pt x="3791330" y="49275"/>
                  </a:lnTo>
                  <a:lnTo>
                    <a:pt x="3870198" y="49275"/>
                  </a:lnTo>
                  <a:lnTo>
                    <a:pt x="3875151" y="44195"/>
                  </a:lnTo>
                  <a:lnTo>
                    <a:pt x="3875151" y="32003"/>
                  </a:lnTo>
                  <a:lnTo>
                    <a:pt x="3870198" y="27050"/>
                  </a:lnTo>
                  <a:close/>
                </a:path>
                <a:path w="8300084" h="76200">
                  <a:moveTo>
                    <a:pt x="4025773" y="27050"/>
                  </a:moveTo>
                  <a:lnTo>
                    <a:pt x="3946905" y="27050"/>
                  </a:lnTo>
                  <a:lnTo>
                    <a:pt x="3941826" y="32003"/>
                  </a:lnTo>
                  <a:lnTo>
                    <a:pt x="3941826" y="44195"/>
                  </a:lnTo>
                  <a:lnTo>
                    <a:pt x="3946905" y="49275"/>
                  </a:lnTo>
                  <a:lnTo>
                    <a:pt x="4025773" y="49275"/>
                  </a:lnTo>
                  <a:lnTo>
                    <a:pt x="4030726" y="44195"/>
                  </a:lnTo>
                  <a:lnTo>
                    <a:pt x="4030726" y="32003"/>
                  </a:lnTo>
                  <a:lnTo>
                    <a:pt x="4025773" y="27050"/>
                  </a:lnTo>
                  <a:close/>
                </a:path>
                <a:path w="8300084" h="76200">
                  <a:moveTo>
                    <a:pt x="4181348" y="27050"/>
                  </a:moveTo>
                  <a:lnTo>
                    <a:pt x="4102480" y="27050"/>
                  </a:lnTo>
                  <a:lnTo>
                    <a:pt x="4097401" y="32003"/>
                  </a:lnTo>
                  <a:lnTo>
                    <a:pt x="4097401" y="44195"/>
                  </a:lnTo>
                  <a:lnTo>
                    <a:pt x="4102480" y="49275"/>
                  </a:lnTo>
                  <a:lnTo>
                    <a:pt x="4181348" y="49275"/>
                  </a:lnTo>
                  <a:lnTo>
                    <a:pt x="4186301" y="44195"/>
                  </a:lnTo>
                  <a:lnTo>
                    <a:pt x="4186301" y="32003"/>
                  </a:lnTo>
                  <a:lnTo>
                    <a:pt x="4181348" y="27050"/>
                  </a:lnTo>
                  <a:close/>
                </a:path>
                <a:path w="8300084" h="76200">
                  <a:moveTo>
                    <a:pt x="4336923" y="27050"/>
                  </a:moveTo>
                  <a:lnTo>
                    <a:pt x="4258056" y="27050"/>
                  </a:lnTo>
                  <a:lnTo>
                    <a:pt x="4252976" y="32003"/>
                  </a:lnTo>
                  <a:lnTo>
                    <a:pt x="4252976" y="44195"/>
                  </a:lnTo>
                  <a:lnTo>
                    <a:pt x="4258056" y="49275"/>
                  </a:lnTo>
                  <a:lnTo>
                    <a:pt x="4336923" y="49275"/>
                  </a:lnTo>
                  <a:lnTo>
                    <a:pt x="4341876" y="44195"/>
                  </a:lnTo>
                  <a:lnTo>
                    <a:pt x="4341876" y="32003"/>
                  </a:lnTo>
                  <a:lnTo>
                    <a:pt x="4336923" y="27050"/>
                  </a:lnTo>
                  <a:close/>
                </a:path>
                <a:path w="8300084" h="76200">
                  <a:moveTo>
                    <a:pt x="4492498" y="27050"/>
                  </a:moveTo>
                  <a:lnTo>
                    <a:pt x="4413631" y="27050"/>
                  </a:lnTo>
                  <a:lnTo>
                    <a:pt x="4408551" y="32003"/>
                  </a:lnTo>
                  <a:lnTo>
                    <a:pt x="4408551" y="44195"/>
                  </a:lnTo>
                  <a:lnTo>
                    <a:pt x="4413631" y="49275"/>
                  </a:lnTo>
                  <a:lnTo>
                    <a:pt x="4492498" y="49275"/>
                  </a:lnTo>
                  <a:lnTo>
                    <a:pt x="4497451" y="44195"/>
                  </a:lnTo>
                  <a:lnTo>
                    <a:pt x="4497451" y="32003"/>
                  </a:lnTo>
                  <a:lnTo>
                    <a:pt x="4492498" y="27050"/>
                  </a:lnTo>
                  <a:close/>
                </a:path>
                <a:path w="8300084" h="76200">
                  <a:moveTo>
                    <a:pt x="4648073" y="27050"/>
                  </a:moveTo>
                  <a:lnTo>
                    <a:pt x="4569206" y="27050"/>
                  </a:lnTo>
                  <a:lnTo>
                    <a:pt x="4564126" y="32003"/>
                  </a:lnTo>
                  <a:lnTo>
                    <a:pt x="4564126" y="44195"/>
                  </a:lnTo>
                  <a:lnTo>
                    <a:pt x="4569206" y="49275"/>
                  </a:lnTo>
                  <a:lnTo>
                    <a:pt x="4648073" y="49275"/>
                  </a:lnTo>
                  <a:lnTo>
                    <a:pt x="4653026" y="44195"/>
                  </a:lnTo>
                  <a:lnTo>
                    <a:pt x="4653026" y="32003"/>
                  </a:lnTo>
                  <a:lnTo>
                    <a:pt x="4648073" y="27050"/>
                  </a:lnTo>
                  <a:close/>
                </a:path>
                <a:path w="8300084" h="76200">
                  <a:moveTo>
                    <a:pt x="4803648" y="27050"/>
                  </a:moveTo>
                  <a:lnTo>
                    <a:pt x="4724781" y="27050"/>
                  </a:lnTo>
                  <a:lnTo>
                    <a:pt x="4719701" y="32003"/>
                  </a:lnTo>
                  <a:lnTo>
                    <a:pt x="4719701" y="44195"/>
                  </a:lnTo>
                  <a:lnTo>
                    <a:pt x="4724781" y="49275"/>
                  </a:lnTo>
                  <a:lnTo>
                    <a:pt x="4803648" y="49275"/>
                  </a:lnTo>
                  <a:lnTo>
                    <a:pt x="4808601" y="44195"/>
                  </a:lnTo>
                  <a:lnTo>
                    <a:pt x="4808601" y="32003"/>
                  </a:lnTo>
                  <a:lnTo>
                    <a:pt x="4803648" y="27050"/>
                  </a:lnTo>
                  <a:close/>
                </a:path>
                <a:path w="8300084" h="76200">
                  <a:moveTo>
                    <a:pt x="4959223" y="27050"/>
                  </a:moveTo>
                  <a:lnTo>
                    <a:pt x="4880356" y="27050"/>
                  </a:lnTo>
                  <a:lnTo>
                    <a:pt x="4875276" y="32003"/>
                  </a:lnTo>
                  <a:lnTo>
                    <a:pt x="4875276" y="44195"/>
                  </a:lnTo>
                  <a:lnTo>
                    <a:pt x="4880356" y="49275"/>
                  </a:lnTo>
                  <a:lnTo>
                    <a:pt x="4959223" y="49275"/>
                  </a:lnTo>
                  <a:lnTo>
                    <a:pt x="4964176" y="44195"/>
                  </a:lnTo>
                  <a:lnTo>
                    <a:pt x="4964176" y="32003"/>
                  </a:lnTo>
                  <a:lnTo>
                    <a:pt x="4959223" y="27050"/>
                  </a:lnTo>
                  <a:close/>
                </a:path>
                <a:path w="8300084" h="76200">
                  <a:moveTo>
                    <a:pt x="5114798" y="27050"/>
                  </a:moveTo>
                  <a:lnTo>
                    <a:pt x="5035931" y="27050"/>
                  </a:lnTo>
                  <a:lnTo>
                    <a:pt x="5030851" y="32003"/>
                  </a:lnTo>
                  <a:lnTo>
                    <a:pt x="5030851" y="44195"/>
                  </a:lnTo>
                  <a:lnTo>
                    <a:pt x="5035931" y="49275"/>
                  </a:lnTo>
                  <a:lnTo>
                    <a:pt x="5114798" y="49275"/>
                  </a:lnTo>
                  <a:lnTo>
                    <a:pt x="5119751" y="44195"/>
                  </a:lnTo>
                  <a:lnTo>
                    <a:pt x="5119751" y="32003"/>
                  </a:lnTo>
                  <a:lnTo>
                    <a:pt x="5114798" y="27050"/>
                  </a:lnTo>
                  <a:close/>
                </a:path>
                <a:path w="8300084" h="76200">
                  <a:moveTo>
                    <a:pt x="5270373" y="27050"/>
                  </a:moveTo>
                  <a:lnTo>
                    <a:pt x="5191506" y="27050"/>
                  </a:lnTo>
                  <a:lnTo>
                    <a:pt x="5186426" y="32003"/>
                  </a:lnTo>
                  <a:lnTo>
                    <a:pt x="5186426" y="44195"/>
                  </a:lnTo>
                  <a:lnTo>
                    <a:pt x="5191506" y="49275"/>
                  </a:lnTo>
                  <a:lnTo>
                    <a:pt x="5270373" y="49275"/>
                  </a:lnTo>
                  <a:lnTo>
                    <a:pt x="5275326" y="44195"/>
                  </a:lnTo>
                  <a:lnTo>
                    <a:pt x="5275326" y="32003"/>
                  </a:lnTo>
                  <a:lnTo>
                    <a:pt x="5270373" y="27050"/>
                  </a:lnTo>
                  <a:close/>
                </a:path>
                <a:path w="8300084" h="76200">
                  <a:moveTo>
                    <a:pt x="5425948" y="27050"/>
                  </a:moveTo>
                  <a:lnTo>
                    <a:pt x="5347081" y="27050"/>
                  </a:lnTo>
                  <a:lnTo>
                    <a:pt x="5342001" y="32003"/>
                  </a:lnTo>
                  <a:lnTo>
                    <a:pt x="5342001" y="44195"/>
                  </a:lnTo>
                  <a:lnTo>
                    <a:pt x="5347081" y="49275"/>
                  </a:lnTo>
                  <a:lnTo>
                    <a:pt x="5425948" y="49275"/>
                  </a:lnTo>
                  <a:lnTo>
                    <a:pt x="5430901" y="44195"/>
                  </a:lnTo>
                  <a:lnTo>
                    <a:pt x="5430901" y="32003"/>
                  </a:lnTo>
                  <a:lnTo>
                    <a:pt x="5425948" y="27050"/>
                  </a:lnTo>
                  <a:close/>
                </a:path>
                <a:path w="8300084" h="76200">
                  <a:moveTo>
                    <a:pt x="5581523" y="27050"/>
                  </a:moveTo>
                  <a:lnTo>
                    <a:pt x="5502656" y="27050"/>
                  </a:lnTo>
                  <a:lnTo>
                    <a:pt x="5497576" y="32003"/>
                  </a:lnTo>
                  <a:lnTo>
                    <a:pt x="5497576" y="44195"/>
                  </a:lnTo>
                  <a:lnTo>
                    <a:pt x="5502656" y="49275"/>
                  </a:lnTo>
                  <a:lnTo>
                    <a:pt x="5581523" y="49275"/>
                  </a:lnTo>
                  <a:lnTo>
                    <a:pt x="5586476" y="44195"/>
                  </a:lnTo>
                  <a:lnTo>
                    <a:pt x="5586476" y="32003"/>
                  </a:lnTo>
                  <a:lnTo>
                    <a:pt x="5581523" y="27050"/>
                  </a:lnTo>
                  <a:close/>
                </a:path>
                <a:path w="8300084" h="76200">
                  <a:moveTo>
                    <a:pt x="5737098" y="27050"/>
                  </a:moveTo>
                  <a:lnTo>
                    <a:pt x="5658231" y="27050"/>
                  </a:lnTo>
                  <a:lnTo>
                    <a:pt x="5653151" y="32003"/>
                  </a:lnTo>
                  <a:lnTo>
                    <a:pt x="5653151" y="44195"/>
                  </a:lnTo>
                  <a:lnTo>
                    <a:pt x="5658231" y="49275"/>
                  </a:lnTo>
                  <a:lnTo>
                    <a:pt x="5737098" y="49275"/>
                  </a:lnTo>
                  <a:lnTo>
                    <a:pt x="5742051" y="44195"/>
                  </a:lnTo>
                  <a:lnTo>
                    <a:pt x="5742051" y="32003"/>
                  </a:lnTo>
                  <a:lnTo>
                    <a:pt x="5737098" y="27050"/>
                  </a:lnTo>
                  <a:close/>
                </a:path>
                <a:path w="8300084" h="76200">
                  <a:moveTo>
                    <a:pt x="5892673" y="27050"/>
                  </a:moveTo>
                  <a:lnTo>
                    <a:pt x="5813806" y="27050"/>
                  </a:lnTo>
                  <a:lnTo>
                    <a:pt x="5808726" y="32003"/>
                  </a:lnTo>
                  <a:lnTo>
                    <a:pt x="5808726" y="44195"/>
                  </a:lnTo>
                  <a:lnTo>
                    <a:pt x="5813806" y="49275"/>
                  </a:lnTo>
                  <a:lnTo>
                    <a:pt x="5892673" y="49275"/>
                  </a:lnTo>
                  <a:lnTo>
                    <a:pt x="5897626" y="44195"/>
                  </a:lnTo>
                  <a:lnTo>
                    <a:pt x="5897626" y="32003"/>
                  </a:lnTo>
                  <a:lnTo>
                    <a:pt x="5892673" y="27050"/>
                  </a:lnTo>
                  <a:close/>
                </a:path>
                <a:path w="8300084" h="76200">
                  <a:moveTo>
                    <a:pt x="6048248" y="27050"/>
                  </a:moveTo>
                  <a:lnTo>
                    <a:pt x="5969381" y="27050"/>
                  </a:lnTo>
                  <a:lnTo>
                    <a:pt x="5964301" y="32003"/>
                  </a:lnTo>
                  <a:lnTo>
                    <a:pt x="5964301" y="44195"/>
                  </a:lnTo>
                  <a:lnTo>
                    <a:pt x="5969381" y="49275"/>
                  </a:lnTo>
                  <a:lnTo>
                    <a:pt x="6048248" y="49275"/>
                  </a:lnTo>
                  <a:lnTo>
                    <a:pt x="6053201" y="44195"/>
                  </a:lnTo>
                  <a:lnTo>
                    <a:pt x="6053201" y="32003"/>
                  </a:lnTo>
                  <a:lnTo>
                    <a:pt x="6048248" y="27050"/>
                  </a:lnTo>
                  <a:close/>
                </a:path>
                <a:path w="8300084" h="76200">
                  <a:moveTo>
                    <a:pt x="6203823" y="27050"/>
                  </a:moveTo>
                  <a:lnTo>
                    <a:pt x="6124956" y="27050"/>
                  </a:lnTo>
                  <a:lnTo>
                    <a:pt x="6119876" y="32003"/>
                  </a:lnTo>
                  <a:lnTo>
                    <a:pt x="6119876" y="44195"/>
                  </a:lnTo>
                  <a:lnTo>
                    <a:pt x="6124956" y="49275"/>
                  </a:lnTo>
                  <a:lnTo>
                    <a:pt x="6203823" y="49275"/>
                  </a:lnTo>
                  <a:lnTo>
                    <a:pt x="6208776" y="44195"/>
                  </a:lnTo>
                  <a:lnTo>
                    <a:pt x="6208776" y="32003"/>
                  </a:lnTo>
                  <a:lnTo>
                    <a:pt x="6203823" y="27050"/>
                  </a:lnTo>
                  <a:close/>
                </a:path>
                <a:path w="8300084" h="76200">
                  <a:moveTo>
                    <a:pt x="6359398" y="27050"/>
                  </a:moveTo>
                  <a:lnTo>
                    <a:pt x="6280531" y="27050"/>
                  </a:lnTo>
                  <a:lnTo>
                    <a:pt x="6275451" y="32003"/>
                  </a:lnTo>
                  <a:lnTo>
                    <a:pt x="6275451" y="44195"/>
                  </a:lnTo>
                  <a:lnTo>
                    <a:pt x="6280531" y="49275"/>
                  </a:lnTo>
                  <a:lnTo>
                    <a:pt x="6359398" y="49275"/>
                  </a:lnTo>
                  <a:lnTo>
                    <a:pt x="6364351" y="44195"/>
                  </a:lnTo>
                  <a:lnTo>
                    <a:pt x="6364351" y="32003"/>
                  </a:lnTo>
                  <a:lnTo>
                    <a:pt x="6359398" y="27050"/>
                  </a:lnTo>
                  <a:close/>
                </a:path>
                <a:path w="8300084" h="76200">
                  <a:moveTo>
                    <a:pt x="6514973" y="27050"/>
                  </a:moveTo>
                  <a:lnTo>
                    <a:pt x="6436106" y="27050"/>
                  </a:lnTo>
                  <a:lnTo>
                    <a:pt x="6431026" y="32003"/>
                  </a:lnTo>
                  <a:lnTo>
                    <a:pt x="6431026" y="44195"/>
                  </a:lnTo>
                  <a:lnTo>
                    <a:pt x="6436106" y="49275"/>
                  </a:lnTo>
                  <a:lnTo>
                    <a:pt x="6514973" y="49275"/>
                  </a:lnTo>
                  <a:lnTo>
                    <a:pt x="6519926" y="44195"/>
                  </a:lnTo>
                  <a:lnTo>
                    <a:pt x="6519926" y="32003"/>
                  </a:lnTo>
                  <a:lnTo>
                    <a:pt x="6514973" y="27050"/>
                  </a:lnTo>
                  <a:close/>
                </a:path>
                <a:path w="8300084" h="76200">
                  <a:moveTo>
                    <a:pt x="6670548" y="27050"/>
                  </a:moveTo>
                  <a:lnTo>
                    <a:pt x="6591681" y="27050"/>
                  </a:lnTo>
                  <a:lnTo>
                    <a:pt x="6586601" y="32003"/>
                  </a:lnTo>
                  <a:lnTo>
                    <a:pt x="6586601" y="44195"/>
                  </a:lnTo>
                  <a:lnTo>
                    <a:pt x="6591681" y="49275"/>
                  </a:lnTo>
                  <a:lnTo>
                    <a:pt x="6670548" y="49275"/>
                  </a:lnTo>
                  <a:lnTo>
                    <a:pt x="6675501" y="44195"/>
                  </a:lnTo>
                  <a:lnTo>
                    <a:pt x="6675501" y="32003"/>
                  </a:lnTo>
                  <a:lnTo>
                    <a:pt x="6670548" y="27050"/>
                  </a:lnTo>
                  <a:close/>
                </a:path>
                <a:path w="8300084" h="76200">
                  <a:moveTo>
                    <a:pt x="6826123" y="27050"/>
                  </a:moveTo>
                  <a:lnTo>
                    <a:pt x="6747256" y="27050"/>
                  </a:lnTo>
                  <a:lnTo>
                    <a:pt x="6742176" y="32003"/>
                  </a:lnTo>
                  <a:lnTo>
                    <a:pt x="6742176" y="44195"/>
                  </a:lnTo>
                  <a:lnTo>
                    <a:pt x="6747256" y="49275"/>
                  </a:lnTo>
                  <a:lnTo>
                    <a:pt x="6826123" y="49275"/>
                  </a:lnTo>
                  <a:lnTo>
                    <a:pt x="6831076" y="44195"/>
                  </a:lnTo>
                  <a:lnTo>
                    <a:pt x="6831076" y="32003"/>
                  </a:lnTo>
                  <a:lnTo>
                    <a:pt x="6826123" y="27050"/>
                  </a:lnTo>
                  <a:close/>
                </a:path>
                <a:path w="8300084" h="76200">
                  <a:moveTo>
                    <a:pt x="6981698" y="27050"/>
                  </a:moveTo>
                  <a:lnTo>
                    <a:pt x="6902831" y="27050"/>
                  </a:lnTo>
                  <a:lnTo>
                    <a:pt x="6897751" y="32003"/>
                  </a:lnTo>
                  <a:lnTo>
                    <a:pt x="6897751" y="44195"/>
                  </a:lnTo>
                  <a:lnTo>
                    <a:pt x="6902831" y="49275"/>
                  </a:lnTo>
                  <a:lnTo>
                    <a:pt x="6981698" y="49275"/>
                  </a:lnTo>
                  <a:lnTo>
                    <a:pt x="6986651" y="44195"/>
                  </a:lnTo>
                  <a:lnTo>
                    <a:pt x="6986651" y="32003"/>
                  </a:lnTo>
                  <a:lnTo>
                    <a:pt x="6981698" y="27050"/>
                  </a:lnTo>
                  <a:close/>
                </a:path>
                <a:path w="8300084" h="76200">
                  <a:moveTo>
                    <a:pt x="7137273" y="27050"/>
                  </a:moveTo>
                  <a:lnTo>
                    <a:pt x="7058406" y="27050"/>
                  </a:lnTo>
                  <a:lnTo>
                    <a:pt x="7053326" y="32003"/>
                  </a:lnTo>
                  <a:lnTo>
                    <a:pt x="7053326" y="44195"/>
                  </a:lnTo>
                  <a:lnTo>
                    <a:pt x="7058406" y="49275"/>
                  </a:lnTo>
                  <a:lnTo>
                    <a:pt x="7137273" y="49275"/>
                  </a:lnTo>
                  <a:lnTo>
                    <a:pt x="7142226" y="44195"/>
                  </a:lnTo>
                  <a:lnTo>
                    <a:pt x="7142226" y="32003"/>
                  </a:lnTo>
                  <a:lnTo>
                    <a:pt x="7137273" y="27050"/>
                  </a:lnTo>
                  <a:close/>
                </a:path>
                <a:path w="8300084" h="76200">
                  <a:moveTo>
                    <a:pt x="7292848" y="27050"/>
                  </a:moveTo>
                  <a:lnTo>
                    <a:pt x="7213981" y="27050"/>
                  </a:lnTo>
                  <a:lnTo>
                    <a:pt x="7208901" y="32003"/>
                  </a:lnTo>
                  <a:lnTo>
                    <a:pt x="7208901" y="44195"/>
                  </a:lnTo>
                  <a:lnTo>
                    <a:pt x="7213981" y="49275"/>
                  </a:lnTo>
                  <a:lnTo>
                    <a:pt x="7292848" y="49275"/>
                  </a:lnTo>
                  <a:lnTo>
                    <a:pt x="7297801" y="44195"/>
                  </a:lnTo>
                  <a:lnTo>
                    <a:pt x="7297801" y="32003"/>
                  </a:lnTo>
                  <a:lnTo>
                    <a:pt x="7292848" y="27050"/>
                  </a:lnTo>
                  <a:close/>
                </a:path>
                <a:path w="8300084" h="76200">
                  <a:moveTo>
                    <a:pt x="7448423" y="27050"/>
                  </a:moveTo>
                  <a:lnTo>
                    <a:pt x="7369556" y="27050"/>
                  </a:lnTo>
                  <a:lnTo>
                    <a:pt x="7364476" y="32003"/>
                  </a:lnTo>
                  <a:lnTo>
                    <a:pt x="7364476" y="44195"/>
                  </a:lnTo>
                  <a:lnTo>
                    <a:pt x="7369556" y="49275"/>
                  </a:lnTo>
                  <a:lnTo>
                    <a:pt x="7448423" y="49275"/>
                  </a:lnTo>
                  <a:lnTo>
                    <a:pt x="7453376" y="44195"/>
                  </a:lnTo>
                  <a:lnTo>
                    <a:pt x="7453376" y="32003"/>
                  </a:lnTo>
                  <a:lnTo>
                    <a:pt x="7448423" y="27050"/>
                  </a:lnTo>
                  <a:close/>
                </a:path>
                <a:path w="8300084" h="76200">
                  <a:moveTo>
                    <a:pt x="7603998" y="27050"/>
                  </a:moveTo>
                  <a:lnTo>
                    <a:pt x="7525131" y="27050"/>
                  </a:lnTo>
                  <a:lnTo>
                    <a:pt x="7520051" y="32003"/>
                  </a:lnTo>
                  <a:lnTo>
                    <a:pt x="7520051" y="44195"/>
                  </a:lnTo>
                  <a:lnTo>
                    <a:pt x="7525131" y="49275"/>
                  </a:lnTo>
                  <a:lnTo>
                    <a:pt x="7603998" y="49275"/>
                  </a:lnTo>
                  <a:lnTo>
                    <a:pt x="7608951" y="44195"/>
                  </a:lnTo>
                  <a:lnTo>
                    <a:pt x="7608951" y="32003"/>
                  </a:lnTo>
                  <a:lnTo>
                    <a:pt x="7603998" y="27050"/>
                  </a:lnTo>
                  <a:close/>
                </a:path>
                <a:path w="8300084" h="76200">
                  <a:moveTo>
                    <a:pt x="7759573" y="27050"/>
                  </a:moveTo>
                  <a:lnTo>
                    <a:pt x="7680706" y="27050"/>
                  </a:lnTo>
                  <a:lnTo>
                    <a:pt x="7675626" y="32003"/>
                  </a:lnTo>
                  <a:lnTo>
                    <a:pt x="7675626" y="44195"/>
                  </a:lnTo>
                  <a:lnTo>
                    <a:pt x="7680706" y="49275"/>
                  </a:lnTo>
                  <a:lnTo>
                    <a:pt x="7759573" y="49275"/>
                  </a:lnTo>
                  <a:lnTo>
                    <a:pt x="7764526" y="44195"/>
                  </a:lnTo>
                  <a:lnTo>
                    <a:pt x="7764526" y="32003"/>
                  </a:lnTo>
                  <a:lnTo>
                    <a:pt x="7759573" y="27050"/>
                  </a:lnTo>
                  <a:close/>
                </a:path>
                <a:path w="8300084" h="76200">
                  <a:moveTo>
                    <a:pt x="7915148" y="27050"/>
                  </a:moveTo>
                  <a:lnTo>
                    <a:pt x="7836281" y="27050"/>
                  </a:lnTo>
                  <a:lnTo>
                    <a:pt x="7831201" y="32003"/>
                  </a:lnTo>
                  <a:lnTo>
                    <a:pt x="7831201" y="44195"/>
                  </a:lnTo>
                  <a:lnTo>
                    <a:pt x="7836281" y="49275"/>
                  </a:lnTo>
                  <a:lnTo>
                    <a:pt x="7915148" y="49275"/>
                  </a:lnTo>
                  <a:lnTo>
                    <a:pt x="7920101" y="44195"/>
                  </a:lnTo>
                  <a:lnTo>
                    <a:pt x="7920101" y="32003"/>
                  </a:lnTo>
                  <a:lnTo>
                    <a:pt x="7915148" y="27050"/>
                  </a:lnTo>
                  <a:close/>
                </a:path>
                <a:path w="8300084" h="76200">
                  <a:moveTo>
                    <a:pt x="8070723" y="27050"/>
                  </a:moveTo>
                  <a:lnTo>
                    <a:pt x="7991856" y="27050"/>
                  </a:lnTo>
                  <a:lnTo>
                    <a:pt x="7986776" y="32003"/>
                  </a:lnTo>
                  <a:lnTo>
                    <a:pt x="7986776" y="44195"/>
                  </a:lnTo>
                  <a:lnTo>
                    <a:pt x="7991856" y="49275"/>
                  </a:lnTo>
                  <a:lnTo>
                    <a:pt x="8070723" y="49275"/>
                  </a:lnTo>
                  <a:lnTo>
                    <a:pt x="8075676" y="44195"/>
                  </a:lnTo>
                  <a:lnTo>
                    <a:pt x="8075676" y="32003"/>
                  </a:lnTo>
                  <a:lnTo>
                    <a:pt x="8070723" y="27050"/>
                  </a:lnTo>
                  <a:close/>
                </a:path>
                <a:path w="8300084" h="76200">
                  <a:moveTo>
                    <a:pt x="8223885" y="0"/>
                  </a:moveTo>
                  <a:lnTo>
                    <a:pt x="8223885" y="76199"/>
                  </a:lnTo>
                  <a:lnTo>
                    <a:pt x="8277733" y="49275"/>
                  </a:lnTo>
                  <a:lnTo>
                    <a:pt x="8226298" y="49275"/>
                  </a:lnTo>
                  <a:lnTo>
                    <a:pt x="8231251" y="44195"/>
                  </a:lnTo>
                  <a:lnTo>
                    <a:pt x="8231251" y="32003"/>
                  </a:lnTo>
                  <a:lnTo>
                    <a:pt x="8226298" y="27050"/>
                  </a:lnTo>
                  <a:lnTo>
                    <a:pt x="8277987" y="27050"/>
                  </a:lnTo>
                  <a:lnTo>
                    <a:pt x="8223885" y="0"/>
                  </a:lnTo>
                  <a:close/>
                </a:path>
                <a:path w="8300084" h="76200">
                  <a:moveTo>
                    <a:pt x="8223885" y="27050"/>
                  </a:moveTo>
                  <a:lnTo>
                    <a:pt x="8147431" y="27050"/>
                  </a:lnTo>
                  <a:lnTo>
                    <a:pt x="8142351" y="32003"/>
                  </a:lnTo>
                  <a:lnTo>
                    <a:pt x="8142351" y="44195"/>
                  </a:lnTo>
                  <a:lnTo>
                    <a:pt x="8147431" y="49275"/>
                  </a:lnTo>
                  <a:lnTo>
                    <a:pt x="8223885" y="49275"/>
                  </a:lnTo>
                  <a:lnTo>
                    <a:pt x="8223885" y="27050"/>
                  </a:lnTo>
                  <a:close/>
                </a:path>
                <a:path w="8300084" h="76200">
                  <a:moveTo>
                    <a:pt x="8277987" y="27050"/>
                  </a:moveTo>
                  <a:lnTo>
                    <a:pt x="8226298" y="27050"/>
                  </a:lnTo>
                  <a:lnTo>
                    <a:pt x="8231251" y="32003"/>
                  </a:lnTo>
                  <a:lnTo>
                    <a:pt x="8231251" y="44195"/>
                  </a:lnTo>
                  <a:lnTo>
                    <a:pt x="8226298" y="49275"/>
                  </a:lnTo>
                  <a:lnTo>
                    <a:pt x="8277733" y="49275"/>
                  </a:lnTo>
                  <a:lnTo>
                    <a:pt x="8300085" y="38099"/>
                  </a:lnTo>
                  <a:lnTo>
                    <a:pt x="8277987" y="27050"/>
                  </a:lnTo>
                  <a:close/>
                </a:path>
              </a:pathLst>
            </a:custGeom>
            <a:solidFill>
              <a:srgbClr val="D638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3676650" y="3406266"/>
            <a:ext cx="3975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35">
                <a:solidFill>
                  <a:srgbClr val="545454"/>
                </a:solidFill>
                <a:latin typeface="Microsoft JhengHei"/>
                <a:cs typeface="Microsoft JhengHei"/>
              </a:rPr>
              <a:t>MQTT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104756" y="2546096"/>
            <a:ext cx="10579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>
                <a:solidFill>
                  <a:srgbClr val="545454"/>
                </a:solidFill>
                <a:latin typeface="Microsoft JhengHei"/>
                <a:cs typeface="Microsoft JhengHei"/>
              </a:rPr>
              <a:t>app</a:t>
            </a:r>
            <a:r>
              <a:rPr sz="900" b="1" spc="-15">
                <a:solidFill>
                  <a:srgbClr val="545454"/>
                </a:solidFill>
                <a:latin typeface="Microsoft JhengHei"/>
                <a:cs typeface="Microsoft JhengHei"/>
              </a:rPr>
              <a:t> </a:t>
            </a:r>
            <a:r>
              <a:rPr sz="900" b="1">
                <a:solidFill>
                  <a:srgbClr val="545454"/>
                </a:solidFill>
                <a:latin typeface="Microsoft JhengHei"/>
                <a:cs typeface="Microsoft JhengHei"/>
              </a:rPr>
              <a:t>reads</a:t>
            </a:r>
            <a:r>
              <a:rPr sz="900" b="1" spc="-20">
                <a:solidFill>
                  <a:srgbClr val="545454"/>
                </a:solidFill>
                <a:latin typeface="Microsoft JhengHei"/>
                <a:cs typeface="Microsoft JhengHei"/>
              </a:rPr>
              <a:t> </a:t>
            </a:r>
            <a:r>
              <a:rPr sz="900" b="1" spc="-10">
                <a:solidFill>
                  <a:srgbClr val="545454"/>
                </a:solidFill>
                <a:latin typeface="Microsoft JhengHei"/>
                <a:cs typeface="Microsoft JhengHei"/>
              </a:rPr>
              <a:t>Firebase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634485" y="4319777"/>
            <a:ext cx="493141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>
                <a:solidFill>
                  <a:srgbClr val="D6382B"/>
                </a:solidFill>
                <a:latin typeface="Segoe UI Symbol"/>
                <a:cs typeface="Segoe UI Symbol"/>
              </a:rPr>
              <a:t>✕</a:t>
            </a:r>
            <a:r>
              <a:rPr sz="1100" spc="240">
                <a:solidFill>
                  <a:srgbClr val="D6382B"/>
                </a:solidFill>
                <a:latin typeface="Segoe UI Symbol"/>
                <a:cs typeface="Segoe UI Symbol"/>
              </a:rPr>
              <a:t> </a:t>
            </a:r>
            <a:r>
              <a:rPr sz="1050" b="1">
                <a:solidFill>
                  <a:srgbClr val="D6382B"/>
                </a:solidFill>
                <a:latin typeface="Microsoft JhengHei"/>
                <a:cs typeface="Microsoft JhengHei"/>
              </a:rPr>
              <a:t>Live</a:t>
            </a:r>
            <a:r>
              <a:rPr sz="1050" b="1" spc="-25">
                <a:solidFill>
                  <a:srgbClr val="D6382B"/>
                </a:solidFill>
                <a:latin typeface="Microsoft JhengHei"/>
                <a:cs typeface="Microsoft JhengHei"/>
              </a:rPr>
              <a:t> </a:t>
            </a:r>
            <a:r>
              <a:rPr sz="1050" b="1">
                <a:solidFill>
                  <a:srgbClr val="D6382B"/>
                </a:solidFill>
                <a:latin typeface="Microsoft JhengHei"/>
                <a:cs typeface="Microsoft JhengHei"/>
              </a:rPr>
              <a:t>video</a:t>
            </a:r>
            <a:r>
              <a:rPr sz="1050" b="1" spc="-25">
                <a:solidFill>
                  <a:srgbClr val="D6382B"/>
                </a:solidFill>
                <a:latin typeface="Microsoft JhengHei"/>
                <a:cs typeface="Microsoft JhengHei"/>
              </a:rPr>
              <a:t> </a:t>
            </a:r>
            <a:r>
              <a:rPr sz="1050" b="1">
                <a:solidFill>
                  <a:srgbClr val="D6382B"/>
                </a:solidFill>
                <a:latin typeface="Microsoft JhengHei"/>
                <a:cs typeface="Microsoft JhengHei"/>
              </a:rPr>
              <a:t>(MJPEG)</a:t>
            </a:r>
            <a:r>
              <a:rPr sz="1050" b="1" spc="-35">
                <a:solidFill>
                  <a:srgbClr val="D6382B"/>
                </a:solidFill>
                <a:latin typeface="Microsoft JhengHei"/>
                <a:cs typeface="Microsoft JhengHei"/>
              </a:rPr>
              <a:t> </a:t>
            </a:r>
            <a:r>
              <a:rPr sz="1050" b="1">
                <a:solidFill>
                  <a:srgbClr val="D6382B"/>
                </a:solidFill>
                <a:latin typeface="Microsoft JhengHei"/>
                <a:cs typeface="Microsoft JhengHei"/>
              </a:rPr>
              <a:t>+</a:t>
            </a:r>
            <a:r>
              <a:rPr sz="1050" b="1" spc="-10">
                <a:solidFill>
                  <a:srgbClr val="D6382B"/>
                </a:solidFill>
                <a:latin typeface="Microsoft JhengHei"/>
                <a:cs typeface="Microsoft JhengHei"/>
              </a:rPr>
              <a:t> </a:t>
            </a:r>
            <a:r>
              <a:rPr sz="1050" b="1">
                <a:solidFill>
                  <a:srgbClr val="D6382B"/>
                </a:solidFill>
                <a:latin typeface="Microsoft JhengHei"/>
                <a:cs typeface="Microsoft JhengHei"/>
              </a:rPr>
              <a:t>servo</a:t>
            </a:r>
            <a:r>
              <a:rPr sz="1050" b="1" spc="-30">
                <a:solidFill>
                  <a:srgbClr val="D6382B"/>
                </a:solidFill>
                <a:latin typeface="Microsoft JhengHei"/>
                <a:cs typeface="Microsoft JhengHei"/>
              </a:rPr>
              <a:t> </a:t>
            </a:r>
            <a:r>
              <a:rPr sz="1050" b="1">
                <a:solidFill>
                  <a:srgbClr val="D6382B"/>
                </a:solidFill>
                <a:latin typeface="Microsoft JhengHei"/>
                <a:cs typeface="Microsoft JhengHei"/>
              </a:rPr>
              <a:t>— app</a:t>
            </a:r>
            <a:r>
              <a:rPr sz="1050" b="1" spc="-30">
                <a:solidFill>
                  <a:srgbClr val="D6382B"/>
                </a:solidFill>
                <a:latin typeface="Microsoft JhengHei"/>
                <a:cs typeface="Microsoft JhengHei"/>
              </a:rPr>
              <a:t> </a:t>
            </a:r>
            <a:r>
              <a:rPr sz="1050" b="1">
                <a:solidFill>
                  <a:srgbClr val="D6382B"/>
                </a:solidFill>
                <a:latin typeface="Microsoft JhengHei"/>
                <a:cs typeface="Microsoft JhengHei"/>
              </a:rPr>
              <a:t>must</a:t>
            </a:r>
            <a:r>
              <a:rPr sz="1050" b="1" spc="-10">
                <a:solidFill>
                  <a:srgbClr val="D6382B"/>
                </a:solidFill>
                <a:latin typeface="Microsoft JhengHei"/>
                <a:cs typeface="Microsoft JhengHei"/>
              </a:rPr>
              <a:t> </a:t>
            </a:r>
            <a:r>
              <a:rPr sz="1050" b="1">
                <a:solidFill>
                  <a:srgbClr val="D6382B"/>
                </a:solidFill>
                <a:latin typeface="Microsoft JhengHei"/>
                <a:cs typeface="Microsoft JhengHei"/>
              </a:rPr>
              <a:t>type</a:t>
            </a:r>
            <a:r>
              <a:rPr sz="1050" b="1" spc="-30">
                <a:solidFill>
                  <a:srgbClr val="D6382B"/>
                </a:solidFill>
                <a:latin typeface="Microsoft JhengHei"/>
                <a:cs typeface="Microsoft JhengHei"/>
              </a:rPr>
              <a:t> </a:t>
            </a:r>
            <a:r>
              <a:rPr sz="1050" b="1">
                <a:solidFill>
                  <a:srgbClr val="D6382B"/>
                </a:solidFill>
                <a:latin typeface="Microsoft JhengHei"/>
                <a:cs typeface="Microsoft JhengHei"/>
              </a:rPr>
              <a:t>the</a:t>
            </a:r>
            <a:r>
              <a:rPr sz="1050" b="1" spc="-15">
                <a:solidFill>
                  <a:srgbClr val="D6382B"/>
                </a:solidFill>
                <a:latin typeface="Microsoft JhengHei"/>
                <a:cs typeface="Microsoft JhengHei"/>
              </a:rPr>
              <a:t> </a:t>
            </a:r>
            <a:r>
              <a:rPr sz="1050" b="1">
                <a:solidFill>
                  <a:srgbClr val="D6382B"/>
                </a:solidFill>
                <a:latin typeface="Microsoft JhengHei"/>
                <a:cs typeface="Microsoft JhengHei"/>
              </a:rPr>
              <a:t>camera's</a:t>
            </a:r>
            <a:r>
              <a:rPr sz="1050" b="1" spc="-40">
                <a:solidFill>
                  <a:srgbClr val="D6382B"/>
                </a:solidFill>
                <a:latin typeface="Microsoft JhengHei"/>
                <a:cs typeface="Microsoft JhengHei"/>
              </a:rPr>
              <a:t> </a:t>
            </a:r>
            <a:r>
              <a:rPr sz="1050" b="1" spc="-10">
                <a:solidFill>
                  <a:srgbClr val="D6382B"/>
                </a:solidFill>
                <a:latin typeface="Microsoft JhengHei"/>
                <a:cs typeface="Microsoft JhengHei"/>
              </a:rPr>
              <a:t>LAN-</a:t>
            </a:r>
            <a:r>
              <a:rPr sz="1050" b="1">
                <a:solidFill>
                  <a:srgbClr val="D6382B"/>
                </a:solidFill>
                <a:latin typeface="Microsoft JhengHei"/>
                <a:cs typeface="Microsoft JhengHei"/>
              </a:rPr>
              <a:t>IP</a:t>
            </a:r>
            <a:r>
              <a:rPr sz="1050" b="1" spc="-15">
                <a:solidFill>
                  <a:srgbClr val="D6382B"/>
                </a:solidFill>
                <a:latin typeface="Microsoft JhengHei"/>
                <a:cs typeface="Microsoft JhengHei"/>
              </a:rPr>
              <a:t> </a:t>
            </a:r>
            <a:r>
              <a:rPr sz="1050" b="1" spc="-10">
                <a:solidFill>
                  <a:srgbClr val="D6382B"/>
                </a:solidFill>
                <a:latin typeface="Microsoft JhengHei"/>
                <a:cs typeface="Microsoft JhengHei"/>
              </a:rPr>
              <a:t>directly</a:t>
            </a:r>
            <a:endParaRPr sz="1050">
              <a:latin typeface="Microsoft JhengHei"/>
              <a:cs typeface="Microsoft JhengHe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450850" y="5033645"/>
            <a:ext cx="11287760" cy="1492885"/>
            <a:chOff x="450850" y="5033645"/>
            <a:chExt cx="11287760" cy="1492885"/>
          </a:xfrm>
        </p:grpSpPr>
        <p:sp>
          <p:nvSpPr>
            <p:cNvPr id="44" name="object 44"/>
            <p:cNvSpPr/>
            <p:nvPr/>
          </p:nvSpPr>
          <p:spPr>
            <a:xfrm>
              <a:off x="457200" y="5039995"/>
              <a:ext cx="11275060" cy="1480185"/>
            </a:xfrm>
            <a:custGeom>
              <a:avLst/>
              <a:gdLst/>
              <a:ahLst/>
              <a:cxnLst/>
              <a:rect l="l" t="t" r="r" b="b"/>
              <a:pathLst>
                <a:path w="11275060" h="1480184">
                  <a:moveTo>
                    <a:pt x="11237595" y="0"/>
                  </a:moveTo>
                  <a:lnTo>
                    <a:pt x="37007" y="0"/>
                  </a:lnTo>
                  <a:lnTo>
                    <a:pt x="22599" y="2899"/>
                  </a:lnTo>
                  <a:lnTo>
                    <a:pt x="10836" y="10810"/>
                  </a:lnTo>
                  <a:lnTo>
                    <a:pt x="2907" y="22556"/>
                  </a:lnTo>
                  <a:lnTo>
                    <a:pt x="0" y="36956"/>
                  </a:lnTo>
                  <a:lnTo>
                    <a:pt x="0" y="1442999"/>
                  </a:lnTo>
                  <a:lnTo>
                    <a:pt x="2907" y="1457402"/>
                  </a:lnTo>
                  <a:lnTo>
                    <a:pt x="10836" y="1469166"/>
                  </a:lnTo>
                  <a:lnTo>
                    <a:pt x="22599" y="1477098"/>
                  </a:lnTo>
                  <a:lnTo>
                    <a:pt x="37007" y="1480007"/>
                  </a:lnTo>
                  <a:lnTo>
                    <a:pt x="11237595" y="1480007"/>
                  </a:lnTo>
                  <a:lnTo>
                    <a:pt x="11251995" y="1477098"/>
                  </a:lnTo>
                  <a:lnTo>
                    <a:pt x="11263741" y="1469166"/>
                  </a:lnTo>
                  <a:lnTo>
                    <a:pt x="11271652" y="1457402"/>
                  </a:lnTo>
                  <a:lnTo>
                    <a:pt x="11274552" y="1442999"/>
                  </a:lnTo>
                  <a:lnTo>
                    <a:pt x="11274552" y="36956"/>
                  </a:lnTo>
                  <a:lnTo>
                    <a:pt x="11271652" y="22556"/>
                  </a:lnTo>
                  <a:lnTo>
                    <a:pt x="11263741" y="10810"/>
                  </a:lnTo>
                  <a:lnTo>
                    <a:pt x="11251995" y="2899"/>
                  </a:lnTo>
                  <a:lnTo>
                    <a:pt x="11237595" y="0"/>
                  </a:lnTo>
                  <a:close/>
                </a:path>
              </a:pathLst>
            </a:custGeom>
            <a:solidFill>
              <a:srgbClr val="FBE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57200" y="5039995"/>
              <a:ext cx="11275060" cy="1480185"/>
            </a:xfrm>
            <a:custGeom>
              <a:avLst/>
              <a:gdLst/>
              <a:ahLst/>
              <a:cxnLst/>
              <a:rect l="l" t="t" r="r" b="b"/>
              <a:pathLst>
                <a:path w="11275060" h="1480184">
                  <a:moveTo>
                    <a:pt x="0" y="36956"/>
                  </a:moveTo>
                  <a:lnTo>
                    <a:pt x="2907" y="22556"/>
                  </a:lnTo>
                  <a:lnTo>
                    <a:pt x="10836" y="10810"/>
                  </a:lnTo>
                  <a:lnTo>
                    <a:pt x="22599" y="2899"/>
                  </a:lnTo>
                  <a:lnTo>
                    <a:pt x="37007" y="0"/>
                  </a:lnTo>
                  <a:lnTo>
                    <a:pt x="11237595" y="0"/>
                  </a:lnTo>
                  <a:lnTo>
                    <a:pt x="11251995" y="2899"/>
                  </a:lnTo>
                  <a:lnTo>
                    <a:pt x="11263741" y="10810"/>
                  </a:lnTo>
                  <a:lnTo>
                    <a:pt x="11271652" y="22556"/>
                  </a:lnTo>
                  <a:lnTo>
                    <a:pt x="11274552" y="36956"/>
                  </a:lnTo>
                  <a:lnTo>
                    <a:pt x="11274552" y="1442999"/>
                  </a:lnTo>
                  <a:lnTo>
                    <a:pt x="11271652" y="1457402"/>
                  </a:lnTo>
                  <a:lnTo>
                    <a:pt x="11263741" y="1469166"/>
                  </a:lnTo>
                  <a:lnTo>
                    <a:pt x="11251995" y="1477098"/>
                  </a:lnTo>
                  <a:lnTo>
                    <a:pt x="11237595" y="1480007"/>
                  </a:lnTo>
                  <a:lnTo>
                    <a:pt x="37007" y="1480007"/>
                  </a:lnTo>
                  <a:lnTo>
                    <a:pt x="22599" y="1477098"/>
                  </a:lnTo>
                  <a:lnTo>
                    <a:pt x="10836" y="1469166"/>
                  </a:lnTo>
                  <a:lnTo>
                    <a:pt x="2907" y="1457402"/>
                  </a:lnTo>
                  <a:lnTo>
                    <a:pt x="0" y="1442999"/>
                  </a:lnTo>
                  <a:lnTo>
                    <a:pt x="0" y="36956"/>
                  </a:lnTo>
                  <a:close/>
                </a:path>
              </a:pathLst>
            </a:custGeom>
            <a:ln w="12700">
              <a:solidFill>
                <a:srgbClr val="E4A0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644448" y="5149341"/>
            <a:ext cx="21786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105">
                <a:solidFill>
                  <a:srgbClr val="D6382B"/>
                </a:solidFill>
                <a:latin typeface="Tahoma"/>
                <a:cs typeface="Tahoma"/>
              </a:rPr>
              <a:t>WHY</a:t>
            </a:r>
            <a:r>
              <a:rPr sz="1200" b="1" spc="70">
                <a:solidFill>
                  <a:srgbClr val="D6382B"/>
                </a:solidFill>
                <a:latin typeface="Tahoma"/>
                <a:cs typeface="Tahoma"/>
              </a:rPr>
              <a:t> </a:t>
            </a:r>
            <a:r>
              <a:rPr sz="1200" b="1" spc="-40">
                <a:solidFill>
                  <a:srgbClr val="D6382B"/>
                </a:solidFill>
                <a:latin typeface="Tahoma"/>
                <a:cs typeface="Tahoma"/>
              </a:rPr>
              <a:t>v1</a:t>
            </a:r>
            <a:r>
              <a:rPr sz="1200" b="1" spc="70">
                <a:solidFill>
                  <a:srgbClr val="D6382B"/>
                </a:solidFill>
                <a:latin typeface="Tahoma"/>
                <a:cs typeface="Tahoma"/>
              </a:rPr>
              <a:t> </a:t>
            </a:r>
            <a:r>
              <a:rPr sz="1200" b="1">
                <a:solidFill>
                  <a:srgbClr val="D6382B"/>
                </a:solidFill>
                <a:latin typeface="Tahoma"/>
                <a:cs typeface="Tahoma"/>
              </a:rPr>
              <a:t>ISN'T</a:t>
            </a:r>
            <a:r>
              <a:rPr sz="1200" b="1" spc="50">
                <a:solidFill>
                  <a:srgbClr val="D6382B"/>
                </a:solidFill>
                <a:latin typeface="Tahoma"/>
                <a:cs typeface="Tahoma"/>
              </a:rPr>
              <a:t> </a:t>
            </a:r>
            <a:r>
              <a:rPr sz="1200" b="1" spc="70">
                <a:solidFill>
                  <a:srgbClr val="D6382B"/>
                </a:solidFill>
                <a:latin typeface="Tahoma"/>
                <a:cs typeface="Tahoma"/>
              </a:rPr>
              <a:t>SHIPPABLE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44448" y="5608726"/>
            <a:ext cx="3602354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>
                <a:solidFill>
                  <a:srgbClr val="D6382B"/>
                </a:solidFill>
                <a:latin typeface="Segoe UI Symbol"/>
                <a:cs typeface="Segoe UI Symbol"/>
              </a:rPr>
              <a:t>✕</a:t>
            </a:r>
            <a:r>
              <a:rPr sz="1050" spc="240">
                <a:solidFill>
                  <a:srgbClr val="D6382B"/>
                </a:solidFill>
                <a:latin typeface="Segoe UI Symbol"/>
                <a:cs typeface="Segoe UI Symbol"/>
              </a:rPr>
              <a:t> </a:t>
            </a:r>
            <a:r>
              <a:rPr sz="1050">
                <a:solidFill>
                  <a:srgbClr val="444444"/>
                </a:solidFill>
                <a:latin typeface="Microsoft JhengHei"/>
                <a:cs typeface="Microsoft JhengHei"/>
              </a:rPr>
              <a:t>Same</a:t>
            </a:r>
            <a:r>
              <a:rPr sz="1050" spc="-20">
                <a:solidFill>
                  <a:srgbClr val="444444"/>
                </a:solidFill>
                <a:latin typeface="Microsoft JhengHei"/>
                <a:cs typeface="Microsoft JhengHei"/>
              </a:rPr>
              <a:t> </a:t>
            </a:r>
            <a:r>
              <a:rPr sz="1050">
                <a:solidFill>
                  <a:srgbClr val="444444"/>
                </a:solidFill>
                <a:latin typeface="Microsoft JhengHei"/>
                <a:cs typeface="Microsoft JhengHei"/>
              </a:rPr>
              <a:t>network</a:t>
            </a:r>
            <a:r>
              <a:rPr sz="1050" spc="-30">
                <a:solidFill>
                  <a:srgbClr val="444444"/>
                </a:solidFill>
                <a:latin typeface="Microsoft JhengHei"/>
                <a:cs typeface="Microsoft JhengHei"/>
              </a:rPr>
              <a:t> </a:t>
            </a:r>
            <a:r>
              <a:rPr sz="1050">
                <a:solidFill>
                  <a:srgbClr val="444444"/>
                </a:solidFill>
                <a:latin typeface="Microsoft JhengHei"/>
                <a:cs typeface="Microsoft JhengHei"/>
              </a:rPr>
              <a:t>only</a:t>
            </a:r>
            <a:r>
              <a:rPr sz="1050" spc="-10">
                <a:solidFill>
                  <a:srgbClr val="444444"/>
                </a:solidFill>
                <a:latin typeface="Microsoft JhengHei"/>
                <a:cs typeface="Microsoft JhengHei"/>
              </a:rPr>
              <a:t> </a:t>
            </a:r>
            <a:r>
              <a:rPr sz="1050">
                <a:solidFill>
                  <a:srgbClr val="444444"/>
                </a:solidFill>
                <a:latin typeface="Microsoft JhengHei"/>
                <a:cs typeface="Microsoft JhengHei"/>
              </a:rPr>
              <a:t>— phone</a:t>
            </a:r>
            <a:r>
              <a:rPr sz="1050" spc="-40">
                <a:solidFill>
                  <a:srgbClr val="444444"/>
                </a:solidFill>
                <a:latin typeface="Microsoft JhengHei"/>
                <a:cs typeface="Microsoft JhengHei"/>
              </a:rPr>
              <a:t> </a:t>
            </a:r>
            <a:r>
              <a:rPr sz="1050">
                <a:solidFill>
                  <a:srgbClr val="444444"/>
                </a:solidFill>
                <a:latin typeface="Microsoft JhengHei"/>
                <a:cs typeface="Microsoft JhengHei"/>
              </a:rPr>
              <a:t>must</a:t>
            </a:r>
            <a:r>
              <a:rPr sz="1050" spc="-40">
                <a:solidFill>
                  <a:srgbClr val="444444"/>
                </a:solidFill>
                <a:latin typeface="Microsoft JhengHei"/>
                <a:cs typeface="Microsoft JhengHei"/>
              </a:rPr>
              <a:t> </a:t>
            </a:r>
            <a:r>
              <a:rPr sz="1050">
                <a:solidFill>
                  <a:srgbClr val="444444"/>
                </a:solidFill>
                <a:latin typeface="Microsoft JhengHei"/>
                <a:cs typeface="Microsoft JhengHei"/>
              </a:rPr>
              <a:t>be</a:t>
            </a:r>
            <a:r>
              <a:rPr sz="1050" spc="-20">
                <a:solidFill>
                  <a:srgbClr val="444444"/>
                </a:solidFill>
                <a:latin typeface="Microsoft JhengHei"/>
                <a:cs typeface="Microsoft JhengHei"/>
              </a:rPr>
              <a:t> </a:t>
            </a:r>
            <a:r>
              <a:rPr sz="1050">
                <a:solidFill>
                  <a:srgbClr val="444444"/>
                </a:solidFill>
                <a:latin typeface="Microsoft JhengHei"/>
                <a:cs typeface="Microsoft JhengHei"/>
              </a:rPr>
              <a:t>on</a:t>
            </a:r>
            <a:r>
              <a:rPr sz="1050" spc="-20">
                <a:solidFill>
                  <a:srgbClr val="444444"/>
                </a:solidFill>
                <a:latin typeface="Microsoft JhengHei"/>
                <a:cs typeface="Microsoft JhengHei"/>
              </a:rPr>
              <a:t> </a:t>
            </a:r>
            <a:r>
              <a:rPr sz="1050">
                <a:solidFill>
                  <a:srgbClr val="444444"/>
                </a:solidFill>
                <a:latin typeface="Microsoft JhengHei"/>
                <a:cs typeface="Microsoft JhengHei"/>
              </a:rPr>
              <a:t>the</a:t>
            </a:r>
            <a:r>
              <a:rPr sz="1050" spc="-15">
                <a:solidFill>
                  <a:srgbClr val="444444"/>
                </a:solidFill>
                <a:latin typeface="Microsoft JhengHei"/>
                <a:cs typeface="Microsoft JhengHei"/>
              </a:rPr>
              <a:t> </a:t>
            </a:r>
            <a:r>
              <a:rPr sz="1050">
                <a:solidFill>
                  <a:srgbClr val="444444"/>
                </a:solidFill>
                <a:latin typeface="Microsoft JhengHei"/>
                <a:cs typeface="Microsoft JhengHei"/>
              </a:rPr>
              <a:t>site</a:t>
            </a:r>
            <a:r>
              <a:rPr sz="1050" spc="-30">
                <a:solidFill>
                  <a:srgbClr val="444444"/>
                </a:solidFill>
                <a:latin typeface="Microsoft JhengHei"/>
                <a:cs typeface="Microsoft JhengHei"/>
              </a:rPr>
              <a:t> </a:t>
            </a:r>
            <a:r>
              <a:rPr sz="1050">
                <a:solidFill>
                  <a:srgbClr val="444444"/>
                </a:solidFill>
                <a:latin typeface="Microsoft JhengHei"/>
                <a:cs typeface="Microsoft JhengHei"/>
              </a:rPr>
              <a:t>Wi-</a:t>
            </a:r>
            <a:r>
              <a:rPr sz="1050" spc="-25">
                <a:solidFill>
                  <a:srgbClr val="444444"/>
                </a:solidFill>
                <a:latin typeface="Microsoft JhengHei"/>
                <a:cs typeface="Microsoft JhengHei"/>
              </a:rPr>
              <a:t>Fi</a:t>
            </a:r>
            <a:endParaRPr sz="1050">
              <a:latin typeface="Microsoft JhengHei"/>
              <a:cs typeface="Microsoft JhengHe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238113" y="5608726"/>
            <a:ext cx="334962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>
                <a:solidFill>
                  <a:srgbClr val="D6382B"/>
                </a:solidFill>
                <a:latin typeface="Segoe UI Symbol"/>
                <a:cs typeface="Segoe UI Symbol"/>
              </a:rPr>
              <a:t>✕</a:t>
            </a:r>
            <a:r>
              <a:rPr sz="1050" spc="240">
                <a:solidFill>
                  <a:srgbClr val="D6382B"/>
                </a:solidFill>
                <a:latin typeface="Segoe UI Symbol"/>
                <a:cs typeface="Segoe UI Symbol"/>
              </a:rPr>
              <a:t> </a:t>
            </a:r>
            <a:r>
              <a:rPr sz="1050">
                <a:solidFill>
                  <a:srgbClr val="444444"/>
                </a:solidFill>
                <a:latin typeface="Microsoft JhengHei"/>
                <a:cs typeface="Microsoft JhengHei"/>
              </a:rPr>
              <a:t>A</a:t>
            </a:r>
            <a:r>
              <a:rPr sz="1050" spc="-5">
                <a:solidFill>
                  <a:srgbClr val="444444"/>
                </a:solidFill>
                <a:latin typeface="Microsoft JhengHei"/>
                <a:cs typeface="Microsoft JhengHei"/>
              </a:rPr>
              <a:t> </a:t>
            </a:r>
            <a:r>
              <a:rPr sz="1050">
                <a:solidFill>
                  <a:srgbClr val="444444"/>
                </a:solidFill>
                <a:latin typeface="Microsoft JhengHei"/>
                <a:cs typeface="Microsoft JhengHei"/>
              </a:rPr>
              <a:t>PC</a:t>
            </a:r>
            <a:r>
              <a:rPr sz="1050" spc="-15">
                <a:solidFill>
                  <a:srgbClr val="444444"/>
                </a:solidFill>
                <a:latin typeface="Microsoft JhengHei"/>
                <a:cs typeface="Microsoft JhengHei"/>
              </a:rPr>
              <a:t> </a:t>
            </a:r>
            <a:r>
              <a:rPr sz="1050">
                <a:solidFill>
                  <a:srgbClr val="444444"/>
                </a:solidFill>
                <a:latin typeface="Microsoft JhengHei"/>
                <a:cs typeface="Microsoft JhengHei"/>
              </a:rPr>
              <a:t>must</a:t>
            </a:r>
            <a:r>
              <a:rPr sz="1050" spc="-35">
                <a:solidFill>
                  <a:srgbClr val="444444"/>
                </a:solidFill>
                <a:latin typeface="Microsoft JhengHei"/>
                <a:cs typeface="Microsoft JhengHei"/>
              </a:rPr>
              <a:t> </a:t>
            </a:r>
            <a:r>
              <a:rPr sz="1050">
                <a:solidFill>
                  <a:srgbClr val="444444"/>
                </a:solidFill>
                <a:latin typeface="Microsoft JhengHei"/>
                <a:cs typeface="Microsoft JhengHei"/>
              </a:rPr>
              <a:t>stay</a:t>
            </a:r>
            <a:r>
              <a:rPr sz="1050" spc="-5">
                <a:solidFill>
                  <a:srgbClr val="444444"/>
                </a:solidFill>
                <a:latin typeface="Microsoft JhengHei"/>
                <a:cs typeface="Microsoft JhengHei"/>
              </a:rPr>
              <a:t> </a:t>
            </a:r>
            <a:r>
              <a:rPr sz="1050">
                <a:solidFill>
                  <a:srgbClr val="444444"/>
                </a:solidFill>
                <a:latin typeface="Microsoft JhengHei"/>
                <a:cs typeface="Microsoft JhengHei"/>
              </a:rPr>
              <a:t>ON</a:t>
            </a:r>
            <a:r>
              <a:rPr sz="1050" spc="-20">
                <a:solidFill>
                  <a:srgbClr val="444444"/>
                </a:solidFill>
                <a:latin typeface="Microsoft JhengHei"/>
                <a:cs typeface="Microsoft JhengHei"/>
              </a:rPr>
              <a:t> </a:t>
            </a:r>
            <a:r>
              <a:rPr sz="1050">
                <a:solidFill>
                  <a:srgbClr val="444444"/>
                </a:solidFill>
                <a:latin typeface="Microsoft JhengHei"/>
                <a:cs typeface="Microsoft JhengHei"/>
              </a:rPr>
              <a:t>running</a:t>
            </a:r>
            <a:r>
              <a:rPr sz="1050" spc="-45">
                <a:solidFill>
                  <a:srgbClr val="444444"/>
                </a:solidFill>
                <a:latin typeface="Microsoft JhengHei"/>
                <a:cs typeface="Microsoft JhengHei"/>
              </a:rPr>
              <a:t> </a:t>
            </a:r>
            <a:r>
              <a:rPr sz="1050">
                <a:solidFill>
                  <a:srgbClr val="444444"/>
                </a:solidFill>
                <a:latin typeface="Microsoft JhengHei"/>
                <a:cs typeface="Microsoft JhengHei"/>
              </a:rPr>
              <a:t>Mosquitto</a:t>
            </a:r>
            <a:r>
              <a:rPr sz="1050" spc="-40">
                <a:solidFill>
                  <a:srgbClr val="444444"/>
                </a:solidFill>
                <a:latin typeface="Microsoft JhengHei"/>
                <a:cs typeface="Microsoft JhengHei"/>
              </a:rPr>
              <a:t> </a:t>
            </a:r>
            <a:r>
              <a:rPr sz="1050">
                <a:solidFill>
                  <a:srgbClr val="444444"/>
                </a:solidFill>
                <a:latin typeface="Microsoft JhengHei"/>
                <a:cs typeface="Microsoft JhengHei"/>
              </a:rPr>
              <a:t>+</a:t>
            </a:r>
            <a:r>
              <a:rPr sz="1050" spc="5">
                <a:solidFill>
                  <a:srgbClr val="444444"/>
                </a:solidFill>
                <a:latin typeface="Microsoft JhengHei"/>
                <a:cs typeface="Microsoft JhengHei"/>
              </a:rPr>
              <a:t> </a:t>
            </a:r>
            <a:r>
              <a:rPr sz="1050" spc="-10">
                <a:solidFill>
                  <a:srgbClr val="444444"/>
                </a:solidFill>
                <a:latin typeface="Microsoft JhengHei"/>
                <a:cs typeface="Microsoft JhengHei"/>
              </a:rPr>
              <a:t>bridge.py</a:t>
            </a:r>
            <a:endParaRPr sz="1050">
              <a:latin typeface="Microsoft JhengHei"/>
              <a:cs typeface="Microsoft JhengHe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44448" y="6118961"/>
            <a:ext cx="413321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>
                <a:solidFill>
                  <a:srgbClr val="D6382B"/>
                </a:solidFill>
                <a:latin typeface="Segoe UI Symbol"/>
                <a:cs typeface="Segoe UI Symbol"/>
              </a:rPr>
              <a:t>✕</a:t>
            </a:r>
            <a:r>
              <a:rPr sz="1050" spc="240">
                <a:solidFill>
                  <a:srgbClr val="D6382B"/>
                </a:solidFill>
                <a:latin typeface="Segoe UI Symbol"/>
                <a:cs typeface="Segoe UI Symbol"/>
              </a:rPr>
              <a:t> </a:t>
            </a:r>
            <a:r>
              <a:rPr sz="1050">
                <a:solidFill>
                  <a:srgbClr val="444444"/>
                </a:solidFill>
                <a:latin typeface="Microsoft JhengHei"/>
                <a:cs typeface="Microsoft JhengHei"/>
              </a:rPr>
              <a:t>Type</a:t>
            </a:r>
            <a:r>
              <a:rPr sz="1050" spc="-30">
                <a:solidFill>
                  <a:srgbClr val="444444"/>
                </a:solidFill>
                <a:latin typeface="Microsoft JhengHei"/>
                <a:cs typeface="Microsoft JhengHei"/>
              </a:rPr>
              <a:t> </a:t>
            </a:r>
            <a:r>
              <a:rPr sz="1050">
                <a:solidFill>
                  <a:srgbClr val="444444"/>
                </a:solidFill>
                <a:latin typeface="Microsoft JhengHei"/>
                <a:cs typeface="Microsoft JhengHei"/>
              </a:rPr>
              <a:t>the</a:t>
            </a:r>
            <a:r>
              <a:rPr sz="1050" spc="-20">
                <a:solidFill>
                  <a:srgbClr val="444444"/>
                </a:solidFill>
                <a:latin typeface="Microsoft JhengHei"/>
                <a:cs typeface="Microsoft JhengHei"/>
              </a:rPr>
              <a:t> </a:t>
            </a:r>
            <a:r>
              <a:rPr sz="1050">
                <a:solidFill>
                  <a:srgbClr val="444444"/>
                </a:solidFill>
                <a:latin typeface="Microsoft JhengHei"/>
                <a:cs typeface="Microsoft JhengHei"/>
              </a:rPr>
              <a:t>camera's</a:t>
            </a:r>
            <a:r>
              <a:rPr sz="1050" spc="-40">
                <a:solidFill>
                  <a:srgbClr val="444444"/>
                </a:solidFill>
                <a:latin typeface="Microsoft JhengHei"/>
                <a:cs typeface="Microsoft JhengHei"/>
              </a:rPr>
              <a:t> </a:t>
            </a:r>
            <a:r>
              <a:rPr sz="1050">
                <a:solidFill>
                  <a:srgbClr val="444444"/>
                </a:solidFill>
                <a:latin typeface="Microsoft JhengHei"/>
                <a:cs typeface="Microsoft JhengHei"/>
              </a:rPr>
              <a:t>IP</a:t>
            </a:r>
            <a:r>
              <a:rPr sz="1050" spc="5">
                <a:solidFill>
                  <a:srgbClr val="444444"/>
                </a:solidFill>
                <a:latin typeface="Microsoft JhengHei"/>
                <a:cs typeface="Microsoft JhengHei"/>
              </a:rPr>
              <a:t> </a:t>
            </a:r>
            <a:r>
              <a:rPr sz="1050">
                <a:solidFill>
                  <a:srgbClr val="444444"/>
                </a:solidFill>
                <a:latin typeface="Microsoft JhengHei"/>
                <a:cs typeface="Microsoft JhengHei"/>
              </a:rPr>
              <a:t>— breaks</a:t>
            </a:r>
            <a:r>
              <a:rPr sz="1050" spc="-50">
                <a:solidFill>
                  <a:srgbClr val="444444"/>
                </a:solidFill>
                <a:latin typeface="Microsoft JhengHei"/>
                <a:cs typeface="Microsoft JhengHei"/>
              </a:rPr>
              <a:t> </a:t>
            </a:r>
            <a:r>
              <a:rPr sz="1050">
                <a:solidFill>
                  <a:srgbClr val="444444"/>
                </a:solidFill>
                <a:latin typeface="Microsoft JhengHei"/>
                <a:cs typeface="Microsoft JhengHei"/>
              </a:rPr>
              <a:t>on</a:t>
            </a:r>
            <a:r>
              <a:rPr sz="1050" spc="-5">
                <a:solidFill>
                  <a:srgbClr val="444444"/>
                </a:solidFill>
                <a:latin typeface="Microsoft JhengHei"/>
                <a:cs typeface="Microsoft JhengHei"/>
              </a:rPr>
              <a:t> </a:t>
            </a:r>
            <a:r>
              <a:rPr sz="1050">
                <a:solidFill>
                  <a:srgbClr val="444444"/>
                </a:solidFill>
                <a:latin typeface="Microsoft JhengHei"/>
                <a:cs typeface="Microsoft JhengHei"/>
              </a:rPr>
              <a:t>CGNAT</a:t>
            </a:r>
            <a:r>
              <a:rPr sz="1050" spc="-30">
                <a:solidFill>
                  <a:srgbClr val="444444"/>
                </a:solidFill>
                <a:latin typeface="Microsoft JhengHei"/>
                <a:cs typeface="Microsoft JhengHei"/>
              </a:rPr>
              <a:t> </a:t>
            </a:r>
            <a:r>
              <a:rPr sz="1050">
                <a:solidFill>
                  <a:srgbClr val="444444"/>
                </a:solidFill>
                <a:latin typeface="Microsoft JhengHei"/>
                <a:cs typeface="Microsoft JhengHei"/>
              </a:rPr>
              <a:t>/</a:t>
            </a:r>
            <a:r>
              <a:rPr sz="1050" spc="-5">
                <a:solidFill>
                  <a:srgbClr val="444444"/>
                </a:solidFill>
                <a:latin typeface="Microsoft JhengHei"/>
                <a:cs typeface="Microsoft JhengHei"/>
              </a:rPr>
              <a:t> </a:t>
            </a:r>
            <a:r>
              <a:rPr sz="1050">
                <a:solidFill>
                  <a:srgbClr val="444444"/>
                </a:solidFill>
                <a:latin typeface="Microsoft JhengHei"/>
                <a:cs typeface="Microsoft JhengHei"/>
              </a:rPr>
              <a:t>no</a:t>
            </a:r>
            <a:r>
              <a:rPr sz="1050" spc="-20">
                <a:solidFill>
                  <a:srgbClr val="444444"/>
                </a:solidFill>
                <a:latin typeface="Microsoft JhengHei"/>
                <a:cs typeface="Microsoft JhengHei"/>
              </a:rPr>
              <a:t> </a:t>
            </a:r>
            <a:r>
              <a:rPr sz="1050">
                <a:solidFill>
                  <a:srgbClr val="444444"/>
                </a:solidFill>
                <a:latin typeface="Microsoft JhengHei"/>
                <a:cs typeface="Microsoft JhengHei"/>
              </a:rPr>
              <a:t>port-</a:t>
            </a:r>
            <a:r>
              <a:rPr sz="1050" spc="-10">
                <a:solidFill>
                  <a:srgbClr val="444444"/>
                </a:solidFill>
                <a:latin typeface="Microsoft JhengHei"/>
                <a:cs typeface="Microsoft JhengHei"/>
              </a:rPr>
              <a:t>forwarding</a:t>
            </a:r>
            <a:endParaRPr sz="1050">
              <a:latin typeface="Microsoft JhengHei"/>
              <a:cs typeface="Microsoft JhengHe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238113" y="6118961"/>
            <a:ext cx="34270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>
                <a:solidFill>
                  <a:srgbClr val="D6382B"/>
                </a:solidFill>
                <a:latin typeface="Segoe UI Symbol"/>
                <a:cs typeface="Segoe UI Symbol"/>
              </a:rPr>
              <a:t>✕</a:t>
            </a:r>
            <a:r>
              <a:rPr sz="1050" spc="240">
                <a:solidFill>
                  <a:srgbClr val="D6382B"/>
                </a:solidFill>
                <a:latin typeface="Segoe UI Symbol"/>
                <a:cs typeface="Segoe UI Symbol"/>
              </a:rPr>
              <a:t> </a:t>
            </a:r>
            <a:r>
              <a:rPr sz="1050">
                <a:solidFill>
                  <a:srgbClr val="444444"/>
                </a:solidFill>
                <a:latin typeface="Microsoft JhengHei"/>
                <a:cs typeface="Microsoft JhengHei"/>
              </a:rPr>
              <a:t>Open</a:t>
            </a:r>
            <a:r>
              <a:rPr sz="1050" spc="-45">
                <a:solidFill>
                  <a:srgbClr val="444444"/>
                </a:solidFill>
                <a:latin typeface="Microsoft JhengHei"/>
                <a:cs typeface="Microsoft JhengHei"/>
              </a:rPr>
              <a:t> </a:t>
            </a:r>
            <a:r>
              <a:rPr sz="1050">
                <a:solidFill>
                  <a:srgbClr val="444444"/>
                </a:solidFill>
                <a:latin typeface="Microsoft JhengHei"/>
                <a:cs typeface="Microsoft JhengHei"/>
              </a:rPr>
              <a:t>broker</a:t>
            </a:r>
            <a:r>
              <a:rPr sz="1050" spc="-40">
                <a:solidFill>
                  <a:srgbClr val="444444"/>
                </a:solidFill>
                <a:latin typeface="Microsoft JhengHei"/>
                <a:cs typeface="Microsoft JhengHei"/>
              </a:rPr>
              <a:t> </a:t>
            </a:r>
            <a:r>
              <a:rPr sz="1050">
                <a:solidFill>
                  <a:srgbClr val="444444"/>
                </a:solidFill>
                <a:latin typeface="Microsoft JhengHei"/>
                <a:cs typeface="Microsoft JhengHei"/>
              </a:rPr>
              <a:t>· no</a:t>
            </a:r>
            <a:r>
              <a:rPr sz="1050" spc="-15">
                <a:solidFill>
                  <a:srgbClr val="444444"/>
                </a:solidFill>
                <a:latin typeface="Microsoft JhengHei"/>
                <a:cs typeface="Microsoft JhengHei"/>
              </a:rPr>
              <a:t> </a:t>
            </a:r>
            <a:r>
              <a:rPr sz="1050">
                <a:solidFill>
                  <a:srgbClr val="444444"/>
                </a:solidFill>
                <a:latin typeface="Microsoft JhengHei"/>
                <a:cs typeface="Microsoft JhengHei"/>
              </a:rPr>
              <a:t>TLS</a:t>
            </a:r>
            <a:r>
              <a:rPr sz="1050" spc="-5">
                <a:solidFill>
                  <a:srgbClr val="444444"/>
                </a:solidFill>
                <a:latin typeface="Microsoft JhengHei"/>
                <a:cs typeface="Microsoft JhengHei"/>
              </a:rPr>
              <a:t> </a:t>
            </a:r>
            <a:r>
              <a:rPr sz="1050">
                <a:solidFill>
                  <a:srgbClr val="444444"/>
                </a:solidFill>
                <a:latin typeface="Microsoft JhengHei"/>
                <a:cs typeface="Microsoft JhengHei"/>
              </a:rPr>
              <a:t>·</a:t>
            </a:r>
            <a:r>
              <a:rPr sz="1050" spc="-10">
                <a:solidFill>
                  <a:srgbClr val="444444"/>
                </a:solidFill>
                <a:latin typeface="Microsoft JhengHei"/>
                <a:cs typeface="Microsoft JhengHei"/>
              </a:rPr>
              <a:t> </a:t>
            </a:r>
            <a:r>
              <a:rPr sz="1050">
                <a:solidFill>
                  <a:srgbClr val="444444"/>
                </a:solidFill>
                <a:latin typeface="Microsoft JhengHei"/>
                <a:cs typeface="Microsoft JhengHei"/>
              </a:rPr>
              <a:t>hard-coded</a:t>
            </a:r>
            <a:r>
              <a:rPr sz="1050" spc="-45">
                <a:solidFill>
                  <a:srgbClr val="444444"/>
                </a:solidFill>
                <a:latin typeface="Microsoft JhengHei"/>
                <a:cs typeface="Microsoft JhengHei"/>
              </a:rPr>
              <a:t> </a:t>
            </a:r>
            <a:r>
              <a:rPr sz="1050">
                <a:solidFill>
                  <a:srgbClr val="444444"/>
                </a:solidFill>
                <a:latin typeface="Microsoft JhengHei"/>
                <a:cs typeface="Microsoft JhengHei"/>
              </a:rPr>
              <a:t>Wi-Fi</a:t>
            </a:r>
            <a:r>
              <a:rPr sz="1050" spc="-20">
                <a:solidFill>
                  <a:srgbClr val="444444"/>
                </a:solidFill>
                <a:latin typeface="Microsoft JhengHei"/>
                <a:cs typeface="Microsoft JhengHei"/>
              </a:rPr>
              <a:t> </a:t>
            </a:r>
            <a:r>
              <a:rPr sz="1050" spc="-10">
                <a:solidFill>
                  <a:srgbClr val="444444"/>
                </a:solidFill>
                <a:latin typeface="Microsoft JhengHei"/>
                <a:cs typeface="Microsoft JhengHei"/>
              </a:rPr>
              <a:t>credentials</a:t>
            </a:r>
            <a:endParaRPr sz="1050">
              <a:latin typeface="Microsoft JhengHei"/>
              <a:cs typeface="Microsoft JhengHei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dr"/>
          <p:cNvSpPr/>
          <p:nvPr/>
        </p:nvSpPr>
        <p:spPr>
          <a:xfrm>
            <a:off x="1588" y="0"/>
            <a:ext cx="12188952" cy="84124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PK" sz="1800"/>
          </a:p>
        </p:txBody>
      </p:sp>
      <p:sp>
        <p:nvSpPr>
          <p:cNvPr id="101" name="badgebox"/>
          <p:cNvSpPr/>
          <p:nvPr/>
        </p:nvSpPr>
        <p:spPr>
          <a:xfrm>
            <a:off x="458788" y="192024"/>
            <a:ext cx="603504" cy="457200"/>
          </a:xfrm>
          <a:prstGeom prst="roundRect">
            <a:avLst>
              <a:gd name="adj" fmla="val 16000"/>
            </a:avLst>
          </a:prstGeom>
          <a:solidFill>
            <a:srgbClr val="2196F3"/>
          </a:solidFill>
          <a:ln/>
        </p:spPr>
        <p:txBody>
          <a:bodyPr/>
          <a:lstStyle/>
          <a:p>
            <a:endParaRPr lang="en-PK" sz="1800"/>
          </a:p>
        </p:txBody>
      </p:sp>
      <p:sp>
        <p:nvSpPr>
          <p:cNvPr id="102" name="badge"/>
          <p:cNvSpPr/>
          <p:nvPr/>
        </p:nvSpPr>
        <p:spPr>
          <a:xfrm>
            <a:off x="458788" y="192024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08</a:t>
            </a:r>
            <a:endParaRPr lang="en-US" sz="2000" b="1" kern="0">
              <a:solidFill>
                <a:srgbClr val="FFFFFF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</p:txBody>
      </p:sp>
      <p:sp>
        <p:nvSpPr>
          <p:cNvPr id="103" name="title"/>
          <p:cNvSpPr/>
          <p:nvPr/>
        </p:nvSpPr>
        <p:spPr>
          <a:xfrm>
            <a:off x="1236028" y="164592"/>
            <a:ext cx="8000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50" b="1" kern="0" spc="8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ARCHITECTURE — v2: CLOUD &amp; OUTBOUND-ONLY</a:t>
            </a:r>
          </a:p>
        </p:txBody>
      </p:sp>
      <p:sp>
        <p:nvSpPr>
          <p:cNvPr id="104" name="tag"/>
          <p:cNvSpPr/>
          <p:nvPr/>
        </p:nvSpPr>
        <p:spPr>
          <a:xfrm>
            <a:off x="9401588" y="292608"/>
            <a:ext cx="248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80">
                <a:solidFill>
                  <a:srgbClr val="BCD4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· CURRENT ★</a:t>
            </a:r>
          </a:p>
        </p:txBody>
      </p:sp>
      <p:sp>
        <p:nvSpPr>
          <p:cNvPr id="105" name="cap"/>
          <p:cNvSpPr/>
          <p:nvPr/>
        </p:nvSpPr>
        <p:spPr>
          <a:xfrm>
            <a:off x="458788" y="895000"/>
            <a:ext cx="11274552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kern="0">
                <a:solidFill>
                  <a:srgbClr val="0E8C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device dials OUT and stays connected — works from any network: no IP, no port-forwarding, no PC on site.</a:t>
            </a:r>
          </a:p>
        </p:txBody>
      </p:sp>
      <p:sp>
        <p:nvSpPr>
          <p:cNvPr id="106" name="zoneA"/>
          <p:cNvSpPr/>
          <p:nvPr/>
        </p:nvSpPr>
        <p:spPr>
          <a:xfrm>
            <a:off x="488902" y="1300000"/>
            <a:ext cx="2760000" cy="3700000"/>
          </a:xfrm>
          <a:prstGeom prst="roundRect">
            <a:avLst>
              <a:gd name="adj" fmla="val 2600"/>
            </a:avLst>
          </a:prstGeom>
          <a:solidFill>
            <a:srgbClr val="F7FAFD"/>
          </a:solidFill>
          <a:ln w="9525">
            <a:solidFill>
              <a:srgbClr val="8FB0CF"/>
            </a:solidFill>
            <a:prstDash val="solid"/>
          </a:ln>
        </p:spPr>
        <p:txBody>
          <a:bodyPr/>
          <a:lstStyle/>
          <a:p>
            <a:endParaRPr lang="en-PK" sz="1800"/>
          </a:p>
        </p:txBody>
      </p:sp>
      <p:sp>
        <p:nvSpPr>
          <p:cNvPr id="107" name="zoneB"/>
          <p:cNvSpPr/>
          <p:nvPr/>
        </p:nvSpPr>
        <p:spPr>
          <a:xfrm>
            <a:off x="3361588" y="1285000"/>
            <a:ext cx="5180000" cy="3700000"/>
          </a:xfrm>
          <a:prstGeom prst="roundRect">
            <a:avLst>
              <a:gd name="adj" fmla="val 2600"/>
            </a:avLst>
          </a:prstGeom>
          <a:solidFill>
            <a:srgbClr val="EAF4FD"/>
          </a:solidFill>
          <a:ln w="12700">
            <a:solidFill>
              <a:srgbClr val="2196F3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PK" sz="1800"/>
          </a:p>
        </p:txBody>
      </p:sp>
      <p:sp>
        <p:nvSpPr>
          <p:cNvPr id="108" name="zoneC"/>
          <p:cNvSpPr/>
          <p:nvPr/>
        </p:nvSpPr>
        <p:spPr>
          <a:xfrm>
            <a:off x="8681588" y="1285000"/>
            <a:ext cx="3051752" cy="3700000"/>
          </a:xfrm>
          <a:prstGeom prst="roundRect">
            <a:avLst>
              <a:gd name="adj" fmla="val 2600"/>
            </a:avLst>
          </a:prstGeom>
          <a:solidFill>
            <a:srgbClr val="F7FAFD"/>
          </a:solidFill>
          <a:ln w="9525">
            <a:solidFill>
              <a:srgbClr val="8FB0CF"/>
            </a:solidFill>
            <a:prstDash val="solid"/>
          </a:ln>
        </p:spPr>
        <p:txBody>
          <a:bodyPr/>
          <a:lstStyle/>
          <a:p>
            <a:endParaRPr lang="en-PK" sz="1800"/>
          </a:p>
        </p:txBody>
      </p:sp>
      <p:sp>
        <p:nvSpPr>
          <p:cNvPr id="109" name="zAl"/>
          <p:cNvSpPr/>
          <p:nvPr/>
        </p:nvSpPr>
        <p:spPr>
          <a:xfrm>
            <a:off x="458788" y="1330000"/>
            <a:ext cx="276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60">
                <a:solidFill>
                  <a:srgbClr val="1F4E7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SITE A</a:t>
            </a:r>
          </a:p>
          <a:p>
            <a:pPr marL="0" indent="0" algn="ctr">
              <a:buNone/>
            </a:pPr>
            <a:r>
              <a:rPr lang="en-US" sz="900" kern="0">
                <a:solidFill>
                  <a:srgbClr val="555555"/>
                </a:solidFill>
                <a:latin typeface="Inter"/>
                <a:ea typeface="Inter"/>
                <a:cs typeface="Inter" pitchFamily="34" charset="-120"/>
              </a:rPr>
              <a:t>any network </a:t>
            </a:r>
            <a:endParaRPr lang="en-US" sz="900" kern="0">
              <a:solidFill>
                <a:srgbClr val="55555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sp>
        <p:nvSpPr>
          <p:cNvPr id="110" name="zBl"/>
          <p:cNvSpPr/>
          <p:nvPr/>
        </p:nvSpPr>
        <p:spPr>
          <a:xfrm>
            <a:off x="3361588" y="1330000"/>
            <a:ext cx="518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60">
                <a:solidFill>
                  <a:srgbClr val="1F4E7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</a:t>
            </a:r>
          </a:p>
          <a:p>
            <a:pPr marL="0" indent="0" algn="ctr">
              <a:buNone/>
            </a:pPr>
            <a:r>
              <a:rPr lang="en-US" sz="900" kern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managed services</a:t>
            </a:r>
          </a:p>
        </p:txBody>
      </p:sp>
      <p:sp>
        <p:nvSpPr>
          <p:cNvPr id="111" name="zCl"/>
          <p:cNvSpPr/>
          <p:nvPr/>
        </p:nvSpPr>
        <p:spPr>
          <a:xfrm>
            <a:off x="8681588" y="1330000"/>
            <a:ext cx="3051752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60">
                <a:solidFill>
                  <a:srgbClr val="1F4E7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ANYWHERE</a:t>
            </a:r>
          </a:p>
          <a:p>
            <a:pPr marL="0" indent="0" algn="ctr">
              <a:buNone/>
            </a:pPr>
            <a:r>
              <a:rPr lang="en-US" sz="900" kern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phone, on or off Wi-Fi</a:t>
            </a:r>
          </a:p>
        </p:txBody>
      </p:sp>
      <p:sp>
        <p:nvSpPr>
          <p:cNvPr id="112" name="esp"/>
          <p:cNvSpPr/>
          <p:nvPr/>
        </p:nvSpPr>
        <p:spPr>
          <a:xfrm>
            <a:off x="558788" y="2750000"/>
            <a:ext cx="2560000" cy="12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196F3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PK" sz="1800"/>
          </a:p>
        </p:txBody>
      </p:sp>
      <p:sp>
        <p:nvSpPr>
          <p:cNvPr id="113" name="esp_t"/>
          <p:cNvSpPr/>
          <p:nvPr/>
        </p:nvSpPr>
        <p:spPr>
          <a:xfrm>
            <a:off x="558788" y="2810000"/>
            <a:ext cx="2560000" cy="10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>
                <a:solidFill>
                  <a:srgbClr val="1F4E7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ESP32-CAM</a:t>
            </a:r>
          </a:p>
        </p:txBody>
      </p:sp>
      <p:sp>
        <p:nvSpPr>
          <p:cNvPr id="114" name="esp_out"/>
          <p:cNvSpPr/>
          <p:nvPr/>
        </p:nvSpPr>
        <p:spPr>
          <a:xfrm>
            <a:off x="558788" y="4070000"/>
            <a:ext cx="256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b="1" i="1" kern="0">
              <a:solidFill>
                <a:srgbClr val="0E8C7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sp>
        <p:nvSpPr>
          <p:cNvPr id="115" name="cb"/>
          <p:cNvSpPr/>
          <p:nvPr/>
        </p:nvSpPr>
        <p:spPr>
          <a:xfrm>
            <a:off x="3521588" y="1820000"/>
            <a:ext cx="4860000" cy="6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PK" sz="1800"/>
          </a:p>
        </p:txBody>
      </p:sp>
      <p:sp>
        <p:nvSpPr>
          <p:cNvPr id="116" name="cb_t"/>
          <p:cNvSpPr/>
          <p:nvPr/>
        </p:nvSpPr>
        <p:spPr>
          <a:xfrm>
            <a:off x="3721588" y="1820000"/>
            <a:ext cx="450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>
                <a:solidFill>
                  <a:srgbClr val="1F4E7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HiveMQ Cloud — MQTT/TLS broker</a:t>
            </a:r>
          </a:p>
          <a:p>
            <a:pPr marL="0" indent="0" algn="l">
              <a:buNone/>
            </a:pPr>
            <a:r>
              <a:rPr lang="en-US" sz="900" kern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topics: status·LWT · alert · cmd · ack</a:t>
            </a:r>
          </a:p>
        </p:txBody>
      </p:sp>
      <p:sp>
        <p:nvSpPr>
          <p:cNvPr id="117" name="cb"/>
          <p:cNvSpPr/>
          <p:nvPr/>
        </p:nvSpPr>
        <p:spPr>
          <a:xfrm>
            <a:off x="3521588" y="2570000"/>
            <a:ext cx="4860000" cy="6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PK" sz="1800"/>
          </a:p>
        </p:txBody>
      </p:sp>
      <p:sp>
        <p:nvSpPr>
          <p:cNvPr id="118" name="cb_t"/>
          <p:cNvSpPr/>
          <p:nvPr/>
        </p:nvSpPr>
        <p:spPr>
          <a:xfrm>
            <a:off x="3721588" y="2570000"/>
            <a:ext cx="450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>
                <a:solidFill>
                  <a:srgbClr val="1F4E7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Cloudinary — image evidence</a:t>
            </a:r>
          </a:p>
          <a:p>
            <a:pPr marL="0" indent="0" algn="l">
              <a:buNone/>
            </a:pPr>
            <a:r>
              <a:rPr lang="en-US" sz="900" kern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device HTTPS-POSTs the JPEG</a:t>
            </a:r>
          </a:p>
        </p:txBody>
      </p:sp>
      <p:sp>
        <p:nvSpPr>
          <p:cNvPr id="119" name="cb"/>
          <p:cNvSpPr/>
          <p:nvPr/>
        </p:nvSpPr>
        <p:spPr>
          <a:xfrm>
            <a:off x="3521588" y="3320000"/>
            <a:ext cx="4860000" cy="6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PK" sz="1800"/>
          </a:p>
        </p:txBody>
      </p:sp>
      <p:sp>
        <p:nvSpPr>
          <p:cNvPr id="120" name="cb_t"/>
          <p:cNvSpPr/>
          <p:nvPr/>
        </p:nvSpPr>
        <p:spPr>
          <a:xfrm>
            <a:off x="3721588" y="3320000"/>
            <a:ext cx="450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>
                <a:solidFill>
                  <a:srgbClr val="1F4E79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Firebase → Cloud Function </a:t>
            </a:r>
          </a:p>
          <a:p>
            <a:pPr marL="0" indent="0" algn="l">
              <a:buNone/>
            </a:pPr>
            <a:r>
              <a:rPr lang="en-US" sz="900" kern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fires even with the app closed</a:t>
            </a:r>
          </a:p>
        </p:txBody>
      </p:sp>
      <p:sp>
        <p:nvSpPr>
          <p:cNvPr id="121" name="cb"/>
          <p:cNvSpPr/>
          <p:nvPr/>
        </p:nvSpPr>
        <p:spPr>
          <a:xfrm>
            <a:off x="3521588" y="4070000"/>
            <a:ext cx="4860000" cy="6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PK" sz="1800"/>
          </a:p>
        </p:txBody>
      </p:sp>
      <p:sp>
        <p:nvSpPr>
          <p:cNvPr id="122" name="cb_t"/>
          <p:cNvSpPr/>
          <p:nvPr/>
        </p:nvSpPr>
        <p:spPr>
          <a:xfrm>
            <a:off x="3721588" y="4070000"/>
            <a:ext cx="450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>
                <a:solidFill>
                  <a:srgbClr val="1F4E7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Deno Deploy — WebSocket relay</a:t>
            </a:r>
          </a:p>
          <a:p>
            <a:pPr marL="0" indent="0" algn="l">
              <a:buNone/>
            </a:pPr>
            <a:r>
              <a:rPr lang="en-US" sz="900" kern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on-demand video · never 24/7</a:t>
            </a:r>
          </a:p>
        </p:txBody>
      </p:sp>
      <p:sp>
        <p:nvSpPr>
          <p:cNvPr id="123" name="phone"/>
          <p:cNvSpPr/>
          <p:nvPr/>
        </p:nvSpPr>
        <p:spPr>
          <a:xfrm>
            <a:off x="8881588" y="2755000"/>
            <a:ext cx="2640000" cy="12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196F3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PK" sz="1800"/>
          </a:p>
        </p:txBody>
      </p:sp>
      <p:sp>
        <p:nvSpPr>
          <p:cNvPr id="124" name="phone_t"/>
          <p:cNvSpPr/>
          <p:nvPr/>
        </p:nvSpPr>
        <p:spPr>
          <a:xfrm>
            <a:off x="8881588" y="2810000"/>
            <a:ext cx="2640000" cy="10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>
                <a:solidFill>
                  <a:srgbClr val="1F4E7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Phone (app)</a:t>
            </a:r>
          </a:p>
          <a:p>
            <a:pPr marL="0" indent="0" algn="ctr">
              <a:buNone/>
            </a:pPr>
            <a:endParaRPr lang="en-US" sz="1350" b="1" kern="0">
              <a:solidFill>
                <a:srgbClr val="1F4E79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0" indent="0" algn="ctr">
              <a:lnSpc>
                <a:spcPct val="102"/>
              </a:lnSpc>
              <a:buNone/>
            </a:pPr>
            <a:r>
              <a:rPr lang="en-US" sz="950" kern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MQTT-over-WebSocket</a:t>
            </a:r>
          </a:p>
        </p:txBody>
      </p:sp>
      <p:sp>
        <p:nvSpPr>
          <p:cNvPr id="125" name="ph_out"/>
          <p:cNvSpPr/>
          <p:nvPr/>
        </p:nvSpPr>
        <p:spPr>
          <a:xfrm>
            <a:off x="8881588" y="4070000"/>
            <a:ext cx="264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b="1" i="1" kern="0">
              <a:solidFill>
                <a:srgbClr val="0E8C7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cxnSp>
        <p:nvCxnSpPr>
          <p:cNvPr id="126" name="o1"/>
          <p:cNvCxnSpPr/>
          <p:nvPr/>
        </p:nvCxnSpPr>
        <p:spPr>
          <a:xfrm flipV="1">
            <a:off x="3141588" y="2130000"/>
            <a:ext cx="380000" cy="850000"/>
          </a:xfrm>
          <a:prstGeom prst="straightConnector1">
            <a:avLst/>
          </a:prstGeom>
          <a:ln w="22225" cap="rnd">
            <a:solidFill>
              <a:srgbClr val="0E8C7F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27" name="o2"/>
          <p:cNvCxnSpPr/>
          <p:nvPr/>
        </p:nvCxnSpPr>
        <p:spPr>
          <a:xfrm flipV="1">
            <a:off x="3141588" y="2880000"/>
            <a:ext cx="380000" cy="240000"/>
          </a:xfrm>
          <a:prstGeom prst="straightConnector1">
            <a:avLst/>
          </a:prstGeom>
          <a:ln w="22225" cap="rnd">
            <a:solidFill>
              <a:srgbClr val="0E8C7F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28" name="i1"/>
          <p:cNvCxnSpPr/>
          <p:nvPr/>
        </p:nvCxnSpPr>
        <p:spPr>
          <a:xfrm>
            <a:off x="8381588" y="2130000"/>
            <a:ext cx="500000" cy="820000"/>
          </a:xfrm>
          <a:prstGeom prst="straightConnector1">
            <a:avLst/>
          </a:prstGeom>
          <a:ln w="22225" cap="rnd">
            <a:solidFill>
              <a:srgbClr val="0E8C7F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29" name="i2"/>
          <p:cNvCxnSpPr/>
          <p:nvPr/>
        </p:nvCxnSpPr>
        <p:spPr>
          <a:xfrm flipV="1">
            <a:off x="8381588" y="3150000"/>
            <a:ext cx="500000" cy="480000"/>
          </a:xfrm>
          <a:prstGeom prst="straightConnector1">
            <a:avLst/>
          </a:prstGeom>
          <a:ln w="22225" cap="rnd">
            <a:solidFill>
              <a:srgbClr val="0E8C7F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30" name="i3"/>
          <p:cNvCxnSpPr/>
          <p:nvPr/>
        </p:nvCxnSpPr>
        <p:spPr>
          <a:xfrm flipV="1">
            <a:off x="8381588" y="3380000"/>
            <a:ext cx="500000" cy="1000000"/>
          </a:xfrm>
          <a:prstGeom prst="straightConnector1">
            <a:avLst/>
          </a:prstGeom>
          <a:ln w="22225" cap="rnd">
            <a:solidFill>
              <a:srgbClr val="0E8C7F"/>
            </a:solidFill>
            <a:prstDash val="solid"/>
            <a:headEnd type="none"/>
            <a:tailEnd type="triangle" w="med" len="med"/>
          </a:ln>
        </p:spPr>
      </p:cxnSp>
      <p:sp>
        <p:nvSpPr>
          <p:cNvPr id="131" name="lock"/>
          <p:cNvSpPr/>
          <p:nvPr/>
        </p:nvSpPr>
        <p:spPr>
          <a:xfrm>
            <a:off x="3181588" y="2430000"/>
            <a:ext cx="3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>
                <a:solidFill>
                  <a:srgbClr val="0E8C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🔒</a:t>
            </a:r>
          </a:p>
        </p:txBody>
      </p:sp>
      <p:sp>
        <p:nvSpPr>
          <p:cNvPr id="132" name="lock"/>
          <p:cNvSpPr/>
          <p:nvPr/>
        </p:nvSpPr>
        <p:spPr>
          <a:xfrm>
            <a:off x="3221247" y="2805000"/>
            <a:ext cx="3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>
                <a:solidFill>
                  <a:srgbClr val="0E8C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🔒</a:t>
            </a:r>
          </a:p>
        </p:txBody>
      </p:sp>
      <p:sp>
        <p:nvSpPr>
          <p:cNvPr id="133" name="lock"/>
          <p:cNvSpPr/>
          <p:nvPr/>
        </p:nvSpPr>
        <p:spPr>
          <a:xfrm>
            <a:off x="8501588" y="2470000"/>
            <a:ext cx="3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>
                <a:solidFill>
                  <a:srgbClr val="0E8C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🔒</a:t>
            </a:r>
          </a:p>
        </p:txBody>
      </p:sp>
      <p:sp>
        <p:nvSpPr>
          <p:cNvPr id="134" name="lock"/>
          <p:cNvSpPr/>
          <p:nvPr/>
        </p:nvSpPr>
        <p:spPr>
          <a:xfrm>
            <a:off x="8501588" y="3300000"/>
            <a:ext cx="3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>
                <a:solidFill>
                  <a:srgbClr val="0E8C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🔒</a:t>
            </a:r>
          </a:p>
        </p:txBody>
      </p:sp>
      <p:sp>
        <p:nvSpPr>
          <p:cNvPr id="135" name="lock"/>
          <p:cNvSpPr/>
          <p:nvPr/>
        </p:nvSpPr>
        <p:spPr>
          <a:xfrm>
            <a:off x="8501588" y="3800000"/>
            <a:ext cx="3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>
                <a:solidFill>
                  <a:srgbClr val="0E8C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🔒</a:t>
            </a:r>
          </a:p>
        </p:txBody>
      </p:sp>
      <p:sp>
        <p:nvSpPr>
          <p:cNvPr id="136" name="keybox"/>
          <p:cNvSpPr/>
          <p:nvPr/>
        </p:nvSpPr>
        <p:spPr>
          <a:xfrm>
            <a:off x="245428" y="5120000"/>
            <a:ext cx="11487912" cy="1430000"/>
          </a:xfrm>
          <a:prstGeom prst="roundRect">
            <a:avLst>
              <a:gd name="adj" fmla="val 2500"/>
            </a:avLst>
          </a:prstGeom>
          <a:solidFill>
            <a:srgbClr val="E4F3F0"/>
          </a:solidFill>
          <a:ln w="12700">
            <a:solidFill>
              <a:srgbClr val="9AD0C7"/>
            </a:solidFill>
            <a:prstDash val="solid"/>
          </a:ln>
        </p:spPr>
        <p:txBody>
          <a:bodyPr/>
          <a:lstStyle/>
          <a:p>
            <a:endParaRPr lang="en-PK" sz="1800"/>
          </a:p>
        </p:txBody>
      </p:sp>
      <p:sp>
        <p:nvSpPr>
          <p:cNvPr id="137" name="keyhdr"/>
          <p:cNvSpPr/>
          <p:nvPr/>
        </p:nvSpPr>
        <p:spPr>
          <a:xfrm>
            <a:off x="658788" y="5185000"/>
            <a:ext cx="70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60">
                <a:solidFill>
                  <a:srgbClr val="0E8C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KEY IDEA · OUTBOUND-ONLY</a:t>
            </a:r>
          </a:p>
        </p:txBody>
      </p:sp>
      <p:sp>
        <p:nvSpPr>
          <p:cNvPr id="138" name="kit"/>
          <p:cNvSpPr/>
          <p:nvPr/>
        </p:nvSpPr>
        <p:spPr>
          <a:xfrm>
            <a:off x="342552" y="5530415"/>
            <a:ext cx="6082326" cy="50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"/>
              </a:lnSpc>
              <a:buNone/>
            </a:pPr>
            <a:r>
              <a:rPr lang="en-US" sz="1000" b="1" kern="0">
                <a:solidFill>
                  <a:srgbClr val="0E8C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r>
              <a:rPr lang="en-US" sz="1000" kern="0">
                <a:solidFill>
                  <a:srgbClr val="3A4A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Camera always connects OUT (like a messaging app) — no static IP, no port-forwarding, no on-site PC</a:t>
            </a:r>
          </a:p>
        </p:txBody>
      </p:sp>
      <p:sp>
        <p:nvSpPr>
          <p:cNvPr id="139" name="kit"/>
          <p:cNvSpPr/>
          <p:nvPr/>
        </p:nvSpPr>
        <p:spPr>
          <a:xfrm>
            <a:off x="357518" y="5928465"/>
            <a:ext cx="5636401" cy="50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"/>
              </a:lnSpc>
              <a:buNone/>
            </a:pPr>
            <a:r>
              <a:rPr lang="en-US" sz="1000" b="1" kern="0">
                <a:solidFill>
                  <a:srgbClr val="0E8C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r>
              <a:rPr lang="en-US" sz="1000" kern="0">
                <a:solidFill>
                  <a:srgbClr val="3A4A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TLS everywhere (mqtts 8883 · wss · HTTPS) · per-device credentials · least-privilege topics</a:t>
            </a:r>
          </a:p>
        </p:txBody>
      </p:sp>
      <p:sp>
        <p:nvSpPr>
          <p:cNvPr id="141" name="kit"/>
          <p:cNvSpPr/>
          <p:nvPr/>
        </p:nvSpPr>
        <p:spPr>
          <a:xfrm>
            <a:off x="6687619" y="6027085"/>
            <a:ext cx="5432241" cy="4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2"/>
              </a:lnSpc>
            </a:pPr>
            <a:endParaRPr lang="en-US" sz="1000" kern="0">
              <a:solidFill>
                <a:srgbClr val="3A4A48"/>
              </a:solidFill>
              <a:latin typeface="Inter"/>
              <a:ea typeface="Inter"/>
              <a:cs typeface="Inter" pitchFamily="34" charset="-120"/>
            </a:endParaRPr>
          </a:p>
        </p:txBody>
      </p:sp>
      <p:cxnSp>
        <p:nvCxnSpPr>
          <p:cNvPr id="2" name="o1">
            <a:extLst>
              <a:ext uri="{FF2B5EF4-FFF2-40B4-BE49-F238E27FC236}">
                <a16:creationId xmlns:a16="http://schemas.microsoft.com/office/drawing/2014/main" id="{5CEA43D7-EAA8-99D8-8680-A894CA6AAA86}"/>
              </a:ext>
            </a:extLst>
          </p:cNvPr>
          <p:cNvCxnSpPr>
            <a:cxnSpLocks/>
            <a:stCxn id="113" idx="3"/>
            <a:endCxn id="119" idx="1"/>
          </p:cNvCxnSpPr>
          <p:nvPr/>
        </p:nvCxnSpPr>
        <p:spPr>
          <a:xfrm>
            <a:off x="3118788" y="3355000"/>
            <a:ext cx="402800" cy="275000"/>
          </a:xfrm>
          <a:prstGeom prst="straightConnector1">
            <a:avLst/>
          </a:prstGeom>
          <a:ln w="22225" cap="rnd">
            <a:solidFill>
              <a:srgbClr val="0E8C7F"/>
            </a:solidFill>
            <a:prstDash val="solid"/>
            <a:headEnd type="none"/>
            <a:tailEnd type="triangle" w="med" len="med"/>
          </a:ln>
        </p:spPr>
      </p:cxnSp>
      <p:sp>
        <p:nvSpPr>
          <p:cNvPr id="8" name="lock">
            <a:extLst>
              <a:ext uri="{FF2B5EF4-FFF2-40B4-BE49-F238E27FC236}">
                <a16:creationId xmlns:a16="http://schemas.microsoft.com/office/drawing/2014/main" id="{D36F34A6-11E3-8A76-50B1-450ED505281D}"/>
              </a:ext>
            </a:extLst>
          </p:cNvPr>
          <p:cNvSpPr/>
          <p:nvPr/>
        </p:nvSpPr>
        <p:spPr>
          <a:xfrm>
            <a:off x="3209264" y="3297500"/>
            <a:ext cx="3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>
                <a:solidFill>
                  <a:srgbClr val="0E8C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🔒</a:t>
            </a:r>
          </a:p>
        </p:txBody>
      </p:sp>
      <p:cxnSp>
        <p:nvCxnSpPr>
          <p:cNvPr id="9" name="o1">
            <a:extLst>
              <a:ext uri="{FF2B5EF4-FFF2-40B4-BE49-F238E27FC236}">
                <a16:creationId xmlns:a16="http://schemas.microsoft.com/office/drawing/2014/main" id="{0F42BD08-EE97-E396-998E-00D11CC9A510}"/>
              </a:ext>
            </a:extLst>
          </p:cNvPr>
          <p:cNvCxnSpPr>
            <a:cxnSpLocks/>
          </p:cNvCxnSpPr>
          <p:nvPr/>
        </p:nvCxnSpPr>
        <p:spPr>
          <a:xfrm>
            <a:off x="3107388" y="3635000"/>
            <a:ext cx="402800" cy="275000"/>
          </a:xfrm>
          <a:prstGeom prst="straightConnector1">
            <a:avLst/>
          </a:prstGeom>
          <a:ln w="22225" cap="rnd">
            <a:solidFill>
              <a:srgbClr val="0E8C7F"/>
            </a:solidFill>
            <a:prstDash val="solid"/>
            <a:headEnd type="none"/>
            <a:tailEnd type="triangle" w="med" len="med"/>
          </a:ln>
        </p:spPr>
      </p:cxnSp>
      <p:sp>
        <p:nvSpPr>
          <p:cNvPr id="10" name="lock">
            <a:extLst>
              <a:ext uri="{FF2B5EF4-FFF2-40B4-BE49-F238E27FC236}">
                <a16:creationId xmlns:a16="http://schemas.microsoft.com/office/drawing/2014/main" id="{0A6718DD-E9B4-4C7C-CDD7-F59DAB21B150}"/>
              </a:ext>
            </a:extLst>
          </p:cNvPr>
          <p:cNvSpPr/>
          <p:nvPr/>
        </p:nvSpPr>
        <p:spPr>
          <a:xfrm>
            <a:off x="3150468" y="3631747"/>
            <a:ext cx="3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>
                <a:solidFill>
                  <a:srgbClr val="0E8C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🔒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1F4E79"/>
          </a:solidFill>
        </p:spPr>
        <p:txBody>
          <a:bodyPr wrap="square" lIns="0" tIns="0" rIns="0" bIns="0" rtlCol="0"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26720" y="134112"/>
            <a:ext cx="670560" cy="524256"/>
          </a:xfrm>
          <a:prstGeom prst="roundRect">
            <a:avLst>
              <a:gd name="adj" fmla="val 11628"/>
            </a:avLst>
          </a:prstGeom>
          <a:solidFill>
            <a:srgbClr val="00B0F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26720" y="134112"/>
            <a:ext cx="670560" cy="524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09</a:t>
            </a:r>
            <a:endParaRPr lang="en-US" sz="2133"/>
          </a:p>
        </p:txBody>
      </p:sp>
      <p:sp>
        <p:nvSpPr>
          <p:cNvPr id="5" name="Text 3"/>
          <p:cNvSpPr/>
          <p:nvPr/>
        </p:nvSpPr>
        <p:spPr>
          <a:xfrm>
            <a:off x="1280160" y="0"/>
            <a:ext cx="67056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2400" b="1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 —  INSIDE THE ESP32</a:t>
            </a:r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8534400" y="0"/>
            <a:ext cx="34137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 H  E     S  Y  S  T  E  M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487680" y="6522720"/>
            <a:ext cx="4876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>
                <a:solidFill>
                  <a:srgbClr val="7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EagleEye  ·  FYP Final Defence  ·  June 2026</a:t>
            </a:r>
            <a:endParaRPr lang="en-US" sz="1067"/>
          </a:p>
        </p:txBody>
      </p:sp>
      <p:sp>
        <p:nvSpPr>
          <p:cNvPr id="8" name="Text 6"/>
          <p:cNvSpPr/>
          <p:nvPr/>
        </p:nvSpPr>
        <p:spPr>
          <a:xfrm>
            <a:off x="10363200" y="6522720"/>
            <a:ext cx="14630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>
                <a:solidFill>
                  <a:srgbClr val="7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28</a:t>
            </a:r>
            <a:endParaRPr lang="en-US" sz="1067"/>
          </a:p>
        </p:txBody>
      </p:sp>
      <p:sp>
        <p:nvSpPr>
          <p:cNvPr id="9" name="Shape 7"/>
          <p:cNvSpPr/>
          <p:nvPr/>
        </p:nvSpPr>
        <p:spPr>
          <a:xfrm>
            <a:off x="426720" y="999744"/>
            <a:ext cx="11338560" cy="5388864"/>
          </a:xfrm>
          <a:prstGeom prst="roundRect">
            <a:avLst>
              <a:gd name="adj" fmla="val 2262"/>
            </a:avLst>
          </a:prstGeom>
          <a:solidFill>
            <a:srgbClr val="F0F4F8"/>
          </a:solidFill>
          <a:ln w="19050">
            <a:solidFill>
              <a:srgbClr val="3E6B89"/>
            </a:solidFill>
            <a:prstDash val="dash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5181600" y="841248"/>
            <a:ext cx="1828800" cy="316992"/>
          </a:xfrm>
          <a:prstGeom prst="roundRect">
            <a:avLst>
              <a:gd name="adj" fmla="val 19231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5181600" y="841248"/>
            <a:ext cx="18288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 CHIP</a:t>
            </a:r>
            <a:endParaRPr lang="en-US" sz="1267"/>
          </a:p>
        </p:txBody>
      </p:sp>
      <p:sp>
        <p:nvSpPr>
          <p:cNvPr id="12" name="Shape 10"/>
          <p:cNvSpPr/>
          <p:nvPr/>
        </p:nvSpPr>
        <p:spPr>
          <a:xfrm>
            <a:off x="670560" y="1292352"/>
            <a:ext cx="5059680" cy="2097024"/>
          </a:xfrm>
          <a:prstGeom prst="roundRect">
            <a:avLst>
              <a:gd name="adj" fmla="val 3488"/>
            </a:avLst>
          </a:prstGeom>
          <a:solidFill>
            <a:srgbClr val="F7FAFC"/>
          </a:solidFill>
          <a:ln w="19050">
            <a:solidFill>
              <a:srgbClr val="3E6B89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816864" y="1146048"/>
            <a:ext cx="1853184" cy="292608"/>
          </a:xfrm>
          <a:prstGeom prst="roundRect">
            <a:avLst>
              <a:gd name="adj" fmla="val 20833"/>
            </a:avLst>
          </a:prstGeom>
          <a:solidFill>
            <a:srgbClr val="34729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816864" y="1146048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 (4 MB)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853440" y="1536192"/>
            <a:ext cx="469392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08000"/>
              </a:lnSpc>
              <a:spcAft>
                <a:spcPts val="133"/>
              </a:spcAft>
            </a:pPr>
            <a:r>
              <a:rPr lang="en-US" sz="12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code</a:t>
            </a:r>
            <a:endParaRPr lang="en-US" sz="1200"/>
          </a:p>
          <a:p>
            <a:pPr algn="l">
              <a:lnSpc>
                <a:spcPct val="108000"/>
              </a:lnSpc>
              <a:spcAft>
                <a:spcPts val="133"/>
              </a:spcAft>
            </a:pPr>
            <a:r>
              <a:rPr lang="en-US" sz="1200">
                <a:solidFill>
                  <a:srgbClr val="1A2B3C"/>
                </a:solidFill>
                <a:latin typeface="Calibri"/>
                <a:ea typeface="Calibri"/>
                <a:cs typeface="Calibri"/>
              </a:rPr>
              <a:t>Model</a:t>
            </a:r>
            <a:endParaRPr lang="en-US" sz="1200">
              <a:latin typeface="Calibri"/>
              <a:ea typeface="Calibri"/>
              <a:cs typeface="Calibri"/>
            </a:endParaRPr>
          </a:p>
          <a:p>
            <a:pPr algn="l">
              <a:lnSpc>
                <a:spcPct val="108000"/>
              </a:lnSpc>
              <a:spcAft>
                <a:spcPts val="133"/>
              </a:spcAft>
            </a:pPr>
            <a:r>
              <a:rPr lang="en-US" sz="120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├  architecture</a:t>
            </a:r>
            <a:endParaRPr lang="en-US" sz="1200"/>
          </a:p>
          <a:p>
            <a:pPr algn="l">
              <a:lnSpc>
                <a:spcPct val="108000"/>
              </a:lnSpc>
              <a:spcAft>
                <a:spcPts val="133"/>
              </a:spcAft>
            </a:pPr>
            <a:r>
              <a:rPr lang="en-US" sz="120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└  weights</a:t>
            </a:r>
            <a:endParaRPr lang="en-US" sz="1200"/>
          </a:p>
          <a:p>
            <a:pPr algn="l">
              <a:lnSpc>
                <a:spcPct val="108000"/>
              </a:lnSpc>
              <a:spcAft>
                <a:spcPts val="133"/>
              </a:spcAft>
            </a:pPr>
            <a:r>
              <a:rPr lang="en-US" sz="12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ESP-NN library code</a:t>
            </a:r>
            <a:endParaRPr lang="en-US" sz="1200"/>
          </a:p>
          <a:p>
            <a:pPr algn="l">
              <a:lnSpc>
                <a:spcPct val="108000"/>
              </a:lnSpc>
              <a:spcAft>
                <a:spcPts val="133"/>
              </a:spcAft>
            </a:pPr>
            <a:r>
              <a:rPr lang="en-US" sz="120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└  optimized C for conv, dense, pool</a:t>
            </a:r>
            <a:endParaRPr lang="en-US" sz="1200"/>
          </a:p>
          <a:p>
            <a:pPr algn="l">
              <a:lnSpc>
                <a:spcPct val="108000"/>
              </a:lnSpc>
              <a:spcAft>
                <a:spcPts val="133"/>
              </a:spcAft>
            </a:pPr>
            <a:r>
              <a:rPr lang="en-US" sz="1200" i="1">
                <a:solidFill>
                  <a:srgbClr val="7A96A8"/>
                </a:solidFill>
                <a:latin typeface="Calibri"/>
                <a:ea typeface="Calibri"/>
                <a:cs typeface="Calibri"/>
              </a:rPr>
              <a:t>       (replaces generic </a:t>
            </a:r>
            <a:r>
              <a:rPr lang="en-US" sz="1200" i="1" err="1">
                <a:solidFill>
                  <a:srgbClr val="7A96A8"/>
                </a:solidFill>
                <a:latin typeface="Calibri"/>
                <a:ea typeface="Calibri"/>
                <a:cs typeface="Calibri"/>
              </a:rPr>
              <a:t>TFLite</a:t>
            </a:r>
            <a:r>
              <a:rPr lang="en-US" sz="1200" i="1">
                <a:solidFill>
                  <a:srgbClr val="7A96A8"/>
                </a:solidFill>
                <a:latin typeface="Calibri"/>
                <a:ea typeface="Calibri"/>
                <a:cs typeface="Calibri"/>
              </a:rPr>
              <a:t> math, 3× faster)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61760" y="1292352"/>
            <a:ext cx="5059680" cy="2657856"/>
          </a:xfrm>
          <a:prstGeom prst="roundRect">
            <a:avLst>
              <a:gd name="adj" fmla="val 2752"/>
            </a:avLst>
          </a:prstGeom>
          <a:solidFill>
            <a:srgbClr val="F7FAFC"/>
          </a:solidFill>
          <a:ln w="19050">
            <a:solidFill>
              <a:srgbClr val="3E6B89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6608064" y="1146048"/>
            <a:ext cx="3060192" cy="292608"/>
          </a:xfrm>
          <a:prstGeom prst="roundRect">
            <a:avLst>
              <a:gd name="adj" fmla="val 20833"/>
            </a:avLst>
          </a:prstGeom>
          <a:solidFill>
            <a:srgbClr val="34729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6608064" y="1146048"/>
            <a:ext cx="3060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SRAM  (~520 KB)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6644640" y="1536192"/>
            <a:ext cx="4693920" cy="2316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08000"/>
              </a:lnSpc>
              <a:spcAft>
                <a:spcPts val="133"/>
              </a:spcAft>
            </a:pPr>
            <a:r>
              <a:rPr lang="en-US" sz="1200" b="1">
                <a:solidFill>
                  <a:srgbClr val="1A2B3C"/>
                </a:solidFill>
                <a:latin typeface="Calibri"/>
                <a:ea typeface="Calibri"/>
                <a:cs typeface="Calibri"/>
              </a:rPr>
              <a:t>Tensor Arena  </a:t>
            </a:r>
            <a:endParaRPr lang="en-US" sz="1200">
              <a:latin typeface="Calibri"/>
              <a:ea typeface="Calibri"/>
              <a:cs typeface="Calibri"/>
            </a:endParaRPr>
          </a:p>
          <a:p>
            <a:pPr algn="l">
              <a:lnSpc>
                <a:spcPct val="108000"/>
              </a:lnSpc>
              <a:spcAft>
                <a:spcPts val="133"/>
              </a:spcAft>
            </a:pPr>
            <a:r>
              <a:rPr lang="en-US" sz="120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└  conv outputs live here</a:t>
            </a:r>
            <a:endParaRPr lang="en-US" sz="1200"/>
          </a:p>
          <a:p>
            <a:pPr algn="l">
              <a:lnSpc>
                <a:spcPct val="108000"/>
              </a:lnSpc>
              <a:spcAft>
                <a:spcPts val="133"/>
              </a:spcAft>
            </a:pPr>
            <a:r>
              <a:rPr lang="en-US" sz="120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└  reused every layer</a:t>
            </a:r>
            <a:endParaRPr lang="en-US" sz="1200"/>
          </a:p>
          <a:p>
            <a:pPr algn="l">
              <a:lnSpc>
                <a:spcPct val="108000"/>
              </a:lnSpc>
              <a:spcAft>
                <a:spcPts val="133"/>
              </a:spcAft>
            </a:pPr>
            <a:endParaRPr lang="en-US" sz="1200"/>
          </a:p>
          <a:p>
            <a:pPr algn="l">
              <a:lnSpc>
                <a:spcPct val="108000"/>
              </a:lnSpc>
              <a:spcAft>
                <a:spcPts val="133"/>
              </a:spcAft>
            </a:pPr>
            <a:r>
              <a:rPr lang="en-US" sz="1200">
                <a:solidFill>
                  <a:srgbClr val="1A2B3C"/>
                </a:solidFill>
                <a:latin typeface="Calibri"/>
                <a:ea typeface="Calibri"/>
                <a:cs typeface="Calibri"/>
              </a:rPr>
              <a:t>snapshot_buf</a:t>
            </a:r>
          </a:p>
          <a:p>
            <a:pPr algn="l">
              <a:lnSpc>
                <a:spcPct val="108000"/>
              </a:lnSpc>
              <a:spcAft>
                <a:spcPts val="133"/>
              </a:spcAft>
            </a:pPr>
            <a:r>
              <a:rPr lang="en-US" sz="120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└  96×96 RGB888 image</a:t>
            </a:r>
            <a:endParaRPr lang="en-US" sz="1200"/>
          </a:p>
          <a:p>
            <a:pPr algn="l">
              <a:lnSpc>
                <a:spcPct val="108000"/>
              </a:lnSpc>
              <a:spcAft>
                <a:spcPts val="133"/>
              </a:spcAft>
            </a:pPr>
            <a:endParaRPr lang="en-US" sz="1200"/>
          </a:p>
          <a:p>
            <a:pPr algn="l">
              <a:lnSpc>
                <a:spcPct val="108000"/>
              </a:lnSpc>
              <a:spcAft>
                <a:spcPts val="133"/>
              </a:spcAft>
            </a:pPr>
            <a:r>
              <a:rPr lang="en-US" sz="1200">
                <a:solidFill>
                  <a:srgbClr val="1A2B3C"/>
                </a:solidFill>
                <a:latin typeface="Calibri"/>
                <a:ea typeface="Calibri"/>
                <a:cs typeface="Calibri"/>
              </a:rPr>
              <a:t>TLS session </a:t>
            </a:r>
            <a:endParaRPr lang="en-US" sz="1200">
              <a:latin typeface="Calibri"/>
              <a:ea typeface="Calibri"/>
              <a:cs typeface="Calibri"/>
            </a:endParaRPr>
          </a:p>
          <a:p>
            <a:pPr algn="l">
              <a:lnSpc>
                <a:spcPct val="108000"/>
              </a:lnSpc>
              <a:spcAft>
                <a:spcPts val="133"/>
              </a:spcAft>
            </a:pPr>
            <a:r>
              <a:rPr lang="en-US" sz="120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└  MQTT encryption</a:t>
            </a:r>
            <a:endParaRPr lang="en-US" sz="1200"/>
          </a:p>
          <a:p>
            <a:pPr algn="l">
              <a:lnSpc>
                <a:spcPct val="108000"/>
              </a:lnSpc>
              <a:spcAft>
                <a:spcPts val="133"/>
              </a:spcAft>
            </a:pPr>
            <a:endParaRPr lang="en-US" sz="1200"/>
          </a:p>
          <a:p>
            <a:pPr algn="l">
              <a:lnSpc>
                <a:spcPct val="108000"/>
              </a:lnSpc>
              <a:spcAft>
                <a:spcPts val="133"/>
              </a:spcAft>
            </a:pPr>
            <a:r>
              <a:rPr lang="en-US" sz="1200" err="1">
                <a:solidFill>
                  <a:srgbClr val="1A2B3C"/>
                </a:solidFill>
                <a:latin typeface="Calibri"/>
                <a:ea typeface="Calibri"/>
                <a:cs typeface="Calibri"/>
              </a:rPr>
              <a:t>FreeRTOS</a:t>
            </a:r>
            <a:r>
              <a:rPr lang="en-US" sz="1200">
                <a:solidFill>
                  <a:srgbClr val="1A2B3C"/>
                </a:solidFill>
                <a:latin typeface="Calibri"/>
                <a:ea typeface="Calibri"/>
                <a:cs typeface="Calibri"/>
              </a:rPr>
              <a:t> + WiFi  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779008" y="2131161"/>
            <a:ext cx="633984" cy="0"/>
          </a:xfrm>
          <a:prstGeom prst="line">
            <a:avLst/>
          </a:prstGeom>
          <a:noFill/>
          <a:ln w="25400">
            <a:solidFill>
              <a:srgbClr val="34729B"/>
            </a:solidFill>
            <a:prstDash val="solid"/>
            <a:tailEnd type="triangle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5730240" y="1887321"/>
            <a:ext cx="73152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933" b="1" i="1">
                <a:solidFill>
                  <a:srgbClr val="3472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loaded</a:t>
            </a:r>
            <a:endParaRPr lang="en-US" sz="933"/>
          </a:p>
        </p:txBody>
      </p:sp>
      <p:sp>
        <p:nvSpPr>
          <p:cNvPr id="22" name="Shape 20"/>
          <p:cNvSpPr/>
          <p:nvPr/>
        </p:nvSpPr>
        <p:spPr>
          <a:xfrm>
            <a:off x="670560" y="3633216"/>
            <a:ext cx="5059680" cy="950976"/>
          </a:xfrm>
          <a:prstGeom prst="roundRect">
            <a:avLst>
              <a:gd name="adj" fmla="val 7692"/>
            </a:avLst>
          </a:prstGeom>
          <a:solidFill>
            <a:srgbClr val="F7FAFC"/>
          </a:solidFill>
          <a:ln w="19050">
            <a:solidFill>
              <a:srgbClr val="3E6B89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816864" y="3486912"/>
            <a:ext cx="1853184" cy="292608"/>
          </a:xfrm>
          <a:prstGeom prst="roundRect">
            <a:avLst>
              <a:gd name="adj" fmla="val 20833"/>
            </a:avLst>
          </a:prstGeom>
          <a:solidFill>
            <a:srgbClr val="34729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816864" y="3486912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PSRAM  (4 MB)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853440" y="3877056"/>
            <a:ext cx="46939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08000"/>
              </a:lnSpc>
              <a:spcAft>
                <a:spcPts val="133"/>
              </a:spcAft>
            </a:pPr>
            <a:r>
              <a:rPr lang="en-US" sz="12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buffer 1  (150 KB)</a:t>
            </a:r>
            <a:endParaRPr lang="en-US" sz="1200"/>
          </a:p>
          <a:p>
            <a:pPr algn="l">
              <a:lnSpc>
                <a:spcPct val="108000"/>
              </a:lnSpc>
              <a:spcAft>
                <a:spcPts val="133"/>
              </a:spcAft>
            </a:pPr>
            <a:r>
              <a:rPr lang="en-US" sz="12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buffer 2  (150 KB)</a:t>
            </a:r>
            <a:endParaRPr lang="en-US" sz="1200"/>
          </a:p>
        </p:txBody>
      </p:sp>
      <p:sp>
        <p:nvSpPr>
          <p:cNvPr id="26" name="Shape 24"/>
          <p:cNvSpPr/>
          <p:nvPr/>
        </p:nvSpPr>
        <p:spPr>
          <a:xfrm>
            <a:off x="6461760" y="4194048"/>
            <a:ext cx="5059680" cy="2097024"/>
          </a:xfrm>
          <a:prstGeom prst="roundRect">
            <a:avLst>
              <a:gd name="adj" fmla="val 3488"/>
            </a:avLst>
          </a:prstGeom>
          <a:solidFill>
            <a:srgbClr val="F7FAFC"/>
          </a:solidFill>
          <a:ln w="19050">
            <a:solidFill>
              <a:srgbClr val="3E6B89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7" name="Shape 25"/>
          <p:cNvSpPr/>
          <p:nvPr/>
        </p:nvSpPr>
        <p:spPr>
          <a:xfrm>
            <a:off x="6608064" y="4047744"/>
            <a:ext cx="755904" cy="292608"/>
          </a:xfrm>
          <a:prstGeom prst="roundRect">
            <a:avLst>
              <a:gd name="adj" fmla="val 20833"/>
            </a:avLst>
          </a:prstGeom>
          <a:solidFill>
            <a:srgbClr val="34729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6608064" y="4047744"/>
            <a:ext cx="755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200"/>
          </a:p>
        </p:txBody>
      </p:sp>
      <p:sp>
        <p:nvSpPr>
          <p:cNvPr id="29" name="Shape 27"/>
          <p:cNvSpPr/>
          <p:nvPr/>
        </p:nvSpPr>
        <p:spPr>
          <a:xfrm>
            <a:off x="6583680" y="4437888"/>
            <a:ext cx="4815840" cy="5486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0CDD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6705600" y="443788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 b="1">
                <a:solidFill>
                  <a:srgbClr val="3472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0: </a:t>
            </a:r>
            <a:r>
              <a:rPr lang="en-US" sz="12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stepper (330 Hz)  ·  WiFi driver</a:t>
            </a:r>
            <a:endParaRPr lang="en-US" sz="1200"/>
          </a:p>
        </p:txBody>
      </p:sp>
      <p:sp>
        <p:nvSpPr>
          <p:cNvPr id="31" name="Shape 29"/>
          <p:cNvSpPr/>
          <p:nvPr/>
        </p:nvSpPr>
        <p:spPr>
          <a:xfrm>
            <a:off x="6583680" y="5108448"/>
            <a:ext cx="4815840" cy="10972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B0CDD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6705600" y="5132832"/>
            <a:ext cx="4572000" cy="1048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1200" b="1">
                <a:solidFill>
                  <a:srgbClr val="3472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1: </a:t>
            </a:r>
            <a:r>
              <a:rPr lang="en-US" sz="12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→ resize →</a:t>
            </a:r>
            <a:endParaRPr lang="en-US" sz="1200"/>
          </a:p>
          <a:p>
            <a:pPr algn="l">
              <a:lnSpc>
                <a:spcPct val="115000"/>
              </a:lnSpc>
            </a:pPr>
            <a:r>
              <a:rPr lang="en-US" sz="12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normalize → conv</a:t>
            </a:r>
            <a:r>
              <a:rPr lang="en-US" sz="1000" b="1">
                <a:solidFill>
                  <a:srgbClr val="3472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(ESP-NN)</a:t>
            </a:r>
            <a:r>
              <a:rPr lang="en-US" sz="12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pool</a:t>
            </a:r>
            <a:r>
              <a:rPr lang="en-US" sz="1000" b="1">
                <a:solidFill>
                  <a:srgbClr val="3472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(ESP-NN)</a:t>
            </a:r>
            <a:r>
              <a:rPr lang="en-US" sz="12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</a:t>
            </a:r>
            <a:endParaRPr lang="en-US" sz="1200"/>
          </a:p>
          <a:p>
            <a:pPr algn="l">
              <a:lnSpc>
                <a:spcPct val="115000"/>
              </a:lnSpc>
            </a:pPr>
            <a:r>
              <a:rPr lang="en-US" sz="1200">
                <a:solidFill>
                  <a:srgbClr val="1A2B3C"/>
                </a:solidFill>
                <a:latin typeface="Calibri"/>
                <a:ea typeface="Calibri"/>
                <a:cs typeface="Calibri"/>
              </a:rPr>
              <a:t>  </a:t>
            </a:r>
            <a:r>
              <a:rPr lang="en-US" sz="1200" err="1">
                <a:solidFill>
                  <a:srgbClr val="1A2B3C"/>
                </a:solidFill>
                <a:latin typeface="Calibri"/>
                <a:ea typeface="Calibri"/>
                <a:cs typeface="Calibri"/>
              </a:rPr>
              <a:t>sepconv</a:t>
            </a:r>
            <a:r>
              <a:rPr lang="en-US" sz="1000" b="1">
                <a:solidFill>
                  <a:srgbClr val="34729B"/>
                </a:solidFill>
                <a:latin typeface="Calibri"/>
                <a:ea typeface="Calibri"/>
                <a:cs typeface="Calibri"/>
              </a:rPr>
              <a:t>(ESP-NN)</a:t>
            </a:r>
            <a:r>
              <a:rPr lang="en-US" sz="1200">
                <a:solidFill>
                  <a:srgbClr val="1A2B3C"/>
                </a:solidFill>
                <a:latin typeface="Calibri"/>
                <a:ea typeface="Calibri"/>
                <a:cs typeface="Calibri"/>
              </a:rPr>
              <a:t> → pool</a:t>
            </a:r>
            <a:r>
              <a:rPr lang="en-US" sz="1000" b="1">
                <a:solidFill>
                  <a:srgbClr val="34729B"/>
                </a:solidFill>
                <a:latin typeface="Calibri"/>
                <a:ea typeface="Calibri"/>
                <a:cs typeface="Calibri"/>
              </a:rPr>
              <a:t>(ESP-NN)</a:t>
            </a:r>
            <a:r>
              <a:rPr lang="en-US" sz="1200">
                <a:solidFill>
                  <a:srgbClr val="1A2B3C"/>
                </a:solidFill>
                <a:latin typeface="Calibri"/>
                <a:ea typeface="Calibri"/>
                <a:cs typeface="Calibri"/>
              </a:rPr>
              <a:t> →</a:t>
            </a:r>
            <a:endParaRPr lang="en-US" sz="1200">
              <a:latin typeface="Calibri"/>
              <a:ea typeface="Calibri"/>
              <a:cs typeface="Calibri"/>
            </a:endParaRPr>
          </a:p>
          <a:p>
            <a:pPr algn="l">
              <a:lnSpc>
                <a:spcPct val="115000"/>
              </a:lnSpc>
            </a:pPr>
            <a:r>
              <a:rPr lang="en-US" sz="1200">
                <a:solidFill>
                  <a:srgbClr val="1A2B3C"/>
                </a:solidFill>
                <a:latin typeface="Calibri"/>
                <a:ea typeface="Calibri"/>
                <a:cs typeface="Calibri"/>
              </a:rPr>
              <a:t>  </a:t>
            </a:r>
            <a:r>
              <a:rPr lang="en-US" sz="1200" err="1">
                <a:solidFill>
                  <a:srgbClr val="1A2B3C"/>
                </a:solidFill>
                <a:latin typeface="Calibri"/>
                <a:ea typeface="Calibri"/>
                <a:cs typeface="Calibri"/>
              </a:rPr>
              <a:t>sepconv</a:t>
            </a:r>
            <a:r>
              <a:rPr lang="en-US" sz="1000" b="1">
                <a:solidFill>
                  <a:srgbClr val="34729B"/>
                </a:solidFill>
                <a:latin typeface="Calibri"/>
                <a:ea typeface="Calibri"/>
                <a:cs typeface="Calibri"/>
              </a:rPr>
              <a:t>(ESP-NN)</a:t>
            </a:r>
            <a:r>
              <a:rPr lang="en-US" sz="1200">
                <a:solidFill>
                  <a:srgbClr val="1A2B3C"/>
                </a:solidFill>
                <a:latin typeface="Calibri"/>
                <a:ea typeface="Calibri"/>
                <a:cs typeface="Calibri"/>
              </a:rPr>
              <a:t> → pool → dense</a:t>
            </a:r>
            <a:r>
              <a:rPr lang="en-US" sz="1000" b="1">
                <a:solidFill>
                  <a:srgbClr val="34729B"/>
                </a:solidFill>
                <a:latin typeface="Calibri"/>
                <a:ea typeface="Calibri"/>
                <a:cs typeface="Calibri"/>
              </a:rPr>
              <a:t>(ESP-NN)</a:t>
            </a:r>
            <a:r>
              <a:rPr lang="en-US" sz="1200">
                <a:solidFill>
                  <a:srgbClr val="1A2B3C"/>
                </a:solidFill>
                <a:latin typeface="Calibri"/>
                <a:ea typeface="Calibri"/>
                <a:cs typeface="Calibri"/>
              </a:rPr>
              <a:t> → </a:t>
            </a:r>
            <a:r>
              <a:rPr lang="en-US" sz="1200" b="1">
                <a:solidFill>
                  <a:srgbClr val="2C3E50"/>
                </a:solidFill>
                <a:latin typeface="Calibri"/>
                <a:ea typeface="Calibri"/>
                <a:cs typeface="Calibri"/>
              </a:rPr>
              <a:t>decision</a:t>
            </a:r>
          </a:p>
          <a:p>
            <a:pPr algn="l">
              <a:lnSpc>
                <a:spcPct val="114999"/>
              </a:lnSpc>
            </a:pPr>
            <a:r>
              <a:rPr lang="en-US" sz="1200" b="1">
                <a:solidFill>
                  <a:srgbClr val="2C3E50"/>
                </a:solidFill>
                <a:latin typeface="Calibri"/>
                <a:ea typeface="Calibri"/>
                <a:cs typeface="Calibri"/>
              </a:rPr>
              <a:t>Other operations also happens here</a:t>
            </a:r>
          </a:p>
        </p:txBody>
      </p:sp>
      <p:sp>
        <p:nvSpPr>
          <p:cNvPr id="33" name="Shape 31"/>
          <p:cNvSpPr/>
          <p:nvPr/>
        </p:nvSpPr>
        <p:spPr>
          <a:xfrm>
            <a:off x="670560" y="4828032"/>
            <a:ext cx="5059680" cy="999744"/>
          </a:xfrm>
          <a:prstGeom prst="roundRect">
            <a:avLst>
              <a:gd name="adj" fmla="val 7317"/>
            </a:avLst>
          </a:prstGeom>
          <a:solidFill>
            <a:srgbClr val="F7FAFC"/>
          </a:solidFill>
          <a:ln w="19050">
            <a:solidFill>
              <a:srgbClr val="3E6B89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4" name="Shape 32"/>
          <p:cNvSpPr/>
          <p:nvPr/>
        </p:nvSpPr>
        <p:spPr>
          <a:xfrm>
            <a:off x="816864" y="4681728"/>
            <a:ext cx="1304544" cy="292608"/>
          </a:xfrm>
          <a:prstGeom prst="roundRect">
            <a:avLst>
              <a:gd name="adj" fmla="val 20833"/>
            </a:avLst>
          </a:prstGeom>
          <a:solidFill>
            <a:srgbClr val="34729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5" name="Text 33"/>
          <p:cNvSpPr/>
          <p:nvPr/>
        </p:nvSpPr>
        <p:spPr>
          <a:xfrm>
            <a:off x="816864" y="4681728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00"/>
          </a:p>
        </p:txBody>
      </p:sp>
      <p:sp>
        <p:nvSpPr>
          <p:cNvPr id="36" name="Text 34"/>
          <p:cNvSpPr/>
          <p:nvPr/>
        </p:nvSpPr>
        <p:spPr>
          <a:xfrm>
            <a:off x="853440" y="5071872"/>
            <a:ext cx="469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08000"/>
              </a:lnSpc>
              <a:spcAft>
                <a:spcPts val="133"/>
              </a:spcAft>
            </a:pPr>
            <a:r>
              <a:rPr lang="en-US" sz="12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LEDC PWM → servos</a:t>
            </a:r>
            <a:endParaRPr lang="en-US" sz="1200"/>
          </a:p>
          <a:p>
            <a:pPr algn="l">
              <a:lnSpc>
                <a:spcPct val="108000"/>
              </a:lnSpc>
              <a:spcAft>
                <a:spcPts val="133"/>
              </a:spcAft>
            </a:pPr>
            <a:r>
              <a:rPr lang="en-US" sz="12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 → camera</a:t>
            </a:r>
            <a:endParaRPr lang="en-US" sz="1200"/>
          </a:p>
          <a:p>
            <a:pPr algn="l">
              <a:lnSpc>
                <a:spcPct val="108000"/>
              </a:lnSpc>
              <a:spcAft>
                <a:spcPts val="133"/>
              </a:spcAft>
            </a:pPr>
            <a:r>
              <a:rPr lang="en-US" sz="12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→ WiFi antenna</a:t>
            </a:r>
            <a:endParaRPr lang="en-US" sz="120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1F4E79"/>
          </a:solidFill>
        </p:spPr>
        <p:txBody>
          <a:bodyPr wrap="square" lIns="0" tIns="0" rIns="0" bIns="0" rtlCol="0"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26720" y="134112"/>
            <a:ext cx="670560" cy="524256"/>
          </a:xfrm>
          <a:prstGeom prst="roundRect">
            <a:avLst>
              <a:gd name="adj" fmla="val 11628"/>
            </a:avLst>
          </a:prstGeom>
          <a:solidFill>
            <a:srgbClr val="00B0F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26720" y="134112"/>
            <a:ext cx="670560" cy="524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5" name="Text 3"/>
          <p:cNvSpPr/>
          <p:nvPr/>
        </p:nvSpPr>
        <p:spPr>
          <a:xfrm>
            <a:off x="1280160" y="0"/>
            <a:ext cx="67056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2400" b="1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 —  AI OPTIMIZATION</a:t>
            </a:r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8534400" y="0"/>
            <a:ext cx="34137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 H  E     S  Y  S  T  E  M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487680" y="6522720"/>
            <a:ext cx="4876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>
                <a:solidFill>
                  <a:srgbClr val="7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EagleEye  ·  FYP Final Defence  ·  June 2026</a:t>
            </a:r>
            <a:endParaRPr lang="en-US" sz="1067"/>
          </a:p>
        </p:txBody>
      </p:sp>
      <p:sp>
        <p:nvSpPr>
          <p:cNvPr id="8" name="Text 6"/>
          <p:cNvSpPr/>
          <p:nvPr/>
        </p:nvSpPr>
        <p:spPr>
          <a:xfrm>
            <a:off x="10363200" y="6522720"/>
            <a:ext cx="14630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>
                <a:solidFill>
                  <a:srgbClr val="7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28</a:t>
            </a:r>
            <a:endParaRPr lang="en-US" sz="1067"/>
          </a:p>
        </p:txBody>
      </p:sp>
      <p:sp>
        <p:nvSpPr>
          <p:cNvPr id="9" name="Text 7"/>
          <p:cNvSpPr/>
          <p:nvPr/>
        </p:nvSpPr>
        <p:spPr>
          <a:xfrm>
            <a:off x="609600" y="914400"/>
            <a:ext cx="10972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600" b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 of AI Optimization: How We Achieve 3× Faster Inference on ESP32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548640" y="1463040"/>
            <a:ext cx="3474720" cy="4876800"/>
          </a:xfrm>
          <a:prstGeom prst="roundRect">
            <a:avLst>
              <a:gd name="adj" fmla="val 2807"/>
            </a:avLst>
          </a:prstGeom>
          <a:solidFill>
            <a:srgbClr val="F7FAFC"/>
          </a:solidFill>
          <a:ln w="19050">
            <a:solidFill>
              <a:srgbClr val="3E6B89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694944" y="1267968"/>
            <a:ext cx="390144" cy="390144"/>
          </a:xfrm>
          <a:prstGeom prst="ellipse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694944" y="1267968"/>
            <a:ext cx="39014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33"/>
          </a:p>
        </p:txBody>
      </p:sp>
      <p:sp>
        <p:nvSpPr>
          <p:cNvPr id="13" name="Shape 11"/>
          <p:cNvSpPr/>
          <p:nvPr/>
        </p:nvSpPr>
        <p:spPr>
          <a:xfrm>
            <a:off x="1622584" y="1316736"/>
            <a:ext cx="1645920" cy="292608"/>
          </a:xfrm>
          <a:prstGeom prst="roundRect">
            <a:avLst>
              <a:gd name="adj" fmla="val 20833"/>
            </a:avLst>
          </a:prstGeom>
          <a:solidFill>
            <a:srgbClr val="34729B"/>
          </a:solidFill>
          <a:ln/>
        </p:spPr>
        <p:txBody>
          <a:bodyPr lIns="91440" tIns="45720" rIns="91440" bIns="45720" anchor="t"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622584" y="131673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ESP NN Kernels</a:t>
            </a:r>
          </a:p>
        </p:txBody>
      </p:sp>
      <p:sp>
        <p:nvSpPr>
          <p:cNvPr id="15" name="Text 13"/>
          <p:cNvSpPr/>
          <p:nvPr/>
        </p:nvSpPr>
        <p:spPr>
          <a:xfrm>
            <a:off x="694944" y="1682496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00" i="1">
                <a:solidFill>
                  <a:srgbClr val="7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Hardware-level Speed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694944" y="1975104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3472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067"/>
          </a:p>
        </p:txBody>
      </p:sp>
      <p:sp>
        <p:nvSpPr>
          <p:cNvPr id="17" name="Text 15"/>
          <p:cNvSpPr/>
          <p:nvPr/>
        </p:nvSpPr>
        <p:spPr>
          <a:xfrm>
            <a:off x="694944" y="2194560"/>
            <a:ext cx="318211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  <a:spcAft>
                <a:spcPts val="133"/>
              </a:spcAft>
            </a:pPr>
            <a:r>
              <a:rPr lang="en-US" sz="1100">
                <a:solidFill>
                  <a:srgbClr val="1A2B3C"/>
                </a:solidFill>
                <a:latin typeface="Calibri"/>
                <a:ea typeface="Calibri"/>
                <a:cs typeface="Calibri"/>
              </a:rPr>
              <a:t>Optimized math routines written by </a:t>
            </a:r>
            <a:r>
              <a:rPr lang="en-US" sz="1100" err="1">
                <a:solidFill>
                  <a:srgbClr val="1A2B3C"/>
                </a:solidFill>
                <a:latin typeface="Calibri"/>
                <a:ea typeface="Calibri"/>
                <a:cs typeface="Calibri"/>
              </a:rPr>
              <a:t>Espressif</a:t>
            </a:r>
            <a:r>
              <a:rPr lang="en-US" sz="1100">
                <a:solidFill>
                  <a:srgbClr val="1A2B3C"/>
                </a:solidFill>
                <a:latin typeface="Calibri"/>
                <a:ea typeface="Calibri"/>
                <a:cs typeface="Calibri"/>
              </a:rPr>
              <a:t> (ESP32 manufacturer) specifically for neural network inference.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94944" y="2865120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3472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HELPS</a:t>
            </a:r>
            <a:endParaRPr lang="en-US" sz="1067"/>
          </a:p>
        </p:txBody>
      </p:sp>
      <p:sp>
        <p:nvSpPr>
          <p:cNvPr id="19" name="Text 17"/>
          <p:cNvSpPr/>
          <p:nvPr/>
        </p:nvSpPr>
        <p:spPr>
          <a:xfrm>
            <a:off x="694944" y="3084576"/>
            <a:ext cx="3182112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  <a:spcAft>
                <a:spcPts val="133"/>
              </a:spcAft>
            </a:pPr>
            <a:r>
              <a:rPr lang="en-US" sz="1133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generic TFLite C code with hand-tuned assembly instructions designed for the ESP32 CPU architecture.</a:t>
            </a:r>
            <a:endParaRPr lang="en-US" sz="1133"/>
          </a:p>
          <a:p>
            <a:pPr algn="l">
              <a:lnSpc>
                <a:spcPct val="110000"/>
              </a:lnSpc>
              <a:spcAft>
                <a:spcPts val="133"/>
              </a:spcAft>
            </a:pPr>
            <a:endParaRPr lang="en-US" sz="1133"/>
          </a:p>
          <a:p>
            <a:pPr algn="l">
              <a:lnSpc>
                <a:spcPct val="110000"/>
              </a:lnSpc>
              <a:spcAft>
                <a:spcPts val="133"/>
              </a:spcAft>
            </a:pPr>
            <a:r>
              <a:rPr lang="en-US" sz="1067" b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Accelerates core operations:</a:t>
            </a:r>
            <a:endParaRPr lang="en-US" sz="1133"/>
          </a:p>
          <a:p>
            <a:pPr algn="l">
              <a:lnSpc>
                <a:spcPct val="110000"/>
              </a:lnSpc>
              <a:spcAft>
                <a:spcPts val="133"/>
              </a:spcAft>
            </a:pPr>
            <a:r>
              <a:rPr lang="en-US" sz="1133" b="1">
                <a:solidFill>
                  <a:srgbClr val="3472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conv · dense · pool · sepconv</a:t>
            </a:r>
            <a:endParaRPr lang="en-US" sz="1133"/>
          </a:p>
        </p:txBody>
      </p:sp>
      <p:sp>
        <p:nvSpPr>
          <p:cNvPr id="20" name="Shape 18"/>
          <p:cNvSpPr/>
          <p:nvPr/>
        </p:nvSpPr>
        <p:spPr>
          <a:xfrm>
            <a:off x="670560" y="5669280"/>
            <a:ext cx="3230880" cy="463296"/>
          </a:xfrm>
          <a:prstGeom prst="roundRect">
            <a:avLst>
              <a:gd name="adj" fmla="val 13158"/>
            </a:avLst>
          </a:prstGeom>
          <a:solidFill>
            <a:srgbClr val="EBF5FB"/>
          </a:solidFill>
          <a:ln w="12700">
            <a:solidFill>
              <a:srgbClr val="B0CDD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768096" y="5669280"/>
            <a:ext cx="3035808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3472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133" b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s → 0.8 s  </a:t>
            </a:r>
            <a:r>
              <a:rPr lang="en-US" sz="1133" b="1">
                <a:solidFill>
                  <a:srgbClr val="3472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(3× speedup)</a:t>
            </a:r>
            <a:endParaRPr lang="en-US" sz="1133"/>
          </a:p>
        </p:txBody>
      </p:sp>
      <p:sp>
        <p:nvSpPr>
          <p:cNvPr id="22" name="Shape 20"/>
          <p:cNvSpPr/>
          <p:nvPr/>
        </p:nvSpPr>
        <p:spPr>
          <a:xfrm>
            <a:off x="4328160" y="1463040"/>
            <a:ext cx="3474720" cy="4876800"/>
          </a:xfrm>
          <a:prstGeom prst="roundRect">
            <a:avLst>
              <a:gd name="adj" fmla="val 2807"/>
            </a:avLst>
          </a:prstGeom>
          <a:solidFill>
            <a:srgbClr val="F7FAFC"/>
          </a:solidFill>
          <a:ln w="19050">
            <a:solidFill>
              <a:srgbClr val="3E6B89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4474464" y="1267968"/>
            <a:ext cx="390144" cy="390144"/>
          </a:xfrm>
          <a:prstGeom prst="ellipse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4474464" y="1267968"/>
            <a:ext cx="39014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33"/>
          </a:p>
        </p:txBody>
      </p:sp>
      <p:sp>
        <p:nvSpPr>
          <p:cNvPr id="25" name="Shape 23"/>
          <p:cNvSpPr/>
          <p:nvPr/>
        </p:nvSpPr>
        <p:spPr>
          <a:xfrm>
            <a:off x="4937760" y="1316736"/>
            <a:ext cx="1920240" cy="292608"/>
          </a:xfrm>
          <a:prstGeom prst="roundRect">
            <a:avLst>
              <a:gd name="adj" fmla="val 20833"/>
            </a:avLst>
          </a:prstGeom>
          <a:solidFill>
            <a:srgbClr val="34729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4937760" y="131673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QUANTIZATION</a:t>
            </a:r>
            <a:endParaRPr lang="en-US" sz="1133"/>
          </a:p>
        </p:txBody>
      </p:sp>
      <p:sp>
        <p:nvSpPr>
          <p:cNvPr id="27" name="Text 25"/>
          <p:cNvSpPr/>
          <p:nvPr/>
        </p:nvSpPr>
        <p:spPr>
          <a:xfrm>
            <a:off x="4474464" y="1682496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00" i="1">
                <a:solidFill>
                  <a:srgbClr val="7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Math for Model &amp; Image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4474464" y="1975104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3472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067"/>
          </a:p>
        </p:txBody>
      </p:sp>
      <p:sp>
        <p:nvSpPr>
          <p:cNvPr id="29" name="Text 27"/>
          <p:cNvSpPr/>
          <p:nvPr/>
        </p:nvSpPr>
        <p:spPr>
          <a:xfrm>
            <a:off x="4474464" y="2194560"/>
            <a:ext cx="318211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  <a:spcAft>
                <a:spcPts val="133"/>
              </a:spcAft>
            </a:pPr>
            <a:r>
              <a:rPr lang="en-US" sz="1133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all numbers — weights, activations, and input pixels — from float32 to signed int8 (−128 to 127).</a:t>
            </a:r>
            <a:endParaRPr lang="en-US" sz="1133"/>
          </a:p>
        </p:txBody>
      </p:sp>
      <p:sp>
        <p:nvSpPr>
          <p:cNvPr id="30" name="Text 28"/>
          <p:cNvSpPr/>
          <p:nvPr/>
        </p:nvSpPr>
        <p:spPr>
          <a:xfrm>
            <a:off x="4474464" y="2865120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3472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QUANTIZATION PIPELINE</a:t>
            </a:r>
            <a:endParaRPr lang="en-US" sz="1067"/>
          </a:p>
        </p:txBody>
      </p:sp>
      <p:sp>
        <p:nvSpPr>
          <p:cNvPr id="31" name="Text 29"/>
          <p:cNvSpPr/>
          <p:nvPr/>
        </p:nvSpPr>
        <p:spPr>
          <a:xfrm>
            <a:off x="4474464" y="3084576"/>
            <a:ext cx="318211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  <a:spcAft>
                <a:spcPts val="133"/>
              </a:spcAft>
            </a:pPr>
            <a:r>
              <a:rPr lang="en-US" sz="1133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Camera captures raw RGB (0–255)</a:t>
            </a:r>
            <a:endParaRPr lang="en-US" sz="1133"/>
          </a:p>
          <a:p>
            <a:pPr algn="l">
              <a:lnSpc>
                <a:spcPct val="110000"/>
              </a:lnSpc>
              <a:spcAft>
                <a:spcPts val="133"/>
              </a:spcAft>
            </a:pPr>
            <a:r>
              <a:rPr lang="en-US" sz="1133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Normalize to floats (0.0–1.0)</a:t>
            </a:r>
            <a:endParaRPr lang="en-US" sz="1133"/>
          </a:p>
          <a:p>
            <a:pPr algn="l">
              <a:lnSpc>
                <a:spcPct val="110000"/>
              </a:lnSpc>
              <a:spcAft>
                <a:spcPts val="133"/>
              </a:spcAft>
            </a:pPr>
            <a:r>
              <a:rPr lang="en-US" sz="1133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Convert to int8 via Scale &amp; Zero-Point</a:t>
            </a:r>
            <a:endParaRPr lang="en-US" sz="1133"/>
          </a:p>
        </p:txBody>
      </p:sp>
      <p:sp>
        <p:nvSpPr>
          <p:cNvPr id="32" name="Text 30"/>
          <p:cNvSpPr/>
          <p:nvPr/>
        </p:nvSpPr>
        <p:spPr>
          <a:xfrm>
            <a:off x="4474464" y="3901440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3472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67"/>
          </a:p>
        </p:txBody>
      </p:sp>
      <p:sp>
        <p:nvSpPr>
          <p:cNvPr id="33" name="Text 31"/>
          <p:cNvSpPr/>
          <p:nvPr/>
        </p:nvSpPr>
        <p:spPr>
          <a:xfrm>
            <a:off x="4474464" y="4120896"/>
            <a:ext cx="318211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  <a:spcAft>
                <a:spcPts val="133"/>
              </a:spcAft>
            </a:pPr>
            <a:r>
              <a:rPr lang="en-US" sz="1133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has no float hardware — decimal math is very slow. Int8 runs natively in a single CPU cycle.</a:t>
            </a:r>
            <a:endParaRPr lang="en-US" sz="1133"/>
          </a:p>
          <a:p>
            <a:pPr algn="l">
              <a:lnSpc>
                <a:spcPct val="110000"/>
              </a:lnSpc>
              <a:spcAft>
                <a:spcPts val="133"/>
              </a:spcAft>
            </a:pPr>
            <a:endParaRPr lang="en-US" sz="1133"/>
          </a:p>
          <a:p>
            <a:pPr algn="l">
              <a:lnSpc>
                <a:spcPct val="110000"/>
              </a:lnSpc>
              <a:spcAft>
                <a:spcPts val="133"/>
              </a:spcAft>
            </a:pPr>
            <a:r>
              <a:rPr lang="en-US" sz="1133" b="1">
                <a:solidFill>
                  <a:srgbClr val="3472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shrinks 75%: 52 KB → 13 KB</a:t>
            </a:r>
            <a:endParaRPr lang="en-US" sz="1133"/>
          </a:p>
        </p:txBody>
      </p:sp>
      <p:sp>
        <p:nvSpPr>
          <p:cNvPr id="34" name="Shape 32"/>
          <p:cNvSpPr/>
          <p:nvPr/>
        </p:nvSpPr>
        <p:spPr>
          <a:xfrm>
            <a:off x="4450080" y="5669280"/>
            <a:ext cx="3230880" cy="463296"/>
          </a:xfrm>
          <a:prstGeom prst="roundRect">
            <a:avLst>
              <a:gd name="adj" fmla="val 13158"/>
            </a:avLst>
          </a:prstGeom>
          <a:solidFill>
            <a:srgbClr val="EBF5FB"/>
          </a:solidFill>
          <a:ln w="12700">
            <a:solidFill>
              <a:srgbClr val="B0CDD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5" name="Text 33"/>
          <p:cNvSpPr/>
          <p:nvPr/>
        </p:nvSpPr>
        <p:spPr>
          <a:xfrm>
            <a:off x="4547616" y="5669280"/>
            <a:ext cx="3035808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3472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133" b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integer math</a:t>
            </a:r>
            <a:r>
              <a:rPr lang="en-US" sz="1133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zero float bottlenecks</a:t>
            </a:r>
            <a:endParaRPr lang="en-US" sz="1133"/>
          </a:p>
        </p:txBody>
      </p:sp>
      <p:sp>
        <p:nvSpPr>
          <p:cNvPr id="36" name="Shape 34"/>
          <p:cNvSpPr/>
          <p:nvPr/>
        </p:nvSpPr>
        <p:spPr>
          <a:xfrm>
            <a:off x="8107680" y="1463040"/>
            <a:ext cx="3474720" cy="4876800"/>
          </a:xfrm>
          <a:prstGeom prst="roundRect">
            <a:avLst>
              <a:gd name="adj" fmla="val 2807"/>
            </a:avLst>
          </a:prstGeom>
          <a:solidFill>
            <a:srgbClr val="F7FAFC"/>
          </a:solidFill>
          <a:ln w="19050">
            <a:solidFill>
              <a:srgbClr val="3E6B89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7" name="Shape 35"/>
          <p:cNvSpPr/>
          <p:nvPr/>
        </p:nvSpPr>
        <p:spPr>
          <a:xfrm>
            <a:off x="8253984" y="1267968"/>
            <a:ext cx="390144" cy="390144"/>
          </a:xfrm>
          <a:prstGeom prst="ellipse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8" name="Text 36"/>
          <p:cNvSpPr/>
          <p:nvPr/>
        </p:nvSpPr>
        <p:spPr>
          <a:xfrm>
            <a:off x="8253984" y="1267968"/>
            <a:ext cx="39014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33"/>
          </a:p>
        </p:txBody>
      </p:sp>
      <p:sp>
        <p:nvSpPr>
          <p:cNvPr id="39" name="Shape 37"/>
          <p:cNvSpPr/>
          <p:nvPr/>
        </p:nvSpPr>
        <p:spPr>
          <a:xfrm>
            <a:off x="8717280" y="1316736"/>
            <a:ext cx="2103120" cy="292608"/>
          </a:xfrm>
          <a:prstGeom prst="roundRect">
            <a:avLst>
              <a:gd name="adj" fmla="val 20833"/>
            </a:avLst>
          </a:prstGeom>
          <a:solidFill>
            <a:srgbClr val="34729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0" name="Text 38"/>
          <p:cNvSpPr/>
          <p:nvPr/>
        </p:nvSpPr>
        <p:spPr>
          <a:xfrm>
            <a:off x="8717280" y="131673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 SEPARABLE</a:t>
            </a:r>
            <a:endParaRPr lang="en-US" sz="1133"/>
          </a:p>
        </p:txBody>
      </p:sp>
      <p:sp>
        <p:nvSpPr>
          <p:cNvPr id="41" name="Text 39"/>
          <p:cNvSpPr/>
          <p:nvPr/>
        </p:nvSpPr>
        <p:spPr>
          <a:xfrm>
            <a:off x="8253984" y="1682496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00" i="1">
                <a:solidFill>
                  <a:srgbClr val="7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Math Reduction</a:t>
            </a:r>
            <a:endParaRPr lang="en-US" sz="1000"/>
          </a:p>
        </p:txBody>
      </p:sp>
      <p:sp>
        <p:nvSpPr>
          <p:cNvPr id="42" name="Text 40"/>
          <p:cNvSpPr/>
          <p:nvPr/>
        </p:nvSpPr>
        <p:spPr>
          <a:xfrm>
            <a:off x="8253984" y="1975104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3472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067"/>
          </a:p>
        </p:txBody>
      </p:sp>
      <p:sp>
        <p:nvSpPr>
          <p:cNvPr id="43" name="Text 41"/>
          <p:cNvSpPr/>
          <p:nvPr/>
        </p:nvSpPr>
        <p:spPr>
          <a:xfrm>
            <a:off x="8253984" y="2194560"/>
            <a:ext cx="318211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  <a:spcAft>
                <a:spcPts val="133"/>
              </a:spcAft>
            </a:pPr>
            <a:r>
              <a:rPr lang="en-US" sz="1133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standard 2D convolutions into two simpler, sequential steps:</a:t>
            </a:r>
            <a:endParaRPr lang="en-US" sz="1133"/>
          </a:p>
          <a:p>
            <a:pPr algn="l">
              <a:lnSpc>
                <a:spcPct val="110000"/>
              </a:lnSpc>
              <a:spcAft>
                <a:spcPts val="133"/>
              </a:spcAft>
            </a:pPr>
            <a:endParaRPr lang="en-US" sz="1133"/>
          </a:p>
          <a:p>
            <a:pPr algn="l">
              <a:lnSpc>
                <a:spcPct val="110000"/>
              </a:lnSpc>
              <a:spcAft>
                <a:spcPts val="133"/>
              </a:spcAft>
            </a:pPr>
            <a:r>
              <a:rPr lang="en-US" sz="1133" b="1">
                <a:solidFill>
                  <a:srgbClr val="3472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Depthwise  →  Pointwise (1×1)</a:t>
            </a:r>
            <a:endParaRPr lang="en-US" sz="1133"/>
          </a:p>
        </p:txBody>
      </p:sp>
      <p:sp>
        <p:nvSpPr>
          <p:cNvPr id="44" name="Text 42"/>
          <p:cNvSpPr/>
          <p:nvPr/>
        </p:nvSpPr>
        <p:spPr>
          <a:xfrm>
            <a:off x="8253984" y="3108960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3472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HELPS</a:t>
            </a:r>
            <a:endParaRPr lang="en-US" sz="1067"/>
          </a:p>
        </p:txBody>
      </p:sp>
      <p:sp>
        <p:nvSpPr>
          <p:cNvPr id="45" name="Text 43"/>
          <p:cNvSpPr/>
          <p:nvPr/>
        </p:nvSpPr>
        <p:spPr>
          <a:xfrm>
            <a:off x="8253984" y="3328416"/>
            <a:ext cx="3182112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  <a:spcAft>
                <a:spcPts val="133"/>
              </a:spcAft>
            </a:pPr>
            <a:r>
              <a:rPr lang="en-US" sz="1133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Depthwise: filters spatial features independently per channel.</a:t>
            </a:r>
            <a:endParaRPr lang="en-US" sz="1133"/>
          </a:p>
          <a:p>
            <a:pPr algn="l">
              <a:lnSpc>
                <a:spcPct val="110000"/>
              </a:lnSpc>
              <a:spcAft>
                <a:spcPts val="133"/>
              </a:spcAft>
            </a:pPr>
            <a:endParaRPr lang="en-US" sz="1133"/>
          </a:p>
          <a:p>
            <a:pPr algn="l">
              <a:lnSpc>
                <a:spcPct val="110000"/>
              </a:lnSpc>
              <a:spcAft>
                <a:spcPts val="133"/>
              </a:spcAft>
            </a:pPr>
            <a:r>
              <a:rPr lang="en-US" sz="1133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Pointwise: merges channels using a 1×1 convolution filter.</a:t>
            </a:r>
            <a:endParaRPr lang="en-US" sz="1133"/>
          </a:p>
          <a:p>
            <a:pPr algn="l">
              <a:lnSpc>
                <a:spcPct val="110000"/>
              </a:lnSpc>
              <a:spcAft>
                <a:spcPts val="133"/>
              </a:spcAft>
            </a:pPr>
            <a:endParaRPr lang="en-US" sz="1133"/>
          </a:p>
          <a:p>
            <a:pPr algn="l">
              <a:lnSpc>
                <a:spcPct val="110000"/>
              </a:lnSpc>
              <a:spcAft>
                <a:spcPts val="133"/>
              </a:spcAft>
            </a:pPr>
            <a:r>
              <a:rPr lang="en-US" sz="1133" i="1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Massively fewer multiply-accumulate operations vs standard conv.</a:t>
            </a:r>
            <a:endParaRPr lang="en-US" sz="1133"/>
          </a:p>
        </p:txBody>
      </p:sp>
      <p:sp>
        <p:nvSpPr>
          <p:cNvPr id="46" name="Shape 44"/>
          <p:cNvSpPr/>
          <p:nvPr/>
        </p:nvSpPr>
        <p:spPr>
          <a:xfrm>
            <a:off x="8229600" y="5669280"/>
            <a:ext cx="3230880" cy="463296"/>
          </a:xfrm>
          <a:prstGeom prst="roundRect">
            <a:avLst>
              <a:gd name="adj" fmla="val 13158"/>
            </a:avLst>
          </a:prstGeom>
          <a:solidFill>
            <a:srgbClr val="EBF5FB"/>
          </a:solidFill>
          <a:ln w="12700">
            <a:solidFill>
              <a:srgbClr val="B0CDD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7" name="Text 45"/>
          <p:cNvSpPr/>
          <p:nvPr/>
        </p:nvSpPr>
        <p:spPr>
          <a:xfrm>
            <a:off x="8327136" y="5669280"/>
            <a:ext cx="3035808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3472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133" b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~9× fewer calculations</a:t>
            </a:r>
            <a:r>
              <a:rPr lang="en-US" sz="1133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minimal accuracy loss</a:t>
            </a:r>
            <a:endParaRPr lang="en-US" sz="1133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88825" cy="6858000"/>
          </a:xfrm>
          <a:custGeom>
            <a:avLst/>
            <a:gdLst/>
            <a:ahLst/>
            <a:cxnLst/>
            <a:rect l="l" t="t" r="r" b="b"/>
            <a:pathLst>
              <a:path w="12188825" h="6858000">
                <a:moveTo>
                  <a:pt x="12188825" y="0"/>
                </a:moveTo>
                <a:lnTo>
                  <a:pt x="0" y="0"/>
                </a:lnTo>
                <a:lnTo>
                  <a:pt x="0" y="6858000"/>
                </a:lnTo>
                <a:lnTo>
                  <a:pt x="12188825" y="6858000"/>
                </a:lnTo>
                <a:lnTo>
                  <a:pt x="12188825" y="0"/>
                </a:lnTo>
                <a:close/>
              </a:path>
            </a:pathLst>
          </a:custGeom>
          <a:solidFill>
            <a:srgbClr val="1F4E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11793" y="2653030"/>
            <a:ext cx="3255645" cy="30753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0" b="1" spc="-25">
                <a:solidFill>
                  <a:srgbClr val="16395A"/>
                </a:solidFill>
                <a:latin typeface="Tahoma"/>
                <a:cs typeface="Tahoma"/>
              </a:rPr>
              <a:t>03</a:t>
            </a:r>
            <a:endParaRPr sz="20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50032" y="2187067"/>
            <a:ext cx="69767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84555" algn="l"/>
                <a:tab pos="1925955" algn="l"/>
                <a:tab pos="2178685" algn="l"/>
                <a:tab pos="3063240" algn="l"/>
                <a:tab pos="4809490" algn="l"/>
              </a:tabLst>
            </a:pP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P</a:t>
            </a:r>
            <a:r>
              <a:rPr sz="1600" b="1" spc="22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A</a:t>
            </a:r>
            <a:r>
              <a:rPr sz="1600" b="1" spc="22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R</a:t>
            </a:r>
            <a:r>
              <a:rPr sz="1600" b="1" spc="22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 spc="-50">
                <a:solidFill>
                  <a:srgbClr val="2095F3"/>
                </a:solidFill>
                <a:latin typeface="Calibri"/>
                <a:cs typeface="Calibri"/>
              </a:rPr>
              <a:t>T</a:t>
            </a: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	T</a:t>
            </a:r>
            <a:r>
              <a:rPr sz="1600" b="1" spc="229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H</a:t>
            </a:r>
            <a:r>
              <a:rPr sz="1600" b="1" spc="229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R</a:t>
            </a:r>
            <a:r>
              <a:rPr sz="1600" b="1" spc="229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E</a:t>
            </a:r>
            <a:r>
              <a:rPr sz="1600" b="1" spc="229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 spc="-50">
                <a:solidFill>
                  <a:srgbClr val="2095F3"/>
                </a:solidFill>
                <a:latin typeface="Calibri"/>
                <a:cs typeface="Calibri"/>
              </a:rPr>
              <a:t>E</a:t>
            </a: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	</a:t>
            </a:r>
            <a:r>
              <a:rPr sz="1600" b="1" spc="-50">
                <a:solidFill>
                  <a:srgbClr val="2095F3"/>
                </a:solidFill>
                <a:latin typeface="Calibri"/>
                <a:cs typeface="Calibri"/>
              </a:rPr>
              <a:t>·</a:t>
            </a: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	C</a:t>
            </a:r>
            <a:r>
              <a:rPr sz="1600" b="1" spc="21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O</a:t>
            </a:r>
            <a:r>
              <a:rPr sz="1600" b="1" spc="22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R</a:t>
            </a:r>
            <a:r>
              <a:rPr sz="1600" b="1" spc="22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 spc="-50">
                <a:solidFill>
                  <a:srgbClr val="2095F3"/>
                </a:solidFill>
                <a:latin typeface="Calibri"/>
                <a:cs typeface="Calibri"/>
              </a:rPr>
              <a:t>E</a:t>
            </a: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	T</a:t>
            </a:r>
            <a:r>
              <a:rPr sz="1600" b="1" spc="229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E</a:t>
            </a:r>
            <a:r>
              <a:rPr sz="1600" b="1" spc="229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C</a:t>
            </a:r>
            <a:r>
              <a:rPr sz="1600" b="1" spc="220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H</a:t>
            </a:r>
            <a:r>
              <a:rPr sz="1600" b="1" spc="229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N</a:t>
            </a:r>
            <a:r>
              <a:rPr sz="1600" b="1" spc="23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I</a:t>
            </a:r>
            <a:r>
              <a:rPr sz="1600" b="1" spc="220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C</a:t>
            </a:r>
            <a:r>
              <a:rPr sz="1600" b="1" spc="220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A</a:t>
            </a:r>
            <a:r>
              <a:rPr sz="1600" b="1" spc="229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 spc="-50">
                <a:solidFill>
                  <a:srgbClr val="2095F3"/>
                </a:solidFill>
                <a:latin typeface="Calibri"/>
                <a:cs typeface="Calibri"/>
              </a:rPr>
              <a:t>L</a:t>
            </a: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	C</a:t>
            </a:r>
            <a:r>
              <a:rPr sz="1600" b="1" spc="21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O</a:t>
            </a:r>
            <a:r>
              <a:rPr sz="1600" b="1" spc="229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N</a:t>
            </a:r>
            <a:r>
              <a:rPr sz="1600" b="1" spc="23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T</a:t>
            </a:r>
            <a:r>
              <a:rPr sz="1600" b="1" spc="229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R</a:t>
            </a:r>
            <a:r>
              <a:rPr sz="1600" b="1" spc="229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I</a:t>
            </a:r>
            <a:r>
              <a:rPr sz="1600" b="1" spc="220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B</a:t>
            </a:r>
            <a:r>
              <a:rPr sz="1600" b="1" spc="23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U</a:t>
            </a:r>
            <a:r>
              <a:rPr sz="1600" b="1" spc="229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T</a:t>
            </a:r>
            <a:r>
              <a:rPr sz="1600" b="1" spc="229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I</a:t>
            </a:r>
            <a:r>
              <a:rPr sz="1600" b="1" spc="220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O</a:t>
            </a:r>
            <a:r>
              <a:rPr sz="1600" b="1" spc="229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 spc="-50">
                <a:solidFill>
                  <a:srgbClr val="2095F3"/>
                </a:solidFill>
                <a:latin typeface="Calibri"/>
                <a:cs typeface="Calibri"/>
              </a:rPr>
              <a:t>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313682" y="2639390"/>
            <a:ext cx="353377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14"/>
              <a:t>AI</a:t>
            </a:r>
            <a:r>
              <a:rPr sz="6000" spc="-325"/>
              <a:t> </a:t>
            </a:r>
            <a:r>
              <a:rPr sz="6000" spc="140"/>
              <a:t>Vision</a:t>
            </a:r>
            <a:endParaRPr sz="6000"/>
          </a:p>
        </p:txBody>
      </p:sp>
      <p:sp>
        <p:nvSpPr>
          <p:cNvPr id="6" name="object 6"/>
          <p:cNvSpPr/>
          <p:nvPr/>
        </p:nvSpPr>
        <p:spPr>
          <a:xfrm>
            <a:off x="5454396" y="3977640"/>
            <a:ext cx="1280160" cy="55244"/>
          </a:xfrm>
          <a:custGeom>
            <a:avLst/>
            <a:gdLst/>
            <a:ahLst/>
            <a:cxnLst/>
            <a:rect l="l" t="t" r="r" b="b"/>
            <a:pathLst>
              <a:path w="1280159" h="55245">
                <a:moveTo>
                  <a:pt x="1280159" y="0"/>
                </a:moveTo>
                <a:lnTo>
                  <a:pt x="0" y="0"/>
                </a:lnTo>
                <a:lnTo>
                  <a:pt x="0" y="54863"/>
                </a:lnTo>
                <a:lnTo>
                  <a:pt x="1280159" y="54863"/>
                </a:lnTo>
                <a:lnTo>
                  <a:pt x="1280159" y="0"/>
                </a:lnTo>
                <a:close/>
              </a:path>
            </a:pathLst>
          </a:custGeom>
          <a:solidFill>
            <a:srgbClr val="2095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232405" y="4234053"/>
            <a:ext cx="76968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17</a:t>
            </a:r>
            <a:r>
              <a:rPr sz="1800" spc="-3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engineered</a:t>
            </a:r>
            <a:r>
              <a:rPr sz="1800" spc="-10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variants,</a:t>
            </a:r>
            <a:r>
              <a:rPr sz="1800" spc="-3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five</a:t>
            </a:r>
            <a:r>
              <a:rPr sz="1800" spc="-30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phases,</a:t>
            </a:r>
            <a:r>
              <a:rPr sz="1800" spc="-3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one</a:t>
            </a:r>
            <a:r>
              <a:rPr sz="1800" spc="-20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constraint:</a:t>
            </a:r>
            <a:r>
              <a:rPr sz="1800" spc="-30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it</a:t>
            </a:r>
            <a:r>
              <a:rPr sz="1800" spc="-2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must</a:t>
            </a:r>
            <a:r>
              <a:rPr sz="1800" spc="-3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run</a:t>
            </a:r>
            <a:r>
              <a:rPr sz="1800" spc="-2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on</a:t>
            </a:r>
            <a:r>
              <a:rPr sz="1800" spc="-3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the</a:t>
            </a:r>
            <a:r>
              <a:rPr sz="1800" spc="-1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BBD3EB"/>
                </a:solidFill>
                <a:latin typeface="Calibri"/>
                <a:cs typeface="Calibri"/>
              </a:rPr>
              <a:t>ESP32-</a:t>
            </a:r>
            <a:r>
              <a:rPr sz="1800" spc="-25">
                <a:solidFill>
                  <a:srgbClr val="BBD3EB"/>
                </a:solidFill>
                <a:latin typeface="Calibri"/>
                <a:cs typeface="Calibri"/>
              </a:rPr>
              <a:t>CAM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12663" y="4499229"/>
            <a:ext cx="536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BBD3EB"/>
                </a:solidFill>
                <a:latin typeface="Calibri"/>
                <a:cs typeface="Calibri"/>
              </a:rPr>
              <a:t>itself.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dr"/>
          <p:cNvSpPr/>
          <p:nvPr/>
        </p:nvSpPr>
        <p:spPr>
          <a:xfrm>
            <a:off x="1588" y="0"/>
            <a:ext cx="12188952" cy="84124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1" name="badge"/>
          <p:cNvSpPr/>
          <p:nvPr/>
        </p:nvSpPr>
        <p:spPr>
          <a:xfrm>
            <a:off x="458788" y="192024"/>
            <a:ext cx="603504" cy="457200"/>
          </a:xfrm>
          <a:prstGeom prst="roundRect">
            <a:avLst>
              <a:gd name="adj" fmla="val 16000"/>
            </a:avLst>
          </a:prstGeom>
          <a:solidFill>
            <a:srgbClr val="2196F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2" name="bnum"/>
          <p:cNvSpPr/>
          <p:nvPr/>
        </p:nvSpPr>
        <p:spPr>
          <a:xfrm>
            <a:off x="458788" y="192024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11</a:t>
            </a:r>
            <a:endParaRPr lang="en-US" sz="2000" b="1">
              <a:solidFill>
                <a:srgbClr val="FFFFFF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</p:txBody>
      </p:sp>
      <p:sp>
        <p:nvSpPr>
          <p:cNvPr id="103" name="title"/>
          <p:cNvSpPr/>
          <p:nvPr/>
        </p:nvSpPr>
        <p:spPr>
          <a:xfrm>
            <a:off x="1236028" y="164592"/>
            <a:ext cx="9000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2000" b="1" spc="6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VISION — FOUR APPROACHES, ONE WINNER</a:t>
            </a:r>
          </a:p>
        </p:txBody>
      </p:sp>
      <p:sp>
        <p:nvSpPr>
          <p:cNvPr id="104" name="tag"/>
          <p:cNvSpPr/>
          <p:nvPr/>
        </p:nvSpPr>
        <p:spPr>
          <a:xfrm>
            <a:off x="9401588" y="292608"/>
            <a:ext cx="248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50" b="1" spc="180">
                <a:solidFill>
                  <a:srgbClr val="BCD4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VISION</a:t>
            </a:r>
          </a:p>
        </p:txBody>
      </p:sp>
      <p:sp>
        <p:nvSpPr>
          <p:cNvPr id="105" name="frame"/>
          <p:cNvSpPr/>
          <p:nvPr/>
        </p:nvSpPr>
        <p:spPr>
          <a:xfrm>
            <a:off x="458788" y="920000"/>
            <a:ext cx="11274552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4000"/>
              </a:lnSpc>
            </a:pPr>
            <a:r>
              <a:rPr lang="en-US" sz="115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tested four model families against three hard constraints on the ESP32-CAM — </a:t>
            </a:r>
            <a:r>
              <a:rPr lang="en-US" sz="1150" b="1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accuracy, latency &amp; from-scratch</a:t>
            </a:r>
            <a:r>
              <a:rPr lang="en-US" sz="115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Only the last cleared all three.</a:t>
            </a:r>
          </a:p>
        </p:txBody>
      </p:sp>
      <p:sp>
        <p:nvSpPr>
          <p:cNvPr id="106" name="critband"/>
          <p:cNvSpPr/>
          <p:nvPr/>
        </p:nvSpPr>
        <p:spPr>
          <a:xfrm>
            <a:off x="3508788" y="1380000"/>
            <a:ext cx="6160000" cy="470000"/>
          </a:xfrm>
          <a:prstGeom prst="roundRect">
            <a:avLst>
              <a:gd name="adj" fmla="val 1200"/>
            </a:avLst>
          </a:prstGeom>
          <a:solidFill>
            <a:srgbClr val="EAF4F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7" name="hd"/>
          <p:cNvSpPr/>
          <p:nvPr/>
        </p:nvSpPr>
        <p:spPr>
          <a:xfrm>
            <a:off x="618788" y="1380000"/>
            <a:ext cx="289000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20" b="1" spc="60">
                <a:solidFill>
                  <a:srgbClr val="1F4E7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APPROACH</a:t>
            </a:r>
          </a:p>
        </p:txBody>
      </p:sp>
      <p:sp>
        <p:nvSpPr>
          <p:cNvPr id="108" name="hd"/>
          <p:cNvSpPr/>
          <p:nvPr/>
        </p:nvSpPr>
        <p:spPr>
          <a:xfrm>
            <a:off x="3508788" y="1380000"/>
            <a:ext cx="212000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20" b="1" spc="60">
                <a:solidFill>
                  <a:srgbClr val="1F4E7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ACCURACY</a:t>
            </a:r>
          </a:p>
        </p:txBody>
      </p:sp>
      <p:sp>
        <p:nvSpPr>
          <p:cNvPr id="109" name="hd"/>
          <p:cNvSpPr/>
          <p:nvPr/>
        </p:nvSpPr>
        <p:spPr>
          <a:xfrm>
            <a:off x="5628788" y="1380000"/>
            <a:ext cx="202000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20" b="1" spc="60">
                <a:solidFill>
                  <a:srgbClr val="1F4E7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LATENCY</a:t>
            </a:r>
          </a:p>
        </p:txBody>
      </p:sp>
      <p:sp>
        <p:nvSpPr>
          <p:cNvPr id="110" name="hd"/>
          <p:cNvSpPr/>
          <p:nvPr/>
        </p:nvSpPr>
        <p:spPr>
          <a:xfrm>
            <a:off x="7648788" y="1380000"/>
            <a:ext cx="202000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20" b="1" spc="60">
                <a:solidFill>
                  <a:srgbClr val="1F4E7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FROM-SCRATCH</a:t>
            </a:r>
          </a:p>
        </p:txBody>
      </p:sp>
      <p:sp>
        <p:nvSpPr>
          <p:cNvPr id="111" name="hd"/>
          <p:cNvSpPr/>
          <p:nvPr/>
        </p:nvSpPr>
        <p:spPr>
          <a:xfrm>
            <a:off x="9828788" y="1380000"/>
            <a:ext cx="1904552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20" b="1" spc="60">
                <a:solidFill>
                  <a:srgbClr val="1F4E7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VERDICT</a:t>
            </a:r>
          </a:p>
        </p:txBody>
      </p:sp>
      <p:sp>
        <p:nvSpPr>
          <p:cNvPr id="112" name="dot"/>
          <p:cNvSpPr/>
          <p:nvPr/>
        </p:nvSpPr>
        <p:spPr>
          <a:xfrm>
            <a:off x="608788" y="2160000"/>
            <a:ext cx="230000" cy="230000"/>
          </a:xfrm>
          <a:prstGeom prst="ellipse">
            <a:avLst/>
          </a:prstGeom>
          <a:solidFill>
            <a:srgbClr val="D7382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3" name="ap"/>
          <p:cNvSpPr/>
          <p:nvPr/>
        </p:nvSpPr>
        <p:spPr>
          <a:xfrm>
            <a:off x="928788" y="1880000"/>
            <a:ext cx="2490000" cy="7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2000"/>
              </a:lnSpc>
            </a:pPr>
            <a:r>
              <a:rPr lang="en-US" sz="1180" b="1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Simple CNN</a:t>
            </a:r>
          </a:p>
          <a:p>
            <a:pPr algn="l">
              <a:lnSpc>
                <a:spcPct val="102000"/>
              </a:lnSpc>
            </a:pPr>
            <a:r>
              <a:rPr lang="en-US" sz="860">
                <a:solidFill>
                  <a:srgbClr val="6B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convolutions</a:t>
            </a:r>
          </a:p>
        </p:txBody>
      </p:sp>
      <p:sp>
        <p:nvSpPr>
          <p:cNvPr id="114" name="mk"/>
          <p:cNvSpPr/>
          <p:nvPr/>
        </p:nvSpPr>
        <p:spPr>
          <a:xfrm>
            <a:off x="3648788" y="1880000"/>
            <a:ext cx="360000" cy="7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500" b="1">
                <a:solidFill>
                  <a:srgbClr val="D73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</a:p>
        </p:txBody>
      </p:sp>
      <p:sp>
        <p:nvSpPr>
          <p:cNvPr id="115" name="cv"/>
          <p:cNvSpPr/>
          <p:nvPr/>
        </p:nvSpPr>
        <p:spPr>
          <a:xfrm>
            <a:off x="4028788" y="1880000"/>
            <a:ext cx="1500000" cy="7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60" b="1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67–76% recall</a:t>
            </a:r>
          </a:p>
          <a:p>
            <a:pPr algn="l"/>
            <a:r>
              <a:rPr lang="en-US" sz="840">
                <a:solidFill>
                  <a:srgbClr val="6B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overfit on ~1k imgs</a:t>
            </a:r>
          </a:p>
        </p:txBody>
      </p:sp>
      <p:sp>
        <p:nvSpPr>
          <p:cNvPr id="116" name="mk"/>
          <p:cNvSpPr/>
          <p:nvPr/>
        </p:nvSpPr>
        <p:spPr>
          <a:xfrm>
            <a:off x="5768788" y="1880000"/>
            <a:ext cx="360000" cy="7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500" b="1">
                <a:solidFill>
                  <a:srgbClr val="D73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</a:p>
        </p:txBody>
      </p:sp>
      <p:sp>
        <p:nvSpPr>
          <p:cNvPr id="117" name="cv"/>
          <p:cNvSpPr/>
          <p:nvPr/>
        </p:nvSpPr>
        <p:spPr>
          <a:xfrm>
            <a:off x="6148788" y="1880000"/>
            <a:ext cx="1400000" cy="7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60" b="1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slow when scaled</a:t>
            </a:r>
          </a:p>
          <a:p>
            <a:pPr algn="l"/>
            <a:r>
              <a:rPr lang="en-US" sz="840">
                <a:solidFill>
                  <a:srgbClr val="6B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heavy variants &gt;300 ms</a:t>
            </a:r>
          </a:p>
        </p:txBody>
      </p:sp>
      <p:sp>
        <p:nvSpPr>
          <p:cNvPr id="118" name="mk"/>
          <p:cNvSpPr/>
          <p:nvPr/>
        </p:nvSpPr>
        <p:spPr>
          <a:xfrm>
            <a:off x="7788788" y="1880000"/>
            <a:ext cx="360000" cy="7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500" b="1">
                <a:solidFill>
                  <a:srgbClr val="0E8C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</a:p>
        </p:txBody>
      </p:sp>
      <p:sp>
        <p:nvSpPr>
          <p:cNvPr id="119" name="cv"/>
          <p:cNvSpPr/>
          <p:nvPr/>
        </p:nvSpPr>
        <p:spPr>
          <a:xfrm>
            <a:off x="8168788" y="1880000"/>
            <a:ext cx="1400000" cy="7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60" b="1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custom</a:t>
            </a:r>
          </a:p>
          <a:p>
            <a:pPr algn="l"/>
            <a:r>
              <a:rPr lang="en-US" sz="840">
                <a:solidFill>
                  <a:srgbClr val="6B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from scratch</a:t>
            </a:r>
          </a:p>
        </p:txBody>
      </p:sp>
      <p:sp>
        <p:nvSpPr>
          <p:cNvPr id="120" name="vd"/>
          <p:cNvSpPr/>
          <p:nvPr/>
        </p:nvSpPr>
        <p:spPr>
          <a:xfrm>
            <a:off x="9818788" y="1880000"/>
            <a:ext cx="1824552" cy="7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4000"/>
              </a:lnSpc>
            </a:pPr>
            <a:r>
              <a:rPr lang="en-US" sz="940" b="1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capacity ≠ robust — can't generalize.</a:t>
            </a:r>
          </a:p>
        </p:txBody>
      </p:sp>
      <p:cxnSp>
        <p:nvCxnSpPr>
          <p:cNvPr id="121" name="sep"/>
          <p:cNvCxnSpPr/>
          <p:nvPr/>
        </p:nvCxnSpPr>
        <p:spPr>
          <a:xfrm>
            <a:off x="458788" y="2670000"/>
            <a:ext cx="11274552" cy="0"/>
          </a:xfrm>
          <a:prstGeom prst="line">
            <a:avLst/>
          </a:prstGeom>
          <a:ln w="9525">
            <a:solidFill>
              <a:srgbClr val="D9E1EA"/>
            </a:solidFill>
          </a:ln>
        </p:spPr>
      </p:cxnSp>
      <p:sp>
        <p:nvSpPr>
          <p:cNvPr id="122" name="dot"/>
          <p:cNvSpPr/>
          <p:nvPr/>
        </p:nvSpPr>
        <p:spPr>
          <a:xfrm>
            <a:off x="608788" y="2950000"/>
            <a:ext cx="230000" cy="230000"/>
          </a:xfrm>
          <a:prstGeom prst="ellipse">
            <a:avLst/>
          </a:prstGeom>
          <a:solidFill>
            <a:srgbClr val="D7382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3" name="ap"/>
          <p:cNvSpPr/>
          <p:nvPr/>
        </p:nvSpPr>
        <p:spPr>
          <a:xfrm>
            <a:off x="928788" y="2670000"/>
            <a:ext cx="2490000" cy="7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2000"/>
              </a:lnSpc>
            </a:pPr>
            <a:r>
              <a:rPr lang="en-US" sz="1180" b="1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Knowledge Distillation</a:t>
            </a:r>
          </a:p>
          <a:p>
            <a:pPr algn="l">
              <a:lnSpc>
                <a:spcPct val="102000"/>
              </a:lnSpc>
            </a:pPr>
            <a:r>
              <a:rPr lang="en-US" sz="860">
                <a:solidFill>
                  <a:srgbClr val="6B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big teacher → tiny student</a:t>
            </a:r>
          </a:p>
        </p:txBody>
      </p:sp>
      <p:sp>
        <p:nvSpPr>
          <p:cNvPr id="124" name="mk"/>
          <p:cNvSpPr/>
          <p:nvPr/>
        </p:nvSpPr>
        <p:spPr>
          <a:xfrm>
            <a:off x="3648788" y="2670000"/>
            <a:ext cx="360000" cy="7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500" b="1">
                <a:solidFill>
                  <a:srgbClr val="D73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</a:p>
        </p:txBody>
      </p:sp>
      <p:sp>
        <p:nvSpPr>
          <p:cNvPr id="125" name="cv"/>
          <p:cNvSpPr/>
          <p:nvPr/>
        </p:nvSpPr>
        <p:spPr>
          <a:xfrm>
            <a:off x="4028788" y="2670000"/>
            <a:ext cx="1500000" cy="7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50" b="1">
                <a:solidFill>
                  <a:srgbClr val="1A1A1A"/>
                </a:solidFill>
                <a:latin typeface="Inter"/>
                <a:ea typeface="Inter"/>
                <a:cs typeface="Inter" pitchFamily="34" charset="-120"/>
              </a:rPr>
              <a:t>91.77% </a:t>
            </a:r>
            <a:endParaRPr lang="en-US"/>
          </a:p>
        </p:txBody>
      </p:sp>
      <p:sp>
        <p:nvSpPr>
          <p:cNvPr id="126" name="mk"/>
          <p:cNvSpPr/>
          <p:nvPr/>
        </p:nvSpPr>
        <p:spPr>
          <a:xfrm>
            <a:off x="5768788" y="2670000"/>
            <a:ext cx="360000" cy="7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endParaRPr lang="en-US" sz="1500" b="1">
              <a:solidFill>
                <a:srgbClr val="0E8C7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sp>
        <p:nvSpPr>
          <p:cNvPr id="127" name="cv"/>
          <p:cNvSpPr/>
          <p:nvPr/>
        </p:nvSpPr>
        <p:spPr>
          <a:xfrm>
            <a:off x="6148788" y="2670000"/>
            <a:ext cx="1400000" cy="7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50" b="1">
                <a:solidFill>
                  <a:srgbClr val="1A1A1A"/>
                </a:solidFill>
                <a:ea typeface="Inter"/>
              </a:rPr>
              <a:t>Highly latent</a:t>
            </a:r>
            <a:endParaRPr lang="en-US">
              <a:solidFill>
                <a:srgbClr val="000000"/>
              </a:solidFill>
            </a:endParaRPr>
          </a:p>
          <a:p>
            <a:pPr algn="l"/>
            <a:r>
              <a:rPr lang="en-US" sz="800">
                <a:solidFill>
                  <a:srgbClr val="6B7682"/>
                </a:solidFill>
                <a:ea typeface="Inter"/>
              </a:rPr>
              <a:t>student</a:t>
            </a:r>
            <a:r>
              <a:rPr lang="en-US" sz="800">
                <a:solidFill>
                  <a:srgbClr val="6B7682"/>
                </a:solidFill>
                <a:latin typeface="Inter" pitchFamily="34" charset="0"/>
                <a:ea typeface="Inter"/>
                <a:cs typeface="Inter" pitchFamily="34" charset="-120"/>
              </a:rPr>
              <a:t> stays small</a:t>
            </a:r>
            <a:endParaRPr lang="en-US"/>
          </a:p>
        </p:txBody>
      </p:sp>
      <p:sp>
        <p:nvSpPr>
          <p:cNvPr id="128" name="mk"/>
          <p:cNvSpPr/>
          <p:nvPr/>
        </p:nvSpPr>
        <p:spPr>
          <a:xfrm>
            <a:off x="7788788" y="2670000"/>
            <a:ext cx="360000" cy="7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500" b="1">
                <a:solidFill>
                  <a:srgbClr val="D73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</a:p>
        </p:txBody>
      </p:sp>
      <p:sp>
        <p:nvSpPr>
          <p:cNvPr id="129" name="cv"/>
          <p:cNvSpPr/>
          <p:nvPr/>
        </p:nvSpPr>
        <p:spPr>
          <a:xfrm>
            <a:off x="8168788" y="2670000"/>
            <a:ext cx="1400000" cy="7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60" b="1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needs a teacher</a:t>
            </a:r>
          </a:p>
          <a:p>
            <a:pPr algn="l"/>
            <a:r>
              <a:rPr lang="en-US" sz="840">
                <a:solidFill>
                  <a:srgbClr val="6B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 train complexity</a:t>
            </a:r>
          </a:p>
        </p:txBody>
      </p:sp>
      <p:sp>
        <p:nvSpPr>
          <p:cNvPr id="130" name="vd"/>
          <p:cNvSpPr/>
          <p:nvPr/>
        </p:nvSpPr>
        <p:spPr>
          <a:xfrm>
            <a:off x="9818788" y="2670000"/>
            <a:ext cx="1824552" cy="7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4000"/>
              </a:lnSpc>
            </a:pPr>
            <a:r>
              <a:rPr lang="en-US" sz="900" b="1">
                <a:solidFill>
                  <a:srgbClr val="555555"/>
                </a:solidFill>
                <a:latin typeface="Inter"/>
                <a:ea typeface="Inter"/>
              </a:rPr>
              <a:t>We tested it but did not performed well on </a:t>
            </a:r>
            <a:r>
              <a:rPr lang="en-US" sz="900" b="1" err="1">
                <a:solidFill>
                  <a:srgbClr val="555555"/>
                </a:solidFill>
                <a:latin typeface="Inter"/>
                <a:ea typeface="Inter"/>
              </a:rPr>
              <a:t>esp</a:t>
            </a:r>
            <a:endParaRPr lang="en-US" err="1"/>
          </a:p>
        </p:txBody>
      </p:sp>
      <p:cxnSp>
        <p:nvCxnSpPr>
          <p:cNvPr id="131" name="sep"/>
          <p:cNvCxnSpPr/>
          <p:nvPr/>
        </p:nvCxnSpPr>
        <p:spPr>
          <a:xfrm>
            <a:off x="458788" y="3460000"/>
            <a:ext cx="11274552" cy="0"/>
          </a:xfrm>
          <a:prstGeom prst="line">
            <a:avLst/>
          </a:prstGeom>
          <a:ln w="9525">
            <a:solidFill>
              <a:srgbClr val="D9E1EA"/>
            </a:solidFill>
          </a:ln>
        </p:spPr>
      </p:cxnSp>
      <p:sp>
        <p:nvSpPr>
          <p:cNvPr id="132" name="dot"/>
          <p:cNvSpPr/>
          <p:nvPr/>
        </p:nvSpPr>
        <p:spPr>
          <a:xfrm>
            <a:off x="608788" y="3740000"/>
            <a:ext cx="230000" cy="230000"/>
          </a:xfrm>
          <a:prstGeom prst="ellipse">
            <a:avLst/>
          </a:prstGeom>
          <a:solidFill>
            <a:srgbClr val="E0921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3" name="ap"/>
          <p:cNvSpPr/>
          <p:nvPr/>
        </p:nvSpPr>
        <p:spPr>
          <a:xfrm>
            <a:off x="928788" y="3460000"/>
            <a:ext cx="2490000" cy="7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2000"/>
              </a:lnSpc>
            </a:pPr>
            <a:r>
              <a:rPr lang="en-US" sz="1180" b="1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Pre-trained Transfer</a:t>
            </a:r>
          </a:p>
          <a:p>
            <a:pPr algn="l">
              <a:lnSpc>
                <a:spcPct val="102000"/>
              </a:lnSpc>
            </a:pPr>
            <a:r>
              <a:rPr lang="en-US" sz="860">
                <a:solidFill>
                  <a:srgbClr val="6B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MobileNetV1 0.2 backbone</a:t>
            </a:r>
          </a:p>
        </p:txBody>
      </p:sp>
      <p:sp>
        <p:nvSpPr>
          <p:cNvPr id="134" name="mk"/>
          <p:cNvSpPr/>
          <p:nvPr/>
        </p:nvSpPr>
        <p:spPr>
          <a:xfrm>
            <a:off x="3648788" y="3460000"/>
            <a:ext cx="360000" cy="7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500" b="1">
                <a:solidFill>
                  <a:srgbClr val="0E8C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</a:p>
        </p:txBody>
      </p:sp>
      <p:sp>
        <p:nvSpPr>
          <p:cNvPr id="135" name="cv"/>
          <p:cNvSpPr/>
          <p:nvPr/>
        </p:nvSpPr>
        <p:spPr>
          <a:xfrm>
            <a:off x="4028788" y="3460000"/>
            <a:ext cx="1500000" cy="7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60" b="1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92.35%</a:t>
            </a:r>
          </a:p>
          <a:p>
            <a:pPr algn="l"/>
            <a:r>
              <a:rPr lang="en-US" sz="840">
                <a:solidFill>
                  <a:srgbClr val="6B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accurate of all</a:t>
            </a:r>
          </a:p>
        </p:txBody>
      </p:sp>
      <p:sp>
        <p:nvSpPr>
          <p:cNvPr id="136" name="mk"/>
          <p:cNvSpPr/>
          <p:nvPr/>
        </p:nvSpPr>
        <p:spPr>
          <a:xfrm>
            <a:off x="5768788" y="2719465"/>
            <a:ext cx="360000" cy="7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500" b="1">
                <a:solidFill>
                  <a:srgbClr val="D73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</a:p>
        </p:txBody>
      </p:sp>
      <p:sp>
        <p:nvSpPr>
          <p:cNvPr id="137" name="cv"/>
          <p:cNvSpPr/>
          <p:nvPr/>
        </p:nvSpPr>
        <p:spPr>
          <a:xfrm>
            <a:off x="6148788" y="3460000"/>
            <a:ext cx="1400000" cy="7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60" b="1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 s</a:t>
            </a:r>
          </a:p>
          <a:p>
            <a:pPr algn="l"/>
            <a:r>
              <a:rPr lang="en-US" sz="840">
                <a:solidFill>
                  <a:srgbClr val="6B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 slow on ESP32</a:t>
            </a:r>
          </a:p>
        </p:txBody>
      </p:sp>
      <p:sp>
        <p:nvSpPr>
          <p:cNvPr id="138" name="mk"/>
          <p:cNvSpPr/>
          <p:nvPr/>
        </p:nvSpPr>
        <p:spPr>
          <a:xfrm>
            <a:off x="7788788" y="3460000"/>
            <a:ext cx="360000" cy="7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500" b="1">
                <a:solidFill>
                  <a:srgbClr val="D73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</a:p>
        </p:txBody>
      </p:sp>
      <p:sp>
        <p:nvSpPr>
          <p:cNvPr id="139" name="cv"/>
          <p:cNvSpPr/>
          <p:nvPr/>
        </p:nvSpPr>
        <p:spPr>
          <a:xfrm>
            <a:off x="8168788" y="3460000"/>
            <a:ext cx="1400000" cy="7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60" b="1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borrowed</a:t>
            </a:r>
          </a:p>
          <a:p>
            <a:pPr algn="l"/>
            <a:r>
              <a:rPr lang="en-US" sz="840">
                <a:solidFill>
                  <a:srgbClr val="6B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ImageNet backbone</a:t>
            </a:r>
          </a:p>
        </p:txBody>
      </p:sp>
      <p:sp>
        <p:nvSpPr>
          <p:cNvPr id="140" name="vd"/>
          <p:cNvSpPr/>
          <p:nvPr/>
        </p:nvSpPr>
        <p:spPr>
          <a:xfrm>
            <a:off x="9818788" y="3460000"/>
            <a:ext cx="1824552" cy="7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4000"/>
              </a:lnSpc>
            </a:pPr>
            <a:r>
              <a:rPr lang="en-US" sz="940" b="1">
                <a:solidFill>
                  <a:srgbClr val="B977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Accurate, but slow &amp; weak novelty.</a:t>
            </a:r>
          </a:p>
        </p:txBody>
      </p:sp>
      <p:cxnSp>
        <p:nvCxnSpPr>
          <p:cNvPr id="141" name="sep"/>
          <p:cNvCxnSpPr/>
          <p:nvPr/>
        </p:nvCxnSpPr>
        <p:spPr>
          <a:xfrm>
            <a:off x="458788" y="4250000"/>
            <a:ext cx="11274552" cy="0"/>
          </a:xfrm>
          <a:prstGeom prst="line">
            <a:avLst/>
          </a:prstGeom>
          <a:ln w="9525">
            <a:solidFill>
              <a:srgbClr val="D9E1EA"/>
            </a:solidFill>
          </a:ln>
        </p:spPr>
      </p:cxnSp>
      <p:sp>
        <p:nvSpPr>
          <p:cNvPr id="142" name="winrow"/>
          <p:cNvSpPr/>
          <p:nvPr/>
        </p:nvSpPr>
        <p:spPr>
          <a:xfrm>
            <a:off x="418788" y="4038600"/>
            <a:ext cx="11354552" cy="870000"/>
          </a:xfrm>
          <a:prstGeom prst="roundRect">
            <a:avLst>
              <a:gd name="adj" fmla="val 1400"/>
            </a:avLst>
          </a:prstGeom>
          <a:solidFill>
            <a:srgbClr val="E7F4F1"/>
          </a:solidFill>
          <a:ln w="22225">
            <a:solidFill>
              <a:srgbClr val="0E8C7F"/>
            </a:solidFill>
            <a:prstDash val="solid"/>
          </a:ln>
          <a:effectLst>
            <a:outerShdw blurRad="70000" dist="200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3" name="dot"/>
          <p:cNvSpPr/>
          <p:nvPr/>
        </p:nvSpPr>
        <p:spPr>
          <a:xfrm>
            <a:off x="608788" y="4530000"/>
            <a:ext cx="230000" cy="230000"/>
          </a:xfrm>
          <a:prstGeom prst="ellipse">
            <a:avLst/>
          </a:prstGeom>
          <a:solidFill>
            <a:srgbClr val="0E8C7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4" name="ap"/>
          <p:cNvSpPr/>
          <p:nvPr/>
        </p:nvSpPr>
        <p:spPr>
          <a:xfrm>
            <a:off x="928788" y="4250000"/>
            <a:ext cx="2490000" cy="7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2000"/>
              </a:lnSpc>
            </a:pPr>
            <a:r>
              <a:rPr lang="en-US" sz="1180" b="1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Depthwise-Separable RGB</a:t>
            </a:r>
          </a:p>
          <a:p>
            <a:pPr algn="l">
              <a:lnSpc>
                <a:spcPct val="102000"/>
              </a:lnSpc>
            </a:pPr>
            <a:r>
              <a:rPr lang="en-US" sz="860">
                <a:solidFill>
                  <a:srgbClr val="6B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from-scratch · 96×96 · v7.16</a:t>
            </a:r>
          </a:p>
        </p:txBody>
      </p:sp>
      <p:sp>
        <p:nvSpPr>
          <p:cNvPr id="145" name="mk"/>
          <p:cNvSpPr/>
          <p:nvPr/>
        </p:nvSpPr>
        <p:spPr>
          <a:xfrm>
            <a:off x="3648788" y="4250000"/>
            <a:ext cx="360000" cy="7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500" b="1">
                <a:solidFill>
                  <a:srgbClr val="0E8C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</a:p>
        </p:txBody>
      </p:sp>
      <p:sp>
        <p:nvSpPr>
          <p:cNvPr id="146" name="cv"/>
          <p:cNvSpPr/>
          <p:nvPr/>
        </p:nvSpPr>
        <p:spPr>
          <a:xfrm>
            <a:off x="4028788" y="4250000"/>
            <a:ext cx="1500000" cy="7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60" b="1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90.83%</a:t>
            </a:r>
          </a:p>
          <a:p>
            <a:pPr algn="l"/>
            <a:r>
              <a:rPr lang="en-US" sz="840">
                <a:solidFill>
                  <a:srgbClr val="6B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balanced &amp; robust</a:t>
            </a:r>
          </a:p>
        </p:txBody>
      </p:sp>
      <p:sp>
        <p:nvSpPr>
          <p:cNvPr id="147" name="mk"/>
          <p:cNvSpPr/>
          <p:nvPr/>
        </p:nvSpPr>
        <p:spPr>
          <a:xfrm>
            <a:off x="5768788" y="4250000"/>
            <a:ext cx="360000" cy="7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500" b="1">
                <a:solidFill>
                  <a:srgbClr val="0E8C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</a:p>
        </p:txBody>
      </p:sp>
      <p:sp>
        <p:nvSpPr>
          <p:cNvPr id="148" name="cv"/>
          <p:cNvSpPr/>
          <p:nvPr/>
        </p:nvSpPr>
        <p:spPr>
          <a:xfrm>
            <a:off x="6148788" y="4250000"/>
            <a:ext cx="1400000" cy="7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60" b="1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~872 ms</a:t>
            </a:r>
          </a:p>
          <a:p>
            <a:pPr algn="l"/>
            <a:r>
              <a:rPr lang="en-US" sz="840">
                <a:solidFill>
                  <a:srgbClr val="6B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sub-second, on-device</a:t>
            </a:r>
          </a:p>
        </p:txBody>
      </p:sp>
      <p:sp>
        <p:nvSpPr>
          <p:cNvPr id="149" name="mk"/>
          <p:cNvSpPr/>
          <p:nvPr/>
        </p:nvSpPr>
        <p:spPr>
          <a:xfrm>
            <a:off x="7788788" y="4250000"/>
            <a:ext cx="360000" cy="7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500" b="1">
                <a:solidFill>
                  <a:srgbClr val="0E8C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</a:p>
        </p:txBody>
      </p:sp>
      <p:sp>
        <p:nvSpPr>
          <p:cNvPr id="150" name="cv"/>
          <p:cNvSpPr/>
          <p:nvPr/>
        </p:nvSpPr>
        <p:spPr>
          <a:xfrm>
            <a:off x="8168788" y="4250000"/>
            <a:ext cx="1400000" cy="7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960" b="1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&amp; novel</a:t>
            </a:r>
          </a:p>
          <a:p>
            <a:pPr algn="l"/>
            <a:r>
              <a:rPr lang="en-US" sz="840">
                <a:solidFill>
                  <a:srgbClr val="6B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depthwise factorized</a:t>
            </a:r>
          </a:p>
        </p:txBody>
      </p:sp>
      <p:sp>
        <p:nvSpPr>
          <p:cNvPr id="151" name="vd"/>
          <p:cNvSpPr/>
          <p:nvPr/>
        </p:nvSpPr>
        <p:spPr>
          <a:xfrm>
            <a:off x="9818788" y="4250000"/>
            <a:ext cx="1824552" cy="7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4000"/>
              </a:lnSpc>
            </a:pPr>
            <a:r>
              <a:rPr lang="en-US" sz="940" b="1">
                <a:solidFill>
                  <a:srgbClr val="0E8C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 Cleared all three at once.</a:t>
            </a:r>
          </a:p>
        </p:txBody>
      </p:sp>
      <p:cxnSp>
        <p:nvCxnSpPr>
          <p:cNvPr id="152" name="hsep"/>
          <p:cNvCxnSpPr/>
          <p:nvPr/>
        </p:nvCxnSpPr>
        <p:spPr>
          <a:xfrm>
            <a:off x="458788" y="1850000"/>
            <a:ext cx="11274552" cy="0"/>
          </a:xfrm>
          <a:prstGeom prst="line">
            <a:avLst/>
          </a:prstGeom>
          <a:ln w="12700">
            <a:solidFill>
              <a:srgbClr val="D9E1EA"/>
            </a:solidFill>
          </a:ln>
        </p:spPr>
      </p:cxnSp>
      <p:sp>
        <p:nvSpPr>
          <p:cNvPr id="153" name="concl"/>
          <p:cNvSpPr/>
          <p:nvPr/>
        </p:nvSpPr>
        <p:spPr>
          <a:xfrm>
            <a:off x="458788" y="5240000"/>
            <a:ext cx="11274552" cy="1240000"/>
          </a:xfrm>
          <a:prstGeom prst="roundRect">
            <a:avLst>
              <a:gd name="adj" fmla="val 1800"/>
            </a:avLst>
          </a:prstGeom>
          <a:solidFill>
            <a:srgbClr val="E7F4F1"/>
          </a:solidFill>
          <a:ln w="12700">
            <a:solidFill>
              <a:srgbClr val="9AD0C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4" name="clbl"/>
          <p:cNvSpPr/>
          <p:nvPr/>
        </p:nvSpPr>
        <p:spPr>
          <a:xfrm>
            <a:off x="658788" y="5325000"/>
            <a:ext cx="70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00" b="1" spc="80">
                <a:solidFill>
                  <a:srgbClr val="0E8C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IT FINALLY WORKED</a:t>
            </a:r>
          </a:p>
        </p:txBody>
      </p:sp>
      <p:sp>
        <p:nvSpPr>
          <p:cNvPr id="155" name="ctxt"/>
          <p:cNvSpPr/>
          <p:nvPr/>
        </p:nvSpPr>
        <p:spPr>
          <a:xfrm>
            <a:off x="658788" y="5600000"/>
            <a:ext cx="10900000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12000"/>
              </a:lnSpc>
            </a:pPr>
            <a:r>
              <a:rPr lang="en-US" sz="1180" err="1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Depthwise</a:t>
            </a:r>
            <a:r>
              <a:rPr lang="en-US" sz="118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-separable factorization cuts conv MACs ~8–10× — </a:t>
            </a:r>
            <a:r>
              <a:rPr lang="en-US" sz="1180" b="1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 enough to run from-scratch sub-second (~872 </a:t>
            </a:r>
            <a:r>
              <a:rPr lang="en-US" sz="1180" b="1" err="1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</a:t>
            </a:r>
            <a:r>
              <a:rPr lang="en-US" sz="1180" b="1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r>
              <a:rPr lang="en-US" sz="118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and RGB at 96×96 keeps the </a:t>
            </a:r>
            <a:r>
              <a:rPr lang="en-US" sz="1180" err="1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colour</a:t>
            </a:r>
            <a:r>
              <a:rPr lang="en-US" sz="118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/detail grayscale dropped (≈ +5–7 pts recall) — </a:t>
            </a:r>
            <a:r>
              <a:rPr lang="en-US" sz="1180" b="1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detailed enough to generalize (90.83%)</a:t>
            </a:r>
            <a:r>
              <a:rPr lang="en-US" sz="118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The one combination that satisfied all three constraints together.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04672"/>
          </a:xfrm>
          <a:prstGeom prst="rect">
            <a:avLst/>
          </a:prstGeom>
          <a:solidFill>
            <a:srgbClr val="1E4D7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41376" y="121920"/>
            <a:ext cx="585216" cy="560832"/>
          </a:xfrm>
          <a:prstGeom prst="roundRect">
            <a:avLst>
              <a:gd name="adj" fmla="val 13043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41376" y="121920"/>
            <a:ext cx="585216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rial"/>
                <a:cs typeface="Arial"/>
              </a:rPr>
              <a:t>12</a:t>
            </a:r>
          </a:p>
        </p:txBody>
      </p:sp>
      <p:sp>
        <p:nvSpPr>
          <p:cNvPr id="5" name="Text 3"/>
          <p:cNvSpPr/>
          <p:nvPr/>
        </p:nvSpPr>
        <p:spPr>
          <a:xfrm>
            <a:off x="1146048" y="121920"/>
            <a:ext cx="853440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33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VISION — FOUR APPROACHES, ONE WINNER</a:t>
            </a:r>
            <a:endParaRPr lang="en-US" sz="1933"/>
          </a:p>
        </p:txBody>
      </p:sp>
      <p:sp>
        <p:nvSpPr>
          <p:cNvPr id="6" name="Text 4"/>
          <p:cNvSpPr/>
          <p:nvPr/>
        </p:nvSpPr>
        <p:spPr>
          <a:xfrm>
            <a:off x="9875520" y="121920"/>
            <a:ext cx="195072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67">
                <a:solidFill>
                  <a:srgbClr val="9BB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VISION</a:t>
            </a:r>
            <a:endParaRPr lang="en-US" sz="1267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113489"/>
              </p:ext>
            </p:extLst>
          </p:nvPr>
        </p:nvGraphicFramePr>
        <p:xfrm>
          <a:off x="295701" y="750626"/>
          <a:ext cx="10904179" cy="5222817"/>
        </p:xfrm>
        <a:graphic>
          <a:graphicData uri="http://schemas.openxmlformats.org/drawingml/2006/table">
            <a:tbl>
              <a:tblPr/>
              <a:tblGrid>
                <a:gridCol w="705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05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45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3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76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817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33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Ver.</a:t>
                      </a:r>
                      <a:endParaRPr lang="en-US" sz="1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4D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</a:t>
                      </a:r>
                      <a:endParaRPr lang="en-US" sz="1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4D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</a:t>
                      </a:r>
                      <a:endParaRPr lang="en-US" sz="1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4D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Accuracy¹</a:t>
                      </a:r>
                      <a:endParaRPr lang="en-US" sz="1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4D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Latency²</a:t>
                      </a:r>
                      <a:endParaRPr lang="en-US" sz="1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4D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Verdict</a:t>
                      </a:r>
                      <a:endParaRPr lang="en-US" sz="1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4D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369">
                <a:tc gridSpan="6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943232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PHASE 1 — SIMPLE CNN     </a:t>
                      </a:r>
                      <a:r>
                        <a:rPr lang="en-US" sz="900" i="1">
                          <a:solidFill>
                            <a:srgbClr val="943232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Low capacity — couldn’t generalize beyond lab images</a:t>
                      </a:r>
                      <a:endParaRPr lang="en-US" sz="1600">
                        <a:latin typeface="Arial"/>
                        <a:cs typeface="Arial"/>
                      </a:endParaRPr>
                    </a:p>
                  </a:txBody>
                  <a:tcPr marL="135467" marR="135467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D5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3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9432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 ref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943232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Pretrained person detector (EI / </a:t>
                      </a:r>
                      <a:r>
                        <a:rPr lang="en-US" sz="1000" err="1">
                          <a:solidFill>
                            <a:srgbClr val="943232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TFLite</a:t>
                      </a:r>
                      <a:r>
                        <a:rPr lang="en-US" sz="1000">
                          <a:solidFill>
                            <a:srgbClr val="943232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)</a:t>
                      </a:r>
                      <a:endParaRPr lang="en-US" sz="10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9432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~96×96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9432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943232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~700 </a:t>
                      </a:r>
                      <a:r>
                        <a:rPr lang="en-US" sz="1000" err="1">
                          <a:solidFill>
                            <a:srgbClr val="943232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ms</a:t>
                      </a:r>
                      <a:r>
                        <a:rPr lang="en-US" sz="1000">
                          <a:solidFill>
                            <a:srgbClr val="943232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*</a:t>
                      </a:r>
                      <a:endParaRPr lang="en-US" sz="10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943232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proved on-device </a:t>
                      </a:r>
                      <a:r>
                        <a:rPr lang="en-US" sz="900" err="1">
                          <a:solidFill>
                            <a:srgbClr val="943232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TFLite</a:t>
                      </a:r>
                      <a:r>
                        <a:rPr lang="en-US" sz="900">
                          <a:solidFill>
                            <a:srgbClr val="943232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; generic, not ours</a:t>
                      </a:r>
                      <a:endParaRPr lang="en-US" sz="9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3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9432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v1.0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9432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Tiny separable CNN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9432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48×48 gray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9432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80–85%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943232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~106 </a:t>
                      </a:r>
                      <a:r>
                        <a:rPr lang="en-US" sz="1000" err="1">
                          <a:solidFill>
                            <a:srgbClr val="943232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ms</a:t>
                      </a:r>
                      <a:endParaRPr lang="en-US" sz="1000" err="1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943232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original prod; too weak very low human recall </a:t>
                      </a:r>
                      <a:endParaRPr lang="en-US" sz="900">
                        <a:latin typeface="Arial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3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9432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v2.1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9432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Tiny CNN + hard negatives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9432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48×48 gray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9432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&gt;90%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943232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~1006 </a:t>
                      </a:r>
                      <a:r>
                        <a:rPr lang="en-US" sz="1000" err="1">
                          <a:solidFill>
                            <a:srgbClr val="943232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ms</a:t>
                      </a:r>
                      <a:endParaRPr lang="en-US" sz="1000" err="1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943232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field-hardened high latency</a:t>
                      </a:r>
                      <a:endParaRPr lang="en-US" sz="900">
                        <a:latin typeface="Arial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33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9432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v3.0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943232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Heavy CNN 16-32-64 (</a:t>
                      </a:r>
                      <a:r>
                        <a:rPr lang="en-US" sz="1000" err="1">
                          <a:solidFill>
                            <a:srgbClr val="943232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Optuna</a:t>
                      </a:r>
                      <a:r>
                        <a:rPr lang="en-US" sz="1000">
                          <a:solidFill>
                            <a:srgbClr val="943232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)</a:t>
                      </a:r>
                      <a:endParaRPr lang="en-US" sz="10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9432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48×48 gray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9432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94.96%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943232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&gt;3000 </a:t>
                      </a:r>
                      <a:r>
                        <a:rPr lang="en-US" sz="1000" err="1">
                          <a:solidFill>
                            <a:srgbClr val="943232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ms</a:t>
                      </a:r>
                      <a:endParaRPr lang="en-US" sz="1000" err="1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943232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most accurate, not generalizable</a:t>
                      </a:r>
                      <a:endParaRPr lang="en-US" sz="9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33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9432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v6.1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9432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Edge Impulse CNN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9432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96×96 gray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9432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~90%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943232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~5000 </a:t>
                      </a:r>
                      <a:r>
                        <a:rPr lang="en-US" sz="1000" err="1">
                          <a:solidFill>
                            <a:srgbClr val="943232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ms</a:t>
                      </a:r>
                      <a:r>
                        <a:rPr lang="en-US" sz="1000">
                          <a:solidFill>
                            <a:srgbClr val="943232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*</a:t>
                      </a:r>
                      <a:endParaRPr lang="en-US" sz="10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943232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Too slow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3369">
                <a:tc gridSpan="6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A06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2 — KNOWLEDGE DISTILLATION     </a:t>
                      </a:r>
                      <a:r>
                        <a:rPr lang="en-US" sz="900" i="1">
                          <a:solidFill>
                            <a:srgbClr val="A06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48px ceiling killed real-world gains</a:t>
                      </a:r>
                      <a:endParaRPr lang="en-US" sz="1600"/>
                    </a:p>
                  </a:txBody>
                  <a:tcPr marL="135467" marR="135467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E8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4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A06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v4.0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A06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Distilled tiny (MobileNetV2 teacher)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A06000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48×48 gray </a:t>
                      </a:r>
                      <a:r>
                        <a:rPr lang="en-US" sz="1000">
                          <a:solidFill>
                            <a:srgbClr val="9C5500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96*96 </a:t>
                      </a:r>
                      <a:r>
                        <a:rPr lang="en-US" sz="1000" err="1">
                          <a:solidFill>
                            <a:srgbClr val="9C5500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rgb</a:t>
                      </a:r>
                      <a:endParaRPr lang="en-US" sz="10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A06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91.77%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9C5500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&gt;3000 </a:t>
                      </a:r>
                      <a:r>
                        <a:rPr lang="en-US" sz="1000" err="1">
                          <a:solidFill>
                            <a:srgbClr val="9C5500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ms</a:t>
                      </a:r>
                      <a:endParaRPr lang="en-US" sz="10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9C5500"/>
                          </a:solidFill>
                          <a:latin typeface="Arial"/>
                          <a:ea typeface="Arial" charset="0"/>
                          <a:cs typeface="Arial"/>
                        </a:rPr>
                        <a:t>slow</a:t>
                      </a:r>
                      <a:endParaRPr lang="en-US" sz="9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3369">
                <a:tc gridSpan="6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2A5080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PHASE 3 — PRE-TRAINED TRANSFER     </a:t>
                      </a:r>
                      <a:r>
                        <a:rPr lang="en-US" sz="900" i="1">
                          <a:solidFill>
                            <a:srgbClr val="2A5080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Most accurate, but too slow + weak novelty</a:t>
                      </a:r>
                      <a:endParaRPr lang="en-US" sz="1600">
                        <a:latin typeface="Arial"/>
                        <a:cs typeface="Arial"/>
                      </a:endParaRPr>
                    </a:p>
                  </a:txBody>
                  <a:tcPr marL="135467" marR="135467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0DF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33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2A50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v7.3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2A50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MobileNetV1 0.2 (transfer)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2A50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96×96 RGB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A50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92.35% (peak)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2A5080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~2 s*</a:t>
                      </a:r>
                      <a:endParaRPr lang="en-US" sz="10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A5080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most accurate (borrowed backbone) </a:t>
                      </a:r>
                      <a:endParaRPr lang="en-US" sz="9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33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2A50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v7.4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2A50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MobileNetV1 0.2 + EON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2A50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64×64 RGB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2A50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91.13%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A3E6E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~2000 </a:t>
                      </a:r>
                      <a:r>
                        <a:rPr lang="en-US" sz="1000" err="1">
                          <a:solidFill>
                            <a:srgbClr val="1A3E6E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ms</a:t>
                      </a:r>
                      <a:endParaRPr lang="en-US" sz="10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A5080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Low inference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3369">
                <a:tc gridSpan="6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2560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4 — DEPTHWISE-SEPARABLE  ★ WINNER     </a:t>
                      </a:r>
                      <a:r>
                        <a:rPr lang="en-US" sz="900" i="1">
                          <a:solidFill>
                            <a:srgbClr val="2560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 Cleared &gt;90 %, sub-second, fully custom</a:t>
                      </a:r>
                      <a:endParaRPr lang="en-US" sz="1600"/>
                    </a:p>
                  </a:txBody>
                  <a:tcPr marL="135467" marR="135467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C8E6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33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2560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v7.15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err="1">
                          <a:solidFill>
                            <a:srgbClr val="256029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Depthwise</a:t>
                      </a:r>
                      <a:r>
                        <a:rPr lang="en-US" sz="1000">
                          <a:solidFill>
                            <a:srgbClr val="256029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-separable, from-scratch</a:t>
                      </a:r>
                      <a:endParaRPr lang="en-US" sz="10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2560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80×80 RGB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2560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88.38%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256029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~750 </a:t>
                      </a:r>
                      <a:r>
                        <a:rPr lang="en-US" sz="1000" err="1">
                          <a:solidFill>
                            <a:srgbClr val="256029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ms</a:t>
                      </a:r>
                      <a:r>
                        <a:rPr lang="en-US" sz="1000">
                          <a:solidFill>
                            <a:srgbClr val="256029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*</a:t>
                      </a:r>
                      <a:endParaRPr lang="en-US" sz="10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560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bias fixed; just under 90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352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2560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 v7.16</a:t>
                      </a:r>
                      <a:endParaRPr lang="en-US" sz="1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2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err="1">
                          <a:solidFill>
                            <a:srgbClr val="256029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Depthwise</a:t>
                      </a:r>
                      <a:r>
                        <a:rPr lang="en-US" sz="1100" b="1">
                          <a:solidFill>
                            <a:srgbClr val="256029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-separable, from-scratch</a:t>
                      </a:r>
                      <a:endParaRPr lang="en-US" sz="11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2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2560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96×96 RGB</a:t>
                      </a:r>
                      <a:endParaRPr lang="en-US" sz="1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2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2560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90.83%</a:t>
                      </a:r>
                      <a:endParaRPr lang="en-US" sz="1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2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256029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~872 </a:t>
                      </a:r>
                      <a:r>
                        <a:rPr lang="en-US" sz="1100" b="1" err="1">
                          <a:solidFill>
                            <a:srgbClr val="256029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ms</a:t>
                      </a:r>
                      <a:endParaRPr lang="en-US" sz="1100" err="1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2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2560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deployed final</a:t>
                      </a:r>
                      <a:endParaRPr lang="en-US" sz="1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2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33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2560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v7.17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err="1">
                          <a:solidFill>
                            <a:srgbClr val="256029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Depthwise</a:t>
                      </a:r>
                      <a:r>
                        <a:rPr lang="en-US" sz="1000">
                          <a:solidFill>
                            <a:srgbClr val="256029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-separable (gray)</a:t>
                      </a:r>
                      <a:endParaRPr lang="en-US" sz="10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2560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96×96 gray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2560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86.24%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256029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~600 </a:t>
                      </a:r>
                      <a:r>
                        <a:rPr lang="en-US" sz="1000" err="1">
                          <a:solidFill>
                            <a:srgbClr val="256029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ms</a:t>
                      </a:r>
                      <a:r>
                        <a:rPr lang="en-US" sz="1000">
                          <a:solidFill>
                            <a:srgbClr val="256029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*</a:t>
                      </a:r>
                      <a:endParaRPr lang="en-US" sz="10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256029"/>
                          </a:solidFill>
                          <a:latin typeface="Arial"/>
                          <a:ea typeface="Arial" charset="0"/>
                          <a:cs typeface="Arial"/>
                        </a:rPr>
                        <a:t>Not accurate</a:t>
                      </a:r>
                    </a:p>
                  </a:txBody>
                  <a:tcPr marL="101600" marR="101600" marT="33867" marB="338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86042" y="6151137"/>
            <a:ext cx="10546080" cy="438912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6"/>
          <p:cNvSpPr/>
          <p:nvPr/>
        </p:nvSpPr>
        <p:spPr>
          <a:xfrm>
            <a:off x="633984" y="5900928"/>
            <a:ext cx="10241280" cy="438912"/>
          </a:xfrm>
          <a:prstGeom prst="rect">
            <a:avLst/>
          </a:prstGeom>
          <a:noFill/>
          <a:ln/>
        </p:spPr>
        <p:txBody>
          <a:bodyPr wrap="square" lIns="33867" tIns="101600" rIns="101600" bIns="33867" rtlCol="0" anchor="ctr"/>
          <a:lstStyle/>
          <a:p>
            <a:r>
              <a:rPr lang="en-US" sz="933" b="1">
                <a:solidFill>
                  <a:srgbClr val="1E4D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 </a:t>
            </a:r>
            <a:r>
              <a:rPr lang="en-US" sz="867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phase solved one problem but introduced another — only Phase 4 (depthwise-separable + 96×96 RGB + class balancing) cleared accuracy, latency, and novelty simultaneously.</a:t>
            </a:r>
            <a:endParaRPr lang="en-US" sz="933"/>
          </a:p>
        </p:txBody>
      </p:sp>
      <p:sp>
        <p:nvSpPr>
          <p:cNvPr id="10" name="Text 7"/>
          <p:cNvSpPr/>
          <p:nvPr/>
        </p:nvSpPr>
        <p:spPr>
          <a:xfrm>
            <a:off x="463296" y="6388608"/>
            <a:ext cx="1054608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650" i="1">
              <a:solidFill>
                <a:srgbClr val="AAAAAA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78916" y="230835"/>
            <a:ext cx="8568055" cy="34607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  <a:tabLst>
                <a:tab pos="655320" algn="l"/>
              </a:tabLst>
            </a:pPr>
            <a:r>
              <a:rPr lang="en-US"/>
              <a:t>13  AIVISION</a:t>
            </a:r>
            <a:r>
              <a:rPr spc="229"/>
              <a:t> </a:t>
            </a:r>
            <a:r>
              <a:rPr spc="170"/>
              <a:t>—</a:t>
            </a:r>
            <a:r>
              <a:rPr spc="195"/>
              <a:t> </a:t>
            </a:r>
            <a:r>
              <a:rPr spc="45"/>
              <a:t>TRAINING</a:t>
            </a:r>
            <a:r>
              <a:rPr spc="270"/>
              <a:t> </a:t>
            </a:r>
            <a:r>
              <a:rPr spc="125"/>
              <a:t>TECHNIQUES</a:t>
            </a:r>
            <a:r>
              <a:rPr spc="260"/>
              <a:t> </a:t>
            </a:r>
            <a:r>
              <a:rPr spc="65"/>
              <a:t>(THE</a:t>
            </a:r>
            <a:r>
              <a:rPr spc="229"/>
              <a:t> </a:t>
            </a:r>
            <a:r>
              <a:rPr spc="130"/>
              <a:t>TOOLBOX)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11080242" y="324103"/>
            <a:ext cx="7937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A</a:t>
            </a:r>
            <a:r>
              <a:rPr sz="1100" b="1" spc="-4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I</a:t>
            </a:r>
            <a:r>
              <a:rPr sz="1100" b="1" spc="380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V</a:t>
            </a:r>
            <a:r>
              <a:rPr sz="1100" b="1" spc="-5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I</a:t>
            </a:r>
            <a:r>
              <a:rPr sz="1100" b="1" spc="-40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S</a:t>
            </a:r>
            <a:r>
              <a:rPr sz="1100" b="1" spc="-5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I</a:t>
            </a:r>
            <a:r>
              <a:rPr sz="1100" b="1" spc="-40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O</a:t>
            </a:r>
            <a:r>
              <a:rPr sz="1100" b="1" spc="-50">
                <a:solidFill>
                  <a:srgbClr val="BBD3EB"/>
                </a:solidFill>
                <a:latin typeface="Calibri"/>
                <a:cs typeface="Calibri"/>
              </a:rPr>
              <a:t> N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84564" y="1287705"/>
            <a:ext cx="2722880" cy="2476500"/>
            <a:chOff x="484564" y="1287705"/>
            <a:chExt cx="2722880" cy="24765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4564" y="1287705"/>
              <a:ext cx="2722761" cy="247588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8639" y="1325880"/>
              <a:ext cx="2601595" cy="2354580"/>
            </a:xfrm>
            <a:custGeom>
              <a:avLst/>
              <a:gdLst/>
              <a:ahLst/>
              <a:cxnLst/>
              <a:rect l="l" t="t" r="r" b="b"/>
              <a:pathLst>
                <a:path w="2601595" h="2354579">
                  <a:moveTo>
                    <a:pt x="2510028" y="0"/>
                  </a:moveTo>
                  <a:lnTo>
                    <a:pt x="91427" y="0"/>
                  </a:lnTo>
                  <a:lnTo>
                    <a:pt x="55839" y="7179"/>
                  </a:lnTo>
                  <a:lnTo>
                    <a:pt x="26777" y="26765"/>
                  </a:lnTo>
                  <a:lnTo>
                    <a:pt x="7184" y="55828"/>
                  </a:lnTo>
                  <a:lnTo>
                    <a:pt x="0" y="91440"/>
                  </a:lnTo>
                  <a:lnTo>
                    <a:pt x="0" y="2263140"/>
                  </a:lnTo>
                  <a:lnTo>
                    <a:pt x="7184" y="2298751"/>
                  </a:lnTo>
                  <a:lnTo>
                    <a:pt x="26777" y="2327814"/>
                  </a:lnTo>
                  <a:lnTo>
                    <a:pt x="55839" y="2347400"/>
                  </a:lnTo>
                  <a:lnTo>
                    <a:pt x="91427" y="2354580"/>
                  </a:lnTo>
                  <a:lnTo>
                    <a:pt x="2510028" y="2354580"/>
                  </a:lnTo>
                  <a:lnTo>
                    <a:pt x="2545639" y="2347400"/>
                  </a:lnTo>
                  <a:lnTo>
                    <a:pt x="2574702" y="2327814"/>
                  </a:lnTo>
                  <a:lnTo>
                    <a:pt x="2594288" y="2298751"/>
                  </a:lnTo>
                  <a:lnTo>
                    <a:pt x="2601467" y="2263140"/>
                  </a:lnTo>
                  <a:lnTo>
                    <a:pt x="2601467" y="91440"/>
                  </a:lnTo>
                  <a:lnTo>
                    <a:pt x="2594288" y="55828"/>
                  </a:lnTo>
                  <a:lnTo>
                    <a:pt x="2574702" y="26765"/>
                  </a:lnTo>
                  <a:lnTo>
                    <a:pt x="2545639" y="7179"/>
                  </a:lnTo>
                  <a:lnTo>
                    <a:pt x="2510028" y="0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4671" y="1563624"/>
              <a:ext cx="603885" cy="603885"/>
            </a:xfrm>
            <a:custGeom>
              <a:avLst/>
              <a:gdLst/>
              <a:ahLst/>
              <a:cxnLst/>
              <a:rect l="l" t="t" r="r" b="b"/>
              <a:pathLst>
                <a:path w="603885" h="603885">
                  <a:moveTo>
                    <a:pt x="301752" y="0"/>
                  </a:moveTo>
                  <a:lnTo>
                    <a:pt x="252807" y="3950"/>
                  </a:lnTo>
                  <a:lnTo>
                    <a:pt x="206376" y="15386"/>
                  </a:lnTo>
                  <a:lnTo>
                    <a:pt x="163081" y="33686"/>
                  </a:lnTo>
                  <a:lnTo>
                    <a:pt x="123542" y="58228"/>
                  </a:lnTo>
                  <a:lnTo>
                    <a:pt x="88382" y="88392"/>
                  </a:lnTo>
                  <a:lnTo>
                    <a:pt x="58221" y="123553"/>
                  </a:lnTo>
                  <a:lnTo>
                    <a:pt x="33681" y="163092"/>
                  </a:lnTo>
                  <a:lnTo>
                    <a:pt x="15383" y="206386"/>
                  </a:lnTo>
                  <a:lnTo>
                    <a:pt x="3949" y="252813"/>
                  </a:lnTo>
                  <a:lnTo>
                    <a:pt x="0" y="301751"/>
                  </a:lnTo>
                  <a:lnTo>
                    <a:pt x="3949" y="350690"/>
                  </a:lnTo>
                  <a:lnTo>
                    <a:pt x="15383" y="397117"/>
                  </a:lnTo>
                  <a:lnTo>
                    <a:pt x="33681" y="440411"/>
                  </a:lnTo>
                  <a:lnTo>
                    <a:pt x="58221" y="479950"/>
                  </a:lnTo>
                  <a:lnTo>
                    <a:pt x="88382" y="515111"/>
                  </a:lnTo>
                  <a:lnTo>
                    <a:pt x="123542" y="545275"/>
                  </a:lnTo>
                  <a:lnTo>
                    <a:pt x="163081" y="569817"/>
                  </a:lnTo>
                  <a:lnTo>
                    <a:pt x="206376" y="588117"/>
                  </a:lnTo>
                  <a:lnTo>
                    <a:pt x="252807" y="599553"/>
                  </a:lnTo>
                  <a:lnTo>
                    <a:pt x="301752" y="603503"/>
                  </a:lnTo>
                  <a:lnTo>
                    <a:pt x="350690" y="599553"/>
                  </a:lnTo>
                  <a:lnTo>
                    <a:pt x="397117" y="588117"/>
                  </a:lnTo>
                  <a:lnTo>
                    <a:pt x="440411" y="569817"/>
                  </a:lnTo>
                  <a:lnTo>
                    <a:pt x="479950" y="545275"/>
                  </a:lnTo>
                  <a:lnTo>
                    <a:pt x="515111" y="515111"/>
                  </a:lnTo>
                  <a:lnTo>
                    <a:pt x="545275" y="479950"/>
                  </a:lnTo>
                  <a:lnTo>
                    <a:pt x="569817" y="440411"/>
                  </a:lnTo>
                  <a:lnTo>
                    <a:pt x="588117" y="397117"/>
                  </a:lnTo>
                  <a:lnTo>
                    <a:pt x="599553" y="350690"/>
                  </a:lnTo>
                  <a:lnTo>
                    <a:pt x="603504" y="301751"/>
                  </a:lnTo>
                  <a:lnTo>
                    <a:pt x="599553" y="252813"/>
                  </a:lnTo>
                  <a:lnTo>
                    <a:pt x="588117" y="206386"/>
                  </a:lnTo>
                  <a:lnTo>
                    <a:pt x="569817" y="163092"/>
                  </a:lnTo>
                  <a:lnTo>
                    <a:pt x="545275" y="123553"/>
                  </a:lnTo>
                  <a:lnTo>
                    <a:pt x="515112" y="88392"/>
                  </a:lnTo>
                  <a:lnTo>
                    <a:pt x="479950" y="58228"/>
                  </a:lnTo>
                  <a:lnTo>
                    <a:pt x="440411" y="33686"/>
                  </a:lnTo>
                  <a:lnTo>
                    <a:pt x="397117" y="15386"/>
                  </a:lnTo>
                  <a:lnTo>
                    <a:pt x="350690" y="3950"/>
                  </a:lnTo>
                  <a:lnTo>
                    <a:pt x="301752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7612" y="1726577"/>
              <a:ext cx="277609" cy="27760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791972" y="2217547"/>
            <a:ext cx="172148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0">
                <a:solidFill>
                  <a:srgbClr val="1F4E79"/>
                </a:solidFill>
                <a:latin typeface="Tahoma"/>
                <a:cs typeface="Tahoma"/>
              </a:rPr>
              <a:t>INT8</a:t>
            </a:r>
            <a:r>
              <a:rPr sz="1400" b="1" spc="-75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400" b="1" spc="-10">
                <a:solidFill>
                  <a:srgbClr val="1F4E79"/>
                </a:solidFill>
                <a:latin typeface="Tahoma"/>
                <a:cs typeface="Tahoma"/>
              </a:rPr>
              <a:t>Quantization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1972" y="2677794"/>
            <a:ext cx="2078355" cy="56832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ct val="104800"/>
              </a:lnSpc>
              <a:spcBef>
                <a:spcPts val="35"/>
              </a:spcBef>
            </a:pPr>
            <a:r>
              <a:rPr sz="1150">
                <a:solidFill>
                  <a:srgbClr val="545454"/>
                </a:solidFill>
                <a:latin typeface="Calibri"/>
                <a:cs typeface="Calibri"/>
              </a:rPr>
              <a:t>4×</a:t>
            </a:r>
            <a:r>
              <a:rPr sz="1150" spc="-1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150">
                <a:solidFill>
                  <a:srgbClr val="545454"/>
                </a:solidFill>
                <a:latin typeface="Calibri"/>
                <a:cs typeface="Calibri"/>
              </a:rPr>
              <a:t>smaller,</a:t>
            </a:r>
            <a:r>
              <a:rPr sz="1150" spc="-3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150">
                <a:solidFill>
                  <a:srgbClr val="545454"/>
                </a:solidFill>
                <a:latin typeface="Calibri"/>
                <a:cs typeface="Calibri"/>
              </a:rPr>
              <a:t>integer</a:t>
            </a:r>
            <a:r>
              <a:rPr sz="1150" spc="-1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150">
                <a:solidFill>
                  <a:srgbClr val="545454"/>
                </a:solidFill>
                <a:latin typeface="Calibri"/>
                <a:cs typeface="Calibri"/>
              </a:rPr>
              <a:t>math</a:t>
            </a:r>
            <a:r>
              <a:rPr sz="1150" spc="-3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150">
                <a:solidFill>
                  <a:srgbClr val="545454"/>
                </a:solidFill>
                <a:latin typeface="Calibri"/>
                <a:cs typeface="Calibri"/>
              </a:rPr>
              <a:t>on</a:t>
            </a:r>
            <a:r>
              <a:rPr sz="1150" spc="-2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150" spc="-25">
                <a:solidFill>
                  <a:srgbClr val="545454"/>
                </a:solidFill>
                <a:latin typeface="Calibri"/>
                <a:cs typeface="Calibri"/>
              </a:rPr>
              <a:t>the </a:t>
            </a:r>
            <a:r>
              <a:rPr sz="1150">
                <a:solidFill>
                  <a:srgbClr val="545454"/>
                </a:solidFill>
                <a:latin typeface="Calibri"/>
                <a:cs typeface="Calibri"/>
              </a:rPr>
              <a:t>MCU;</a:t>
            </a:r>
            <a:r>
              <a:rPr sz="1150" spc="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150" spc="-10">
                <a:solidFill>
                  <a:srgbClr val="545454"/>
                </a:solidFill>
                <a:latin typeface="Calibri"/>
                <a:cs typeface="Calibri"/>
              </a:rPr>
              <a:t>calibrated </a:t>
            </a:r>
            <a:r>
              <a:rPr sz="1150">
                <a:solidFill>
                  <a:srgbClr val="545454"/>
                </a:solidFill>
                <a:latin typeface="Calibri"/>
                <a:cs typeface="Calibri"/>
              </a:rPr>
              <a:t>on </a:t>
            </a:r>
            <a:r>
              <a:rPr sz="1150" spc="-10">
                <a:solidFill>
                  <a:srgbClr val="545454"/>
                </a:solidFill>
                <a:latin typeface="Calibri"/>
                <a:cs typeface="Calibri"/>
              </a:rPr>
              <a:t>representative data.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314632" y="1287705"/>
            <a:ext cx="2722880" cy="2476500"/>
            <a:chOff x="3314632" y="1287705"/>
            <a:chExt cx="2722880" cy="247650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14632" y="1287705"/>
              <a:ext cx="2722761" cy="247588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378708" y="1325880"/>
              <a:ext cx="2601595" cy="2354580"/>
            </a:xfrm>
            <a:custGeom>
              <a:avLst/>
              <a:gdLst/>
              <a:ahLst/>
              <a:cxnLst/>
              <a:rect l="l" t="t" r="r" b="b"/>
              <a:pathLst>
                <a:path w="2601595" h="2354579">
                  <a:moveTo>
                    <a:pt x="2510028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40"/>
                  </a:lnTo>
                  <a:lnTo>
                    <a:pt x="0" y="2263140"/>
                  </a:lnTo>
                  <a:lnTo>
                    <a:pt x="7179" y="2298751"/>
                  </a:lnTo>
                  <a:lnTo>
                    <a:pt x="26765" y="2327814"/>
                  </a:lnTo>
                  <a:lnTo>
                    <a:pt x="55828" y="2347400"/>
                  </a:lnTo>
                  <a:lnTo>
                    <a:pt x="91439" y="2354580"/>
                  </a:lnTo>
                  <a:lnTo>
                    <a:pt x="2510028" y="2354580"/>
                  </a:lnTo>
                  <a:lnTo>
                    <a:pt x="2545639" y="2347400"/>
                  </a:lnTo>
                  <a:lnTo>
                    <a:pt x="2574702" y="2327814"/>
                  </a:lnTo>
                  <a:lnTo>
                    <a:pt x="2594288" y="2298751"/>
                  </a:lnTo>
                  <a:lnTo>
                    <a:pt x="2601467" y="2263140"/>
                  </a:lnTo>
                  <a:lnTo>
                    <a:pt x="2601467" y="91440"/>
                  </a:lnTo>
                  <a:lnTo>
                    <a:pt x="2594288" y="55828"/>
                  </a:lnTo>
                  <a:lnTo>
                    <a:pt x="2574702" y="26765"/>
                  </a:lnTo>
                  <a:lnTo>
                    <a:pt x="2545639" y="7179"/>
                  </a:lnTo>
                  <a:lnTo>
                    <a:pt x="2510028" y="0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634740" y="1563624"/>
              <a:ext cx="603885" cy="603885"/>
            </a:xfrm>
            <a:custGeom>
              <a:avLst/>
              <a:gdLst/>
              <a:ahLst/>
              <a:cxnLst/>
              <a:rect l="l" t="t" r="r" b="b"/>
              <a:pathLst>
                <a:path w="603885" h="603885">
                  <a:moveTo>
                    <a:pt x="301751" y="0"/>
                  </a:moveTo>
                  <a:lnTo>
                    <a:pt x="252813" y="3950"/>
                  </a:lnTo>
                  <a:lnTo>
                    <a:pt x="206386" y="15386"/>
                  </a:lnTo>
                  <a:lnTo>
                    <a:pt x="163092" y="33686"/>
                  </a:lnTo>
                  <a:lnTo>
                    <a:pt x="123553" y="58228"/>
                  </a:lnTo>
                  <a:lnTo>
                    <a:pt x="88392" y="88392"/>
                  </a:lnTo>
                  <a:lnTo>
                    <a:pt x="58228" y="123553"/>
                  </a:lnTo>
                  <a:lnTo>
                    <a:pt x="33686" y="163092"/>
                  </a:lnTo>
                  <a:lnTo>
                    <a:pt x="15386" y="206386"/>
                  </a:lnTo>
                  <a:lnTo>
                    <a:pt x="3950" y="252813"/>
                  </a:lnTo>
                  <a:lnTo>
                    <a:pt x="0" y="301751"/>
                  </a:lnTo>
                  <a:lnTo>
                    <a:pt x="3950" y="350690"/>
                  </a:lnTo>
                  <a:lnTo>
                    <a:pt x="15386" y="397117"/>
                  </a:lnTo>
                  <a:lnTo>
                    <a:pt x="33686" y="440411"/>
                  </a:lnTo>
                  <a:lnTo>
                    <a:pt x="58228" y="479950"/>
                  </a:lnTo>
                  <a:lnTo>
                    <a:pt x="88392" y="515111"/>
                  </a:lnTo>
                  <a:lnTo>
                    <a:pt x="123553" y="545275"/>
                  </a:lnTo>
                  <a:lnTo>
                    <a:pt x="163092" y="569817"/>
                  </a:lnTo>
                  <a:lnTo>
                    <a:pt x="206386" y="588117"/>
                  </a:lnTo>
                  <a:lnTo>
                    <a:pt x="252813" y="599553"/>
                  </a:lnTo>
                  <a:lnTo>
                    <a:pt x="301751" y="603503"/>
                  </a:lnTo>
                  <a:lnTo>
                    <a:pt x="350690" y="599553"/>
                  </a:lnTo>
                  <a:lnTo>
                    <a:pt x="397117" y="588117"/>
                  </a:lnTo>
                  <a:lnTo>
                    <a:pt x="440411" y="569817"/>
                  </a:lnTo>
                  <a:lnTo>
                    <a:pt x="479950" y="545275"/>
                  </a:lnTo>
                  <a:lnTo>
                    <a:pt x="515112" y="515111"/>
                  </a:lnTo>
                  <a:lnTo>
                    <a:pt x="545275" y="479950"/>
                  </a:lnTo>
                  <a:lnTo>
                    <a:pt x="569817" y="440411"/>
                  </a:lnTo>
                  <a:lnTo>
                    <a:pt x="588117" y="397117"/>
                  </a:lnTo>
                  <a:lnTo>
                    <a:pt x="599553" y="350690"/>
                  </a:lnTo>
                  <a:lnTo>
                    <a:pt x="603504" y="301751"/>
                  </a:lnTo>
                  <a:lnTo>
                    <a:pt x="599553" y="252813"/>
                  </a:lnTo>
                  <a:lnTo>
                    <a:pt x="588117" y="206386"/>
                  </a:lnTo>
                  <a:lnTo>
                    <a:pt x="569817" y="163092"/>
                  </a:lnTo>
                  <a:lnTo>
                    <a:pt x="545275" y="123553"/>
                  </a:lnTo>
                  <a:lnTo>
                    <a:pt x="515112" y="88392"/>
                  </a:lnTo>
                  <a:lnTo>
                    <a:pt x="479950" y="58228"/>
                  </a:lnTo>
                  <a:lnTo>
                    <a:pt x="440411" y="33686"/>
                  </a:lnTo>
                  <a:lnTo>
                    <a:pt x="397117" y="15386"/>
                  </a:lnTo>
                  <a:lnTo>
                    <a:pt x="350690" y="3950"/>
                  </a:lnTo>
                  <a:lnTo>
                    <a:pt x="301751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97681" y="1726577"/>
              <a:ext cx="277609" cy="27760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3622294" y="2217547"/>
            <a:ext cx="188722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>
                <a:solidFill>
                  <a:srgbClr val="1F4E79"/>
                </a:solidFill>
                <a:latin typeface="Tahoma"/>
                <a:cs typeface="Tahoma"/>
              </a:rPr>
              <a:t>Data</a:t>
            </a:r>
            <a:r>
              <a:rPr sz="1400" b="1" spc="14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400" b="1" spc="45">
                <a:solidFill>
                  <a:srgbClr val="1F4E79"/>
                </a:solidFill>
                <a:latin typeface="Tahoma"/>
                <a:cs typeface="Tahoma"/>
              </a:rPr>
              <a:t>Augmentation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22294" y="2677794"/>
            <a:ext cx="2092960" cy="56832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ct val="104800"/>
              </a:lnSpc>
              <a:spcBef>
                <a:spcPts val="35"/>
              </a:spcBef>
            </a:pPr>
            <a:r>
              <a:rPr sz="1150">
                <a:solidFill>
                  <a:srgbClr val="545454"/>
                </a:solidFill>
                <a:latin typeface="Calibri"/>
                <a:cs typeface="Calibri"/>
              </a:rPr>
              <a:t>Flips</a:t>
            </a:r>
            <a:r>
              <a:rPr sz="1150" spc="-3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150">
                <a:solidFill>
                  <a:srgbClr val="545454"/>
                </a:solidFill>
                <a:latin typeface="Calibri"/>
                <a:cs typeface="Calibri"/>
              </a:rPr>
              <a:t>/</a:t>
            </a:r>
            <a:r>
              <a:rPr sz="1150" spc="-2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150">
                <a:solidFill>
                  <a:srgbClr val="545454"/>
                </a:solidFill>
                <a:latin typeface="Calibri"/>
                <a:cs typeface="Calibri"/>
              </a:rPr>
              <a:t>rotation</a:t>
            </a:r>
            <a:r>
              <a:rPr sz="1150" spc="-1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150">
                <a:solidFill>
                  <a:srgbClr val="545454"/>
                </a:solidFill>
                <a:latin typeface="Calibri"/>
                <a:cs typeface="Calibri"/>
              </a:rPr>
              <a:t>/</a:t>
            </a:r>
            <a:r>
              <a:rPr sz="1150" spc="-2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150">
                <a:solidFill>
                  <a:srgbClr val="545454"/>
                </a:solidFill>
                <a:latin typeface="Calibri"/>
                <a:cs typeface="Calibri"/>
              </a:rPr>
              <a:t>zoom</a:t>
            </a:r>
            <a:r>
              <a:rPr sz="1150" spc="-3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150">
                <a:solidFill>
                  <a:srgbClr val="545454"/>
                </a:solidFill>
                <a:latin typeface="Calibri"/>
                <a:cs typeface="Calibri"/>
              </a:rPr>
              <a:t>/</a:t>
            </a:r>
            <a:r>
              <a:rPr sz="1150" spc="-2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150" spc="-10">
                <a:solidFill>
                  <a:srgbClr val="545454"/>
                </a:solidFill>
                <a:latin typeface="Calibri"/>
                <a:cs typeface="Calibri"/>
              </a:rPr>
              <a:t>brightness </a:t>
            </a:r>
            <a:r>
              <a:rPr sz="1150">
                <a:solidFill>
                  <a:srgbClr val="545454"/>
                </a:solidFill>
                <a:latin typeface="Calibri"/>
                <a:cs typeface="Calibri"/>
              </a:rPr>
              <a:t>brightness</a:t>
            </a:r>
            <a:r>
              <a:rPr sz="1150" spc="-3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150">
                <a:solidFill>
                  <a:srgbClr val="545454"/>
                </a:solidFill>
                <a:latin typeface="Calibri"/>
                <a:cs typeface="Calibri"/>
              </a:rPr>
              <a:t>for</a:t>
            </a:r>
            <a:r>
              <a:rPr sz="1150" spc="-3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150">
                <a:solidFill>
                  <a:srgbClr val="545454"/>
                </a:solidFill>
                <a:latin typeface="Calibri"/>
                <a:cs typeface="Calibri"/>
              </a:rPr>
              <a:t>lighting</a:t>
            </a:r>
            <a:r>
              <a:rPr sz="1150" spc="-3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150">
                <a:solidFill>
                  <a:srgbClr val="545454"/>
                </a:solidFill>
                <a:latin typeface="Calibri"/>
                <a:cs typeface="Calibri"/>
              </a:rPr>
              <a:t>&amp;</a:t>
            </a:r>
            <a:r>
              <a:rPr sz="1150" spc="-3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150" spc="-20">
                <a:solidFill>
                  <a:srgbClr val="545454"/>
                </a:solidFill>
                <a:latin typeface="Calibri"/>
                <a:cs typeface="Calibri"/>
              </a:rPr>
              <a:t>angle </a:t>
            </a:r>
            <a:r>
              <a:rPr sz="1150" spc="-10">
                <a:solidFill>
                  <a:srgbClr val="545454"/>
                </a:solidFill>
                <a:latin typeface="Calibri"/>
                <a:cs typeface="Calibri"/>
              </a:rPr>
              <a:t>robustness.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144700" y="1287705"/>
            <a:ext cx="2722880" cy="2476500"/>
            <a:chOff x="6144700" y="1287705"/>
            <a:chExt cx="2722880" cy="2476500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44700" y="1287705"/>
              <a:ext cx="2722761" cy="247588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208776" y="1325880"/>
              <a:ext cx="2601595" cy="2354580"/>
            </a:xfrm>
            <a:custGeom>
              <a:avLst/>
              <a:gdLst/>
              <a:ahLst/>
              <a:cxnLst/>
              <a:rect l="l" t="t" r="r" b="b"/>
              <a:pathLst>
                <a:path w="2601595" h="2354579">
                  <a:moveTo>
                    <a:pt x="2510028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40"/>
                  </a:lnTo>
                  <a:lnTo>
                    <a:pt x="0" y="2263140"/>
                  </a:lnTo>
                  <a:lnTo>
                    <a:pt x="7179" y="2298751"/>
                  </a:lnTo>
                  <a:lnTo>
                    <a:pt x="26765" y="2327814"/>
                  </a:lnTo>
                  <a:lnTo>
                    <a:pt x="55828" y="2347400"/>
                  </a:lnTo>
                  <a:lnTo>
                    <a:pt x="91439" y="2354580"/>
                  </a:lnTo>
                  <a:lnTo>
                    <a:pt x="2510028" y="2354580"/>
                  </a:lnTo>
                  <a:lnTo>
                    <a:pt x="2545639" y="2347400"/>
                  </a:lnTo>
                  <a:lnTo>
                    <a:pt x="2574702" y="2327814"/>
                  </a:lnTo>
                  <a:lnTo>
                    <a:pt x="2594288" y="2298751"/>
                  </a:lnTo>
                  <a:lnTo>
                    <a:pt x="2601468" y="2263140"/>
                  </a:lnTo>
                  <a:lnTo>
                    <a:pt x="2601468" y="91440"/>
                  </a:lnTo>
                  <a:lnTo>
                    <a:pt x="2594288" y="55828"/>
                  </a:lnTo>
                  <a:lnTo>
                    <a:pt x="2574702" y="26765"/>
                  </a:lnTo>
                  <a:lnTo>
                    <a:pt x="2545639" y="7179"/>
                  </a:lnTo>
                  <a:lnTo>
                    <a:pt x="2510028" y="0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464808" y="1563624"/>
              <a:ext cx="603885" cy="603885"/>
            </a:xfrm>
            <a:custGeom>
              <a:avLst/>
              <a:gdLst/>
              <a:ahLst/>
              <a:cxnLst/>
              <a:rect l="l" t="t" r="r" b="b"/>
              <a:pathLst>
                <a:path w="603884" h="603885">
                  <a:moveTo>
                    <a:pt x="301751" y="0"/>
                  </a:moveTo>
                  <a:lnTo>
                    <a:pt x="252813" y="3950"/>
                  </a:lnTo>
                  <a:lnTo>
                    <a:pt x="206386" y="15386"/>
                  </a:lnTo>
                  <a:lnTo>
                    <a:pt x="163092" y="33686"/>
                  </a:lnTo>
                  <a:lnTo>
                    <a:pt x="123553" y="58228"/>
                  </a:lnTo>
                  <a:lnTo>
                    <a:pt x="88391" y="88392"/>
                  </a:lnTo>
                  <a:lnTo>
                    <a:pt x="58228" y="123553"/>
                  </a:lnTo>
                  <a:lnTo>
                    <a:pt x="33686" y="163092"/>
                  </a:lnTo>
                  <a:lnTo>
                    <a:pt x="15386" y="206386"/>
                  </a:lnTo>
                  <a:lnTo>
                    <a:pt x="3950" y="252813"/>
                  </a:lnTo>
                  <a:lnTo>
                    <a:pt x="0" y="301751"/>
                  </a:lnTo>
                  <a:lnTo>
                    <a:pt x="3950" y="350690"/>
                  </a:lnTo>
                  <a:lnTo>
                    <a:pt x="15386" y="397117"/>
                  </a:lnTo>
                  <a:lnTo>
                    <a:pt x="33686" y="440411"/>
                  </a:lnTo>
                  <a:lnTo>
                    <a:pt x="58228" y="479950"/>
                  </a:lnTo>
                  <a:lnTo>
                    <a:pt x="88391" y="515111"/>
                  </a:lnTo>
                  <a:lnTo>
                    <a:pt x="123553" y="545275"/>
                  </a:lnTo>
                  <a:lnTo>
                    <a:pt x="163092" y="569817"/>
                  </a:lnTo>
                  <a:lnTo>
                    <a:pt x="206386" y="588117"/>
                  </a:lnTo>
                  <a:lnTo>
                    <a:pt x="252813" y="599553"/>
                  </a:lnTo>
                  <a:lnTo>
                    <a:pt x="301751" y="603503"/>
                  </a:lnTo>
                  <a:lnTo>
                    <a:pt x="350690" y="599553"/>
                  </a:lnTo>
                  <a:lnTo>
                    <a:pt x="397117" y="588117"/>
                  </a:lnTo>
                  <a:lnTo>
                    <a:pt x="440411" y="569817"/>
                  </a:lnTo>
                  <a:lnTo>
                    <a:pt x="479950" y="545275"/>
                  </a:lnTo>
                  <a:lnTo>
                    <a:pt x="515111" y="515111"/>
                  </a:lnTo>
                  <a:lnTo>
                    <a:pt x="545275" y="479950"/>
                  </a:lnTo>
                  <a:lnTo>
                    <a:pt x="569817" y="440411"/>
                  </a:lnTo>
                  <a:lnTo>
                    <a:pt x="588117" y="397117"/>
                  </a:lnTo>
                  <a:lnTo>
                    <a:pt x="599553" y="350690"/>
                  </a:lnTo>
                  <a:lnTo>
                    <a:pt x="603503" y="301751"/>
                  </a:lnTo>
                  <a:lnTo>
                    <a:pt x="599553" y="252813"/>
                  </a:lnTo>
                  <a:lnTo>
                    <a:pt x="588117" y="206386"/>
                  </a:lnTo>
                  <a:lnTo>
                    <a:pt x="569817" y="163092"/>
                  </a:lnTo>
                  <a:lnTo>
                    <a:pt x="545275" y="123553"/>
                  </a:lnTo>
                  <a:lnTo>
                    <a:pt x="515111" y="88392"/>
                  </a:lnTo>
                  <a:lnTo>
                    <a:pt x="479950" y="58228"/>
                  </a:lnTo>
                  <a:lnTo>
                    <a:pt x="440411" y="33686"/>
                  </a:lnTo>
                  <a:lnTo>
                    <a:pt x="397117" y="15386"/>
                  </a:lnTo>
                  <a:lnTo>
                    <a:pt x="350690" y="3950"/>
                  </a:lnTo>
                  <a:lnTo>
                    <a:pt x="301751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27749" y="1726577"/>
              <a:ext cx="277609" cy="277609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6452742" y="2217547"/>
            <a:ext cx="208597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>
                <a:solidFill>
                  <a:srgbClr val="1F4E79"/>
                </a:solidFill>
                <a:latin typeface="Tahoma"/>
                <a:cs typeface="Tahoma"/>
              </a:rPr>
              <a:t>Hard-Negative</a:t>
            </a:r>
            <a:r>
              <a:rPr sz="1400" b="1" spc="345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400" b="1" spc="-10">
                <a:solidFill>
                  <a:srgbClr val="1F4E79"/>
                </a:solidFill>
                <a:latin typeface="Tahoma"/>
                <a:cs typeface="Tahoma"/>
              </a:rPr>
              <a:t>Mining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452742" y="2677794"/>
            <a:ext cx="1629410" cy="56832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ct val="104800"/>
              </a:lnSpc>
              <a:spcBef>
                <a:spcPts val="35"/>
              </a:spcBef>
            </a:pPr>
            <a:r>
              <a:rPr sz="1150">
                <a:solidFill>
                  <a:srgbClr val="545454"/>
                </a:solidFill>
                <a:latin typeface="Calibri"/>
                <a:cs typeface="Calibri"/>
              </a:rPr>
              <a:t>A</a:t>
            </a:r>
            <a:r>
              <a:rPr sz="1150" spc="-1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150">
                <a:solidFill>
                  <a:srgbClr val="545454"/>
                </a:solidFill>
                <a:latin typeface="Calibri"/>
                <a:cs typeface="Calibri"/>
              </a:rPr>
              <a:t>live ESP32 </a:t>
            </a:r>
            <a:r>
              <a:rPr sz="1150" spc="-10">
                <a:solidFill>
                  <a:srgbClr val="545454"/>
                </a:solidFill>
                <a:latin typeface="Calibri"/>
                <a:cs typeface="Calibri"/>
              </a:rPr>
              <a:t>Wi-</a:t>
            </a:r>
            <a:r>
              <a:rPr sz="1150">
                <a:solidFill>
                  <a:srgbClr val="545454"/>
                </a:solidFill>
                <a:latin typeface="Calibri"/>
                <a:cs typeface="Calibri"/>
              </a:rPr>
              <a:t>Fi</a:t>
            </a:r>
            <a:r>
              <a:rPr sz="1150" spc="-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150" spc="-10">
                <a:solidFill>
                  <a:srgbClr val="545454"/>
                </a:solidFill>
                <a:latin typeface="Calibri"/>
                <a:cs typeface="Calibri"/>
              </a:rPr>
              <a:t>capturer </a:t>
            </a:r>
            <a:r>
              <a:rPr sz="1150">
                <a:solidFill>
                  <a:srgbClr val="545454"/>
                </a:solidFill>
                <a:latin typeface="Calibri"/>
                <a:cs typeface="Calibri"/>
              </a:rPr>
              <a:t>harvested</a:t>
            </a:r>
            <a:r>
              <a:rPr sz="1150" spc="-4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150">
                <a:solidFill>
                  <a:srgbClr val="545454"/>
                </a:solidFill>
                <a:latin typeface="Calibri"/>
                <a:cs typeface="Calibri"/>
              </a:rPr>
              <a:t>field</a:t>
            </a:r>
            <a:r>
              <a:rPr sz="1150" spc="-4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150" spc="-10">
                <a:solidFill>
                  <a:srgbClr val="545454"/>
                </a:solidFill>
                <a:latin typeface="Calibri"/>
                <a:cs typeface="Calibri"/>
              </a:rPr>
              <a:t>mistakes; oversampled </a:t>
            </a:r>
            <a:r>
              <a:rPr sz="1150">
                <a:solidFill>
                  <a:srgbClr val="545454"/>
                </a:solidFill>
                <a:latin typeface="Calibri"/>
                <a:cs typeface="Calibri"/>
              </a:rPr>
              <a:t>past</a:t>
            </a:r>
            <a:r>
              <a:rPr sz="1150" spc="2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150" spc="-20">
                <a:solidFill>
                  <a:srgbClr val="545454"/>
                </a:solidFill>
                <a:latin typeface="Calibri"/>
                <a:cs typeface="Calibri"/>
              </a:rPr>
              <a:t>90%.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8974768" y="1287705"/>
            <a:ext cx="2722880" cy="2476500"/>
            <a:chOff x="8974768" y="1287705"/>
            <a:chExt cx="2722880" cy="2476500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74768" y="1287705"/>
              <a:ext cx="2722761" cy="2475886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9038844" y="1325880"/>
              <a:ext cx="2601595" cy="2354580"/>
            </a:xfrm>
            <a:custGeom>
              <a:avLst/>
              <a:gdLst/>
              <a:ahLst/>
              <a:cxnLst/>
              <a:rect l="l" t="t" r="r" b="b"/>
              <a:pathLst>
                <a:path w="2601595" h="2354579">
                  <a:moveTo>
                    <a:pt x="2510028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40"/>
                  </a:lnTo>
                  <a:lnTo>
                    <a:pt x="0" y="2263140"/>
                  </a:lnTo>
                  <a:lnTo>
                    <a:pt x="7179" y="2298751"/>
                  </a:lnTo>
                  <a:lnTo>
                    <a:pt x="26765" y="2327814"/>
                  </a:lnTo>
                  <a:lnTo>
                    <a:pt x="55828" y="2347400"/>
                  </a:lnTo>
                  <a:lnTo>
                    <a:pt x="91439" y="2354580"/>
                  </a:lnTo>
                  <a:lnTo>
                    <a:pt x="2510028" y="2354580"/>
                  </a:lnTo>
                  <a:lnTo>
                    <a:pt x="2545639" y="2347400"/>
                  </a:lnTo>
                  <a:lnTo>
                    <a:pt x="2574702" y="2327814"/>
                  </a:lnTo>
                  <a:lnTo>
                    <a:pt x="2594288" y="2298751"/>
                  </a:lnTo>
                  <a:lnTo>
                    <a:pt x="2601467" y="2263140"/>
                  </a:lnTo>
                  <a:lnTo>
                    <a:pt x="2601467" y="91440"/>
                  </a:lnTo>
                  <a:lnTo>
                    <a:pt x="2594288" y="55828"/>
                  </a:lnTo>
                  <a:lnTo>
                    <a:pt x="2574702" y="26765"/>
                  </a:lnTo>
                  <a:lnTo>
                    <a:pt x="2545639" y="7179"/>
                  </a:lnTo>
                  <a:lnTo>
                    <a:pt x="2510028" y="0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294876" y="1563624"/>
              <a:ext cx="603885" cy="603885"/>
            </a:xfrm>
            <a:custGeom>
              <a:avLst/>
              <a:gdLst/>
              <a:ahLst/>
              <a:cxnLst/>
              <a:rect l="l" t="t" r="r" b="b"/>
              <a:pathLst>
                <a:path w="603884" h="603885">
                  <a:moveTo>
                    <a:pt x="301751" y="0"/>
                  </a:moveTo>
                  <a:lnTo>
                    <a:pt x="252813" y="3950"/>
                  </a:lnTo>
                  <a:lnTo>
                    <a:pt x="206386" y="15386"/>
                  </a:lnTo>
                  <a:lnTo>
                    <a:pt x="163092" y="33686"/>
                  </a:lnTo>
                  <a:lnTo>
                    <a:pt x="123553" y="58228"/>
                  </a:lnTo>
                  <a:lnTo>
                    <a:pt x="88392" y="88392"/>
                  </a:lnTo>
                  <a:lnTo>
                    <a:pt x="58228" y="123553"/>
                  </a:lnTo>
                  <a:lnTo>
                    <a:pt x="33686" y="163092"/>
                  </a:lnTo>
                  <a:lnTo>
                    <a:pt x="15386" y="206386"/>
                  </a:lnTo>
                  <a:lnTo>
                    <a:pt x="3950" y="252813"/>
                  </a:lnTo>
                  <a:lnTo>
                    <a:pt x="0" y="301751"/>
                  </a:lnTo>
                  <a:lnTo>
                    <a:pt x="3950" y="350690"/>
                  </a:lnTo>
                  <a:lnTo>
                    <a:pt x="15386" y="397117"/>
                  </a:lnTo>
                  <a:lnTo>
                    <a:pt x="33686" y="440411"/>
                  </a:lnTo>
                  <a:lnTo>
                    <a:pt x="58228" y="479950"/>
                  </a:lnTo>
                  <a:lnTo>
                    <a:pt x="88392" y="515111"/>
                  </a:lnTo>
                  <a:lnTo>
                    <a:pt x="123553" y="545275"/>
                  </a:lnTo>
                  <a:lnTo>
                    <a:pt x="163092" y="569817"/>
                  </a:lnTo>
                  <a:lnTo>
                    <a:pt x="206386" y="588117"/>
                  </a:lnTo>
                  <a:lnTo>
                    <a:pt x="252813" y="599553"/>
                  </a:lnTo>
                  <a:lnTo>
                    <a:pt x="301751" y="603503"/>
                  </a:lnTo>
                  <a:lnTo>
                    <a:pt x="350690" y="599553"/>
                  </a:lnTo>
                  <a:lnTo>
                    <a:pt x="397117" y="588117"/>
                  </a:lnTo>
                  <a:lnTo>
                    <a:pt x="440411" y="569817"/>
                  </a:lnTo>
                  <a:lnTo>
                    <a:pt x="479950" y="545275"/>
                  </a:lnTo>
                  <a:lnTo>
                    <a:pt x="515111" y="515111"/>
                  </a:lnTo>
                  <a:lnTo>
                    <a:pt x="545275" y="479950"/>
                  </a:lnTo>
                  <a:lnTo>
                    <a:pt x="569817" y="440411"/>
                  </a:lnTo>
                  <a:lnTo>
                    <a:pt x="588117" y="397117"/>
                  </a:lnTo>
                  <a:lnTo>
                    <a:pt x="599553" y="350690"/>
                  </a:lnTo>
                  <a:lnTo>
                    <a:pt x="603503" y="301751"/>
                  </a:lnTo>
                  <a:lnTo>
                    <a:pt x="599553" y="252813"/>
                  </a:lnTo>
                  <a:lnTo>
                    <a:pt x="588117" y="206386"/>
                  </a:lnTo>
                  <a:lnTo>
                    <a:pt x="569817" y="163092"/>
                  </a:lnTo>
                  <a:lnTo>
                    <a:pt x="545275" y="123553"/>
                  </a:lnTo>
                  <a:lnTo>
                    <a:pt x="515111" y="88392"/>
                  </a:lnTo>
                  <a:lnTo>
                    <a:pt x="479950" y="58228"/>
                  </a:lnTo>
                  <a:lnTo>
                    <a:pt x="440411" y="33686"/>
                  </a:lnTo>
                  <a:lnTo>
                    <a:pt x="397117" y="15386"/>
                  </a:lnTo>
                  <a:lnTo>
                    <a:pt x="350690" y="3950"/>
                  </a:lnTo>
                  <a:lnTo>
                    <a:pt x="301751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 descr="preencoded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457817" y="1726577"/>
              <a:ext cx="277609" cy="277609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9283445" y="2217547"/>
            <a:ext cx="141795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55">
                <a:solidFill>
                  <a:srgbClr val="1F4E79"/>
                </a:solidFill>
                <a:latin typeface="Tahoma"/>
                <a:cs typeface="Tahoma"/>
              </a:rPr>
              <a:t>Optuna</a:t>
            </a:r>
            <a:r>
              <a:rPr sz="1400" b="1" spc="-5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400" b="1" spc="-10">
                <a:solidFill>
                  <a:srgbClr val="1F4E79"/>
                </a:solidFill>
                <a:latin typeface="Tahoma"/>
                <a:cs typeface="Tahoma"/>
              </a:rPr>
              <a:t>Search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283445" y="2677794"/>
            <a:ext cx="1568450" cy="38417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ct val="104299"/>
              </a:lnSpc>
              <a:spcBef>
                <a:spcPts val="40"/>
              </a:spcBef>
            </a:pPr>
            <a:r>
              <a:rPr sz="1150">
                <a:solidFill>
                  <a:srgbClr val="545454"/>
                </a:solidFill>
                <a:latin typeface="Calibri"/>
                <a:cs typeface="Calibri"/>
              </a:rPr>
              <a:t>Automated</a:t>
            </a:r>
            <a:r>
              <a:rPr sz="1150" spc="-5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150">
                <a:solidFill>
                  <a:srgbClr val="545454"/>
                </a:solidFill>
                <a:latin typeface="Calibri"/>
                <a:cs typeface="Calibri"/>
              </a:rPr>
              <a:t>LR</a:t>
            </a:r>
            <a:r>
              <a:rPr sz="1150" spc="-1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150">
                <a:solidFill>
                  <a:srgbClr val="545454"/>
                </a:solidFill>
                <a:latin typeface="Calibri"/>
                <a:cs typeface="Calibri"/>
              </a:rPr>
              <a:t>/</a:t>
            </a:r>
            <a:r>
              <a:rPr sz="1150" spc="-2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150">
                <a:solidFill>
                  <a:srgbClr val="545454"/>
                </a:solidFill>
                <a:latin typeface="Calibri"/>
                <a:cs typeface="Calibri"/>
              </a:rPr>
              <a:t>dropout</a:t>
            </a:r>
            <a:r>
              <a:rPr sz="1150" spc="-1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150" spc="-50">
                <a:solidFill>
                  <a:srgbClr val="545454"/>
                </a:solidFill>
                <a:latin typeface="Calibri"/>
                <a:cs typeface="Calibri"/>
              </a:rPr>
              <a:t>/ </a:t>
            </a:r>
            <a:r>
              <a:rPr sz="1150" spc="-10">
                <a:solidFill>
                  <a:srgbClr val="545454"/>
                </a:solidFill>
                <a:latin typeface="Calibri"/>
                <a:cs typeface="Calibri"/>
              </a:rPr>
              <a:t>architecture</a:t>
            </a:r>
            <a:r>
              <a:rPr sz="1150" spc="5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150" spc="-10">
                <a:solidFill>
                  <a:srgbClr val="545454"/>
                </a:solidFill>
                <a:latin typeface="Calibri"/>
                <a:cs typeface="Calibri"/>
              </a:rPr>
              <a:t>tuning.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84564" y="3870885"/>
            <a:ext cx="2722880" cy="2476500"/>
            <a:chOff x="484564" y="3870885"/>
            <a:chExt cx="2722880" cy="2476500"/>
          </a:xfrm>
        </p:grpSpPr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4564" y="3870885"/>
              <a:ext cx="2722761" cy="2475886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48639" y="3909059"/>
              <a:ext cx="2601595" cy="2354580"/>
            </a:xfrm>
            <a:custGeom>
              <a:avLst/>
              <a:gdLst/>
              <a:ahLst/>
              <a:cxnLst/>
              <a:rect l="l" t="t" r="r" b="b"/>
              <a:pathLst>
                <a:path w="2601595" h="2354579">
                  <a:moveTo>
                    <a:pt x="2510028" y="0"/>
                  </a:moveTo>
                  <a:lnTo>
                    <a:pt x="91427" y="0"/>
                  </a:lnTo>
                  <a:lnTo>
                    <a:pt x="55839" y="7179"/>
                  </a:lnTo>
                  <a:lnTo>
                    <a:pt x="26777" y="26765"/>
                  </a:lnTo>
                  <a:lnTo>
                    <a:pt x="7184" y="55828"/>
                  </a:lnTo>
                  <a:lnTo>
                    <a:pt x="0" y="91439"/>
                  </a:lnTo>
                  <a:lnTo>
                    <a:pt x="0" y="2263152"/>
                  </a:lnTo>
                  <a:lnTo>
                    <a:pt x="7184" y="2298740"/>
                  </a:lnTo>
                  <a:lnTo>
                    <a:pt x="26777" y="2327802"/>
                  </a:lnTo>
                  <a:lnTo>
                    <a:pt x="55839" y="2347395"/>
                  </a:lnTo>
                  <a:lnTo>
                    <a:pt x="91427" y="2354579"/>
                  </a:lnTo>
                  <a:lnTo>
                    <a:pt x="2510028" y="2354579"/>
                  </a:lnTo>
                  <a:lnTo>
                    <a:pt x="2545639" y="2347395"/>
                  </a:lnTo>
                  <a:lnTo>
                    <a:pt x="2574702" y="2327802"/>
                  </a:lnTo>
                  <a:lnTo>
                    <a:pt x="2594288" y="2298740"/>
                  </a:lnTo>
                  <a:lnTo>
                    <a:pt x="2601467" y="2263152"/>
                  </a:lnTo>
                  <a:lnTo>
                    <a:pt x="2601467" y="91439"/>
                  </a:lnTo>
                  <a:lnTo>
                    <a:pt x="2594288" y="55828"/>
                  </a:lnTo>
                  <a:lnTo>
                    <a:pt x="2574702" y="26765"/>
                  </a:lnTo>
                  <a:lnTo>
                    <a:pt x="2545639" y="7179"/>
                  </a:lnTo>
                  <a:lnTo>
                    <a:pt x="2510028" y="0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04671" y="4146803"/>
              <a:ext cx="603885" cy="603885"/>
            </a:xfrm>
            <a:custGeom>
              <a:avLst/>
              <a:gdLst/>
              <a:ahLst/>
              <a:cxnLst/>
              <a:rect l="l" t="t" r="r" b="b"/>
              <a:pathLst>
                <a:path w="603885" h="603885">
                  <a:moveTo>
                    <a:pt x="301752" y="0"/>
                  </a:moveTo>
                  <a:lnTo>
                    <a:pt x="252807" y="3950"/>
                  </a:lnTo>
                  <a:lnTo>
                    <a:pt x="206376" y="15386"/>
                  </a:lnTo>
                  <a:lnTo>
                    <a:pt x="163081" y="33686"/>
                  </a:lnTo>
                  <a:lnTo>
                    <a:pt x="123542" y="58228"/>
                  </a:lnTo>
                  <a:lnTo>
                    <a:pt x="88382" y="88392"/>
                  </a:lnTo>
                  <a:lnTo>
                    <a:pt x="58221" y="123553"/>
                  </a:lnTo>
                  <a:lnTo>
                    <a:pt x="33681" y="163092"/>
                  </a:lnTo>
                  <a:lnTo>
                    <a:pt x="15383" y="206386"/>
                  </a:lnTo>
                  <a:lnTo>
                    <a:pt x="3949" y="252813"/>
                  </a:lnTo>
                  <a:lnTo>
                    <a:pt x="0" y="301752"/>
                  </a:lnTo>
                  <a:lnTo>
                    <a:pt x="3949" y="350690"/>
                  </a:lnTo>
                  <a:lnTo>
                    <a:pt x="15383" y="397117"/>
                  </a:lnTo>
                  <a:lnTo>
                    <a:pt x="33681" y="440411"/>
                  </a:lnTo>
                  <a:lnTo>
                    <a:pt x="58221" y="479950"/>
                  </a:lnTo>
                  <a:lnTo>
                    <a:pt x="88382" y="515112"/>
                  </a:lnTo>
                  <a:lnTo>
                    <a:pt x="123542" y="545275"/>
                  </a:lnTo>
                  <a:lnTo>
                    <a:pt x="163081" y="569817"/>
                  </a:lnTo>
                  <a:lnTo>
                    <a:pt x="206376" y="588117"/>
                  </a:lnTo>
                  <a:lnTo>
                    <a:pt x="252807" y="599553"/>
                  </a:lnTo>
                  <a:lnTo>
                    <a:pt x="301752" y="603504"/>
                  </a:lnTo>
                  <a:lnTo>
                    <a:pt x="350690" y="599553"/>
                  </a:lnTo>
                  <a:lnTo>
                    <a:pt x="397117" y="588117"/>
                  </a:lnTo>
                  <a:lnTo>
                    <a:pt x="440411" y="569817"/>
                  </a:lnTo>
                  <a:lnTo>
                    <a:pt x="479950" y="545275"/>
                  </a:lnTo>
                  <a:lnTo>
                    <a:pt x="515111" y="515112"/>
                  </a:lnTo>
                  <a:lnTo>
                    <a:pt x="545275" y="479950"/>
                  </a:lnTo>
                  <a:lnTo>
                    <a:pt x="569817" y="440411"/>
                  </a:lnTo>
                  <a:lnTo>
                    <a:pt x="588117" y="397117"/>
                  </a:lnTo>
                  <a:lnTo>
                    <a:pt x="599553" y="350690"/>
                  </a:lnTo>
                  <a:lnTo>
                    <a:pt x="603504" y="301752"/>
                  </a:lnTo>
                  <a:lnTo>
                    <a:pt x="599553" y="252813"/>
                  </a:lnTo>
                  <a:lnTo>
                    <a:pt x="588117" y="206386"/>
                  </a:lnTo>
                  <a:lnTo>
                    <a:pt x="569817" y="163092"/>
                  </a:lnTo>
                  <a:lnTo>
                    <a:pt x="545275" y="123553"/>
                  </a:lnTo>
                  <a:lnTo>
                    <a:pt x="515112" y="88392"/>
                  </a:lnTo>
                  <a:lnTo>
                    <a:pt x="479950" y="58228"/>
                  </a:lnTo>
                  <a:lnTo>
                    <a:pt x="440411" y="33686"/>
                  </a:lnTo>
                  <a:lnTo>
                    <a:pt x="397117" y="15386"/>
                  </a:lnTo>
                  <a:lnTo>
                    <a:pt x="350690" y="3950"/>
                  </a:lnTo>
                  <a:lnTo>
                    <a:pt x="301752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 descr="preencoded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67612" y="4309757"/>
              <a:ext cx="277609" cy="277609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791972" y="4800980"/>
            <a:ext cx="21539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55">
                <a:solidFill>
                  <a:srgbClr val="1F4E79"/>
                </a:solidFill>
                <a:latin typeface="Tahoma"/>
                <a:cs typeface="Tahoma"/>
              </a:rPr>
              <a:t>Knowledge</a:t>
            </a:r>
            <a:r>
              <a:rPr sz="1400" b="1" spc="-35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400" b="1" spc="-10">
                <a:solidFill>
                  <a:srgbClr val="1F4E79"/>
                </a:solidFill>
                <a:latin typeface="Tahoma"/>
                <a:cs typeface="Tahoma"/>
              </a:rPr>
              <a:t>Distillation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91972" y="5261609"/>
            <a:ext cx="1734185" cy="56832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 algn="just">
              <a:lnSpc>
                <a:spcPct val="104800"/>
              </a:lnSpc>
              <a:spcBef>
                <a:spcPts val="35"/>
              </a:spcBef>
            </a:pPr>
            <a:r>
              <a:rPr sz="1150" spc="-10">
                <a:solidFill>
                  <a:srgbClr val="545454"/>
                </a:solidFill>
                <a:latin typeface="Calibri"/>
                <a:cs typeface="Calibri"/>
              </a:rPr>
              <a:t>MobileNetV2</a:t>
            </a:r>
            <a:r>
              <a:rPr sz="1150">
                <a:solidFill>
                  <a:srgbClr val="545454"/>
                </a:solidFill>
                <a:latin typeface="Calibri"/>
                <a:cs typeface="Calibri"/>
              </a:rPr>
              <a:t> teacher</a:t>
            </a:r>
            <a:r>
              <a:rPr sz="1150" spc="-1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150">
                <a:solidFill>
                  <a:srgbClr val="545454"/>
                </a:solidFill>
                <a:latin typeface="Calibri"/>
                <a:cs typeface="Calibri"/>
              </a:rPr>
              <a:t>→ </a:t>
            </a:r>
            <a:r>
              <a:rPr sz="1150" spc="-20">
                <a:solidFill>
                  <a:srgbClr val="545454"/>
                </a:solidFill>
                <a:latin typeface="Calibri"/>
                <a:cs typeface="Calibri"/>
              </a:rPr>
              <a:t>tiny </a:t>
            </a:r>
            <a:r>
              <a:rPr sz="1150">
                <a:solidFill>
                  <a:srgbClr val="545454"/>
                </a:solidFill>
                <a:latin typeface="Calibri"/>
                <a:cs typeface="Calibri"/>
              </a:rPr>
              <a:t>student</a:t>
            </a:r>
            <a:r>
              <a:rPr sz="1150" spc="-4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150">
                <a:solidFill>
                  <a:srgbClr val="545454"/>
                </a:solidFill>
                <a:latin typeface="Calibri"/>
                <a:cs typeface="Calibri"/>
              </a:rPr>
              <a:t>(α=0.378,</a:t>
            </a:r>
            <a:r>
              <a:rPr sz="1150" spc="-4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150">
                <a:solidFill>
                  <a:srgbClr val="545454"/>
                </a:solidFill>
                <a:latin typeface="Calibri"/>
                <a:cs typeface="Calibri"/>
              </a:rPr>
              <a:t>T=9.23)</a:t>
            </a:r>
            <a:r>
              <a:rPr sz="1150" spc="-50">
                <a:solidFill>
                  <a:srgbClr val="545454"/>
                </a:solidFill>
                <a:latin typeface="Calibri"/>
                <a:cs typeface="Calibri"/>
              </a:rPr>
              <a:t> → </a:t>
            </a:r>
            <a:r>
              <a:rPr sz="1150" spc="-10">
                <a:solidFill>
                  <a:srgbClr val="545454"/>
                </a:solidFill>
                <a:latin typeface="Calibri"/>
                <a:cs typeface="Calibri"/>
              </a:rPr>
              <a:t>91.77%.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3314632" y="3870885"/>
            <a:ext cx="2722880" cy="2476500"/>
            <a:chOff x="3314632" y="3870885"/>
            <a:chExt cx="2722880" cy="2476500"/>
          </a:xfrm>
        </p:grpSpPr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14632" y="3870885"/>
              <a:ext cx="2722761" cy="2475886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3378708" y="3909059"/>
              <a:ext cx="2601595" cy="2354580"/>
            </a:xfrm>
            <a:custGeom>
              <a:avLst/>
              <a:gdLst/>
              <a:ahLst/>
              <a:cxnLst/>
              <a:rect l="l" t="t" r="r" b="b"/>
              <a:pathLst>
                <a:path w="2601595" h="2354579">
                  <a:moveTo>
                    <a:pt x="2510028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2263152"/>
                  </a:lnTo>
                  <a:lnTo>
                    <a:pt x="7179" y="2298740"/>
                  </a:lnTo>
                  <a:lnTo>
                    <a:pt x="26765" y="2327802"/>
                  </a:lnTo>
                  <a:lnTo>
                    <a:pt x="55828" y="2347395"/>
                  </a:lnTo>
                  <a:lnTo>
                    <a:pt x="91439" y="2354579"/>
                  </a:lnTo>
                  <a:lnTo>
                    <a:pt x="2510028" y="2354579"/>
                  </a:lnTo>
                  <a:lnTo>
                    <a:pt x="2545639" y="2347395"/>
                  </a:lnTo>
                  <a:lnTo>
                    <a:pt x="2574702" y="2327802"/>
                  </a:lnTo>
                  <a:lnTo>
                    <a:pt x="2594288" y="2298740"/>
                  </a:lnTo>
                  <a:lnTo>
                    <a:pt x="2601467" y="2263152"/>
                  </a:lnTo>
                  <a:lnTo>
                    <a:pt x="2601467" y="91439"/>
                  </a:lnTo>
                  <a:lnTo>
                    <a:pt x="2594288" y="55828"/>
                  </a:lnTo>
                  <a:lnTo>
                    <a:pt x="2574702" y="26765"/>
                  </a:lnTo>
                  <a:lnTo>
                    <a:pt x="2545639" y="7179"/>
                  </a:lnTo>
                  <a:lnTo>
                    <a:pt x="2510028" y="0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634740" y="4146803"/>
              <a:ext cx="603885" cy="603885"/>
            </a:xfrm>
            <a:custGeom>
              <a:avLst/>
              <a:gdLst/>
              <a:ahLst/>
              <a:cxnLst/>
              <a:rect l="l" t="t" r="r" b="b"/>
              <a:pathLst>
                <a:path w="603885" h="603885">
                  <a:moveTo>
                    <a:pt x="301751" y="0"/>
                  </a:moveTo>
                  <a:lnTo>
                    <a:pt x="252813" y="3950"/>
                  </a:lnTo>
                  <a:lnTo>
                    <a:pt x="206386" y="15386"/>
                  </a:lnTo>
                  <a:lnTo>
                    <a:pt x="163092" y="33686"/>
                  </a:lnTo>
                  <a:lnTo>
                    <a:pt x="123553" y="58228"/>
                  </a:lnTo>
                  <a:lnTo>
                    <a:pt x="88392" y="88392"/>
                  </a:lnTo>
                  <a:lnTo>
                    <a:pt x="58228" y="123553"/>
                  </a:lnTo>
                  <a:lnTo>
                    <a:pt x="33686" y="163092"/>
                  </a:lnTo>
                  <a:lnTo>
                    <a:pt x="15386" y="206386"/>
                  </a:lnTo>
                  <a:lnTo>
                    <a:pt x="3950" y="252813"/>
                  </a:lnTo>
                  <a:lnTo>
                    <a:pt x="0" y="301752"/>
                  </a:lnTo>
                  <a:lnTo>
                    <a:pt x="3950" y="350690"/>
                  </a:lnTo>
                  <a:lnTo>
                    <a:pt x="15386" y="397117"/>
                  </a:lnTo>
                  <a:lnTo>
                    <a:pt x="33686" y="440411"/>
                  </a:lnTo>
                  <a:lnTo>
                    <a:pt x="58228" y="479950"/>
                  </a:lnTo>
                  <a:lnTo>
                    <a:pt x="88392" y="515112"/>
                  </a:lnTo>
                  <a:lnTo>
                    <a:pt x="123553" y="545275"/>
                  </a:lnTo>
                  <a:lnTo>
                    <a:pt x="163092" y="569817"/>
                  </a:lnTo>
                  <a:lnTo>
                    <a:pt x="206386" y="588117"/>
                  </a:lnTo>
                  <a:lnTo>
                    <a:pt x="252813" y="599553"/>
                  </a:lnTo>
                  <a:lnTo>
                    <a:pt x="301751" y="603504"/>
                  </a:lnTo>
                  <a:lnTo>
                    <a:pt x="350690" y="599553"/>
                  </a:lnTo>
                  <a:lnTo>
                    <a:pt x="397117" y="588117"/>
                  </a:lnTo>
                  <a:lnTo>
                    <a:pt x="440411" y="569817"/>
                  </a:lnTo>
                  <a:lnTo>
                    <a:pt x="479950" y="545275"/>
                  </a:lnTo>
                  <a:lnTo>
                    <a:pt x="515112" y="515112"/>
                  </a:lnTo>
                  <a:lnTo>
                    <a:pt x="545275" y="479950"/>
                  </a:lnTo>
                  <a:lnTo>
                    <a:pt x="569817" y="440411"/>
                  </a:lnTo>
                  <a:lnTo>
                    <a:pt x="588117" y="397117"/>
                  </a:lnTo>
                  <a:lnTo>
                    <a:pt x="599553" y="350690"/>
                  </a:lnTo>
                  <a:lnTo>
                    <a:pt x="603504" y="301752"/>
                  </a:lnTo>
                  <a:lnTo>
                    <a:pt x="599553" y="252813"/>
                  </a:lnTo>
                  <a:lnTo>
                    <a:pt x="588117" y="206386"/>
                  </a:lnTo>
                  <a:lnTo>
                    <a:pt x="569817" y="163092"/>
                  </a:lnTo>
                  <a:lnTo>
                    <a:pt x="545275" y="123553"/>
                  </a:lnTo>
                  <a:lnTo>
                    <a:pt x="515112" y="88392"/>
                  </a:lnTo>
                  <a:lnTo>
                    <a:pt x="479950" y="58228"/>
                  </a:lnTo>
                  <a:lnTo>
                    <a:pt x="440411" y="33686"/>
                  </a:lnTo>
                  <a:lnTo>
                    <a:pt x="397117" y="15386"/>
                  </a:lnTo>
                  <a:lnTo>
                    <a:pt x="350690" y="3950"/>
                  </a:lnTo>
                  <a:lnTo>
                    <a:pt x="301751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 descr="preencoded.png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97681" y="4309757"/>
              <a:ext cx="277609" cy="277609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3622294" y="4800980"/>
            <a:ext cx="149733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>
                <a:solidFill>
                  <a:srgbClr val="1F4E79"/>
                </a:solidFill>
                <a:latin typeface="Tahoma"/>
                <a:cs typeface="Tahoma"/>
              </a:rPr>
              <a:t>Class</a:t>
            </a:r>
            <a:r>
              <a:rPr sz="1400" b="1" spc="11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400" b="1" spc="40">
                <a:solidFill>
                  <a:srgbClr val="1F4E79"/>
                </a:solidFill>
                <a:latin typeface="Tahoma"/>
                <a:cs typeface="Tahoma"/>
              </a:rPr>
              <a:t>Balancing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622294" y="5261609"/>
            <a:ext cx="2054860" cy="366126"/>
          </a:xfrm>
          <a:prstGeom prst="rect">
            <a:avLst/>
          </a:prstGeom>
        </p:spPr>
        <p:txBody>
          <a:bodyPr vert="horz" wrap="square" lIns="0" tIns="5080" rIns="0" bIns="0" rtlCol="0" anchor="t">
            <a:spAutoFit/>
          </a:bodyPr>
          <a:lstStyle/>
          <a:p>
            <a:pPr marL="12700" marR="5080">
              <a:lnSpc>
                <a:spcPct val="104299"/>
              </a:lnSpc>
              <a:spcBef>
                <a:spcPts val="40"/>
              </a:spcBef>
            </a:pPr>
            <a:r>
              <a:rPr lang="en-US" sz="1150" spc="-20">
                <a:solidFill>
                  <a:srgbClr val="545454"/>
                </a:solidFill>
                <a:latin typeface="Calibri"/>
                <a:ea typeface="Calibri"/>
                <a:cs typeface="Calibri"/>
              </a:rPr>
              <a:t>Balanced class using </a:t>
            </a:r>
            <a:r>
              <a:rPr lang="en-US" sz="1150" spc="-20" err="1">
                <a:solidFill>
                  <a:srgbClr val="545454"/>
                </a:solidFill>
                <a:latin typeface="Calibri"/>
                <a:ea typeface="Calibri"/>
                <a:cs typeface="Calibri"/>
              </a:rPr>
              <a:t>augmene</a:t>
            </a:r>
            <a:r>
              <a:rPr lang="en-US" sz="1150" spc="-20" err="1">
                <a:solidFill>
                  <a:srgbClr val="545454"/>
                </a:solidFill>
                <a:latin typeface="Calibri"/>
                <a:cs typeface="Calibri"/>
              </a:rPr>
              <a:t>tation</a:t>
            </a:r>
            <a:r>
              <a:rPr lang="en-US" sz="1150" spc="-20">
                <a:solidFill>
                  <a:srgbClr val="545454"/>
                </a:solidFill>
                <a:latin typeface="Calibri"/>
                <a:ea typeface="Calibri"/>
                <a:cs typeface="Calibri"/>
              </a:rPr>
              <a:t> </a:t>
            </a:r>
            <a:endParaRPr sz="1150" spc="-20">
              <a:solidFill>
                <a:srgbClr val="545454"/>
              </a:solidFill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6144700" y="3870885"/>
            <a:ext cx="2722880" cy="2476500"/>
            <a:chOff x="6144700" y="3870885"/>
            <a:chExt cx="2722880" cy="2476500"/>
          </a:xfrm>
        </p:grpSpPr>
        <p:pic>
          <p:nvPicPr>
            <p:cNvPr id="47" name="object 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44700" y="3870885"/>
              <a:ext cx="2722761" cy="2475886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6208776" y="3909059"/>
              <a:ext cx="2601595" cy="2354580"/>
            </a:xfrm>
            <a:custGeom>
              <a:avLst/>
              <a:gdLst/>
              <a:ahLst/>
              <a:cxnLst/>
              <a:rect l="l" t="t" r="r" b="b"/>
              <a:pathLst>
                <a:path w="2601595" h="2354579">
                  <a:moveTo>
                    <a:pt x="2510028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2263152"/>
                  </a:lnTo>
                  <a:lnTo>
                    <a:pt x="7179" y="2298740"/>
                  </a:lnTo>
                  <a:lnTo>
                    <a:pt x="26765" y="2327802"/>
                  </a:lnTo>
                  <a:lnTo>
                    <a:pt x="55828" y="2347395"/>
                  </a:lnTo>
                  <a:lnTo>
                    <a:pt x="91439" y="2354579"/>
                  </a:lnTo>
                  <a:lnTo>
                    <a:pt x="2510028" y="2354579"/>
                  </a:lnTo>
                  <a:lnTo>
                    <a:pt x="2545639" y="2347395"/>
                  </a:lnTo>
                  <a:lnTo>
                    <a:pt x="2574702" y="2327802"/>
                  </a:lnTo>
                  <a:lnTo>
                    <a:pt x="2594288" y="2298740"/>
                  </a:lnTo>
                  <a:lnTo>
                    <a:pt x="2601468" y="2263152"/>
                  </a:lnTo>
                  <a:lnTo>
                    <a:pt x="2601468" y="91439"/>
                  </a:lnTo>
                  <a:lnTo>
                    <a:pt x="2594288" y="55828"/>
                  </a:lnTo>
                  <a:lnTo>
                    <a:pt x="2574702" y="26765"/>
                  </a:lnTo>
                  <a:lnTo>
                    <a:pt x="2545639" y="7179"/>
                  </a:lnTo>
                  <a:lnTo>
                    <a:pt x="2510028" y="0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464808" y="4146803"/>
              <a:ext cx="603885" cy="603885"/>
            </a:xfrm>
            <a:custGeom>
              <a:avLst/>
              <a:gdLst/>
              <a:ahLst/>
              <a:cxnLst/>
              <a:rect l="l" t="t" r="r" b="b"/>
              <a:pathLst>
                <a:path w="603884" h="603885">
                  <a:moveTo>
                    <a:pt x="301751" y="0"/>
                  </a:moveTo>
                  <a:lnTo>
                    <a:pt x="252813" y="3950"/>
                  </a:lnTo>
                  <a:lnTo>
                    <a:pt x="206386" y="15386"/>
                  </a:lnTo>
                  <a:lnTo>
                    <a:pt x="163092" y="33686"/>
                  </a:lnTo>
                  <a:lnTo>
                    <a:pt x="123553" y="58228"/>
                  </a:lnTo>
                  <a:lnTo>
                    <a:pt x="88391" y="88392"/>
                  </a:lnTo>
                  <a:lnTo>
                    <a:pt x="58228" y="123553"/>
                  </a:lnTo>
                  <a:lnTo>
                    <a:pt x="33686" y="163092"/>
                  </a:lnTo>
                  <a:lnTo>
                    <a:pt x="15386" y="206386"/>
                  </a:lnTo>
                  <a:lnTo>
                    <a:pt x="3950" y="252813"/>
                  </a:lnTo>
                  <a:lnTo>
                    <a:pt x="0" y="301752"/>
                  </a:lnTo>
                  <a:lnTo>
                    <a:pt x="3950" y="350690"/>
                  </a:lnTo>
                  <a:lnTo>
                    <a:pt x="15386" y="397117"/>
                  </a:lnTo>
                  <a:lnTo>
                    <a:pt x="33686" y="440411"/>
                  </a:lnTo>
                  <a:lnTo>
                    <a:pt x="58228" y="479950"/>
                  </a:lnTo>
                  <a:lnTo>
                    <a:pt x="88391" y="515112"/>
                  </a:lnTo>
                  <a:lnTo>
                    <a:pt x="123553" y="545275"/>
                  </a:lnTo>
                  <a:lnTo>
                    <a:pt x="163092" y="569817"/>
                  </a:lnTo>
                  <a:lnTo>
                    <a:pt x="206386" y="588117"/>
                  </a:lnTo>
                  <a:lnTo>
                    <a:pt x="252813" y="599553"/>
                  </a:lnTo>
                  <a:lnTo>
                    <a:pt x="301751" y="603504"/>
                  </a:lnTo>
                  <a:lnTo>
                    <a:pt x="350690" y="599553"/>
                  </a:lnTo>
                  <a:lnTo>
                    <a:pt x="397117" y="588117"/>
                  </a:lnTo>
                  <a:lnTo>
                    <a:pt x="440411" y="569817"/>
                  </a:lnTo>
                  <a:lnTo>
                    <a:pt x="479950" y="545275"/>
                  </a:lnTo>
                  <a:lnTo>
                    <a:pt x="515111" y="515112"/>
                  </a:lnTo>
                  <a:lnTo>
                    <a:pt x="545275" y="479950"/>
                  </a:lnTo>
                  <a:lnTo>
                    <a:pt x="569817" y="440411"/>
                  </a:lnTo>
                  <a:lnTo>
                    <a:pt x="588117" y="397117"/>
                  </a:lnTo>
                  <a:lnTo>
                    <a:pt x="599553" y="350690"/>
                  </a:lnTo>
                  <a:lnTo>
                    <a:pt x="603503" y="301752"/>
                  </a:lnTo>
                  <a:lnTo>
                    <a:pt x="599553" y="252813"/>
                  </a:lnTo>
                  <a:lnTo>
                    <a:pt x="588117" y="206386"/>
                  </a:lnTo>
                  <a:lnTo>
                    <a:pt x="569817" y="163092"/>
                  </a:lnTo>
                  <a:lnTo>
                    <a:pt x="545275" y="123553"/>
                  </a:lnTo>
                  <a:lnTo>
                    <a:pt x="515111" y="88392"/>
                  </a:lnTo>
                  <a:lnTo>
                    <a:pt x="479950" y="58228"/>
                  </a:lnTo>
                  <a:lnTo>
                    <a:pt x="440411" y="33686"/>
                  </a:lnTo>
                  <a:lnTo>
                    <a:pt x="397117" y="15386"/>
                  </a:lnTo>
                  <a:lnTo>
                    <a:pt x="350690" y="3950"/>
                  </a:lnTo>
                  <a:lnTo>
                    <a:pt x="301751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 descr="preencoded.png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27749" y="4309757"/>
              <a:ext cx="277609" cy="277609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6452742" y="4800980"/>
            <a:ext cx="16783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>
                <a:solidFill>
                  <a:srgbClr val="1F4E79"/>
                </a:solidFill>
                <a:latin typeface="Tahoma"/>
                <a:cs typeface="Tahoma"/>
              </a:rPr>
              <a:t>Transfer</a:t>
            </a:r>
            <a:r>
              <a:rPr sz="1400" b="1" spc="7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400" b="1" spc="-10">
                <a:solidFill>
                  <a:srgbClr val="1F4E79"/>
                </a:solidFill>
                <a:latin typeface="Tahoma"/>
                <a:cs typeface="Tahoma"/>
              </a:rPr>
              <a:t>Learning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452742" y="5261609"/>
            <a:ext cx="1929130" cy="38417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ct val="104299"/>
              </a:lnSpc>
              <a:spcBef>
                <a:spcPts val="40"/>
              </a:spcBef>
            </a:pPr>
            <a:r>
              <a:rPr sz="1150" spc="-10">
                <a:solidFill>
                  <a:srgbClr val="545454"/>
                </a:solidFill>
                <a:latin typeface="Calibri"/>
                <a:cs typeface="Calibri"/>
              </a:rPr>
              <a:t>Pretrained</a:t>
            </a:r>
            <a:r>
              <a:rPr sz="1150" spc="-1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150">
                <a:solidFill>
                  <a:srgbClr val="545454"/>
                </a:solidFill>
                <a:latin typeface="Calibri"/>
                <a:cs typeface="Calibri"/>
              </a:rPr>
              <a:t>MobileNetV1 </a:t>
            </a:r>
            <a:r>
              <a:rPr sz="1150" spc="-10">
                <a:solidFill>
                  <a:srgbClr val="545454"/>
                </a:solidFill>
                <a:latin typeface="Calibri"/>
                <a:cs typeface="Calibri"/>
              </a:rPr>
              <a:t>(96×96 </a:t>
            </a:r>
            <a:r>
              <a:rPr sz="1150">
                <a:solidFill>
                  <a:srgbClr val="545454"/>
                </a:solidFill>
                <a:latin typeface="Calibri"/>
                <a:cs typeface="Calibri"/>
              </a:rPr>
              <a:t>RGB)</a:t>
            </a:r>
            <a:r>
              <a:rPr sz="1150" spc="-2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150">
                <a:solidFill>
                  <a:srgbClr val="545454"/>
                </a:solidFill>
                <a:latin typeface="Calibri"/>
                <a:cs typeface="Calibri"/>
              </a:rPr>
              <a:t>→</a:t>
            </a:r>
            <a:r>
              <a:rPr sz="1150" spc="-2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150">
                <a:solidFill>
                  <a:srgbClr val="545454"/>
                </a:solidFill>
                <a:latin typeface="Calibri"/>
                <a:cs typeface="Calibri"/>
              </a:rPr>
              <a:t>project</a:t>
            </a:r>
            <a:r>
              <a:rPr sz="1150" spc="-1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150">
                <a:solidFill>
                  <a:srgbClr val="545454"/>
                </a:solidFill>
                <a:latin typeface="Calibri"/>
                <a:cs typeface="Calibri"/>
              </a:rPr>
              <a:t>peak</a:t>
            </a:r>
            <a:r>
              <a:rPr sz="1150" spc="-1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150" spc="-10">
                <a:solidFill>
                  <a:srgbClr val="545454"/>
                </a:solidFill>
                <a:latin typeface="Calibri"/>
                <a:cs typeface="Calibri"/>
              </a:rPr>
              <a:t>92.35%.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8974768" y="3870885"/>
            <a:ext cx="2722880" cy="2476500"/>
            <a:chOff x="8974768" y="3870885"/>
            <a:chExt cx="2722880" cy="2476500"/>
          </a:xfrm>
        </p:grpSpPr>
        <p:pic>
          <p:nvPicPr>
            <p:cNvPr id="54" name="object 5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74768" y="3870885"/>
              <a:ext cx="2722761" cy="2475886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9038844" y="3909059"/>
              <a:ext cx="2601595" cy="2354580"/>
            </a:xfrm>
            <a:custGeom>
              <a:avLst/>
              <a:gdLst/>
              <a:ahLst/>
              <a:cxnLst/>
              <a:rect l="l" t="t" r="r" b="b"/>
              <a:pathLst>
                <a:path w="2601595" h="2354579">
                  <a:moveTo>
                    <a:pt x="2510028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2263152"/>
                  </a:lnTo>
                  <a:lnTo>
                    <a:pt x="7179" y="2298740"/>
                  </a:lnTo>
                  <a:lnTo>
                    <a:pt x="26765" y="2327802"/>
                  </a:lnTo>
                  <a:lnTo>
                    <a:pt x="55828" y="2347395"/>
                  </a:lnTo>
                  <a:lnTo>
                    <a:pt x="91439" y="2354579"/>
                  </a:lnTo>
                  <a:lnTo>
                    <a:pt x="2510028" y="2354579"/>
                  </a:lnTo>
                  <a:lnTo>
                    <a:pt x="2545639" y="2347395"/>
                  </a:lnTo>
                  <a:lnTo>
                    <a:pt x="2574702" y="2327802"/>
                  </a:lnTo>
                  <a:lnTo>
                    <a:pt x="2594288" y="2298740"/>
                  </a:lnTo>
                  <a:lnTo>
                    <a:pt x="2601467" y="2263152"/>
                  </a:lnTo>
                  <a:lnTo>
                    <a:pt x="2601467" y="91439"/>
                  </a:lnTo>
                  <a:lnTo>
                    <a:pt x="2594288" y="55828"/>
                  </a:lnTo>
                  <a:lnTo>
                    <a:pt x="2574702" y="26765"/>
                  </a:lnTo>
                  <a:lnTo>
                    <a:pt x="2545639" y="7179"/>
                  </a:lnTo>
                  <a:lnTo>
                    <a:pt x="2510028" y="0"/>
                  </a:lnTo>
                  <a:close/>
                </a:path>
              </a:pathLst>
            </a:custGeom>
            <a:solidFill>
              <a:srgbClr val="EAF4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9294876" y="4146803"/>
              <a:ext cx="603885" cy="603885"/>
            </a:xfrm>
            <a:custGeom>
              <a:avLst/>
              <a:gdLst/>
              <a:ahLst/>
              <a:cxnLst/>
              <a:rect l="l" t="t" r="r" b="b"/>
              <a:pathLst>
                <a:path w="603884" h="603885">
                  <a:moveTo>
                    <a:pt x="301751" y="0"/>
                  </a:moveTo>
                  <a:lnTo>
                    <a:pt x="252813" y="3950"/>
                  </a:lnTo>
                  <a:lnTo>
                    <a:pt x="206386" y="15386"/>
                  </a:lnTo>
                  <a:lnTo>
                    <a:pt x="163092" y="33686"/>
                  </a:lnTo>
                  <a:lnTo>
                    <a:pt x="123553" y="58228"/>
                  </a:lnTo>
                  <a:lnTo>
                    <a:pt x="88392" y="88392"/>
                  </a:lnTo>
                  <a:lnTo>
                    <a:pt x="58228" y="123553"/>
                  </a:lnTo>
                  <a:lnTo>
                    <a:pt x="33686" y="163092"/>
                  </a:lnTo>
                  <a:lnTo>
                    <a:pt x="15386" y="206386"/>
                  </a:lnTo>
                  <a:lnTo>
                    <a:pt x="3950" y="252813"/>
                  </a:lnTo>
                  <a:lnTo>
                    <a:pt x="0" y="301752"/>
                  </a:lnTo>
                  <a:lnTo>
                    <a:pt x="3950" y="350690"/>
                  </a:lnTo>
                  <a:lnTo>
                    <a:pt x="15386" y="397117"/>
                  </a:lnTo>
                  <a:lnTo>
                    <a:pt x="33686" y="440411"/>
                  </a:lnTo>
                  <a:lnTo>
                    <a:pt x="58228" y="479950"/>
                  </a:lnTo>
                  <a:lnTo>
                    <a:pt x="88392" y="515112"/>
                  </a:lnTo>
                  <a:lnTo>
                    <a:pt x="123553" y="545275"/>
                  </a:lnTo>
                  <a:lnTo>
                    <a:pt x="163092" y="569817"/>
                  </a:lnTo>
                  <a:lnTo>
                    <a:pt x="206386" y="588117"/>
                  </a:lnTo>
                  <a:lnTo>
                    <a:pt x="252813" y="599553"/>
                  </a:lnTo>
                  <a:lnTo>
                    <a:pt x="301751" y="603504"/>
                  </a:lnTo>
                  <a:lnTo>
                    <a:pt x="350690" y="599553"/>
                  </a:lnTo>
                  <a:lnTo>
                    <a:pt x="397117" y="588117"/>
                  </a:lnTo>
                  <a:lnTo>
                    <a:pt x="440411" y="569817"/>
                  </a:lnTo>
                  <a:lnTo>
                    <a:pt x="479950" y="545275"/>
                  </a:lnTo>
                  <a:lnTo>
                    <a:pt x="515111" y="515112"/>
                  </a:lnTo>
                  <a:lnTo>
                    <a:pt x="545275" y="479950"/>
                  </a:lnTo>
                  <a:lnTo>
                    <a:pt x="569817" y="440411"/>
                  </a:lnTo>
                  <a:lnTo>
                    <a:pt x="588117" y="397117"/>
                  </a:lnTo>
                  <a:lnTo>
                    <a:pt x="599553" y="350690"/>
                  </a:lnTo>
                  <a:lnTo>
                    <a:pt x="603503" y="301752"/>
                  </a:lnTo>
                  <a:lnTo>
                    <a:pt x="599553" y="252813"/>
                  </a:lnTo>
                  <a:lnTo>
                    <a:pt x="588117" y="206386"/>
                  </a:lnTo>
                  <a:lnTo>
                    <a:pt x="569817" y="163092"/>
                  </a:lnTo>
                  <a:lnTo>
                    <a:pt x="545275" y="123553"/>
                  </a:lnTo>
                  <a:lnTo>
                    <a:pt x="515111" y="88392"/>
                  </a:lnTo>
                  <a:lnTo>
                    <a:pt x="479950" y="58228"/>
                  </a:lnTo>
                  <a:lnTo>
                    <a:pt x="440411" y="33686"/>
                  </a:lnTo>
                  <a:lnTo>
                    <a:pt x="397117" y="15386"/>
                  </a:lnTo>
                  <a:lnTo>
                    <a:pt x="350690" y="3950"/>
                  </a:lnTo>
                  <a:lnTo>
                    <a:pt x="301751" y="0"/>
                  </a:lnTo>
                  <a:close/>
                </a:path>
              </a:pathLst>
            </a:custGeom>
            <a:solidFill>
              <a:srgbClr val="2095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 descr="preencoded.png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457817" y="4309757"/>
              <a:ext cx="277609" cy="277609"/>
            </a:xfrm>
            <a:prstGeom prst="rect">
              <a:avLst/>
            </a:prstGeom>
          </p:spPr>
        </p:pic>
      </p:grpSp>
      <p:sp>
        <p:nvSpPr>
          <p:cNvPr id="58" name="object 58"/>
          <p:cNvSpPr txBox="1"/>
          <p:nvPr/>
        </p:nvSpPr>
        <p:spPr>
          <a:xfrm>
            <a:off x="9283445" y="4800980"/>
            <a:ext cx="21367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>
                <a:solidFill>
                  <a:srgbClr val="2095F3"/>
                </a:solidFill>
                <a:latin typeface="Tahoma"/>
                <a:cs typeface="Tahoma"/>
              </a:rPr>
              <a:t>Final</a:t>
            </a:r>
            <a:r>
              <a:rPr sz="1400" b="1" spc="15">
                <a:solidFill>
                  <a:srgbClr val="2095F3"/>
                </a:solidFill>
                <a:latin typeface="Tahoma"/>
                <a:cs typeface="Tahoma"/>
              </a:rPr>
              <a:t> </a:t>
            </a:r>
            <a:r>
              <a:rPr sz="1400" b="1">
                <a:solidFill>
                  <a:srgbClr val="2095F3"/>
                </a:solidFill>
                <a:latin typeface="Tahoma"/>
                <a:cs typeface="Tahoma"/>
              </a:rPr>
              <a:t>Lever:</a:t>
            </a:r>
            <a:r>
              <a:rPr sz="1400" b="1" spc="20">
                <a:solidFill>
                  <a:srgbClr val="2095F3"/>
                </a:solidFill>
                <a:latin typeface="Tahoma"/>
                <a:cs typeface="Tahoma"/>
              </a:rPr>
              <a:t> </a:t>
            </a:r>
            <a:r>
              <a:rPr sz="1400" b="1" spc="-10">
                <a:solidFill>
                  <a:srgbClr val="2095F3"/>
                </a:solidFill>
                <a:latin typeface="Tahoma"/>
                <a:cs typeface="Tahoma"/>
              </a:rPr>
              <a:t>Resolution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9283445" y="5261609"/>
            <a:ext cx="2066925" cy="38417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ct val="104299"/>
              </a:lnSpc>
              <a:spcBef>
                <a:spcPts val="40"/>
              </a:spcBef>
            </a:pPr>
            <a:r>
              <a:rPr sz="1150">
                <a:solidFill>
                  <a:srgbClr val="1F4E79"/>
                </a:solidFill>
                <a:latin typeface="Calibri"/>
                <a:cs typeface="Calibri"/>
              </a:rPr>
              <a:t>80</a:t>
            </a:r>
            <a:r>
              <a:rPr sz="1150" spc="-15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1150">
                <a:solidFill>
                  <a:srgbClr val="1F4E79"/>
                </a:solidFill>
                <a:latin typeface="Calibri"/>
                <a:cs typeface="Calibri"/>
              </a:rPr>
              <a:t>→</a:t>
            </a:r>
            <a:r>
              <a:rPr sz="1150" spc="-25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1150">
                <a:solidFill>
                  <a:srgbClr val="1F4E79"/>
                </a:solidFill>
                <a:latin typeface="Calibri"/>
                <a:cs typeface="Calibri"/>
              </a:rPr>
              <a:t>96</a:t>
            </a:r>
            <a:r>
              <a:rPr sz="1150" spc="-1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1150">
                <a:solidFill>
                  <a:srgbClr val="1F4E79"/>
                </a:solidFill>
                <a:latin typeface="Calibri"/>
                <a:cs typeface="Calibri"/>
              </a:rPr>
              <a:t>added</a:t>
            </a:r>
            <a:r>
              <a:rPr sz="1150" spc="-25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1150">
                <a:solidFill>
                  <a:srgbClr val="1F4E79"/>
                </a:solidFill>
                <a:latin typeface="Calibri"/>
                <a:cs typeface="Calibri"/>
              </a:rPr>
              <a:t>the</a:t>
            </a:r>
            <a:r>
              <a:rPr sz="1150" spc="-1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1150">
                <a:solidFill>
                  <a:srgbClr val="1F4E79"/>
                </a:solidFill>
                <a:latin typeface="Calibri"/>
                <a:cs typeface="Calibri"/>
              </a:rPr>
              <a:t>last</a:t>
            </a:r>
            <a:r>
              <a:rPr sz="1150" spc="-25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1150">
                <a:solidFill>
                  <a:srgbClr val="1F4E79"/>
                </a:solidFill>
                <a:latin typeface="Calibri"/>
                <a:cs typeface="Calibri"/>
              </a:rPr>
              <a:t>~2.5</a:t>
            </a:r>
            <a:r>
              <a:rPr sz="1150" spc="-15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1150">
                <a:solidFill>
                  <a:srgbClr val="1F4E79"/>
                </a:solidFill>
                <a:latin typeface="Calibri"/>
                <a:cs typeface="Calibri"/>
              </a:rPr>
              <a:t>pts</a:t>
            </a:r>
            <a:r>
              <a:rPr sz="1150" spc="-25">
                <a:solidFill>
                  <a:srgbClr val="1F4E79"/>
                </a:solidFill>
                <a:latin typeface="Calibri"/>
                <a:cs typeface="Calibri"/>
              </a:rPr>
              <a:t> to </a:t>
            </a:r>
            <a:r>
              <a:rPr sz="1150">
                <a:solidFill>
                  <a:srgbClr val="1F4E79"/>
                </a:solidFill>
                <a:latin typeface="Calibri"/>
                <a:cs typeface="Calibri"/>
              </a:rPr>
              <a:t>cross</a:t>
            </a:r>
            <a:r>
              <a:rPr sz="1150" spc="-3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1150" spc="-20">
                <a:solidFill>
                  <a:srgbClr val="1F4E79"/>
                </a:solidFill>
                <a:latin typeface="Calibri"/>
                <a:cs typeface="Calibri"/>
              </a:rPr>
              <a:t>90%.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219456"/>
            <a:ext cx="713232" cy="457200"/>
          </a:xfrm>
          <a:prstGeom prst="roundRect">
            <a:avLst>
              <a:gd name="adj" fmla="val 14000"/>
            </a:avLst>
          </a:prstGeom>
          <a:solidFill>
            <a:srgbClr val="2A7DE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57200" y="219456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14</a:t>
            </a:r>
          </a:p>
        </p:txBody>
      </p:sp>
      <p:sp>
        <p:nvSpPr>
          <p:cNvPr id="5" name="Text 3"/>
          <p:cNvSpPr/>
          <p:nvPr/>
        </p:nvSpPr>
        <p:spPr>
          <a:xfrm>
            <a:off x="132588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kern="0" spc="1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DATASET — SUMMARY</a:t>
            </a:r>
            <a:endParaRPr lang="en-US" sz="2300"/>
          </a:p>
        </p:txBody>
      </p:sp>
      <p:sp>
        <p:nvSpPr>
          <p:cNvPr id="6" name="Text 4"/>
          <p:cNvSpPr/>
          <p:nvPr/>
        </p:nvSpPr>
        <p:spPr>
          <a:xfrm>
            <a:off x="9326880" y="274320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>
                <a:solidFill>
                  <a:srgbClr val="B9C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457200" y="1115568"/>
            <a:ext cx="475488" cy="475488"/>
          </a:xfrm>
          <a:prstGeom prst="ellipse">
            <a:avLst/>
          </a:prstGeom>
          <a:solidFill>
            <a:srgbClr val="1E4E79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234440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42416" y="111556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00">
                <a:solidFill>
                  <a:srgbClr val="1E5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 NUMBERS</a:t>
            </a:r>
            <a:endParaRPr lang="en-US" sz="150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755648"/>
          <a:ext cx="6355080" cy="1865376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Real</a:t>
                      </a:r>
                      <a:endParaRPr lang="en-US" sz="120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Augmented</a:t>
                      </a:r>
                      <a:endParaRPr lang="en-US" sz="120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20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>
                          <a:solidFill>
                            <a:srgbClr val="3F454D"/>
                          </a:solidFill>
                        </a:rPr>
                        <a:t>Human</a:t>
                      </a:r>
                      <a:endParaRPr lang="en-US" sz="125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59626D"/>
                          </a:solidFill>
                        </a:rPr>
                        <a:t>876</a:t>
                      </a:r>
                      <a:endParaRPr lang="en-US" sz="125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59626D"/>
                          </a:solidFill>
                        </a:rPr>
                        <a:t>272</a:t>
                      </a:r>
                      <a:endParaRPr lang="en-US" sz="125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>
                          <a:solidFill>
                            <a:srgbClr val="1E5A8A"/>
                          </a:solidFill>
                        </a:rPr>
                        <a:t>1,148</a:t>
                      </a:r>
                      <a:endParaRPr lang="en-US" sz="125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>
                          <a:solidFill>
                            <a:srgbClr val="3F454D"/>
                          </a:solidFill>
                        </a:rPr>
                        <a:t>NonHuman</a:t>
                      </a:r>
                      <a:endParaRPr lang="en-US" sz="125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59626D"/>
                          </a:solidFill>
                        </a:rPr>
                        <a:t>1,148</a:t>
                      </a:r>
                      <a:endParaRPr lang="en-US" sz="125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59626D"/>
                          </a:solidFill>
                        </a:rPr>
                        <a:t>0</a:t>
                      </a:r>
                      <a:endParaRPr lang="en-US" sz="125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>
                          <a:solidFill>
                            <a:srgbClr val="1E5A8A"/>
                          </a:solidFill>
                        </a:rPr>
                        <a:t>1,148</a:t>
                      </a:r>
                      <a:endParaRPr lang="en-US" sz="125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25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>
                          <a:solidFill>
                            <a:srgbClr val="FFFFFF"/>
                          </a:solidFill>
                        </a:rPr>
                        <a:t>2,024</a:t>
                      </a:r>
                      <a:endParaRPr lang="en-US" sz="125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>
                          <a:solidFill>
                            <a:srgbClr val="FFFFFF"/>
                          </a:solidFill>
                        </a:rPr>
                        <a:t>272</a:t>
                      </a:r>
                      <a:endParaRPr lang="en-US" sz="125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>
                          <a:solidFill>
                            <a:srgbClr val="FFFFFF"/>
                          </a:solidFill>
                        </a:rPr>
                        <a:t>2,296</a:t>
                      </a:r>
                      <a:endParaRPr lang="en-US" sz="125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21208" y="390448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>
                <a:solidFill>
                  <a:srgbClr val="1E5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COLLECTION SOURCES</a:t>
            </a:r>
            <a:endParaRPr lang="en-US" sz="1300"/>
          </a:p>
        </p:txBody>
      </p:sp>
      <p:sp>
        <p:nvSpPr>
          <p:cNvPr id="12" name="Shape 8"/>
          <p:cNvSpPr/>
          <p:nvPr/>
        </p:nvSpPr>
        <p:spPr>
          <a:xfrm>
            <a:off x="457200" y="4315968"/>
            <a:ext cx="2029968" cy="2176272"/>
          </a:xfrm>
          <a:prstGeom prst="roundRect">
            <a:avLst>
              <a:gd name="adj" fmla="val 3604"/>
            </a:avLst>
          </a:prstGeom>
          <a:solidFill>
            <a:srgbClr val="F3F5F8"/>
          </a:solidFill>
          <a:ln w="12700">
            <a:solidFill>
              <a:srgbClr val="D9E0E8"/>
            </a:solidFill>
            <a:prstDash val="solid"/>
          </a:ln>
          <a:effectLst>
            <a:outerShdw blurRad="889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9"/>
          <p:cNvSpPr/>
          <p:nvPr/>
        </p:nvSpPr>
        <p:spPr>
          <a:xfrm>
            <a:off x="640080" y="4517136"/>
            <a:ext cx="493776" cy="493776"/>
          </a:xfrm>
          <a:prstGeom prst="ellipse">
            <a:avLst/>
          </a:prstGeom>
          <a:solidFill>
            <a:srgbClr val="1E4E79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4645152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07008" y="4517136"/>
            <a:ext cx="1115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>
                <a:solidFill>
                  <a:srgbClr val="1E5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ESP32-CAM</a:t>
            </a:r>
            <a:endParaRPr lang="en-US" sz="1250"/>
          </a:p>
        </p:txBody>
      </p:sp>
      <p:sp>
        <p:nvSpPr>
          <p:cNvPr id="16" name="Text 11"/>
          <p:cNvSpPr/>
          <p:nvPr/>
        </p:nvSpPr>
        <p:spPr>
          <a:xfrm>
            <a:off x="640080" y="5120640"/>
            <a:ext cx="16642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>
                <a:solidFill>
                  <a:srgbClr val="5962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320×240, 7 sessions over 17 days</a:t>
            </a:r>
            <a:endParaRPr lang="en-US" sz="105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5224" y="4645152"/>
            <a:ext cx="237744" cy="237744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847109" y="4315968"/>
            <a:ext cx="2029968" cy="2176272"/>
          </a:xfrm>
          <a:prstGeom prst="roundRect">
            <a:avLst>
              <a:gd name="adj" fmla="val 3604"/>
            </a:avLst>
          </a:prstGeom>
          <a:solidFill>
            <a:srgbClr val="F3F5F8"/>
          </a:solidFill>
          <a:ln w="12700">
            <a:solidFill>
              <a:srgbClr val="D9E0E8"/>
            </a:solidFill>
            <a:prstDash val="solid"/>
          </a:ln>
          <a:effectLst>
            <a:outerShdw blurRad="889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3" name="Shape 17"/>
          <p:cNvSpPr/>
          <p:nvPr/>
        </p:nvSpPr>
        <p:spPr>
          <a:xfrm>
            <a:off x="3098569" y="4352821"/>
            <a:ext cx="493776" cy="493776"/>
          </a:xfrm>
          <a:prstGeom prst="ellipse">
            <a:avLst/>
          </a:prstGeom>
          <a:solidFill>
            <a:srgbClr val="1E4E79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5833" y="4491090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761509" y="4389120"/>
            <a:ext cx="1115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E5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Neg. Capturer</a:t>
            </a:r>
            <a:endParaRPr lang="en-US" sz="1100"/>
          </a:p>
        </p:txBody>
      </p:sp>
      <p:sp>
        <p:nvSpPr>
          <p:cNvPr id="27" name="Shape 20"/>
          <p:cNvSpPr/>
          <p:nvPr/>
        </p:nvSpPr>
        <p:spPr>
          <a:xfrm>
            <a:off x="7547956" y="1051560"/>
            <a:ext cx="3200400" cy="2487168"/>
          </a:xfrm>
          <a:prstGeom prst="roundRect">
            <a:avLst>
              <a:gd name="adj" fmla="val 3774"/>
            </a:avLst>
          </a:prstGeom>
          <a:solidFill>
            <a:srgbClr val="EFF3F7"/>
          </a:solidFill>
          <a:ln w="19050">
            <a:solidFill>
              <a:srgbClr val="D9E0E8"/>
            </a:solidFill>
            <a:prstDash val="dash"/>
          </a:ln>
        </p:spPr>
        <p:txBody>
          <a:bodyPr/>
          <a:lstStyle/>
          <a:p>
            <a:endParaRPr lang="en-PK"/>
          </a:p>
        </p:txBody>
      </p:sp>
      <p:sp>
        <p:nvSpPr>
          <p:cNvPr id="30" name="Text 22"/>
          <p:cNvSpPr/>
          <p:nvPr/>
        </p:nvSpPr>
        <p:spPr>
          <a:xfrm>
            <a:off x="6981444" y="3011078"/>
            <a:ext cx="4690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E5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Sample</a:t>
            </a:r>
            <a:endParaRPr lang="en-US" sz="1300"/>
          </a:p>
        </p:txBody>
      </p:sp>
      <p:sp>
        <p:nvSpPr>
          <p:cNvPr id="32" name="Shape 24"/>
          <p:cNvSpPr/>
          <p:nvPr/>
        </p:nvSpPr>
        <p:spPr>
          <a:xfrm>
            <a:off x="7547956" y="3721607"/>
            <a:ext cx="3200400" cy="2295629"/>
          </a:xfrm>
          <a:prstGeom prst="roundRect">
            <a:avLst>
              <a:gd name="adj" fmla="val 3774"/>
            </a:avLst>
          </a:prstGeom>
          <a:solidFill>
            <a:srgbClr val="EFF3F7"/>
          </a:solidFill>
          <a:ln w="19050">
            <a:solidFill>
              <a:srgbClr val="D9E0E8"/>
            </a:solidFill>
            <a:prstDash val="dash"/>
          </a:ln>
        </p:spPr>
        <p:txBody>
          <a:bodyPr/>
          <a:lstStyle/>
          <a:p>
            <a:endParaRPr lang="en-PK"/>
          </a:p>
        </p:txBody>
      </p:sp>
      <p:sp>
        <p:nvSpPr>
          <p:cNvPr id="35" name="Text 26"/>
          <p:cNvSpPr/>
          <p:nvPr/>
        </p:nvSpPr>
        <p:spPr>
          <a:xfrm>
            <a:off x="6802720" y="5688053"/>
            <a:ext cx="4690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E5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NonHuman Sample</a:t>
            </a:r>
            <a:endParaRPr lang="en-US" sz="1300"/>
          </a:p>
        </p:txBody>
      </p:sp>
      <p:sp>
        <p:nvSpPr>
          <p:cNvPr id="37" name="Text 19">
            <a:extLst>
              <a:ext uri="{FF2B5EF4-FFF2-40B4-BE49-F238E27FC236}">
                <a16:creationId xmlns:a16="http://schemas.microsoft.com/office/drawing/2014/main" id="{9222A83C-7C7B-4314-95F4-CD346EF2D015}"/>
              </a:ext>
            </a:extLst>
          </p:cNvPr>
          <p:cNvSpPr/>
          <p:nvPr/>
        </p:nvSpPr>
        <p:spPr>
          <a:xfrm>
            <a:off x="3030093" y="4903955"/>
            <a:ext cx="16642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>
                <a:solidFill>
                  <a:srgbClr val="5962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CNN on ESP32-CAM flags uncertain frames → manually labelled → injected back (active learning loop)</a:t>
            </a:r>
            <a:endParaRPr lang="en-US" sz="105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D872C51A-FCD7-912A-8EE6-7762919273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6571" y="1138895"/>
            <a:ext cx="2384437" cy="1882729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4706788F-6F8C-FD5E-969A-FC85D0CE94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86596" y="3645564"/>
            <a:ext cx="2544385" cy="1908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3665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20040" y="164592"/>
            <a:ext cx="502920" cy="502920"/>
          </a:xfrm>
          <a:prstGeom prst="rect">
            <a:avLst/>
          </a:prstGeom>
          <a:solidFill>
            <a:srgbClr val="3D7FBF"/>
          </a:solidFill>
          <a:ln w="12700">
            <a:solidFill>
              <a:srgbClr val="3D7FB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5" name="Text 3"/>
          <p:cNvSpPr/>
          <p:nvPr/>
        </p:nvSpPr>
        <p:spPr>
          <a:xfrm>
            <a:off x="1005840" y="16459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VISION  —  FINAL TECHNIQUE  ·  DEPTHWISE-SEPARABLE, FROM-SCRATCH</a:t>
            </a:r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10515600" y="16459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40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VISION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3886200" y="1948295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>
                <a:solidFill>
                  <a:srgbClr val="1E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depthwise-separable</a:t>
            </a:r>
            <a:endParaRPr lang="en-US" sz="1500"/>
          </a:p>
        </p:txBody>
      </p:sp>
      <p:sp>
        <p:nvSpPr>
          <p:cNvPr id="25" name="Text 23"/>
          <p:cNvSpPr/>
          <p:nvPr/>
        </p:nvSpPr>
        <p:spPr>
          <a:xfrm>
            <a:off x="3886200" y="2242843"/>
            <a:ext cx="5989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120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Each conv  factorize into </a:t>
            </a:r>
            <a:r>
              <a:rPr lang="en-US" sz="1200" err="1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depthwise</a:t>
            </a:r>
            <a:r>
              <a:rPr lang="en-US" sz="120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 + 1×1 pointwise — roughly 8–10× fewer MACs. Total conv M ACs ≈ 2.8 M (vs 17–42 M), which fits the ESP32 and stays sub-second per inference.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3886200" y="2782963"/>
            <a:ext cx="5989320" cy="301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>
                <a:solidFill>
                  <a:srgbClr val="1E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From-scratch</a:t>
            </a:r>
            <a:endParaRPr lang="en-US" sz="1500"/>
          </a:p>
        </p:txBody>
      </p:sp>
      <p:sp>
        <p:nvSpPr>
          <p:cNvPr id="27" name="Text 25"/>
          <p:cNvSpPr/>
          <p:nvPr/>
        </p:nvSpPr>
        <p:spPr>
          <a:xfrm>
            <a:off x="3886200" y="3086170"/>
            <a:ext cx="5989320" cy="477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borrowed backbone. The novelty requirement is met with a custom architecture we own end-to-end, while still clearing &gt;90% accuracy.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3886200" y="3652266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>
                <a:solidFill>
                  <a:srgbClr val="1E4D7B"/>
                </a:solidFill>
                <a:latin typeface="Calibri"/>
                <a:ea typeface="Calibri"/>
                <a:cs typeface="Calibri"/>
              </a:rPr>
              <a:t>ESP-NN Enables</a:t>
            </a:r>
            <a:endParaRPr lang="en-US" sz="1500"/>
          </a:p>
        </p:txBody>
      </p:sp>
      <p:sp>
        <p:nvSpPr>
          <p:cNvPr id="29" name="Text 27"/>
          <p:cNvSpPr/>
          <p:nvPr/>
        </p:nvSpPr>
        <p:spPr>
          <a:xfrm>
            <a:off x="3886200" y="3912178"/>
            <a:ext cx="5989320" cy="1984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120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Esp-NN enable reduce latency </a:t>
            </a:r>
          </a:p>
        </p:txBody>
      </p:sp>
      <p:sp>
        <p:nvSpPr>
          <p:cNvPr id="30" name="Text 28"/>
          <p:cNvSpPr/>
          <p:nvPr/>
        </p:nvSpPr>
        <p:spPr>
          <a:xfrm>
            <a:off x="3886200" y="4218500"/>
            <a:ext cx="5989320" cy="612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>
                <a:solidFill>
                  <a:srgbClr val="1E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training + INT8</a:t>
            </a:r>
            <a:endParaRPr lang="en-US" sz="1500"/>
          </a:p>
        </p:txBody>
      </p:sp>
      <p:sp>
        <p:nvSpPr>
          <p:cNvPr id="31" name="Text 29"/>
          <p:cNvSpPr/>
          <p:nvPr/>
        </p:nvSpPr>
        <p:spPr>
          <a:xfrm>
            <a:off x="3886200" y="4521709"/>
            <a:ext cx="5989320" cy="1828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920 human / 920 non-human samples with class weights.</a:t>
            </a:r>
          </a:p>
        </p:txBody>
      </p:sp>
      <p:sp>
        <p:nvSpPr>
          <p:cNvPr id="35" name="Shape 33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9525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6" name="Text 34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Custom CNN  ·  ESP32-S3  ·  INT8 </a:t>
            </a:r>
            <a:r>
              <a:rPr lang="en-US" sz="900" spc="2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quantized</a:t>
            </a:r>
            <a:endParaRPr lang="en-US" sz="900"/>
          </a:p>
        </p:txBody>
      </p:sp>
      <p:sp>
        <p:nvSpPr>
          <p:cNvPr id="37" name="Text 35"/>
          <p:cNvSpPr/>
          <p:nvPr/>
        </p:nvSpPr>
        <p:spPr>
          <a:xfrm>
            <a:off x="9601200" y="65836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/ 10</a:t>
            </a:r>
            <a:endParaRPr lang="en-US" sz="900"/>
          </a:p>
        </p:txBody>
      </p:sp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25A5DFE1-8B86-6F58-DC6E-487DC63665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21" y="1110342"/>
            <a:ext cx="3771900" cy="4898572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E4D7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268224" y="109728"/>
            <a:ext cx="390144" cy="390144"/>
          </a:xfrm>
          <a:prstGeom prst="roundRect">
            <a:avLst>
              <a:gd name="adj" fmla="val 18750"/>
            </a:avLst>
          </a:prstGeom>
          <a:solidFill>
            <a:srgbClr val="2A649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268224" y="109728"/>
            <a:ext cx="39014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/>
                <a:cs typeface="Arial"/>
              </a:rPr>
              <a:t>16</a:t>
            </a:r>
          </a:p>
        </p:txBody>
      </p:sp>
      <p:sp>
        <p:nvSpPr>
          <p:cNvPr id="5" name="Text 3"/>
          <p:cNvSpPr/>
          <p:nvPr/>
        </p:nvSpPr>
        <p:spPr>
          <a:xfrm>
            <a:off x="804672" y="0"/>
            <a:ext cx="914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spc="133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VISION — FINAL MODEL RESULTS</a:t>
            </a:r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9997440" y="0"/>
            <a:ext cx="1950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>
                <a:solidFill>
                  <a:srgbClr val="8B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VISION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426720" y="853440"/>
            <a:ext cx="2657856" cy="1072896"/>
          </a:xfrm>
          <a:prstGeom prst="roundRect">
            <a:avLst>
              <a:gd name="adj" fmla="val 9091"/>
            </a:avLst>
          </a:prstGeom>
          <a:solidFill>
            <a:srgbClr val="F9FAFB"/>
          </a:solidFill>
          <a:ln/>
          <a:effectLst>
            <a:outerShdw blurRad="635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426720" y="926592"/>
            <a:ext cx="265785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>
                <a:solidFill>
                  <a:srgbClr val="1E4D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90.83%</a:t>
            </a:r>
            <a:endParaRPr lang="en-US" sz="3600"/>
          </a:p>
        </p:txBody>
      </p:sp>
      <p:sp>
        <p:nvSpPr>
          <p:cNvPr id="9" name="Text 7"/>
          <p:cNvSpPr/>
          <p:nvPr/>
        </p:nvSpPr>
        <p:spPr>
          <a:xfrm>
            <a:off x="426720" y="1414272"/>
            <a:ext cx="2657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</a:t>
            </a:r>
            <a:endParaRPr lang="en-US" sz="1333"/>
          </a:p>
        </p:txBody>
      </p:sp>
      <p:sp>
        <p:nvSpPr>
          <p:cNvPr id="11" name="Shape 9"/>
          <p:cNvSpPr/>
          <p:nvPr/>
        </p:nvSpPr>
        <p:spPr>
          <a:xfrm>
            <a:off x="3279648" y="853440"/>
            <a:ext cx="2657856" cy="1072896"/>
          </a:xfrm>
          <a:prstGeom prst="roundRect">
            <a:avLst>
              <a:gd name="adj" fmla="val 9091"/>
            </a:avLst>
          </a:prstGeom>
          <a:solidFill>
            <a:srgbClr val="F9FAFB"/>
          </a:solidFill>
          <a:ln/>
          <a:effectLst>
            <a:outerShdw blurRad="635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3279648" y="926592"/>
            <a:ext cx="265785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>
                <a:solidFill>
                  <a:srgbClr val="1E4D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872 ms</a:t>
            </a:r>
            <a:endParaRPr lang="en-US" sz="3600"/>
          </a:p>
        </p:txBody>
      </p:sp>
      <p:sp>
        <p:nvSpPr>
          <p:cNvPr id="13" name="Text 11"/>
          <p:cNvSpPr/>
          <p:nvPr/>
        </p:nvSpPr>
        <p:spPr>
          <a:xfrm>
            <a:off x="3279648" y="1414272"/>
            <a:ext cx="2657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Latency</a:t>
            </a:r>
            <a:endParaRPr lang="en-US" sz="1333"/>
          </a:p>
        </p:txBody>
      </p:sp>
      <p:sp>
        <p:nvSpPr>
          <p:cNvPr id="15" name="Shape 13"/>
          <p:cNvSpPr/>
          <p:nvPr/>
        </p:nvSpPr>
        <p:spPr>
          <a:xfrm>
            <a:off x="6132576" y="853440"/>
            <a:ext cx="2657856" cy="1072896"/>
          </a:xfrm>
          <a:prstGeom prst="roundRect">
            <a:avLst>
              <a:gd name="adj" fmla="val 9091"/>
            </a:avLst>
          </a:prstGeom>
          <a:solidFill>
            <a:srgbClr val="F9FAFB"/>
          </a:solidFill>
          <a:ln/>
          <a:effectLst>
            <a:outerShdw blurRad="635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6132576" y="926592"/>
            <a:ext cx="265785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>
                <a:solidFill>
                  <a:srgbClr val="1E4D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87.5%</a:t>
            </a:r>
            <a:endParaRPr lang="en-US" sz="3600"/>
          </a:p>
        </p:txBody>
      </p:sp>
      <p:sp>
        <p:nvSpPr>
          <p:cNvPr id="17" name="Text 15"/>
          <p:cNvSpPr/>
          <p:nvPr/>
        </p:nvSpPr>
        <p:spPr>
          <a:xfrm>
            <a:off x="6132576" y="1414272"/>
            <a:ext cx="2657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Recall</a:t>
            </a:r>
            <a:endParaRPr lang="en-US" sz="1333"/>
          </a:p>
        </p:txBody>
      </p:sp>
      <p:sp>
        <p:nvSpPr>
          <p:cNvPr id="19" name="Shape 17"/>
          <p:cNvSpPr/>
          <p:nvPr/>
        </p:nvSpPr>
        <p:spPr>
          <a:xfrm>
            <a:off x="8985504" y="853440"/>
            <a:ext cx="2657856" cy="1072896"/>
          </a:xfrm>
          <a:prstGeom prst="roundRect">
            <a:avLst>
              <a:gd name="adj" fmla="val 9091"/>
            </a:avLst>
          </a:prstGeom>
          <a:solidFill>
            <a:srgbClr val="F9FAFB"/>
          </a:solidFill>
          <a:ln/>
          <a:effectLst>
            <a:outerShdw blurRad="635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8985504" y="926592"/>
            <a:ext cx="265785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>
                <a:solidFill>
                  <a:srgbClr val="1E4D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92.6%</a:t>
            </a:r>
            <a:endParaRPr lang="en-US" sz="3600"/>
          </a:p>
        </p:txBody>
      </p:sp>
      <p:sp>
        <p:nvSpPr>
          <p:cNvPr id="21" name="Text 19"/>
          <p:cNvSpPr/>
          <p:nvPr/>
        </p:nvSpPr>
        <p:spPr>
          <a:xfrm>
            <a:off x="8985504" y="1414272"/>
            <a:ext cx="2657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NonHuman Recall</a:t>
            </a:r>
            <a:endParaRPr lang="en-US" sz="1333"/>
          </a:p>
        </p:txBody>
      </p:sp>
      <p:sp>
        <p:nvSpPr>
          <p:cNvPr id="52" name="Shape 50"/>
          <p:cNvSpPr/>
          <p:nvPr/>
        </p:nvSpPr>
        <p:spPr>
          <a:xfrm>
            <a:off x="8132064" y="2145792"/>
            <a:ext cx="3633216" cy="2779776"/>
          </a:xfrm>
          <a:prstGeom prst="roundRect">
            <a:avLst>
              <a:gd name="adj" fmla="val 3509"/>
            </a:avLst>
          </a:prstGeom>
          <a:solidFill>
            <a:srgbClr val="F9FAFB"/>
          </a:solidFill>
          <a:ln/>
          <a:effectLst>
            <a:outerShdw blurRad="635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3" name="Text 51"/>
          <p:cNvSpPr/>
          <p:nvPr/>
        </p:nvSpPr>
        <p:spPr>
          <a:xfrm>
            <a:off x="8314944" y="2267712"/>
            <a:ext cx="32674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spc="133">
                <a:solidFill>
                  <a:srgbClr val="1E4D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METRICS</a:t>
            </a:r>
            <a:endParaRPr lang="en-US" sz="1067"/>
          </a:p>
        </p:txBody>
      </p:sp>
      <p:graphicFrame>
        <p:nvGraphicFramePr>
          <p:cNvPr id="54" name="Table 0"/>
          <p:cNvGraphicFramePr>
            <a:graphicFrameLocks noGrp="1"/>
          </p:cNvGraphicFramePr>
          <p:nvPr/>
        </p:nvGraphicFramePr>
        <p:xfrm>
          <a:off x="8278368" y="2609088"/>
          <a:ext cx="3048000" cy="17068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667" marR="84667" marT="50800" marB="5080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</a:t>
                      </a:r>
                      <a:endParaRPr lang="en-US" sz="1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667" marR="84667" marT="50800" marB="5080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NonHuman</a:t>
                      </a:r>
                      <a:endParaRPr lang="en-US" sz="1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667" marR="84667" marT="50800" marB="5080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</a:t>
                      </a:r>
                      <a:endParaRPr lang="en-US" sz="1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667" marR="84667" marT="50800" marB="5080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85.96%</a:t>
                      </a:r>
                      <a:endParaRPr lang="en-US" sz="1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667" marR="84667" marT="50800" marB="5080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93.43%</a:t>
                      </a:r>
                      <a:endParaRPr lang="en-US" sz="1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667" marR="84667" marT="50800" marB="5080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1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667" marR="84667" marT="50800" marB="5080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87.50%</a:t>
                      </a:r>
                      <a:endParaRPr lang="en-US" sz="1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667" marR="84667" marT="50800" marB="5080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92.56%</a:t>
                      </a:r>
                      <a:endParaRPr lang="en-US" sz="1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667" marR="84667" marT="50800" marB="5080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 Score</a:t>
                      </a:r>
                      <a:endParaRPr lang="en-US" sz="1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667" marR="84667" marT="50800" marB="5080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86.72%</a:t>
                      </a:r>
                      <a:endParaRPr lang="en-US" sz="1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667" marR="84667" marT="50800" marB="5080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93.00%</a:t>
                      </a:r>
                      <a:endParaRPr lang="en-US" sz="1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667" marR="84667" marT="50800" marB="5080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1E4D7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Macro F1</a:t>
                      </a:r>
                      <a:endParaRPr lang="en-US" sz="1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667" marR="84667" marT="50800" marB="5080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E4D7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89.86%</a:t>
                      </a:r>
                      <a:endParaRPr lang="en-US" sz="1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667" marR="84667" marT="50800" marB="5080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1E4D7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Weighted F1</a:t>
                      </a:r>
                      <a:endParaRPr lang="en-US" sz="1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667" marR="84667" marT="50800" marB="5080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E4D7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90.85%</a:t>
                      </a:r>
                      <a:endParaRPr lang="en-US" sz="1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667" marR="84667" marT="50800" marB="5080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6" name="Shape 53"/>
          <p:cNvSpPr/>
          <p:nvPr/>
        </p:nvSpPr>
        <p:spPr>
          <a:xfrm>
            <a:off x="426720" y="5364480"/>
            <a:ext cx="11338560" cy="463296"/>
          </a:xfrm>
          <a:prstGeom prst="roundRect">
            <a:avLst>
              <a:gd name="adj" fmla="val 15789"/>
            </a:avLst>
          </a:prstGeom>
          <a:solidFill>
            <a:srgbClr val="1E4D7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7" name="Text 54"/>
          <p:cNvSpPr/>
          <p:nvPr/>
        </p:nvSpPr>
        <p:spPr>
          <a:xfrm>
            <a:off x="426720" y="5364480"/>
            <a:ext cx="37795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&gt;90% Accuracy (90.83%)</a:t>
            </a:r>
            <a:endParaRPr lang="en-US" sz="1267"/>
          </a:p>
        </p:txBody>
      </p:sp>
      <p:sp>
        <p:nvSpPr>
          <p:cNvPr id="58" name="Text 55"/>
          <p:cNvSpPr/>
          <p:nvPr/>
        </p:nvSpPr>
        <p:spPr>
          <a:xfrm>
            <a:off x="4206240" y="5364480"/>
            <a:ext cx="37795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Sub-Second (872 ms)</a:t>
            </a:r>
            <a:endParaRPr lang="en-US" sz="1267"/>
          </a:p>
        </p:txBody>
      </p:sp>
      <p:sp>
        <p:nvSpPr>
          <p:cNvPr id="59" name="Text 56"/>
          <p:cNvSpPr/>
          <p:nvPr/>
        </p:nvSpPr>
        <p:spPr>
          <a:xfrm>
            <a:off x="7985760" y="5364480"/>
            <a:ext cx="37795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Fully From-Scratch</a:t>
            </a:r>
            <a:endParaRPr lang="en-US" sz="1267"/>
          </a:p>
        </p:txBody>
      </p:sp>
      <p:sp>
        <p:nvSpPr>
          <p:cNvPr id="61" name="Text 58"/>
          <p:cNvSpPr/>
          <p:nvPr/>
        </p:nvSpPr>
        <p:spPr>
          <a:xfrm>
            <a:off x="-69273" y="6108746"/>
            <a:ext cx="12192000" cy="957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>
                <a:solidFill>
                  <a:srgbClr val="A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EagleEye · FYP Final Defence · June 2026</a:t>
            </a:r>
            <a:endParaRPr lang="en-US" sz="1067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50BF7FA8-1BE5-E27D-1BB2-EDC9F1F782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1320" y="1919967"/>
            <a:ext cx="3612250" cy="2491106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ED4D1-00BB-2BE6-B79B-E5860FA6D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88E90-CEBA-A788-B901-E79B1E7407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4FA2B1-1E45-E91F-B42F-488B932FE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36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3B8E5F-8EE2-0B9E-727B-1D9C05017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875" y="0"/>
            <a:ext cx="12194875" cy="6856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6521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2B5B8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87680" y="158496"/>
            <a:ext cx="609600" cy="609600"/>
          </a:xfrm>
          <a:prstGeom prst="roundRect">
            <a:avLst>
              <a:gd name="adj" fmla="val 16000"/>
            </a:avLst>
          </a:prstGeom>
          <a:solidFill>
            <a:srgbClr val="4FC3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87680" y="158496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>
                <a:solidFill>
                  <a:srgbClr val="1B3A5C"/>
                </a:solidFill>
                <a:latin typeface="Arial"/>
                <a:cs typeface="Arial"/>
              </a:rPr>
              <a:t>16</a:t>
            </a:r>
          </a:p>
        </p:txBody>
      </p:sp>
      <p:sp>
        <p:nvSpPr>
          <p:cNvPr id="5" name="Text 3"/>
          <p:cNvSpPr/>
          <p:nvPr/>
        </p:nvSpPr>
        <p:spPr>
          <a:xfrm>
            <a:off x="1280160" y="158496"/>
            <a:ext cx="792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2400" b="1" spc="2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9509760" y="158496"/>
            <a:ext cx="21945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spc="267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</a:t>
            </a:r>
            <a:endParaRPr lang="en-US" sz="1333"/>
          </a:p>
        </p:txBody>
      </p:sp>
      <p:sp>
        <p:nvSpPr>
          <p:cNvPr id="7" name="Text 5"/>
          <p:cNvSpPr/>
          <p:nvPr/>
        </p:nvSpPr>
        <p:spPr>
          <a:xfrm>
            <a:off x="609600" y="6339840"/>
            <a:ext cx="7315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EagleEye · FYP Final Defence · June 2026</a:t>
            </a:r>
            <a:endParaRPr lang="en-US" sz="1067"/>
          </a:p>
        </p:txBody>
      </p:sp>
      <p:sp>
        <p:nvSpPr>
          <p:cNvPr id="8" name="Text 6"/>
          <p:cNvSpPr/>
          <p:nvPr/>
        </p:nvSpPr>
        <p:spPr>
          <a:xfrm>
            <a:off x="10363200" y="6339840"/>
            <a:ext cx="1463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5</a:t>
            </a:r>
            <a:endParaRPr lang="en-US" sz="1067"/>
          </a:p>
        </p:txBody>
      </p:sp>
      <p:sp>
        <p:nvSpPr>
          <p:cNvPr id="9" name="Shape 7"/>
          <p:cNvSpPr/>
          <p:nvPr/>
        </p:nvSpPr>
        <p:spPr>
          <a:xfrm>
            <a:off x="670560" y="1219200"/>
            <a:ext cx="1889760" cy="1889760"/>
          </a:xfrm>
          <a:prstGeom prst="roundRect">
            <a:avLst>
              <a:gd name="adj" fmla="val 6452"/>
            </a:avLst>
          </a:prstGeom>
          <a:solidFill>
            <a:srgbClr val="EDF3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1310640" y="1365504"/>
            <a:ext cx="609600" cy="609600"/>
          </a:xfrm>
          <a:prstGeom prst="ellipse">
            <a:avLst/>
          </a:prstGeom>
          <a:solidFill>
            <a:srgbClr val="2B5B84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560" y="1487424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70560" y="2048256"/>
            <a:ext cx="1889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333" b="1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INMP441</a:t>
            </a:r>
            <a:endParaRPr lang="en-US" sz="1333"/>
          </a:p>
          <a:p>
            <a:pPr algn="ctr"/>
            <a:r>
              <a:rPr lang="en-US" sz="1333" b="1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Microphone</a:t>
            </a:r>
            <a:endParaRPr lang="en-US" sz="1333"/>
          </a:p>
        </p:txBody>
      </p:sp>
      <p:sp>
        <p:nvSpPr>
          <p:cNvPr id="13" name="Text 10"/>
          <p:cNvSpPr/>
          <p:nvPr/>
        </p:nvSpPr>
        <p:spPr>
          <a:xfrm>
            <a:off x="670560" y="2682240"/>
            <a:ext cx="18897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67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input</a:t>
            </a:r>
            <a:endParaRPr lang="en-US" sz="1067"/>
          </a:p>
        </p:txBody>
      </p:sp>
      <p:sp>
        <p:nvSpPr>
          <p:cNvPr id="14" name="Text 11"/>
          <p:cNvSpPr/>
          <p:nvPr/>
        </p:nvSpPr>
        <p:spPr>
          <a:xfrm>
            <a:off x="2560320" y="1889760"/>
            <a:ext cx="365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/>
          </a:p>
        </p:txBody>
      </p:sp>
      <p:sp>
        <p:nvSpPr>
          <p:cNvPr id="15" name="Shape 12"/>
          <p:cNvSpPr/>
          <p:nvPr/>
        </p:nvSpPr>
        <p:spPr>
          <a:xfrm>
            <a:off x="2926080" y="1219200"/>
            <a:ext cx="1889760" cy="1889760"/>
          </a:xfrm>
          <a:prstGeom prst="roundRect">
            <a:avLst>
              <a:gd name="adj" fmla="val 6452"/>
            </a:avLst>
          </a:prstGeom>
          <a:solidFill>
            <a:srgbClr val="EDF3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Shape 13"/>
          <p:cNvSpPr/>
          <p:nvPr/>
        </p:nvSpPr>
        <p:spPr>
          <a:xfrm>
            <a:off x="3566160" y="1365504"/>
            <a:ext cx="609600" cy="609600"/>
          </a:xfrm>
          <a:prstGeom prst="ellipse">
            <a:avLst/>
          </a:prstGeom>
          <a:solidFill>
            <a:srgbClr val="2B5B84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8080" y="1487424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926080" y="2048256"/>
            <a:ext cx="1889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333" b="1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I2S Bus</a:t>
            </a:r>
            <a:endParaRPr lang="en-US" sz="1333"/>
          </a:p>
          <a:p>
            <a:pPr algn="ctr"/>
            <a:r>
              <a:rPr lang="en-US" sz="1333" b="1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(ESP32-CAM)</a:t>
            </a:r>
            <a:endParaRPr lang="en-US" sz="1333"/>
          </a:p>
        </p:txBody>
      </p:sp>
      <p:sp>
        <p:nvSpPr>
          <p:cNvPr id="19" name="Text 15"/>
          <p:cNvSpPr/>
          <p:nvPr/>
        </p:nvSpPr>
        <p:spPr>
          <a:xfrm>
            <a:off x="2926080" y="2682240"/>
            <a:ext cx="18897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67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transfer</a:t>
            </a:r>
            <a:endParaRPr lang="en-US" sz="1067"/>
          </a:p>
        </p:txBody>
      </p:sp>
      <p:sp>
        <p:nvSpPr>
          <p:cNvPr id="20" name="Text 16"/>
          <p:cNvSpPr/>
          <p:nvPr/>
        </p:nvSpPr>
        <p:spPr>
          <a:xfrm>
            <a:off x="4815840" y="1889760"/>
            <a:ext cx="365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/>
          </a:p>
        </p:txBody>
      </p:sp>
      <p:sp>
        <p:nvSpPr>
          <p:cNvPr id="21" name="Shape 17"/>
          <p:cNvSpPr/>
          <p:nvPr/>
        </p:nvSpPr>
        <p:spPr>
          <a:xfrm>
            <a:off x="5181600" y="1219200"/>
            <a:ext cx="1889760" cy="1889760"/>
          </a:xfrm>
          <a:prstGeom prst="roundRect">
            <a:avLst>
              <a:gd name="adj" fmla="val 6452"/>
            </a:avLst>
          </a:prstGeom>
          <a:solidFill>
            <a:srgbClr val="EDF3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Shape 18"/>
          <p:cNvSpPr/>
          <p:nvPr/>
        </p:nvSpPr>
        <p:spPr>
          <a:xfrm>
            <a:off x="5821680" y="1365504"/>
            <a:ext cx="609600" cy="609600"/>
          </a:xfrm>
          <a:prstGeom prst="ellipse">
            <a:avLst/>
          </a:prstGeom>
          <a:solidFill>
            <a:srgbClr val="2B5B84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1487424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181600" y="2048256"/>
            <a:ext cx="1889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333" b="1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MFCC</a:t>
            </a:r>
            <a:endParaRPr lang="en-US" sz="1333"/>
          </a:p>
          <a:p>
            <a:pPr algn="ctr"/>
            <a:r>
              <a:rPr lang="en-US" sz="1333" b="1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Processor</a:t>
            </a:r>
            <a:endParaRPr lang="en-US" sz="1333"/>
          </a:p>
        </p:txBody>
      </p:sp>
      <p:sp>
        <p:nvSpPr>
          <p:cNvPr id="25" name="Text 20"/>
          <p:cNvSpPr/>
          <p:nvPr/>
        </p:nvSpPr>
        <p:spPr>
          <a:xfrm>
            <a:off x="5181600" y="2682240"/>
            <a:ext cx="18897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67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</a:t>
            </a:r>
            <a:endParaRPr lang="en-US" sz="1067"/>
          </a:p>
        </p:txBody>
      </p:sp>
      <p:sp>
        <p:nvSpPr>
          <p:cNvPr id="26" name="Text 21"/>
          <p:cNvSpPr/>
          <p:nvPr/>
        </p:nvSpPr>
        <p:spPr>
          <a:xfrm>
            <a:off x="7071360" y="1889760"/>
            <a:ext cx="365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/>
          </a:p>
        </p:txBody>
      </p:sp>
      <p:sp>
        <p:nvSpPr>
          <p:cNvPr id="27" name="Shape 22"/>
          <p:cNvSpPr/>
          <p:nvPr/>
        </p:nvSpPr>
        <p:spPr>
          <a:xfrm>
            <a:off x="7437120" y="1219200"/>
            <a:ext cx="1889760" cy="1889760"/>
          </a:xfrm>
          <a:prstGeom prst="roundRect">
            <a:avLst>
              <a:gd name="adj" fmla="val 6452"/>
            </a:avLst>
          </a:prstGeom>
          <a:solidFill>
            <a:srgbClr val="EDF3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8" name="Shape 23"/>
          <p:cNvSpPr/>
          <p:nvPr/>
        </p:nvSpPr>
        <p:spPr>
          <a:xfrm>
            <a:off x="8077200" y="1365504"/>
            <a:ext cx="609600" cy="609600"/>
          </a:xfrm>
          <a:prstGeom prst="ellipse">
            <a:avLst/>
          </a:prstGeom>
          <a:solidFill>
            <a:srgbClr val="2B5B84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9120" y="1487424"/>
            <a:ext cx="365760" cy="3657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437120" y="2048256"/>
            <a:ext cx="1889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333" b="1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TinyML</a:t>
            </a:r>
            <a:endParaRPr lang="en-US" sz="1333"/>
          </a:p>
          <a:p>
            <a:pPr algn="ctr"/>
            <a:r>
              <a:rPr lang="en-US" sz="1333" b="1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1333"/>
          </a:p>
        </p:txBody>
      </p:sp>
      <p:sp>
        <p:nvSpPr>
          <p:cNvPr id="31" name="Text 25"/>
          <p:cNvSpPr/>
          <p:nvPr/>
        </p:nvSpPr>
        <p:spPr>
          <a:xfrm>
            <a:off x="7437120" y="2682240"/>
            <a:ext cx="18897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67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1067"/>
          </a:p>
        </p:txBody>
      </p:sp>
      <p:sp>
        <p:nvSpPr>
          <p:cNvPr id="32" name="Text 26"/>
          <p:cNvSpPr/>
          <p:nvPr/>
        </p:nvSpPr>
        <p:spPr>
          <a:xfrm>
            <a:off x="9326880" y="1889760"/>
            <a:ext cx="365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/>
          </a:p>
        </p:txBody>
      </p:sp>
      <p:sp>
        <p:nvSpPr>
          <p:cNvPr id="33" name="Shape 27"/>
          <p:cNvSpPr/>
          <p:nvPr/>
        </p:nvSpPr>
        <p:spPr>
          <a:xfrm>
            <a:off x="9692640" y="1219200"/>
            <a:ext cx="1889760" cy="1889760"/>
          </a:xfrm>
          <a:prstGeom prst="roundRect">
            <a:avLst>
              <a:gd name="adj" fmla="val 6452"/>
            </a:avLst>
          </a:prstGeom>
          <a:solidFill>
            <a:srgbClr val="EDF3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4" name="Shape 28"/>
          <p:cNvSpPr/>
          <p:nvPr/>
        </p:nvSpPr>
        <p:spPr>
          <a:xfrm>
            <a:off x="10332720" y="1365504"/>
            <a:ext cx="609600" cy="609600"/>
          </a:xfrm>
          <a:prstGeom prst="ellipse">
            <a:avLst/>
          </a:prstGeom>
          <a:solidFill>
            <a:srgbClr val="2B5B84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54640" y="1487424"/>
            <a:ext cx="365760" cy="36576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692640" y="2048256"/>
            <a:ext cx="1889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333" b="1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</a:t>
            </a:r>
            <a:endParaRPr lang="en-US" sz="1333"/>
          </a:p>
          <a:p>
            <a:pPr algn="ctr"/>
            <a:r>
              <a:rPr lang="en-US" sz="1333" b="1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333"/>
          </a:p>
        </p:txBody>
      </p:sp>
      <p:sp>
        <p:nvSpPr>
          <p:cNvPr id="37" name="Text 30"/>
          <p:cNvSpPr/>
          <p:nvPr/>
        </p:nvSpPr>
        <p:spPr>
          <a:xfrm>
            <a:off x="9692640" y="2682240"/>
            <a:ext cx="18897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67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</a:t>
            </a:r>
            <a:endParaRPr lang="en-US" sz="1067"/>
          </a:p>
        </p:txBody>
      </p:sp>
      <p:sp>
        <p:nvSpPr>
          <p:cNvPr id="38" name="Shape 31"/>
          <p:cNvSpPr/>
          <p:nvPr/>
        </p:nvSpPr>
        <p:spPr>
          <a:xfrm>
            <a:off x="609600" y="3474720"/>
            <a:ext cx="5242560" cy="2682240"/>
          </a:xfrm>
          <a:prstGeom prst="roundRect">
            <a:avLst>
              <a:gd name="adj" fmla="val 4545"/>
            </a:avLst>
          </a:prstGeom>
          <a:solidFill>
            <a:srgbClr val="EDF3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9" name="Text 32"/>
          <p:cNvSpPr/>
          <p:nvPr/>
        </p:nvSpPr>
        <p:spPr>
          <a:xfrm>
            <a:off x="853440" y="3596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333" b="1" spc="200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SPECIFICATIONS</a:t>
            </a:r>
            <a:endParaRPr lang="en-US" sz="1333"/>
          </a:p>
        </p:txBody>
      </p:sp>
      <p:sp>
        <p:nvSpPr>
          <p:cNvPr id="40" name="Text 33"/>
          <p:cNvSpPr/>
          <p:nvPr/>
        </p:nvSpPr>
        <p:spPr>
          <a:xfrm>
            <a:off x="853440" y="4084320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 b="1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Microcontroller</a:t>
            </a:r>
            <a:endParaRPr lang="en-US" sz="1200"/>
          </a:p>
        </p:txBody>
      </p:sp>
      <p:sp>
        <p:nvSpPr>
          <p:cNvPr id="41" name="Text 34"/>
          <p:cNvSpPr/>
          <p:nvPr/>
        </p:nvSpPr>
        <p:spPr>
          <a:xfrm>
            <a:off x="2865120" y="4084320"/>
            <a:ext cx="28041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ESP32-CAM (Xtensa LX6, 240 MHz)</a:t>
            </a:r>
            <a:endParaRPr lang="en-US" sz="1200"/>
          </a:p>
        </p:txBody>
      </p:sp>
      <p:sp>
        <p:nvSpPr>
          <p:cNvPr id="42" name="Text 35"/>
          <p:cNvSpPr/>
          <p:nvPr/>
        </p:nvSpPr>
        <p:spPr>
          <a:xfrm>
            <a:off x="853440" y="4474464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 b="1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Microphone</a:t>
            </a:r>
            <a:endParaRPr lang="en-US" sz="1200"/>
          </a:p>
        </p:txBody>
      </p:sp>
      <p:sp>
        <p:nvSpPr>
          <p:cNvPr id="43" name="Text 36"/>
          <p:cNvSpPr/>
          <p:nvPr/>
        </p:nvSpPr>
        <p:spPr>
          <a:xfrm>
            <a:off x="2865120" y="4474464"/>
            <a:ext cx="28041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INMP441 — Omnidirectional MEMS</a:t>
            </a:r>
            <a:endParaRPr lang="en-US" sz="1200"/>
          </a:p>
        </p:txBody>
      </p:sp>
      <p:sp>
        <p:nvSpPr>
          <p:cNvPr id="44" name="Text 37"/>
          <p:cNvSpPr/>
          <p:nvPr/>
        </p:nvSpPr>
        <p:spPr>
          <a:xfrm>
            <a:off x="853440" y="4864608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 b="1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en-US" sz="1200"/>
          </a:p>
        </p:txBody>
      </p:sp>
      <p:sp>
        <p:nvSpPr>
          <p:cNvPr id="45" name="Text 38"/>
          <p:cNvSpPr/>
          <p:nvPr/>
        </p:nvSpPr>
        <p:spPr>
          <a:xfrm>
            <a:off x="2865120" y="4864608"/>
            <a:ext cx="28041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I2S Digital Protocol</a:t>
            </a:r>
            <a:endParaRPr lang="en-US" sz="1200"/>
          </a:p>
        </p:txBody>
      </p:sp>
      <p:sp>
        <p:nvSpPr>
          <p:cNvPr id="46" name="Text 39"/>
          <p:cNvSpPr/>
          <p:nvPr/>
        </p:nvSpPr>
        <p:spPr>
          <a:xfrm>
            <a:off x="853440" y="5254752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 b="1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 Rate</a:t>
            </a:r>
            <a:endParaRPr lang="en-US" sz="1200"/>
          </a:p>
        </p:txBody>
      </p:sp>
      <p:sp>
        <p:nvSpPr>
          <p:cNvPr id="47" name="Text 40"/>
          <p:cNvSpPr/>
          <p:nvPr/>
        </p:nvSpPr>
        <p:spPr>
          <a:xfrm>
            <a:off x="2865120" y="5254752"/>
            <a:ext cx="28041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16,000 Hz (16 kHz)</a:t>
            </a:r>
            <a:endParaRPr lang="en-US" sz="1200"/>
          </a:p>
        </p:txBody>
      </p:sp>
      <p:sp>
        <p:nvSpPr>
          <p:cNvPr id="48" name="Text 41"/>
          <p:cNvSpPr/>
          <p:nvPr/>
        </p:nvSpPr>
        <p:spPr>
          <a:xfrm>
            <a:off x="853440" y="564489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 b="1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PSRAM</a:t>
            </a:r>
            <a:endParaRPr lang="en-US" sz="1200"/>
          </a:p>
        </p:txBody>
      </p:sp>
      <p:sp>
        <p:nvSpPr>
          <p:cNvPr id="49" name="Text 42"/>
          <p:cNvSpPr/>
          <p:nvPr/>
        </p:nvSpPr>
        <p:spPr>
          <a:xfrm>
            <a:off x="2865120" y="5644896"/>
            <a:ext cx="28041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MB External (MFCC buffer)</a:t>
            </a:r>
            <a:endParaRPr lang="en-US" sz="1200"/>
          </a:p>
        </p:txBody>
      </p:sp>
      <p:sp>
        <p:nvSpPr>
          <p:cNvPr id="50" name="Shape 43"/>
          <p:cNvSpPr/>
          <p:nvPr/>
        </p:nvSpPr>
        <p:spPr>
          <a:xfrm>
            <a:off x="6339840" y="3474720"/>
            <a:ext cx="5242560" cy="2682240"/>
          </a:xfrm>
          <a:prstGeom prst="roundRect">
            <a:avLst>
              <a:gd name="adj" fmla="val 4545"/>
            </a:avLst>
          </a:prstGeom>
          <a:solidFill>
            <a:srgbClr val="EDF3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1" name="Text 44"/>
          <p:cNvSpPr/>
          <p:nvPr/>
        </p:nvSpPr>
        <p:spPr>
          <a:xfrm>
            <a:off x="6583680" y="3596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333" b="1" spc="200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STACK</a:t>
            </a:r>
            <a:endParaRPr lang="en-US" sz="1333"/>
          </a:p>
        </p:txBody>
      </p:sp>
      <p:sp>
        <p:nvSpPr>
          <p:cNvPr id="52" name="Text 45"/>
          <p:cNvSpPr/>
          <p:nvPr/>
        </p:nvSpPr>
        <p:spPr>
          <a:xfrm>
            <a:off x="6583680" y="4084320"/>
            <a:ext cx="1828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 b="1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1200"/>
          </a:p>
        </p:txBody>
      </p:sp>
      <p:sp>
        <p:nvSpPr>
          <p:cNvPr id="53" name="Text 46"/>
          <p:cNvSpPr/>
          <p:nvPr/>
        </p:nvSpPr>
        <p:spPr>
          <a:xfrm>
            <a:off x="8473440" y="4084320"/>
            <a:ext cx="29260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Arduino (ESP-IDF underneath)</a:t>
            </a:r>
            <a:endParaRPr lang="en-US" sz="1200"/>
          </a:p>
        </p:txBody>
      </p:sp>
      <p:sp>
        <p:nvSpPr>
          <p:cNvPr id="54" name="Text 47"/>
          <p:cNvSpPr/>
          <p:nvPr/>
        </p:nvSpPr>
        <p:spPr>
          <a:xfrm>
            <a:off x="6583680" y="4474464"/>
            <a:ext cx="1828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 b="1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Runtime</a:t>
            </a:r>
            <a:endParaRPr lang="en-US" sz="1200"/>
          </a:p>
        </p:txBody>
      </p:sp>
      <p:sp>
        <p:nvSpPr>
          <p:cNvPr id="55" name="Text 48"/>
          <p:cNvSpPr/>
          <p:nvPr/>
        </p:nvSpPr>
        <p:spPr>
          <a:xfrm>
            <a:off x="8473440" y="4474464"/>
            <a:ext cx="29260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TensorFlow Lite Micro</a:t>
            </a:r>
            <a:endParaRPr lang="en-US" sz="1200"/>
          </a:p>
        </p:txBody>
      </p:sp>
      <p:sp>
        <p:nvSpPr>
          <p:cNvPr id="56" name="Text 49"/>
          <p:cNvSpPr/>
          <p:nvPr/>
        </p:nvSpPr>
        <p:spPr>
          <a:xfrm>
            <a:off x="6583680" y="4864608"/>
            <a:ext cx="1828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 b="1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DSP</a:t>
            </a:r>
            <a:endParaRPr lang="en-US" sz="1200"/>
          </a:p>
        </p:txBody>
      </p:sp>
      <p:sp>
        <p:nvSpPr>
          <p:cNvPr id="57" name="Text 50"/>
          <p:cNvSpPr/>
          <p:nvPr/>
        </p:nvSpPr>
        <p:spPr>
          <a:xfrm>
            <a:off x="8473440" y="4864608"/>
            <a:ext cx="29260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MFCC — 13 Coefficients</a:t>
            </a:r>
            <a:endParaRPr lang="en-US" sz="1200"/>
          </a:p>
        </p:txBody>
      </p:sp>
      <p:sp>
        <p:nvSpPr>
          <p:cNvPr id="58" name="Text 51"/>
          <p:cNvSpPr/>
          <p:nvPr/>
        </p:nvSpPr>
        <p:spPr>
          <a:xfrm>
            <a:off x="6583680" y="5254752"/>
            <a:ext cx="1828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 b="1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Connectivity</a:t>
            </a:r>
            <a:endParaRPr lang="en-US" sz="1200"/>
          </a:p>
        </p:txBody>
      </p:sp>
      <p:sp>
        <p:nvSpPr>
          <p:cNvPr id="59" name="Text 52"/>
          <p:cNvSpPr/>
          <p:nvPr/>
        </p:nvSpPr>
        <p:spPr>
          <a:xfrm>
            <a:off x="8473440" y="5254752"/>
            <a:ext cx="29260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via Wi-Fi</a:t>
            </a:r>
            <a:endParaRPr lang="en-US" sz="1200"/>
          </a:p>
        </p:txBody>
      </p:sp>
      <p:sp>
        <p:nvSpPr>
          <p:cNvPr id="60" name="Text 53"/>
          <p:cNvSpPr/>
          <p:nvPr/>
        </p:nvSpPr>
        <p:spPr>
          <a:xfrm>
            <a:off x="6583680" y="5644896"/>
            <a:ext cx="1828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 b="1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Mode</a:t>
            </a:r>
            <a:endParaRPr lang="en-US" sz="1200"/>
          </a:p>
        </p:txBody>
      </p:sp>
      <p:sp>
        <p:nvSpPr>
          <p:cNvPr id="61" name="Text 54"/>
          <p:cNvSpPr/>
          <p:nvPr/>
        </p:nvSpPr>
        <p:spPr>
          <a:xfrm>
            <a:off x="8473440" y="5644896"/>
            <a:ext cx="29260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Sliding Window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5056294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2B5B8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87680" y="158496"/>
            <a:ext cx="609600" cy="609600"/>
          </a:xfrm>
          <a:prstGeom prst="roundRect">
            <a:avLst>
              <a:gd name="adj" fmla="val 16000"/>
            </a:avLst>
          </a:prstGeom>
          <a:solidFill>
            <a:srgbClr val="4FC3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87680" y="158496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>
                <a:solidFill>
                  <a:srgbClr val="1B3A5C"/>
                </a:solidFill>
                <a:latin typeface="Arial"/>
                <a:cs typeface="Arial"/>
              </a:rPr>
              <a:t>17</a:t>
            </a:r>
          </a:p>
        </p:txBody>
      </p:sp>
      <p:sp>
        <p:nvSpPr>
          <p:cNvPr id="5" name="Text 3"/>
          <p:cNvSpPr/>
          <p:nvPr/>
        </p:nvSpPr>
        <p:spPr>
          <a:xfrm>
            <a:off x="1280160" y="158496"/>
            <a:ext cx="792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2400" b="1" spc="2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FEATURE EXTRACTION</a:t>
            </a:r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9509760" y="158496"/>
            <a:ext cx="21945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spc="267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</a:t>
            </a:r>
            <a:endParaRPr lang="en-US" sz="1333"/>
          </a:p>
        </p:txBody>
      </p:sp>
      <p:sp>
        <p:nvSpPr>
          <p:cNvPr id="7" name="Text 5"/>
          <p:cNvSpPr/>
          <p:nvPr/>
        </p:nvSpPr>
        <p:spPr>
          <a:xfrm>
            <a:off x="609600" y="6339840"/>
            <a:ext cx="7315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EagleEye · FYP Final Defence · June 2026</a:t>
            </a:r>
            <a:endParaRPr lang="en-US" sz="1067"/>
          </a:p>
        </p:txBody>
      </p:sp>
      <p:sp>
        <p:nvSpPr>
          <p:cNvPr id="8" name="Text 6"/>
          <p:cNvSpPr/>
          <p:nvPr/>
        </p:nvSpPr>
        <p:spPr>
          <a:xfrm>
            <a:off x="10363200" y="6339840"/>
            <a:ext cx="1463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1067"/>
          </a:p>
        </p:txBody>
      </p:sp>
      <p:sp>
        <p:nvSpPr>
          <p:cNvPr id="9" name="Text 7"/>
          <p:cNvSpPr/>
          <p:nvPr/>
        </p:nvSpPr>
        <p:spPr>
          <a:xfrm>
            <a:off x="609600" y="1158240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467" b="1" spc="200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MFCC PROCESSING PIPELINE</a:t>
            </a:r>
            <a:endParaRPr lang="en-US" sz="1467"/>
          </a:p>
        </p:txBody>
      </p:sp>
      <p:sp>
        <p:nvSpPr>
          <p:cNvPr id="10" name="Shape 8"/>
          <p:cNvSpPr/>
          <p:nvPr/>
        </p:nvSpPr>
        <p:spPr>
          <a:xfrm>
            <a:off x="609600" y="1645920"/>
            <a:ext cx="463296" cy="463296"/>
          </a:xfrm>
          <a:prstGeom prst="ellipse">
            <a:avLst/>
          </a:prstGeom>
          <a:solidFill>
            <a:srgbClr val="2B5B8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609600" y="1645920"/>
            <a:ext cx="46329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1280160" y="1621536"/>
            <a:ext cx="5120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467" b="1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Capture</a:t>
            </a:r>
            <a:endParaRPr lang="en-US" sz="1467"/>
          </a:p>
        </p:txBody>
      </p:sp>
      <p:sp>
        <p:nvSpPr>
          <p:cNvPr id="13" name="Text 11"/>
          <p:cNvSpPr/>
          <p:nvPr/>
        </p:nvSpPr>
        <p:spPr>
          <a:xfrm>
            <a:off x="1280160" y="1889760"/>
            <a:ext cx="5120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INMP441 records mono audio at 16,000 Hz via I2S bus.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609600" y="2353056"/>
            <a:ext cx="463296" cy="463296"/>
          </a:xfrm>
          <a:prstGeom prst="ellipse">
            <a:avLst/>
          </a:prstGeom>
          <a:solidFill>
            <a:srgbClr val="2B5B8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609600" y="2353056"/>
            <a:ext cx="46329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1280160" y="2328672"/>
            <a:ext cx="5120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467" b="1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Framing &amp; Windowing</a:t>
            </a:r>
            <a:endParaRPr lang="en-US" sz="1467"/>
          </a:p>
        </p:txBody>
      </p:sp>
      <p:sp>
        <p:nvSpPr>
          <p:cNvPr id="17" name="Text 15"/>
          <p:cNvSpPr/>
          <p:nvPr/>
        </p:nvSpPr>
        <p:spPr>
          <a:xfrm>
            <a:off x="1280160" y="2596896"/>
            <a:ext cx="5120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split into overlapping 25 ms frames with Hamming window.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609600" y="3060192"/>
            <a:ext cx="463296" cy="463296"/>
          </a:xfrm>
          <a:prstGeom prst="ellipse">
            <a:avLst/>
          </a:prstGeom>
          <a:solidFill>
            <a:srgbClr val="2B5B8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609600" y="3060192"/>
            <a:ext cx="46329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/>
          </a:p>
        </p:txBody>
      </p:sp>
      <p:sp>
        <p:nvSpPr>
          <p:cNvPr id="20" name="Text 18"/>
          <p:cNvSpPr/>
          <p:nvPr/>
        </p:nvSpPr>
        <p:spPr>
          <a:xfrm>
            <a:off x="1280160" y="3035808"/>
            <a:ext cx="5120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467" b="1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FFT — Frequency Analysis</a:t>
            </a:r>
            <a:endParaRPr lang="en-US" sz="1467"/>
          </a:p>
        </p:txBody>
      </p:sp>
      <p:sp>
        <p:nvSpPr>
          <p:cNvPr id="21" name="Text 19"/>
          <p:cNvSpPr/>
          <p:nvPr/>
        </p:nvSpPr>
        <p:spPr>
          <a:xfrm>
            <a:off x="1280160" y="3304032"/>
            <a:ext cx="5120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Fourier Transform converts each frame to frequency spectrum.</a:t>
            </a:r>
            <a:endParaRPr lang="en-US" sz="1200"/>
          </a:p>
        </p:txBody>
      </p:sp>
      <p:sp>
        <p:nvSpPr>
          <p:cNvPr id="22" name="Shape 20"/>
          <p:cNvSpPr/>
          <p:nvPr/>
        </p:nvSpPr>
        <p:spPr>
          <a:xfrm>
            <a:off x="609600" y="3767328"/>
            <a:ext cx="463296" cy="463296"/>
          </a:xfrm>
          <a:prstGeom prst="ellipse">
            <a:avLst/>
          </a:prstGeom>
          <a:solidFill>
            <a:srgbClr val="2B5B8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609600" y="3767328"/>
            <a:ext cx="46329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/>
          </a:p>
        </p:txBody>
      </p:sp>
      <p:sp>
        <p:nvSpPr>
          <p:cNvPr id="24" name="Text 22"/>
          <p:cNvSpPr/>
          <p:nvPr/>
        </p:nvSpPr>
        <p:spPr>
          <a:xfrm>
            <a:off x="1280160" y="3742944"/>
            <a:ext cx="5120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467" b="1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 Filter Bank</a:t>
            </a:r>
            <a:endParaRPr lang="en-US" sz="1467"/>
          </a:p>
        </p:txBody>
      </p:sp>
      <p:sp>
        <p:nvSpPr>
          <p:cNvPr id="25" name="Text 23"/>
          <p:cNvSpPr/>
          <p:nvPr/>
        </p:nvSpPr>
        <p:spPr>
          <a:xfrm>
            <a:off x="1280160" y="4011168"/>
            <a:ext cx="5120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triangular filters map spectrum to human auditory scale.</a:t>
            </a:r>
            <a:endParaRPr lang="en-US" sz="1200"/>
          </a:p>
        </p:txBody>
      </p:sp>
      <p:sp>
        <p:nvSpPr>
          <p:cNvPr id="26" name="Shape 24"/>
          <p:cNvSpPr/>
          <p:nvPr/>
        </p:nvSpPr>
        <p:spPr>
          <a:xfrm>
            <a:off x="609600" y="4474464"/>
            <a:ext cx="463296" cy="463296"/>
          </a:xfrm>
          <a:prstGeom prst="ellipse">
            <a:avLst/>
          </a:prstGeom>
          <a:solidFill>
            <a:srgbClr val="2B5B8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609600" y="4474464"/>
            <a:ext cx="46329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/>
          </a:p>
        </p:txBody>
      </p:sp>
      <p:sp>
        <p:nvSpPr>
          <p:cNvPr id="28" name="Text 26"/>
          <p:cNvSpPr/>
          <p:nvPr/>
        </p:nvSpPr>
        <p:spPr>
          <a:xfrm>
            <a:off x="1280160" y="4450080"/>
            <a:ext cx="5120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467" b="1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MFCC Coefficients</a:t>
            </a:r>
            <a:endParaRPr lang="en-US" sz="1467"/>
          </a:p>
        </p:txBody>
      </p:sp>
      <p:sp>
        <p:nvSpPr>
          <p:cNvPr id="29" name="Text 27"/>
          <p:cNvSpPr/>
          <p:nvPr/>
        </p:nvSpPr>
        <p:spPr>
          <a:xfrm>
            <a:off x="1280160" y="4718304"/>
            <a:ext cx="5120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compact cepstral coefficients extracted per frame — model input.</a:t>
            </a:r>
            <a:endParaRPr lang="en-US" sz="1200"/>
          </a:p>
        </p:txBody>
      </p:sp>
      <p:sp>
        <p:nvSpPr>
          <p:cNvPr id="30" name="Shape 28"/>
          <p:cNvSpPr/>
          <p:nvPr/>
        </p:nvSpPr>
        <p:spPr>
          <a:xfrm>
            <a:off x="6949440" y="1158240"/>
            <a:ext cx="4632960" cy="3413760"/>
          </a:xfrm>
          <a:prstGeom prst="roundRect">
            <a:avLst>
              <a:gd name="adj" fmla="val 3571"/>
            </a:avLst>
          </a:prstGeom>
          <a:solidFill>
            <a:srgbClr val="EDF3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1" name="Text 29"/>
          <p:cNvSpPr/>
          <p:nvPr/>
        </p:nvSpPr>
        <p:spPr>
          <a:xfrm>
            <a:off x="7193280" y="1304544"/>
            <a:ext cx="41452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333" b="1" spc="200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MFCC PARAMETERS</a:t>
            </a:r>
            <a:endParaRPr lang="en-US" sz="1333"/>
          </a:p>
        </p:txBody>
      </p:sp>
      <p:sp>
        <p:nvSpPr>
          <p:cNvPr id="32" name="Text 30"/>
          <p:cNvSpPr/>
          <p:nvPr/>
        </p:nvSpPr>
        <p:spPr>
          <a:xfrm>
            <a:off x="7193280" y="1767840"/>
            <a:ext cx="195072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 b="1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 Rate</a:t>
            </a:r>
            <a:endParaRPr lang="en-US" sz="1200"/>
          </a:p>
        </p:txBody>
      </p:sp>
      <p:sp>
        <p:nvSpPr>
          <p:cNvPr id="33" name="Text 31"/>
          <p:cNvSpPr/>
          <p:nvPr/>
        </p:nvSpPr>
        <p:spPr>
          <a:xfrm>
            <a:off x="9265920" y="1767840"/>
            <a:ext cx="20726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16,000 Hz</a:t>
            </a:r>
            <a:endParaRPr lang="en-US" sz="1200"/>
          </a:p>
        </p:txBody>
      </p:sp>
      <p:sp>
        <p:nvSpPr>
          <p:cNvPr id="34" name="Text 32"/>
          <p:cNvSpPr/>
          <p:nvPr/>
        </p:nvSpPr>
        <p:spPr>
          <a:xfrm>
            <a:off x="7193280" y="2133600"/>
            <a:ext cx="195072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 b="1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Length</a:t>
            </a:r>
            <a:endParaRPr lang="en-US" sz="1200"/>
          </a:p>
        </p:txBody>
      </p:sp>
      <p:sp>
        <p:nvSpPr>
          <p:cNvPr id="35" name="Text 33"/>
          <p:cNvSpPr/>
          <p:nvPr/>
        </p:nvSpPr>
        <p:spPr>
          <a:xfrm>
            <a:off x="9265920" y="2133600"/>
            <a:ext cx="20726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ms</a:t>
            </a:r>
            <a:endParaRPr lang="en-US" sz="1200"/>
          </a:p>
        </p:txBody>
      </p:sp>
      <p:sp>
        <p:nvSpPr>
          <p:cNvPr id="36" name="Text 34"/>
          <p:cNvSpPr/>
          <p:nvPr/>
        </p:nvSpPr>
        <p:spPr>
          <a:xfrm>
            <a:off x="7193280" y="2499360"/>
            <a:ext cx="195072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 b="1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Overlap</a:t>
            </a:r>
            <a:endParaRPr lang="en-US" sz="1200"/>
          </a:p>
        </p:txBody>
      </p:sp>
      <p:sp>
        <p:nvSpPr>
          <p:cNvPr id="37" name="Text 35"/>
          <p:cNvSpPr/>
          <p:nvPr/>
        </p:nvSpPr>
        <p:spPr>
          <a:xfrm>
            <a:off x="9265920" y="2499360"/>
            <a:ext cx="20726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ms</a:t>
            </a:r>
            <a:endParaRPr lang="en-US" sz="1200"/>
          </a:p>
        </p:txBody>
      </p:sp>
      <p:sp>
        <p:nvSpPr>
          <p:cNvPr id="38" name="Text 36"/>
          <p:cNvSpPr/>
          <p:nvPr/>
        </p:nvSpPr>
        <p:spPr>
          <a:xfrm>
            <a:off x="7193280" y="2865120"/>
            <a:ext cx="195072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 b="1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FFT Size</a:t>
            </a:r>
            <a:endParaRPr lang="en-US" sz="1200"/>
          </a:p>
        </p:txBody>
      </p:sp>
      <p:sp>
        <p:nvSpPr>
          <p:cNvPr id="39" name="Text 37"/>
          <p:cNvSpPr/>
          <p:nvPr/>
        </p:nvSpPr>
        <p:spPr>
          <a:xfrm>
            <a:off x="9265920" y="2865120"/>
            <a:ext cx="20726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 points</a:t>
            </a:r>
            <a:endParaRPr lang="en-US" sz="1200"/>
          </a:p>
        </p:txBody>
      </p:sp>
      <p:sp>
        <p:nvSpPr>
          <p:cNvPr id="40" name="Text 38"/>
          <p:cNvSpPr/>
          <p:nvPr/>
        </p:nvSpPr>
        <p:spPr>
          <a:xfrm>
            <a:off x="7193280" y="3230880"/>
            <a:ext cx="195072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 b="1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 Filters</a:t>
            </a:r>
            <a:endParaRPr lang="en-US" sz="1200"/>
          </a:p>
        </p:txBody>
      </p:sp>
      <p:sp>
        <p:nvSpPr>
          <p:cNvPr id="41" name="Text 39"/>
          <p:cNvSpPr/>
          <p:nvPr/>
        </p:nvSpPr>
        <p:spPr>
          <a:xfrm>
            <a:off x="9265920" y="3230880"/>
            <a:ext cx="20726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banks</a:t>
            </a:r>
            <a:endParaRPr lang="en-US" sz="1200"/>
          </a:p>
        </p:txBody>
      </p:sp>
      <p:sp>
        <p:nvSpPr>
          <p:cNvPr id="42" name="Text 40"/>
          <p:cNvSpPr/>
          <p:nvPr/>
        </p:nvSpPr>
        <p:spPr>
          <a:xfrm>
            <a:off x="7193280" y="3596640"/>
            <a:ext cx="195072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 b="1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Coefficients</a:t>
            </a:r>
            <a:endParaRPr lang="en-US" sz="1200"/>
          </a:p>
        </p:txBody>
      </p:sp>
      <p:sp>
        <p:nvSpPr>
          <p:cNvPr id="43" name="Text 41"/>
          <p:cNvSpPr/>
          <p:nvPr/>
        </p:nvSpPr>
        <p:spPr>
          <a:xfrm>
            <a:off x="9265920" y="3596640"/>
            <a:ext cx="20726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per frame</a:t>
            </a:r>
            <a:endParaRPr lang="en-US" sz="1200"/>
          </a:p>
        </p:txBody>
      </p:sp>
      <p:sp>
        <p:nvSpPr>
          <p:cNvPr id="44" name="Text 42"/>
          <p:cNvSpPr/>
          <p:nvPr/>
        </p:nvSpPr>
        <p:spPr>
          <a:xfrm>
            <a:off x="7193280" y="3962400"/>
            <a:ext cx="195072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 b="1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Window</a:t>
            </a:r>
            <a:endParaRPr lang="en-US" sz="1200"/>
          </a:p>
        </p:txBody>
      </p:sp>
      <p:sp>
        <p:nvSpPr>
          <p:cNvPr id="45" name="Text 43"/>
          <p:cNvSpPr/>
          <p:nvPr/>
        </p:nvSpPr>
        <p:spPr>
          <a:xfrm>
            <a:off x="9265920" y="3962400"/>
            <a:ext cx="20726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2,756 ms total</a:t>
            </a:r>
            <a:endParaRPr lang="en-US" sz="1200"/>
          </a:p>
        </p:txBody>
      </p:sp>
      <p:sp>
        <p:nvSpPr>
          <p:cNvPr id="46" name="Shape 44"/>
          <p:cNvSpPr/>
          <p:nvPr/>
        </p:nvSpPr>
        <p:spPr>
          <a:xfrm>
            <a:off x="6949440" y="4754880"/>
            <a:ext cx="4632960" cy="1463040"/>
          </a:xfrm>
          <a:prstGeom prst="roundRect">
            <a:avLst>
              <a:gd name="adj" fmla="val 8333"/>
            </a:avLst>
          </a:prstGeom>
          <a:solidFill>
            <a:srgbClr val="E0F2F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7" name="Text 45"/>
          <p:cNvSpPr/>
          <p:nvPr/>
        </p:nvSpPr>
        <p:spPr>
          <a:xfrm>
            <a:off x="7132320" y="4828032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 spc="133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MFCC FOR INTRUSION DETECTION?</a:t>
            </a:r>
            <a:endParaRPr lang="en-US" sz="1067"/>
          </a:p>
        </p:txBody>
      </p:sp>
      <p:sp>
        <p:nvSpPr>
          <p:cNvPr id="48" name="Text 46"/>
          <p:cNvSpPr/>
          <p:nvPr/>
        </p:nvSpPr>
        <p:spPr>
          <a:xfrm>
            <a:off x="7132320" y="5181600"/>
            <a:ext cx="4267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Mimics human auditory perception</a:t>
            </a:r>
            <a:endParaRPr lang="en-US" sz="1067"/>
          </a:p>
        </p:txBody>
      </p:sp>
      <p:sp>
        <p:nvSpPr>
          <p:cNvPr id="49" name="Text 47"/>
          <p:cNvSpPr/>
          <p:nvPr/>
        </p:nvSpPr>
        <p:spPr>
          <a:xfrm>
            <a:off x="7132320" y="5425440"/>
            <a:ext cx="4267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Robust against background noise</a:t>
            </a:r>
            <a:endParaRPr lang="en-US" sz="1067"/>
          </a:p>
        </p:txBody>
      </p:sp>
      <p:sp>
        <p:nvSpPr>
          <p:cNvPr id="50" name="Text 48"/>
          <p:cNvSpPr/>
          <p:nvPr/>
        </p:nvSpPr>
        <p:spPr>
          <a:xfrm>
            <a:off x="7132320" y="5669280"/>
            <a:ext cx="4267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Compact: 44,100 samples → 13 values</a:t>
            </a:r>
            <a:endParaRPr lang="en-US" sz="1067"/>
          </a:p>
        </p:txBody>
      </p:sp>
      <p:sp>
        <p:nvSpPr>
          <p:cNvPr id="51" name="Text 49"/>
          <p:cNvSpPr/>
          <p:nvPr/>
        </p:nvSpPr>
        <p:spPr>
          <a:xfrm>
            <a:off x="7132320" y="5913120"/>
            <a:ext cx="4267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Proven for embedded audio classification</a:t>
            </a:r>
            <a:endParaRPr lang="en-US" sz="1067"/>
          </a:p>
        </p:txBody>
      </p:sp>
    </p:spTree>
    <p:extLst>
      <p:ext uri="{BB962C8B-B14F-4D97-AF65-F5344CB8AC3E}">
        <p14:creationId xmlns:p14="http://schemas.microsoft.com/office/powerpoint/2010/main" val="11191097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2B5B8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87680" y="158496"/>
            <a:ext cx="609600" cy="609600"/>
          </a:xfrm>
          <a:prstGeom prst="roundRect">
            <a:avLst>
              <a:gd name="adj" fmla="val 16000"/>
            </a:avLst>
          </a:prstGeom>
          <a:solidFill>
            <a:srgbClr val="4FC3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87680" y="158496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>
                <a:solidFill>
                  <a:srgbClr val="1B3A5C"/>
                </a:solidFill>
                <a:latin typeface="Arial"/>
                <a:cs typeface="Arial"/>
              </a:rPr>
              <a:t>18</a:t>
            </a:r>
          </a:p>
        </p:txBody>
      </p:sp>
      <p:sp>
        <p:nvSpPr>
          <p:cNvPr id="5" name="Text 3"/>
          <p:cNvSpPr/>
          <p:nvPr/>
        </p:nvSpPr>
        <p:spPr>
          <a:xfrm>
            <a:off x="1280160" y="158496"/>
            <a:ext cx="792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2400" b="1" spc="2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TINYML MODEL DESIGN</a:t>
            </a:r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9509760" y="158496"/>
            <a:ext cx="21945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spc="267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VISION</a:t>
            </a:r>
            <a:endParaRPr lang="en-US" sz="1333"/>
          </a:p>
        </p:txBody>
      </p:sp>
      <p:sp>
        <p:nvSpPr>
          <p:cNvPr id="7" name="Text 5"/>
          <p:cNvSpPr/>
          <p:nvPr/>
        </p:nvSpPr>
        <p:spPr>
          <a:xfrm>
            <a:off x="609600" y="6339840"/>
            <a:ext cx="7315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EagleEye · FYP Final Defence · June 2026</a:t>
            </a:r>
            <a:endParaRPr lang="en-US" sz="1067"/>
          </a:p>
        </p:txBody>
      </p:sp>
      <p:sp>
        <p:nvSpPr>
          <p:cNvPr id="8" name="Text 6"/>
          <p:cNvSpPr/>
          <p:nvPr/>
        </p:nvSpPr>
        <p:spPr>
          <a:xfrm>
            <a:off x="10363200" y="6339840"/>
            <a:ext cx="1463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1067"/>
          </a:p>
        </p:txBody>
      </p:sp>
      <p:sp>
        <p:nvSpPr>
          <p:cNvPr id="9" name="Text 7"/>
          <p:cNvSpPr/>
          <p:nvPr/>
        </p:nvSpPr>
        <p:spPr>
          <a:xfrm>
            <a:off x="609600" y="1097280"/>
            <a:ext cx="6096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467" b="1" spc="200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OUTPUT CLASSES</a:t>
            </a:r>
            <a:endParaRPr lang="en-US" sz="1467"/>
          </a:p>
        </p:txBody>
      </p:sp>
      <p:sp>
        <p:nvSpPr>
          <p:cNvPr id="10" name="Shape 8"/>
          <p:cNvSpPr/>
          <p:nvPr/>
        </p:nvSpPr>
        <p:spPr>
          <a:xfrm>
            <a:off x="609600" y="1584960"/>
            <a:ext cx="3413760" cy="1524000"/>
          </a:xfrm>
          <a:prstGeom prst="roundRect">
            <a:avLst>
              <a:gd name="adj" fmla="val 8000"/>
            </a:avLst>
          </a:prstGeom>
          <a:solidFill>
            <a:srgbClr val="EDF3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792480" y="1731264"/>
            <a:ext cx="219456" cy="219456"/>
          </a:xfrm>
          <a:prstGeom prst="ellipse">
            <a:avLst/>
          </a:prstGeom>
          <a:solidFill>
            <a:srgbClr val="26A69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1097280" y="1682496"/>
            <a:ext cx="26822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467" b="1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467"/>
          </a:p>
        </p:txBody>
      </p:sp>
      <p:sp>
        <p:nvSpPr>
          <p:cNvPr id="13" name="Text 11"/>
          <p:cNvSpPr/>
          <p:nvPr/>
        </p:nvSpPr>
        <p:spPr>
          <a:xfrm>
            <a:off x="1097280" y="1950720"/>
            <a:ext cx="26822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i="1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 / No Threat</a:t>
            </a:r>
            <a:endParaRPr lang="en-US" sz="1067"/>
          </a:p>
        </p:txBody>
      </p:sp>
      <p:sp>
        <p:nvSpPr>
          <p:cNvPr id="14" name="Text 12"/>
          <p:cNvSpPr/>
          <p:nvPr/>
        </p:nvSpPr>
        <p:spPr>
          <a:xfrm>
            <a:off x="792480" y="2255520"/>
            <a:ext cx="304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067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environment sounds.</a:t>
            </a:r>
            <a:endParaRPr lang="en-US" sz="1067"/>
          </a:p>
          <a:p>
            <a:pPr algn="l"/>
            <a:r>
              <a:rPr lang="en-US" sz="1067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action triggered.</a:t>
            </a:r>
            <a:endParaRPr lang="en-US" sz="1067"/>
          </a:p>
        </p:txBody>
      </p:sp>
      <p:sp>
        <p:nvSpPr>
          <p:cNvPr id="15" name="Shape 13"/>
          <p:cNvSpPr/>
          <p:nvPr/>
        </p:nvSpPr>
        <p:spPr>
          <a:xfrm>
            <a:off x="4389120" y="1584960"/>
            <a:ext cx="3413760" cy="1524000"/>
          </a:xfrm>
          <a:prstGeom prst="roundRect">
            <a:avLst>
              <a:gd name="adj" fmla="val 8000"/>
            </a:avLst>
          </a:prstGeom>
          <a:solidFill>
            <a:srgbClr val="EDF3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4572000" y="1731264"/>
            <a:ext cx="219456" cy="219456"/>
          </a:xfrm>
          <a:prstGeom prst="ellipse">
            <a:avLst/>
          </a:prstGeom>
          <a:solidFill>
            <a:srgbClr val="FB8C0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4876800" y="1682496"/>
            <a:ext cx="26822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467" b="1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Footsteps</a:t>
            </a:r>
            <a:endParaRPr lang="en-US" sz="1467"/>
          </a:p>
        </p:txBody>
      </p:sp>
      <p:sp>
        <p:nvSpPr>
          <p:cNvPr id="18" name="Text 16"/>
          <p:cNvSpPr/>
          <p:nvPr/>
        </p:nvSpPr>
        <p:spPr>
          <a:xfrm>
            <a:off x="4876800" y="1950720"/>
            <a:ext cx="26822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i="1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Unauthorised Movement</a:t>
            </a:r>
            <a:endParaRPr lang="en-US" sz="1067"/>
          </a:p>
        </p:txBody>
      </p:sp>
      <p:sp>
        <p:nvSpPr>
          <p:cNvPr id="19" name="Text 17"/>
          <p:cNvSpPr/>
          <p:nvPr/>
        </p:nvSpPr>
        <p:spPr>
          <a:xfrm>
            <a:off x="4572000" y="2255520"/>
            <a:ext cx="304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067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movement detected.</a:t>
            </a:r>
            <a:endParaRPr lang="en-US" sz="1067"/>
          </a:p>
          <a:p>
            <a:pPr algn="l"/>
            <a:r>
              <a:rPr lang="en-US" sz="1067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pushed immediately.</a:t>
            </a:r>
            <a:endParaRPr lang="en-US" sz="1067"/>
          </a:p>
        </p:txBody>
      </p:sp>
      <p:sp>
        <p:nvSpPr>
          <p:cNvPr id="20" name="Shape 18"/>
          <p:cNvSpPr/>
          <p:nvPr/>
        </p:nvSpPr>
        <p:spPr>
          <a:xfrm>
            <a:off x="8168640" y="1584960"/>
            <a:ext cx="3413760" cy="1524000"/>
          </a:xfrm>
          <a:prstGeom prst="roundRect">
            <a:avLst>
              <a:gd name="adj" fmla="val 8000"/>
            </a:avLst>
          </a:prstGeom>
          <a:solidFill>
            <a:srgbClr val="EDF3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8351520" y="1731264"/>
            <a:ext cx="219456" cy="219456"/>
          </a:xfrm>
          <a:prstGeom prst="ellipse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8656320" y="1682496"/>
            <a:ext cx="26822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467" b="1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 Break</a:t>
            </a:r>
            <a:endParaRPr lang="en-US" sz="1467"/>
          </a:p>
        </p:txBody>
      </p:sp>
      <p:sp>
        <p:nvSpPr>
          <p:cNvPr id="23" name="Text 21"/>
          <p:cNvSpPr/>
          <p:nvPr/>
        </p:nvSpPr>
        <p:spPr>
          <a:xfrm>
            <a:off x="8656320" y="1950720"/>
            <a:ext cx="26822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i="1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Forced Entry Detected</a:t>
            </a:r>
            <a:endParaRPr lang="en-US" sz="1067"/>
          </a:p>
        </p:txBody>
      </p:sp>
      <p:sp>
        <p:nvSpPr>
          <p:cNvPr id="24" name="Text 22"/>
          <p:cNvSpPr/>
          <p:nvPr/>
        </p:nvSpPr>
        <p:spPr>
          <a:xfrm>
            <a:off x="8351520" y="2255520"/>
            <a:ext cx="304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067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High-frequency shatter event.</a:t>
            </a:r>
            <a:endParaRPr lang="en-US" sz="1067"/>
          </a:p>
          <a:p>
            <a:pPr algn="l"/>
            <a:r>
              <a:rPr lang="en-US" sz="1067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alert triggered.</a:t>
            </a:r>
            <a:endParaRPr lang="en-US" sz="1067"/>
          </a:p>
        </p:txBody>
      </p:sp>
      <p:sp>
        <p:nvSpPr>
          <p:cNvPr id="25" name="Text 23"/>
          <p:cNvSpPr/>
          <p:nvPr/>
        </p:nvSpPr>
        <p:spPr>
          <a:xfrm>
            <a:off x="609600" y="3291840"/>
            <a:ext cx="5486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467" b="1" spc="200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MODEL ARCHITECTURE</a:t>
            </a:r>
            <a:endParaRPr lang="en-US" sz="1467"/>
          </a:p>
        </p:txBody>
      </p:sp>
      <p:sp>
        <p:nvSpPr>
          <p:cNvPr id="26" name="Shape 24"/>
          <p:cNvSpPr/>
          <p:nvPr/>
        </p:nvSpPr>
        <p:spPr>
          <a:xfrm>
            <a:off x="609600" y="3755136"/>
            <a:ext cx="5486400" cy="292608"/>
          </a:xfrm>
          <a:prstGeom prst="roundRect">
            <a:avLst>
              <a:gd name="adj" fmla="val 16667"/>
            </a:avLst>
          </a:prstGeom>
          <a:solidFill>
            <a:srgbClr val="EDF3F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731520" y="375513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Layer</a:t>
            </a:r>
            <a:endParaRPr lang="en-US" sz="1067"/>
          </a:p>
        </p:txBody>
      </p:sp>
      <p:sp>
        <p:nvSpPr>
          <p:cNvPr id="28" name="Text 26"/>
          <p:cNvSpPr/>
          <p:nvPr/>
        </p:nvSpPr>
        <p:spPr>
          <a:xfrm>
            <a:off x="3048000" y="375513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MFCC × Time-steps</a:t>
            </a:r>
            <a:endParaRPr lang="en-US" sz="1067"/>
          </a:p>
        </p:txBody>
      </p:sp>
      <p:sp>
        <p:nvSpPr>
          <p:cNvPr id="29" name="Shape 27"/>
          <p:cNvSpPr/>
          <p:nvPr/>
        </p:nvSpPr>
        <p:spPr>
          <a:xfrm>
            <a:off x="609600" y="4084320"/>
            <a:ext cx="5486400" cy="292608"/>
          </a:xfrm>
          <a:prstGeom prst="roundRect">
            <a:avLst>
              <a:gd name="adj" fmla="val 16667"/>
            </a:avLst>
          </a:prstGeom>
          <a:solidFill>
            <a:srgbClr val="E4EEF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731520" y="40843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Conv1D + ReLU</a:t>
            </a:r>
            <a:endParaRPr lang="en-US" sz="1067"/>
          </a:p>
        </p:txBody>
      </p:sp>
      <p:sp>
        <p:nvSpPr>
          <p:cNvPr id="31" name="Text 29"/>
          <p:cNvSpPr/>
          <p:nvPr/>
        </p:nvSpPr>
        <p:spPr>
          <a:xfrm>
            <a:off x="3048000" y="40843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filters, kernel size 3</a:t>
            </a:r>
            <a:endParaRPr lang="en-US" sz="1067"/>
          </a:p>
        </p:txBody>
      </p:sp>
      <p:sp>
        <p:nvSpPr>
          <p:cNvPr id="32" name="Shape 30"/>
          <p:cNvSpPr/>
          <p:nvPr/>
        </p:nvSpPr>
        <p:spPr>
          <a:xfrm>
            <a:off x="609600" y="4413504"/>
            <a:ext cx="5486400" cy="292608"/>
          </a:xfrm>
          <a:prstGeom prst="roundRect">
            <a:avLst>
              <a:gd name="adj" fmla="val 16667"/>
            </a:avLst>
          </a:prstGeom>
          <a:solidFill>
            <a:srgbClr val="EDF3F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/>
          <p:nvPr/>
        </p:nvSpPr>
        <p:spPr>
          <a:xfrm>
            <a:off x="731520" y="441350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MaxPooling1D</a:t>
            </a:r>
            <a:endParaRPr lang="en-US" sz="1067"/>
          </a:p>
        </p:txBody>
      </p:sp>
      <p:sp>
        <p:nvSpPr>
          <p:cNvPr id="34" name="Text 32"/>
          <p:cNvSpPr/>
          <p:nvPr/>
        </p:nvSpPr>
        <p:spPr>
          <a:xfrm>
            <a:off x="3048000" y="44135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size 2 — spatial reduction</a:t>
            </a:r>
            <a:endParaRPr lang="en-US" sz="1067"/>
          </a:p>
        </p:txBody>
      </p:sp>
      <p:sp>
        <p:nvSpPr>
          <p:cNvPr id="35" name="Shape 33"/>
          <p:cNvSpPr/>
          <p:nvPr/>
        </p:nvSpPr>
        <p:spPr>
          <a:xfrm>
            <a:off x="609600" y="4742688"/>
            <a:ext cx="5486400" cy="292608"/>
          </a:xfrm>
          <a:prstGeom prst="roundRect">
            <a:avLst>
              <a:gd name="adj" fmla="val 16667"/>
            </a:avLst>
          </a:prstGeom>
          <a:solidFill>
            <a:srgbClr val="E4EEF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6" name="Text 34"/>
          <p:cNvSpPr/>
          <p:nvPr/>
        </p:nvSpPr>
        <p:spPr>
          <a:xfrm>
            <a:off x="731520" y="474268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Conv1D + ReLU</a:t>
            </a:r>
            <a:endParaRPr lang="en-US" sz="1067"/>
          </a:p>
        </p:txBody>
      </p:sp>
      <p:sp>
        <p:nvSpPr>
          <p:cNvPr id="37" name="Text 35"/>
          <p:cNvSpPr/>
          <p:nvPr/>
        </p:nvSpPr>
        <p:spPr>
          <a:xfrm>
            <a:off x="3048000" y="47426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filters, kernel size 3</a:t>
            </a:r>
            <a:endParaRPr lang="en-US" sz="1067"/>
          </a:p>
        </p:txBody>
      </p:sp>
      <p:sp>
        <p:nvSpPr>
          <p:cNvPr id="38" name="Shape 36"/>
          <p:cNvSpPr/>
          <p:nvPr/>
        </p:nvSpPr>
        <p:spPr>
          <a:xfrm>
            <a:off x="609600" y="5071872"/>
            <a:ext cx="5486400" cy="292608"/>
          </a:xfrm>
          <a:prstGeom prst="roundRect">
            <a:avLst>
              <a:gd name="adj" fmla="val 16667"/>
            </a:avLst>
          </a:prstGeom>
          <a:solidFill>
            <a:srgbClr val="EDF3F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9" name="Text 37"/>
          <p:cNvSpPr/>
          <p:nvPr/>
        </p:nvSpPr>
        <p:spPr>
          <a:xfrm>
            <a:off x="731520" y="50718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Flatten</a:t>
            </a:r>
            <a:endParaRPr lang="en-US" sz="1067"/>
          </a:p>
        </p:txBody>
      </p:sp>
      <p:sp>
        <p:nvSpPr>
          <p:cNvPr id="40" name="Text 38"/>
          <p:cNvSpPr/>
          <p:nvPr/>
        </p:nvSpPr>
        <p:spPr>
          <a:xfrm>
            <a:off x="3048000" y="50718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vector linearization</a:t>
            </a:r>
            <a:endParaRPr lang="en-US" sz="1067"/>
          </a:p>
        </p:txBody>
      </p:sp>
      <p:sp>
        <p:nvSpPr>
          <p:cNvPr id="41" name="Shape 39"/>
          <p:cNvSpPr/>
          <p:nvPr/>
        </p:nvSpPr>
        <p:spPr>
          <a:xfrm>
            <a:off x="609600" y="5401056"/>
            <a:ext cx="5486400" cy="292608"/>
          </a:xfrm>
          <a:prstGeom prst="roundRect">
            <a:avLst>
              <a:gd name="adj" fmla="val 16667"/>
            </a:avLst>
          </a:prstGeom>
          <a:solidFill>
            <a:srgbClr val="E4EEF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2" name="Text 40"/>
          <p:cNvSpPr/>
          <p:nvPr/>
        </p:nvSpPr>
        <p:spPr>
          <a:xfrm>
            <a:off x="731520" y="54010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(64)</a:t>
            </a:r>
            <a:endParaRPr lang="en-US" sz="1067"/>
          </a:p>
        </p:txBody>
      </p:sp>
      <p:sp>
        <p:nvSpPr>
          <p:cNvPr id="43" name="Text 41"/>
          <p:cNvSpPr/>
          <p:nvPr/>
        </p:nvSpPr>
        <p:spPr>
          <a:xfrm>
            <a:off x="3048000" y="540105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connected + ReLU</a:t>
            </a:r>
            <a:endParaRPr lang="en-US" sz="1067"/>
          </a:p>
        </p:txBody>
      </p:sp>
      <p:sp>
        <p:nvSpPr>
          <p:cNvPr id="44" name="Shape 42"/>
          <p:cNvSpPr/>
          <p:nvPr/>
        </p:nvSpPr>
        <p:spPr>
          <a:xfrm>
            <a:off x="609600" y="5730240"/>
            <a:ext cx="5486400" cy="292608"/>
          </a:xfrm>
          <a:prstGeom prst="roundRect">
            <a:avLst>
              <a:gd name="adj" fmla="val 16667"/>
            </a:avLst>
          </a:prstGeom>
          <a:solidFill>
            <a:srgbClr val="EDF3F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5" name="Text 43"/>
          <p:cNvSpPr/>
          <p:nvPr/>
        </p:nvSpPr>
        <p:spPr>
          <a:xfrm>
            <a:off x="731520" y="57302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 Output</a:t>
            </a:r>
            <a:endParaRPr lang="en-US" sz="1067"/>
          </a:p>
        </p:txBody>
      </p:sp>
      <p:sp>
        <p:nvSpPr>
          <p:cNvPr id="46" name="Text 44"/>
          <p:cNvSpPr/>
          <p:nvPr/>
        </p:nvSpPr>
        <p:spPr>
          <a:xfrm>
            <a:off x="3048000" y="57302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classes — probability distribution</a:t>
            </a:r>
            <a:endParaRPr lang="en-US" sz="1067"/>
          </a:p>
        </p:txBody>
      </p:sp>
      <p:sp>
        <p:nvSpPr>
          <p:cNvPr id="47" name="Shape 45"/>
          <p:cNvSpPr/>
          <p:nvPr/>
        </p:nvSpPr>
        <p:spPr>
          <a:xfrm>
            <a:off x="6705600" y="3291840"/>
            <a:ext cx="4876800" cy="2316480"/>
          </a:xfrm>
          <a:prstGeom prst="roundRect">
            <a:avLst>
              <a:gd name="adj" fmla="val 5263"/>
            </a:avLst>
          </a:prstGeom>
          <a:solidFill>
            <a:srgbClr val="EDF3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8" name="Text 46"/>
          <p:cNvSpPr/>
          <p:nvPr/>
        </p:nvSpPr>
        <p:spPr>
          <a:xfrm>
            <a:off x="6949440" y="3413760"/>
            <a:ext cx="4389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333" b="1" spc="200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CONFIGURATION</a:t>
            </a:r>
            <a:endParaRPr lang="en-US" sz="1333"/>
          </a:p>
        </p:txBody>
      </p:sp>
      <p:sp>
        <p:nvSpPr>
          <p:cNvPr id="49" name="Text 47"/>
          <p:cNvSpPr/>
          <p:nvPr/>
        </p:nvSpPr>
        <p:spPr>
          <a:xfrm>
            <a:off x="6949440" y="3803904"/>
            <a:ext cx="1828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</a:t>
            </a:r>
            <a:endParaRPr lang="en-US" sz="1067"/>
          </a:p>
        </p:txBody>
      </p:sp>
      <p:sp>
        <p:nvSpPr>
          <p:cNvPr id="50" name="Text 48"/>
          <p:cNvSpPr/>
          <p:nvPr/>
        </p:nvSpPr>
        <p:spPr>
          <a:xfrm>
            <a:off x="8839200" y="3803904"/>
            <a:ext cx="25603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 (lr = 0.0005)</a:t>
            </a:r>
            <a:endParaRPr lang="en-US" sz="1067"/>
          </a:p>
        </p:txBody>
      </p:sp>
      <p:sp>
        <p:nvSpPr>
          <p:cNvPr id="51" name="Text 49"/>
          <p:cNvSpPr/>
          <p:nvPr/>
        </p:nvSpPr>
        <p:spPr>
          <a:xfrm>
            <a:off x="6949440" y="4096512"/>
            <a:ext cx="1828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Function</a:t>
            </a:r>
            <a:endParaRPr lang="en-US" sz="1067"/>
          </a:p>
        </p:txBody>
      </p:sp>
      <p:sp>
        <p:nvSpPr>
          <p:cNvPr id="52" name="Text 50"/>
          <p:cNvSpPr/>
          <p:nvPr/>
        </p:nvSpPr>
        <p:spPr>
          <a:xfrm>
            <a:off x="8839200" y="4096512"/>
            <a:ext cx="25603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Categorical Cross-Entropy</a:t>
            </a:r>
            <a:endParaRPr lang="en-US" sz="1067"/>
          </a:p>
        </p:txBody>
      </p:sp>
      <p:sp>
        <p:nvSpPr>
          <p:cNvPr id="53" name="Text 51"/>
          <p:cNvSpPr/>
          <p:nvPr/>
        </p:nvSpPr>
        <p:spPr>
          <a:xfrm>
            <a:off x="6949440" y="4389120"/>
            <a:ext cx="1828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</a:t>
            </a:r>
            <a:endParaRPr lang="en-US" sz="1067"/>
          </a:p>
        </p:txBody>
      </p:sp>
      <p:sp>
        <p:nvSpPr>
          <p:cNvPr id="54" name="Text 52"/>
          <p:cNvSpPr/>
          <p:nvPr/>
        </p:nvSpPr>
        <p:spPr>
          <a:xfrm>
            <a:off x="8839200" y="4389120"/>
            <a:ext cx="25603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samples</a:t>
            </a:r>
            <a:endParaRPr lang="en-US" sz="1067"/>
          </a:p>
        </p:txBody>
      </p:sp>
      <p:sp>
        <p:nvSpPr>
          <p:cNvPr id="55" name="Text 53"/>
          <p:cNvSpPr/>
          <p:nvPr/>
        </p:nvSpPr>
        <p:spPr>
          <a:xfrm>
            <a:off x="6949440" y="4681728"/>
            <a:ext cx="1828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</a:t>
            </a:r>
            <a:endParaRPr lang="en-US" sz="1067"/>
          </a:p>
        </p:txBody>
      </p:sp>
      <p:sp>
        <p:nvSpPr>
          <p:cNvPr id="56" name="Text 54"/>
          <p:cNvSpPr/>
          <p:nvPr/>
        </p:nvSpPr>
        <p:spPr>
          <a:xfrm>
            <a:off x="8839200" y="4681728"/>
            <a:ext cx="25603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with early stopping</a:t>
            </a:r>
            <a:endParaRPr lang="en-US" sz="1067"/>
          </a:p>
        </p:txBody>
      </p:sp>
      <p:sp>
        <p:nvSpPr>
          <p:cNvPr id="57" name="Text 55"/>
          <p:cNvSpPr/>
          <p:nvPr/>
        </p:nvSpPr>
        <p:spPr>
          <a:xfrm>
            <a:off x="6949440" y="4974336"/>
            <a:ext cx="1828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Quantization</a:t>
            </a:r>
            <a:endParaRPr lang="en-US" sz="1067"/>
          </a:p>
        </p:txBody>
      </p:sp>
      <p:sp>
        <p:nvSpPr>
          <p:cNvPr id="58" name="Text 56"/>
          <p:cNvSpPr/>
          <p:nvPr/>
        </p:nvSpPr>
        <p:spPr>
          <a:xfrm>
            <a:off x="8839200" y="4974336"/>
            <a:ext cx="25603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 Post-training (TFLite)</a:t>
            </a:r>
            <a:endParaRPr lang="en-US" sz="1067"/>
          </a:p>
        </p:txBody>
      </p:sp>
      <p:sp>
        <p:nvSpPr>
          <p:cNvPr id="59" name="Text 57"/>
          <p:cNvSpPr/>
          <p:nvPr/>
        </p:nvSpPr>
        <p:spPr>
          <a:xfrm>
            <a:off x="6949440" y="5266944"/>
            <a:ext cx="1828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Size</a:t>
            </a:r>
            <a:endParaRPr lang="en-US" sz="1067"/>
          </a:p>
        </p:txBody>
      </p:sp>
      <p:sp>
        <p:nvSpPr>
          <p:cNvPr id="60" name="Text 58"/>
          <p:cNvSpPr/>
          <p:nvPr/>
        </p:nvSpPr>
        <p:spPr>
          <a:xfrm>
            <a:off x="8839200" y="5266944"/>
            <a:ext cx="25603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50 KB after quantization</a:t>
            </a:r>
            <a:endParaRPr lang="en-US" sz="1067"/>
          </a:p>
        </p:txBody>
      </p:sp>
      <p:sp>
        <p:nvSpPr>
          <p:cNvPr id="61" name="Shape 59"/>
          <p:cNvSpPr/>
          <p:nvPr/>
        </p:nvSpPr>
        <p:spPr>
          <a:xfrm>
            <a:off x="6705600" y="5791200"/>
            <a:ext cx="1219200" cy="914400"/>
          </a:xfrm>
          <a:prstGeom prst="roundRect">
            <a:avLst>
              <a:gd name="adj" fmla="val 10667"/>
            </a:avLst>
          </a:prstGeom>
          <a:solidFill>
            <a:srgbClr val="E4EEF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2" name="Text 60"/>
          <p:cNvSpPr/>
          <p:nvPr/>
        </p:nvSpPr>
        <p:spPr>
          <a:xfrm>
            <a:off x="6705600" y="5852160"/>
            <a:ext cx="1219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2400"/>
          </a:p>
        </p:txBody>
      </p:sp>
      <p:sp>
        <p:nvSpPr>
          <p:cNvPr id="63" name="Text 61"/>
          <p:cNvSpPr/>
          <p:nvPr/>
        </p:nvSpPr>
        <p:spPr>
          <a:xfrm>
            <a:off x="6705600" y="6376416"/>
            <a:ext cx="1219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067"/>
          </a:p>
        </p:txBody>
      </p:sp>
      <p:sp>
        <p:nvSpPr>
          <p:cNvPr id="64" name="Shape 62"/>
          <p:cNvSpPr/>
          <p:nvPr/>
        </p:nvSpPr>
        <p:spPr>
          <a:xfrm>
            <a:off x="8071104" y="5791200"/>
            <a:ext cx="1219200" cy="914400"/>
          </a:xfrm>
          <a:prstGeom prst="roundRect">
            <a:avLst>
              <a:gd name="adj" fmla="val 10667"/>
            </a:avLst>
          </a:prstGeom>
          <a:solidFill>
            <a:srgbClr val="E4EEF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5" name="Text 63"/>
          <p:cNvSpPr/>
          <p:nvPr/>
        </p:nvSpPr>
        <p:spPr>
          <a:xfrm>
            <a:off x="8071104" y="5852160"/>
            <a:ext cx="1219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</a:t>
            </a:r>
            <a:endParaRPr lang="en-US" sz="2400"/>
          </a:p>
        </p:txBody>
      </p:sp>
      <p:sp>
        <p:nvSpPr>
          <p:cNvPr id="66" name="Text 64"/>
          <p:cNvSpPr/>
          <p:nvPr/>
        </p:nvSpPr>
        <p:spPr>
          <a:xfrm>
            <a:off x="8071104" y="6376416"/>
            <a:ext cx="1219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Score</a:t>
            </a:r>
            <a:endParaRPr lang="en-US" sz="1067"/>
          </a:p>
        </p:txBody>
      </p:sp>
      <p:sp>
        <p:nvSpPr>
          <p:cNvPr id="67" name="Shape 65"/>
          <p:cNvSpPr/>
          <p:nvPr/>
        </p:nvSpPr>
        <p:spPr>
          <a:xfrm>
            <a:off x="9436608" y="5791200"/>
            <a:ext cx="1219200" cy="914400"/>
          </a:xfrm>
          <a:prstGeom prst="roundRect">
            <a:avLst>
              <a:gd name="adj" fmla="val 10667"/>
            </a:avLst>
          </a:prstGeom>
          <a:solidFill>
            <a:srgbClr val="E4EEF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8" name="Text 66"/>
          <p:cNvSpPr/>
          <p:nvPr/>
        </p:nvSpPr>
        <p:spPr>
          <a:xfrm>
            <a:off x="9436608" y="5852160"/>
            <a:ext cx="1219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KB</a:t>
            </a:r>
            <a:endParaRPr lang="en-US" sz="2400"/>
          </a:p>
        </p:txBody>
      </p:sp>
      <p:sp>
        <p:nvSpPr>
          <p:cNvPr id="69" name="Text 67"/>
          <p:cNvSpPr/>
          <p:nvPr/>
        </p:nvSpPr>
        <p:spPr>
          <a:xfrm>
            <a:off x="9436608" y="6376416"/>
            <a:ext cx="1219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 Used</a:t>
            </a:r>
            <a:endParaRPr lang="en-US" sz="1067"/>
          </a:p>
        </p:txBody>
      </p:sp>
      <p:sp>
        <p:nvSpPr>
          <p:cNvPr id="70" name="Shape 68"/>
          <p:cNvSpPr/>
          <p:nvPr/>
        </p:nvSpPr>
        <p:spPr>
          <a:xfrm>
            <a:off x="10802112" y="5791200"/>
            <a:ext cx="1219200" cy="914400"/>
          </a:xfrm>
          <a:prstGeom prst="roundRect">
            <a:avLst>
              <a:gd name="adj" fmla="val 10667"/>
            </a:avLst>
          </a:prstGeom>
          <a:solidFill>
            <a:srgbClr val="E4EEF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1" name="Text 69"/>
          <p:cNvSpPr/>
          <p:nvPr/>
        </p:nvSpPr>
        <p:spPr>
          <a:xfrm>
            <a:off x="10802112" y="5852160"/>
            <a:ext cx="1219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 ms</a:t>
            </a:r>
            <a:endParaRPr lang="en-US" sz="2400"/>
          </a:p>
        </p:txBody>
      </p:sp>
      <p:sp>
        <p:nvSpPr>
          <p:cNvPr id="72" name="Text 70"/>
          <p:cNvSpPr/>
          <p:nvPr/>
        </p:nvSpPr>
        <p:spPr>
          <a:xfrm>
            <a:off x="10802112" y="6376416"/>
            <a:ext cx="1219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Inf. Speed</a:t>
            </a:r>
            <a:endParaRPr lang="en-US" sz="1067"/>
          </a:p>
        </p:txBody>
      </p:sp>
    </p:spTree>
    <p:extLst>
      <p:ext uri="{BB962C8B-B14F-4D97-AF65-F5344CB8AC3E}">
        <p14:creationId xmlns:p14="http://schemas.microsoft.com/office/powerpoint/2010/main" val="19280072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2B5B8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87680" y="158496"/>
            <a:ext cx="609600" cy="609600"/>
          </a:xfrm>
          <a:prstGeom prst="roundRect">
            <a:avLst>
              <a:gd name="adj" fmla="val 16000"/>
            </a:avLst>
          </a:prstGeom>
          <a:solidFill>
            <a:srgbClr val="4FC3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87680" y="158496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>
                <a:solidFill>
                  <a:srgbClr val="1B3A5C"/>
                </a:solidFill>
                <a:latin typeface="Arial"/>
                <a:cs typeface="Arial"/>
              </a:rPr>
              <a:t>19</a:t>
            </a:r>
          </a:p>
        </p:txBody>
      </p:sp>
      <p:sp>
        <p:nvSpPr>
          <p:cNvPr id="5" name="Text 3"/>
          <p:cNvSpPr/>
          <p:nvPr/>
        </p:nvSpPr>
        <p:spPr>
          <a:xfrm>
            <a:off x="1280160" y="158496"/>
            <a:ext cx="792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2400" b="1" spc="2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ON-DEVICE INFERENCE</a:t>
            </a:r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9509760" y="158496"/>
            <a:ext cx="21945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spc="267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</a:t>
            </a:r>
            <a:endParaRPr lang="en-US" sz="1333"/>
          </a:p>
        </p:txBody>
      </p:sp>
      <p:sp>
        <p:nvSpPr>
          <p:cNvPr id="7" name="Text 5"/>
          <p:cNvSpPr/>
          <p:nvPr/>
        </p:nvSpPr>
        <p:spPr>
          <a:xfrm>
            <a:off x="609600" y="6339840"/>
            <a:ext cx="7315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EagleEye · FYP Final Defence · June 2026</a:t>
            </a:r>
            <a:endParaRPr lang="en-US" sz="1067"/>
          </a:p>
        </p:txBody>
      </p:sp>
      <p:sp>
        <p:nvSpPr>
          <p:cNvPr id="8" name="Text 6"/>
          <p:cNvSpPr/>
          <p:nvPr/>
        </p:nvSpPr>
        <p:spPr>
          <a:xfrm>
            <a:off x="10363200" y="6339840"/>
            <a:ext cx="1463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1067"/>
          </a:p>
        </p:txBody>
      </p:sp>
      <p:sp>
        <p:nvSpPr>
          <p:cNvPr id="9" name="Text 7"/>
          <p:cNvSpPr/>
          <p:nvPr/>
        </p:nvSpPr>
        <p:spPr>
          <a:xfrm>
            <a:off x="609600" y="1097280"/>
            <a:ext cx="7315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467" b="1" spc="200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SLIDING WINDOW INFERENCE</a:t>
            </a:r>
            <a:endParaRPr lang="en-US" sz="1467"/>
          </a:p>
        </p:txBody>
      </p:sp>
      <p:sp>
        <p:nvSpPr>
          <p:cNvPr id="10" name="Shape 8"/>
          <p:cNvSpPr/>
          <p:nvPr/>
        </p:nvSpPr>
        <p:spPr>
          <a:xfrm>
            <a:off x="609600" y="1584960"/>
            <a:ext cx="10972800" cy="365760"/>
          </a:xfrm>
          <a:prstGeom prst="roundRect">
            <a:avLst>
              <a:gd name="adj" fmla="val 16667"/>
            </a:avLst>
          </a:prstGeom>
          <a:solidFill>
            <a:srgbClr val="E4EEF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609600" y="1584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Audio Stream  (16,000 Hz)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609600" y="2072640"/>
            <a:ext cx="3291840" cy="390144"/>
          </a:xfrm>
          <a:prstGeom prst="roundRect">
            <a:avLst>
              <a:gd name="adj" fmla="val 15625"/>
            </a:avLst>
          </a:prstGeom>
          <a:solidFill>
            <a:srgbClr val="2B5B84">
              <a:alpha val="2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609600" y="2072640"/>
            <a:ext cx="32918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1  [0–2.7s]</a:t>
            </a:r>
            <a:endParaRPr lang="en-US" sz="1067"/>
          </a:p>
        </p:txBody>
      </p:sp>
      <p:sp>
        <p:nvSpPr>
          <p:cNvPr id="14" name="Shape 12"/>
          <p:cNvSpPr/>
          <p:nvPr/>
        </p:nvSpPr>
        <p:spPr>
          <a:xfrm>
            <a:off x="3901440" y="2072640"/>
            <a:ext cx="3291840" cy="390144"/>
          </a:xfrm>
          <a:prstGeom prst="roundRect">
            <a:avLst>
              <a:gd name="adj" fmla="val 15625"/>
            </a:avLst>
          </a:prstGeom>
          <a:solidFill>
            <a:srgbClr val="2B5B84">
              <a:alpha val="2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3901440" y="2072640"/>
            <a:ext cx="32918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2  [0.7–3.4s]</a:t>
            </a:r>
            <a:endParaRPr lang="en-US" sz="1067"/>
          </a:p>
        </p:txBody>
      </p:sp>
      <p:sp>
        <p:nvSpPr>
          <p:cNvPr id="16" name="Shape 14"/>
          <p:cNvSpPr/>
          <p:nvPr/>
        </p:nvSpPr>
        <p:spPr>
          <a:xfrm>
            <a:off x="7193280" y="2072640"/>
            <a:ext cx="3291840" cy="390144"/>
          </a:xfrm>
          <a:prstGeom prst="roundRect">
            <a:avLst>
              <a:gd name="adj" fmla="val 15625"/>
            </a:avLst>
          </a:prstGeom>
          <a:solidFill>
            <a:srgbClr val="2B5B84">
              <a:alpha val="2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7193280" y="2072640"/>
            <a:ext cx="32918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3  [1.4–4.1s]</a:t>
            </a:r>
            <a:endParaRPr lang="en-US" sz="1067"/>
          </a:p>
        </p:txBody>
      </p:sp>
      <p:sp>
        <p:nvSpPr>
          <p:cNvPr id="18" name="Text 16"/>
          <p:cNvSpPr/>
          <p:nvPr/>
        </p:nvSpPr>
        <p:spPr>
          <a:xfrm>
            <a:off x="609600" y="2560320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window = 2,756 ms   |   Overlap = 50%   |   New result every 87 ms</a:t>
            </a:r>
            <a:endParaRPr lang="en-US" sz="1067"/>
          </a:p>
        </p:txBody>
      </p:sp>
      <p:sp>
        <p:nvSpPr>
          <p:cNvPr id="19" name="Text 17"/>
          <p:cNvSpPr/>
          <p:nvPr/>
        </p:nvSpPr>
        <p:spPr>
          <a:xfrm>
            <a:off x="609600" y="3048000"/>
            <a:ext cx="609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467" b="1" spc="200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CYCLE BREAKDOWN</a:t>
            </a:r>
            <a:endParaRPr lang="en-US" sz="1467"/>
          </a:p>
        </p:txBody>
      </p:sp>
      <p:sp>
        <p:nvSpPr>
          <p:cNvPr id="20" name="Shape 18"/>
          <p:cNvSpPr/>
          <p:nvPr/>
        </p:nvSpPr>
        <p:spPr>
          <a:xfrm>
            <a:off x="609600" y="3511296"/>
            <a:ext cx="365760" cy="365760"/>
          </a:xfrm>
          <a:prstGeom prst="ellipse">
            <a:avLst/>
          </a:prstGeom>
          <a:solidFill>
            <a:srgbClr val="2B5B8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609600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33"/>
          </a:p>
        </p:txBody>
      </p:sp>
      <p:sp>
        <p:nvSpPr>
          <p:cNvPr id="22" name="Text 20"/>
          <p:cNvSpPr/>
          <p:nvPr/>
        </p:nvSpPr>
        <p:spPr>
          <a:xfrm>
            <a:off x="1158240" y="3474720"/>
            <a:ext cx="4267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 b="1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— Record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1158240" y="3694176"/>
            <a:ext cx="426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2,756 ms audio slice via I2S DMA</a:t>
            </a:r>
            <a:endParaRPr lang="en-US" sz="1067"/>
          </a:p>
        </p:txBody>
      </p:sp>
      <p:sp>
        <p:nvSpPr>
          <p:cNvPr id="24" name="Shape 22"/>
          <p:cNvSpPr/>
          <p:nvPr/>
        </p:nvSpPr>
        <p:spPr>
          <a:xfrm>
            <a:off x="609600" y="3974592"/>
            <a:ext cx="365760" cy="365760"/>
          </a:xfrm>
          <a:prstGeom prst="ellipse">
            <a:avLst/>
          </a:prstGeom>
          <a:solidFill>
            <a:srgbClr val="2B5B8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609600" y="3974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33"/>
          </a:p>
        </p:txBody>
      </p:sp>
      <p:sp>
        <p:nvSpPr>
          <p:cNvPr id="26" name="Text 24"/>
          <p:cNvSpPr/>
          <p:nvPr/>
        </p:nvSpPr>
        <p:spPr>
          <a:xfrm>
            <a:off x="1158240" y="3938016"/>
            <a:ext cx="4267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 b="1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— Extract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1158240" y="4157472"/>
            <a:ext cx="426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13 MFCC coefficients per frame</a:t>
            </a:r>
            <a:endParaRPr lang="en-US" sz="1067"/>
          </a:p>
        </p:txBody>
      </p:sp>
      <p:sp>
        <p:nvSpPr>
          <p:cNvPr id="28" name="Shape 26"/>
          <p:cNvSpPr/>
          <p:nvPr/>
        </p:nvSpPr>
        <p:spPr>
          <a:xfrm>
            <a:off x="609600" y="4437888"/>
            <a:ext cx="365760" cy="365760"/>
          </a:xfrm>
          <a:prstGeom prst="ellipse">
            <a:avLst/>
          </a:prstGeom>
          <a:solidFill>
            <a:srgbClr val="2B5B8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609600" y="4437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33"/>
          </a:p>
        </p:txBody>
      </p:sp>
      <p:sp>
        <p:nvSpPr>
          <p:cNvPr id="30" name="Text 28"/>
          <p:cNvSpPr/>
          <p:nvPr/>
        </p:nvSpPr>
        <p:spPr>
          <a:xfrm>
            <a:off x="1158240" y="4401312"/>
            <a:ext cx="4267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 b="1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— Classify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1158240" y="4620768"/>
            <a:ext cx="426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CNN forward pass on TFLite Micro runtime</a:t>
            </a:r>
            <a:endParaRPr lang="en-US" sz="1067"/>
          </a:p>
        </p:txBody>
      </p:sp>
      <p:sp>
        <p:nvSpPr>
          <p:cNvPr id="32" name="Shape 30"/>
          <p:cNvSpPr/>
          <p:nvPr/>
        </p:nvSpPr>
        <p:spPr>
          <a:xfrm>
            <a:off x="609600" y="4901184"/>
            <a:ext cx="365760" cy="365760"/>
          </a:xfrm>
          <a:prstGeom prst="ellipse">
            <a:avLst/>
          </a:prstGeom>
          <a:solidFill>
            <a:srgbClr val="2B5B8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/>
          <p:nvPr/>
        </p:nvSpPr>
        <p:spPr>
          <a:xfrm>
            <a:off x="609600" y="4901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33"/>
          </a:p>
        </p:txBody>
      </p:sp>
      <p:sp>
        <p:nvSpPr>
          <p:cNvPr id="34" name="Text 32"/>
          <p:cNvSpPr/>
          <p:nvPr/>
        </p:nvSpPr>
        <p:spPr>
          <a:xfrm>
            <a:off x="1158240" y="4864608"/>
            <a:ext cx="4267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 b="1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— Decide</a:t>
            </a:r>
            <a:endParaRPr lang="en-US" sz="1200"/>
          </a:p>
        </p:txBody>
      </p:sp>
      <p:sp>
        <p:nvSpPr>
          <p:cNvPr id="35" name="Text 33"/>
          <p:cNvSpPr/>
          <p:nvPr/>
        </p:nvSpPr>
        <p:spPr>
          <a:xfrm>
            <a:off x="1158240" y="5084064"/>
            <a:ext cx="426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check — confidence must exceed 70%</a:t>
            </a:r>
            <a:endParaRPr lang="en-US" sz="1067"/>
          </a:p>
        </p:txBody>
      </p:sp>
      <p:sp>
        <p:nvSpPr>
          <p:cNvPr id="36" name="Shape 34"/>
          <p:cNvSpPr/>
          <p:nvPr/>
        </p:nvSpPr>
        <p:spPr>
          <a:xfrm>
            <a:off x="609600" y="5364480"/>
            <a:ext cx="365760" cy="365760"/>
          </a:xfrm>
          <a:prstGeom prst="ellipse">
            <a:avLst/>
          </a:prstGeom>
          <a:solidFill>
            <a:srgbClr val="2B5B8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7" name="Text 35"/>
          <p:cNvSpPr/>
          <p:nvPr/>
        </p:nvSpPr>
        <p:spPr>
          <a:xfrm>
            <a:off x="609600" y="536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33"/>
          </a:p>
        </p:txBody>
      </p:sp>
      <p:sp>
        <p:nvSpPr>
          <p:cNvPr id="38" name="Text 36"/>
          <p:cNvSpPr/>
          <p:nvPr/>
        </p:nvSpPr>
        <p:spPr>
          <a:xfrm>
            <a:off x="1158240" y="5327904"/>
            <a:ext cx="4267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 b="1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— Publish</a:t>
            </a:r>
            <a:endParaRPr lang="en-US" sz="1200"/>
          </a:p>
        </p:txBody>
      </p:sp>
      <p:sp>
        <p:nvSpPr>
          <p:cNvPr id="39" name="Text 37"/>
          <p:cNvSpPr/>
          <p:nvPr/>
        </p:nvSpPr>
        <p:spPr>
          <a:xfrm>
            <a:off x="1158240" y="5547360"/>
            <a:ext cx="426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message sent to cloud broker if triggered</a:t>
            </a:r>
            <a:endParaRPr lang="en-US" sz="1067"/>
          </a:p>
        </p:txBody>
      </p:sp>
      <p:sp>
        <p:nvSpPr>
          <p:cNvPr id="40" name="Shape 38"/>
          <p:cNvSpPr/>
          <p:nvPr/>
        </p:nvSpPr>
        <p:spPr>
          <a:xfrm>
            <a:off x="6461760" y="3048000"/>
            <a:ext cx="5120640" cy="3048000"/>
          </a:xfrm>
          <a:prstGeom prst="roundRect">
            <a:avLst>
              <a:gd name="adj" fmla="val 4000"/>
            </a:avLst>
          </a:prstGeom>
          <a:solidFill>
            <a:srgbClr val="EDF3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1" name="Text 39"/>
          <p:cNvSpPr/>
          <p:nvPr/>
        </p:nvSpPr>
        <p:spPr>
          <a:xfrm>
            <a:off x="6644640" y="3145536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 b="1" spc="133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VS CLOUD PROCESSING</a:t>
            </a:r>
            <a:endParaRPr lang="en-US" sz="1200"/>
          </a:p>
        </p:txBody>
      </p:sp>
      <p:sp>
        <p:nvSpPr>
          <p:cNvPr id="42" name="Text 40"/>
          <p:cNvSpPr/>
          <p:nvPr/>
        </p:nvSpPr>
        <p:spPr>
          <a:xfrm>
            <a:off x="6644640" y="3511296"/>
            <a:ext cx="1341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1067"/>
          </a:p>
        </p:txBody>
      </p:sp>
      <p:sp>
        <p:nvSpPr>
          <p:cNvPr id="43" name="Text 41"/>
          <p:cNvSpPr/>
          <p:nvPr/>
        </p:nvSpPr>
        <p:spPr>
          <a:xfrm>
            <a:off x="8046720" y="3511296"/>
            <a:ext cx="1645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(Edge)</a:t>
            </a:r>
            <a:endParaRPr lang="en-US" sz="1067"/>
          </a:p>
        </p:txBody>
      </p:sp>
      <p:sp>
        <p:nvSpPr>
          <p:cNvPr id="44" name="Text 42"/>
          <p:cNvSpPr/>
          <p:nvPr/>
        </p:nvSpPr>
        <p:spPr>
          <a:xfrm>
            <a:off x="9753600" y="3511296"/>
            <a:ext cx="15849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1067"/>
          </a:p>
        </p:txBody>
      </p:sp>
      <p:sp>
        <p:nvSpPr>
          <p:cNvPr id="45" name="Shape 43"/>
          <p:cNvSpPr/>
          <p:nvPr/>
        </p:nvSpPr>
        <p:spPr>
          <a:xfrm>
            <a:off x="6583680" y="3901440"/>
            <a:ext cx="4815840" cy="3413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6" name="Text 44"/>
          <p:cNvSpPr/>
          <p:nvPr/>
        </p:nvSpPr>
        <p:spPr>
          <a:xfrm>
            <a:off x="6644640" y="3901440"/>
            <a:ext cx="13411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</a:t>
            </a:r>
            <a:endParaRPr lang="en-US" sz="1067"/>
          </a:p>
        </p:txBody>
      </p:sp>
      <p:sp>
        <p:nvSpPr>
          <p:cNvPr id="47" name="Text 45"/>
          <p:cNvSpPr/>
          <p:nvPr/>
        </p:nvSpPr>
        <p:spPr>
          <a:xfrm>
            <a:off x="8046720" y="3901440"/>
            <a:ext cx="16459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100 ms</a:t>
            </a:r>
            <a:endParaRPr lang="en-US" sz="1067"/>
          </a:p>
        </p:txBody>
      </p:sp>
      <p:sp>
        <p:nvSpPr>
          <p:cNvPr id="48" name="Text 46"/>
          <p:cNvSpPr/>
          <p:nvPr/>
        </p:nvSpPr>
        <p:spPr>
          <a:xfrm>
            <a:off x="9753600" y="3901440"/>
            <a:ext cx="15849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ms+</a:t>
            </a:r>
            <a:endParaRPr lang="en-US" sz="1067"/>
          </a:p>
        </p:txBody>
      </p:sp>
      <p:sp>
        <p:nvSpPr>
          <p:cNvPr id="49" name="Text 47"/>
          <p:cNvSpPr/>
          <p:nvPr/>
        </p:nvSpPr>
        <p:spPr>
          <a:xfrm>
            <a:off x="6644640" y="4267200"/>
            <a:ext cx="13411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</a:t>
            </a:r>
            <a:endParaRPr lang="en-US" sz="1067"/>
          </a:p>
        </p:txBody>
      </p:sp>
      <p:sp>
        <p:nvSpPr>
          <p:cNvPr id="50" name="Text 48"/>
          <p:cNvSpPr/>
          <p:nvPr/>
        </p:nvSpPr>
        <p:spPr>
          <a:xfrm>
            <a:off x="8046720" y="4267200"/>
            <a:ext cx="16459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required</a:t>
            </a:r>
            <a:endParaRPr lang="en-US" sz="1067"/>
          </a:p>
        </p:txBody>
      </p:sp>
      <p:sp>
        <p:nvSpPr>
          <p:cNvPr id="51" name="Text 49"/>
          <p:cNvSpPr/>
          <p:nvPr/>
        </p:nvSpPr>
        <p:spPr>
          <a:xfrm>
            <a:off x="9753600" y="4267200"/>
            <a:ext cx="15849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1067"/>
          </a:p>
        </p:txBody>
      </p:sp>
      <p:sp>
        <p:nvSpPr>
          <p:cNvPr id="52" name="Shape 50"/>
          <p:cNvSpPr/>
          <p:nvPr/>
        </p:nvSpPr>
        <p:spPr>
          <a:xfrm>
            <a:off x="6583680" y="4632960"/>
            <a:ext cx="4815840" cy="3413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3" name="Text 51"/>
          <p:cNvSpPr/>
          <p:nvPr/>
        </p:nvSpPr>
        <p:spPr>
          <a:xfrm>
            <a:off x="6644640" y="4632960"/>
            <a:ext cx="13411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1067"/>
          </a:p>
        </p:txBody>
      </p:sp>
      <p:sp>
        <p:nvSpPr>
          <p:cNvPr id="54" name="Text 52"/>
          <p:cNvSpPr/>
          <p:nvPr/>
        </p:nvSpPr>
        <p:spPr>
          <a:xfrm>
            <a:off x="8046720" y="4632960"/>
            <a:ext cx="16459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local</a:t>
            </a:r>
            <a:endParaRPr lang="en-US" sz="1067"/>
          </a:p>
        </p:txBody>
      </p:sp>
      <p:sp>
        <p:nvSpPr>
          <p:cNvPr id="55" name="Text 53"/>
          <p:cNvSpPr/>
          <p:nvPr/>
        </p:nvSpPr>
        <p:spPr>
          <a:xfrm>
            <a:off x="9753600" y="4632960"/>
            <a:ext cx="15849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Streamed</a:t>
            </a:r>
            <a:endParaRPr lang="en-US" sz="1067"/>
          </a:p>
        </p:txBody>
      </p:sp>
      <p:sp>
        <p:nvSpPr>
          <p:cNvPr id="56" name="Text 54"/>
          <p:cNvSpPr/>
          <p:nvPr/>
        </p:nvSpPr>
        <p:spPr>
          <a:xfrm>
            <a:off x="6644640" y="4998720"/>
            <a:ext cx="13411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067"/>
          </a:p>
        </p:txBody>
      </p:sp>
      <p:sp>
        <p:nvSpPr>
          <p:cNvPr id="57" name="Text 55"/>
          <p:cNvSpPr/>
          <p:nvPr/>
        </p:nvSpPr>
        <p:spPr>
          <a:xfrm>
            <a:off x="8046720" y="4998720"/>
            <a:ext cx="16459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067"/>
          </a:p>
        </p:txBody>
      </p:sp>
      <p:sp>
        <p:nvSpPr>
          <p:cNvPr id="58" name="Text 56"/>
          <p:cNvSpPr/>
          <p:nvPr/>
        </p:nvSpPr>
        <p:spPr>
          <a:xfrm>
            <a:off x="9753600" y="4998720"/>
            <a:ext cx="15849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</a:t>
            </a:r>
            <a:endParaRPr lang="en-US" sz="1067"/>
          </a:p>
        </p:txBody>
      </p:sp>
      <p:sp>
        <p:nvSpPr>
          <p:cNvPr id="59" name="Shape 57"/>
          <p:cNvSpPr/>
          <p:nvPr/>
        </p:nvSpPr>
        <p:spPr>
          <a:xfrm>
            <a:off x="6583680" y="5364480"/>
            <a:ext cx="4815840" cy="3413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0" name="Text 58"/>
          <p:cNvSpPr/>
          <p:nvPr/>
        </p:nvSpPr>
        <p:spPr>
          <a:xfrm>
            <a:off x="6644640" y="5364480"/>
            <a:ext cx="13411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endParaRPr lang="en-US" sz="1067"/>
          </a:p>
        </p:txBody>
      </p:sp>
      <p:sp>
        <p:nvSpPr>
          <p:cNvPr id="61" name="Text 59"/>
          <p:cNvSpPr/>
          <p:nvPr/>
        </p:nvSpPr>
        <p:spPr>
          <a:xfrm>
            <a:off x="8046720" y="5364480"/>
            <a:ext cx="16459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on</a:t>
            </a:r>
            <a:endParaRPr lang="en-US" sz="1067"/>
          </a:p>
        </p:txBody>
      </p:sp>
      <p:sp>
        <p:nvSpPr>
          <p:cNvPr id="62" name="Text 60"/>
          <p:cNvSpPr/>
          <p:nvPr/>
        </p:nvSpPr>
        <p:spPr>
          <a:xfrm>
            <a:off x="9753600" y="5364480"/>
            <a:ext cx="15849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Depends on network</a:t>
            </a:r>
            <a:endParaRPr lang="en-US" sz="1067"/>
          </a:p>
        </p:txBody>
      </p:sp>
      <p:sp>
        <p:nvSpPr>
          <p:cNvPr id="63" name="Shape 61"/>
          <p:cNvSpPr/>
          <p:nvPr/>
        </p:nvSpPr>
        <p:spPr>
          <a:xfrm>
            <a:off x="6461760" y="6156960"/>
            <a:ext cx="1524000" cy="609600"/>
          </a:xfrm>
          <a:prstGeom prst="roundRect">
            <a:avLst>
              <a:gd name="adj" fmla="val 16000"/>
            </a:avLst>
          </a:prstGeom>
          <a:solidFill>
            <a:srgbClr val="E4EEF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4" name="Text 62"/>
          <p:cNvSpPr/>
          <p:nvPr/>
        </p:nvSpPr>
        <p:spPr>
          <a:xfrm>
            <a:off x="6461760" y="6156960"/>
            <a:ext cx="1524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 ms</a:t>
            </a:r>
            <a:endParaRPr lang="en-US" sz="1867"/>
          </a:p>
        </p:txBody>
      </p:sp>
      <p:sp>
        <p:nvSpPr>
          <p:cNvPr id="65" name="Text 63"/>
          <p:cNvSpPr/>
          <p:nvPr/>
        </p:nvSpPr>
        <p:spPr>
          <a:xfrm>
            <a:off x="6461760" y="6498336"/>
            <a:ext cx="152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Inference</a:t>
            </a:r>
            <a:endParaRPr lang="en-US" sz="933"/>
          </a:p>
        </p:txBody>
      </p:sp>
      <p:sp>
        <p:nvSpPr>
          <p:cNvPr id="66" name="Shape 64"/>
          <p:cNvSpPr/>
          <p:nvPr/>
        </p:nvSpPr>
        <p:spPr>
          <a:xfrm>
            <a:off x="8168640" y="6156960"/>
            <a:ext cx="1524000" cy="609600"/>
          </a:xfrm>
          <a:prstGeom prst="roundRect">
            <a:avLst>
              <a:gd name="adj" fmla="val 16000"/>
            </a:avLst>
          </a:prstGeom>
          <a:solidFill>
            <a:srgbClr val="E4EEF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7" name="Text 65"/>
          <p:cNvSpPr/>
          <p:nvPr/>
        </p:nvSpPr>
        <p:spPr>
          <a:xfrm>
            <a:off x="8168640" y="6156960"/>
            <a:ext cx="1524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67"/>
          </a:p>
        </p:txBody>
      </p:sp>
      <p:sp>
        <p:nvSpPr>
          <p:cNvPr id="68" name="Text 66"/>
          <p:cNvSpPr/>
          <p:nvPr/>
        </p:nvSpPr>
        <p:spPr>
          <a:xfrm>
            <a:off x="8168640" y="6498336"/>
            <a:ext cx="152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</a:t>
            </a:r>
            <a:endParaRPr lang="en-US" sz="933"/>
          </a:p>
        </p:txBody>
      </p:sp>
      <p:sp>
        <p:nvSpPr>
          <p:cNvPr id="69" name="Shape 67"/>
          <p:cNvSpPr/>
          <p:nvPr/>
        </p:nvSpPr>
        <p:spPr>
          <a:xfrm>
            <a:off x="9875520" y="6156960"/>
            <a:ext cx="1524000" cy="609600"/>
          </a:xfrm>
          <a:prstGeom prst="roundRect">
            <a:avLst>
              <a:gd name="adj" fmla="val 16000"/>
            </a:avLst>
          </a:prstGeom>
          <a:solidFill>
            <a:srgbClr val="E4EEF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0" name="Text 68"/>
          <p:cNvSpPr/>
          <p:nvPr/>
        </p:nvSpPr>
        <p:spPr>
          <a:xfrm>
            <a:off x="9875520" y="6156960"/>
            <a:ext cx="1524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ms</a:t>
            </a:r>
            <a:endParaRPr lang="en-US" sz="1867"/>
          </a:p>
        </p:txBody>
      </p:sp>
      <p:sp>
        <p:nvSpPr>
          <p:cNvPr id="71" name="Text 69"/>
          <p:cNvSpPr/>
          <p:nvPr/>
        </p:nvSpPr>
        <p:spPr>
          <a:xfrm>
            <a:off x="9875520" y="6498336"/>
            <a:ext cx="152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Latency</a:t>
            </a:r>
            <a:endParaRPr lang="en-US" sz="933"/>
          </a:p>
        </p:txBody>
      </p:sp>
    </p:spTree>
    <p:extLst>
      <p:ext uri="{BB962C8B-B14F-4D97-AF65-F5344CB8AC3E}">
        <p14:creationId xmlns:p14="http://schemas.microsoft.com/office/powerpoint/2010/main" val="26262993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2B5B8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87680" y="158496"/>
            <a:ext cx="609600" cy="609600"/>
          </a:xfrm>
          <a:prstGeom prst="roundRect">
            <a:avLst>
              <a:gd name="adj" fmla="val 16000"/>
            </a:avLst>
          </a:prstGeom>
          <a:solidFill>
            <a:srgbClr val="4FC3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87680" y="158496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>
                <a:solidFill>
                  <a:srgbClr val="1B3A5C"/>
                </a:solidFill>
                <a:latin typeface="Arial"/>
                <a:cs typeface="Arial"/>
              </a:rPr>
              <a:t>20</a:t>
            </a:r>
          </a:p>
        </p:txBody>
      </p:sp>
      <p:sp>
        <p:nvSpPr>
          <p:cNvPr id="5" name="Text 3"/>
          <p:cNvSpPr/>
          <p:nvPr/>
        </p:nvSpPr>
        <p:spPr>
          <a:xfrm>
            <a:off x="1280160" y="158496"/>
            <a:ext cx="792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2400" b="1" spc="2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RESULTS &amp; SYSTEM VALIDATION</a:t>
            </a:r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9509760" y="158496"/>
            <a:ext cx="21945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spc="267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333"/>
          </a:p>
        </p:txBody>
      </p:sp>
      <p:sp>
        <p:nvSpPr>
          <p:cNvPr id="7" name="Text 5"/>
          <p:cNvSpPr/>
          <p:nvPr/>
        </p:nvSpPr>
        <p:spPr>
          <a:xfrm>
            <a:off x="609600" y="6339840"/>
            <a:ext cx="7315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EagleEye · FYP Final Defence · June 2026</a:t>
            </a:r>
            <a:endParaRPr lang="en-US" sz="1067"/>
          </a:p>
        </p:txBody>
      </p:sp>
      <p:sp>
        <p:nvSpPr>
          <p:cNvPr id="8" name="Text 6"/>
          <p:cNvSpPr/>
          <p:nvPr/>
        </p:nvSpPr>
        <p:spPr>
          <a:xfrm>
            <a:off x="10363200" y="6339840"/>
            <a:ext cx="1463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1067"/>
          </a:p>
        </p:txBody>
      </p:sp>
      <p:sp>
        <p:nvSpPr>
          <p:cNvPr id="9" name="Text 7"/>
          <p:cNvSpPr/>
          <p:nvPr/>
        </p:nvSpPr>
        <p:spPr>
          <a:xfrm>
            <a:off x="609600" y="1097280"/>
            <a:ext cx="7315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467" b="1" spc="200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INFERENCE OUTPUT — LIVE CLASSIFICATION</a:t>
            </a:r>
            <a:endParaRPr lang="en-US" sz="1467"/>
          </a:p>
        </p:txBody>
      </p:sp>
      <p:sp>
        <p:nvSpPr>
          <p:cNvPr id="10" name="Text 8"/>
          <p:cNvSpPr/>
          <p:nvPr/>
        </p:nvSpPr>
        <p:spPr>
          <a:xfrm>
            <a:off x="609600" y="1584960"/>
            <a:ext cx="15849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 b="1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2316480" y="1609344"/>
            <a:ext cx="6096000" cy="243840"/>
          </a:xfrm>
          <a:prstGeom prst="roundRect">
            <a:avLst>
              <a:gd name="adj" fmla="val 15000"/>
            </a:avLst>
          </a:prstGeom>
          <a:solidFill>
            <a:srgbClr val="EDF3F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2316480" y="1609344"/>
            <a:ext cx="731520" cy="243840"/>
          </a:xfrm>
          <a:prstGeom prst="roundRect">
            <a:avLst>
              <a:gd name="adj" fmla="val 15000"/>
            </a:avLst>
          </a:prstGeom>
          <a:solidFill>
            <a:srgbClr val="26A69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8534400" y="1584960"/>
            <a:ext cx="7315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333"/>
          </a:p>
        </p:txBody>
      </p:sp>
      <p:sp>
        <p:nvSpPr>
          <p:cNvPr id="14" name="Text 12"/>
          <p:cNvSpPr/>
          <p:nvPr/>
        </p:nvSpPr>
        <p:spPr>
          <a:xfrm>
            <a:off x="9387840" y="1584960"/>
            <a:ext cx="21945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Action</a:t>
            </a:r>
            <a:endParaRPr lang="en-US" sz="1067"/>
          </a:p>
        </p:txBody>
      </p:sp>
      <p:sp>
        <p:nvSpPr>
          <p:cNvPr id="15" name="Text 13"/>
          <p:cNvSpPr/>
          <p:nvPr/>
        </p:nvSpPr>
        <p:spPr>
          <a:xfrm>
            <a:off x="609600" y="2194560"/>
            <a:ext cx="15849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 b="1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Footsteps</a:t>
            </a:r>
            <a:endParaRPr lang="en-US" sz="1200"/>
          </a:p>
        </p:txBody>
      </p:sp>
      <p:sp>
        <p:nvSpPr>
          <p:cNvPr id="16" name="Shape 14"/>
          <p:cNvSpPr/>
          <p:nvPr/>
        </p:nvSpPr>
        <p:spPr>
          <a:xfrm>
            <a:off x="2316480" y="2218944"/>
            <a:ext cx="6096000" cy="243840"/>
          </a:xfrm>
          <a:prstGeom prst="roundRect">
            <a:avLst>
              <a:gd name="adj" fmla="val 15000"/>
            </a:avLst>
          </a:prstGeom>
          <a:solidFill>
            <a:srgbClr val="EDF3F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2316480" y="2218944"/>
            <a:ext cx="6096000" cy="243840"/>
          </a:xfrm>
          <a:prstGeom prst="roundRect">
            <a:avLst>
              <a:gd name="adj" fmla="val 15000"/>
            </a:avLst>
          </a:prstGeom>
          <a:solidFill>
            <a:srgbClr val="E5393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8534400" y="2194560"/>
            <a:ext cx="7315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1333"/>
          </a:p>
        </p:txBody>
      </p:sp>
      <p:sp>
        <p:nvSpPr>
          <p:cNvPr id="19" name="Text 17"/>
          <p:cNvSpPr/>
          <p:nvPr/>
        </p:nvSpPr>
        <p:spPr>
          <a:xfrm>
            <a:off x="9387840" y="2194560"/>
            <a:ext cx="21945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TRIGGERED</a:t>
            </a:r>
            <a:endParaRPr lang="en-US" sz="1067"/>
          </a:p>
        </p:txBody>
      </p:sp>
      <p:sp>
        <p:nvSpPr>
          <p:cNvPr id="20" name="Text 18"/>
          <p:cNvSpPr/>
          <p:nvPr/>
        </p:nvSpPr>
        <p:spPr>
          <a:xfrm>
            <a:off x="609600" y="2804160"/>
            <a:ext cx="15849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 b="1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 Break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2316480" y="2828544"/>
            <a:ext cx="6096000" cy="243840"/>
          </a:xfrm>
          <a:prstGeom prst="roundRect">
            <a:avLst>
              <a:gd name="adj" fmla="val 15000"/>
            </a:avLst>
          </a:prstGeom>
          <a:solidFill>
            <a:srgbClr val="EDF3F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2316480" y="2828544"/>
            <a:ext cx="121920" cy="243840"/>
          </a:xfrm>
          <a:prstGeom prst="roundRect">
            <a:avLst>
              <a:gd name="adj" fmla="val 30000"/>
            </a:avLst>
          </a:prstGeom>
          <a:solidFill>
            <a:srgbClr val="FB8C0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8534400" y="2804160"/>
            <a:ext cx="7315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333"/>
          </a:p>
        </p:txBody>
      </p:sp>
      <p:sp>
        <p:nvSpPr>
          <p:cNvPr id="24" name="Text 22"/>
          <p:cNvSpPr/>
          <p:nvPr/>
        </p:nvSpPr>
        <p:spPr>
          <a:xfrm>
            <a:off x="9387840" y="2804160"/>
            <a:ext cx="21945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Action</a:t>
            </a:r>
            <a:endParaRPr lang="en-US" sz="1067"/>
          </a:p>
        </p:txBody>
      </p:sp>
      <p:sp>
        <p:nvSpPr>
          <p:cNvPr id="25" name="Shape 23"/>
          <p:cNvSpPr/>
          <p:nvPr/>
        </p:nvSpPr>
        <p:spPr>
          <a:xfrm>
            <a:off x="609600" y="3657600"/>
            <a:ext cx="5486400" cy="2621280"/>
          </a:xfrm>
          <a:prstGeom prst="roundRect">
            <a:avLst>
              <a:gd name="adj" fmla="val 4651"/>
            </a:avLst>
          </a:prstGeom>
          <a:solidFill>
            <a:srgbClr val="EDF3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853440" y="3779520"/>
            <a:ext cx="487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333" b="1" spc="200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VALIDATION SUMMARY</a:t>
            </a:r>
            <a:endParaRPr lang="en-US" sz="1333"/>
          </a:p>
        </p:txBody>
      </p:sp>
      <p:sp>
        <p:nvSpPr>
          <p:cNvPr id="27" name="Text 25"/>
          <p:cNvSpPr/>
          <p:nvPr/>
        </p:nvSpPr>
        <p:spPr>
          <a:xfrm>
            <a:off x="853440" y="4206240"/>
            <a:ext cx="231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Footsteps Detection</a:t>
            </a:r>
            <a:endParaRPr lang="en-US" sz="1067"/>
          </a:p>
        </p:txBody>
      </p:sp>
      <p:sp>
        <p:nvSpPr>
          <p:cNvPr id="28" name="Text 26"/>
          <p:cNvSpPr/>
          <p:nvPr/>
        </p:nvSpPr>
        <p:spPr>
          <a:xfrm>
            <a:off x="3230880" y="42062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91.2% average confidence</a:t>
            </a:r>
            <a:endParaRPr lang="en-US" sz="1067"/>
          </a:p>
        </p:txBody>
      </p:sp>
      <p:sp>
        <p:nvSpPr>
          <p:cNvPr id="29" name="Text 27"/>
          <p:cNvSpPr/>
          <p:nvPr/>
        </p:nvSpPr>
        <p:spPr>
          <a:xfrm>
            <a:off x="853440" y="4523232"/>
            <a:ext cx="231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 Break Detection</a:t>
            </a:r>
            <a:endParaRPr lang="en-US" sz="1067"/>
          </a:p>
        </p:txBody>
      </p:sp>
      <p:sp>
        <p:nvSpPr>
          <p:cNvPr id="30" name="Text 28"/>
          <p:cNvSpPr/>
          <p:nvPr/>
        </p:nvSpPr>
        <p:spPr>
          <a:xfrm>
            <a:off x="3230880" y="45232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88.7% average confidence</a:t>
            </a:r>
            <a:endParaRPr lang="en-US" sz="1067"/>
          </a:p>
        </p:txBody>
      </p:sp>
      <p:sp>
        <p:nvSpPr>
          <p:cNvPr id="31" name="Text 29"/>
          <p:cNvSpPr/>
          <p:nvPr/>
        </p:nvSpPr>
        <p:spPr>
          <a:xfrm>
            <a:off x="853440" y="4840224"/>
            <a:ext cx="231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Rejection</a:t>
            </a:r>
            <a:endParaRPr lang="en-US" sz="1067"/>
          </a:p>
        </p:txBody>
      </p:sp>
      <p:sp>
        <p:nvSpPr>
          <p:cNvPr id="32" name="Text 30"/>
          <p:cNvSpPr/>
          <p:nvPr/>
        </p:nvSpPr>
        <p:spPr>
          <a:xfrm>
            <a:off x="3230880" y="48402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96.4% specificity</a:t>
            </a:r>
            <a:endParaRPr lang="en-US" sz="1067"/>
          </a:p>
        </p:txBody>
      </p:sp>
      <p:sp>
        <p:nvSpPr>
          <p:cNvPr id="33" name="Text 31"/>
          <p:cNvSpPr/>
          <p:nvPr/>
        </p:nvSpPr>
        <p:spPr>
          <a:xfrm>
            <a:off x="853440" y="5157216"/>
            <a:ext cx="231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 Rate</a:t>
            </a:r>
            <a:endParaRPr lang="en-US" sz="1067"/>
          </a:p>
        </p:txBody>
      </p:sp>
      <p:sp>
        <p:nvSpPr>
          <p:cNvPr id="34" name="Text 32"/>
          <p:cNvSpPr/>
          <p:nvPr/>
        </p:nvSpPr>
        <p:spPr>
          <a:xfrm>
            <a:off x="3230880" y="51572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3.6% across test set</a:t>
            </a:r>
            <a:endParaRPr lang="en-US" sz="1067"/>
          </a:p>
        </p:txBody>
      </p:sp>
      <p:sp>
        <p:nvSpPr>
          <p:cNvPr id="35" name="Text 33"/>
          <p:cNvSpPr/>
          <p:nvPr/>
        </p:nvSpPr>
        <p:spPr>
          <a:xfrm>
            <a:off x="853440" y="5474208"/>
            <a:ext cx="231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Latency</a:t>
            </a:r>
            <a:endParaRPr lang="en-US" sz="1067"/>
          </a:p>
        </p:txBody>
      </p:sp>
      <p:sp>
        <p:nvSpPr>
          <p:cNvPr id="36" name="Text 34"/>
          <p:cNvSpPr/>
          <p:nvPr/>
        </p:nvSpPr>
        <p:spPr>
          <a:xfrm>
            <a:off x="3230880" y="54742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 ms from event to output</a:t>
            </a:r>
            <a:endParaRPr lang="en-US" sz="1067"/>
          </a:p>
        </p:txBody>
      </p:sp>
      <p:sp>
        <p:nvSpPr>
          <p:cNvPr id="37" name="Text 35"/>
          <p:cNvSpPr/>
          <p:nvPr/>
        </p:nvSpPr>
        <p:spPr>
          <a:xfrm>
            <a:off x="853440" y="5791200"/>
            <a:ext cx="231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Operation</a:t>
            </a:r>
            <a:endParaRPr lang="en-US" sz="1067"/>
          </a:p>
        </p:txBody>
      </p:sp>
      <p:sp>
        <p:nvSpPr>
          <p:cNvPr id="38" name="Text 36"/>
          <p:cNvSpPr/>
          <p:nvPr/>
        </p:nvSpPr>
        <p:spPr>
          <a:xfrm>
            <a:off x="3230880" y="57912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over 8-hour test run</a:t>
            </a:r>
            <a:endParaRPr lang="en-US" sz="1067"/>
          </a:p>
        </p:txBody>
      </p:sp>
      <p:sp>
        <p:nvSpPr>
          <p:cNvPr id="39" name="Shape 37"/>
          <p:cNvSpPr/>
          <p:nvPr/>
        </p:nvSpPr>
        <p:spPr>
          <a:xfrm>
            <a:off x="6461760" y="3657600"/>
            <a:ext cx="5120640" cy="2621280"/>
          </a:xfrm>
          <a:prstGeom prst="roundRect">
            <a:avLst>
              <a:gd name="adj" fmla="val 4651"/>
            </a:avLst>
          </a:prstGeom>
          <a:solidFill>
            <a:srgbClr val="EDF3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0" name="Text 38"/>
          <p:cNvSpPr/>
          <p:nvPr/>
        </p:nvSpPr>
        <p:spPr>
          <a:xfrm>
            <a:off x="6705600" y="3779520"/>
            <a:ext cx="46329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333" b="1" spc="200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LATENCY BREAKDOWN</a:t>
            </a:r>
            <a:endParaRPr lang="en-US" sz="1333"/>
          </a:p>
        </p:txBody>
      </p:sp>
      <p:sp>
        <p:nvSpPr>
          <p:cNvPr id="41" name="Text 39"/>
          <p:cNvSpPr/>
          <p:nvPr/>
        </p:nvSpPr>
        <p:spPr>
          <a:xfrm>
            <a:off x="6705600" y="4206240"/>
            <a:ext cx="195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Capture</a:t>
            </a:r>
            <a:endParaRPr lang="en-US" sz="1067"/>
          </a:p>
        </p:txBody>
      </p:sp>
      <p:sp>
        <p:nvSpPr>
          <p:cNvPr id="42" name="Text 40"/>
          <p:cNvSpPr/>
          <p:nvPr/>
        </p:nvSpPr>
        <p:spPr>
          <a:xfrm>
            <a:off x="8717280" y="42062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2,756 ms  (fixed window)</a:t>
            </a:r>
            <a:endParaRPr lang="en-US" sz="1067"/>
          </a:p>
        </p:txBody>
      </p:sp>
      <p:sp>
        <p:nvSpPr>
          <p:cNvPr id="43" name="Text 41"/>
          <p:cNvSpPr/>
          <p:nvPr/>
        </p:nvSpPr>
        <p:spPr>
          <a:xfrm>
            <a:off x="6705600" y="4523232"/>
            <a:ext cx="195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MFCC Extraction</a:t>
            </a:r>
            <a:endParaRPr lang="en-US" sz="1067"/>
          </a:p>
        </p:txBody>
      </p:sp>
      <p:sp>
        <p:nvSpPr>
          <p:cNvPr id="44" name="Text 42"/>
          <p:cNvSpPr/>
          <p:nvPr/>
        </p:nvSpPr>
        <p:spPr>
          <a:xfrm>
            <a:off x="8717280" y="45232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 ms</a:t>
            </a:r>
            <a:endParaRPr lang="en-US" sz="1067"/>
          </a:p>
        </p:txBody>
      </p:sp>
      <p:sp>
        <p:nvSpPr>
          <p:cNvPr id="45" name="Text 43"/>
          <p:cNvSpPr/>
          <p:nvPr/>
        </p:nvSpPr>
        <p:spPr>
          <a:xfrm>
            <a:off x="6705600" y="4840224"/>
            <a:ext cx="195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Classification</a:t>
            </a:r>
            <a:endParaRPr lang="en-US" sz="1067"/>
          </a:p>
        </p:txBody>
      </p:sp>
      <p:sp>
        <p:nvSpPr>
          <p:cNvPr id="46" name="Text 44"/>
          <p:cNvSpPr/>
          <p:nvPr/>
        </p:nvSpPr>
        <p:spPr>
          <a:xfrm>
            <a:off x="8717280" y="48402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ms</a:t>
            </a:r>
            <a:endParaRPr lang="en-US" sz="1067"/>
          </a:p>
        </p:txBody>
      </p:sp>
      <p:sp>
        <p:nvSpPr>
          <p:cNvPr id="47" name="Text 45"/>
          <p:cNvSpPr/>
          <p:nvPr/>
        </p:nvSpPr>
        <p:spPr>
          <a:xfrm>
            <a:off x="6705600" y="5157216"/>
            <a:ext cx="195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Decision</a:t>
            </a:r>
            <a:endParaRPr lang="en-US" sz="1067"/>
          </a:p>
        </p:txBody>
      </p:sp>
      <p:sp>
        <p:nvSpPr>
          <p:cNvPr id="48" name="Text 46"/>
          <p:cNvSpPr/>
          <p:nvPr/>
        </p:nvSpPr>
        <p:spPr>
          <a:xfrm>
            <a:off x="8717280" y="51572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ms</a:t>
            </a:r>
            <a:endParaRPr lang="en-US" sz="1067"/>
          </a:p>
        </p:txBody>
      </p:sp>
      <p:sp>
        <p:nvSpPr>
          <p:cNvPr id="49" name="Text 47"/>
          <p:cNvSpPr/>
          <p:nvPr/>
        </p:nvSpPr>
        <p:spPr>
          <a:xfrm>
            <a:off x="6705600" y="5474208"/>
            <a:ext cx="195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Publish</a:t>
            </a:r>
            <a:endParaRPr lang="en-US" sz="1067"/>
          </a:p>
        </p:txBody>
      </p:sp>
      <p:sp>
        <p:nvSpPr>
          <p:cNvPr id="50" name="Text 48"/>
          <p:cNvSpPr/>
          <p:nvPr/>
        </p:nvSpPr>
        <p:spPr>
          <a:xfrm>
            <a:off x="8717280" y="54742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50 ms (Wi-Fi)</a:t>
            </a:r>
            <a:endParaRPr lang="en-US" sz="1067"/>
          </a:p>
        </p:txBody>
      </p:sp>
      <p:sp>
        <p:nvSpPr>
          <p:cNvPr id="51" name="Text 49"/>
          <p:cNvSpPr/>
          <p:nvPr/>
        </p:nvSpPr>
        <p:spPr>
          <a:xfrm>
            <a:off x="6705600" y="5791200"/>
            <a:ext cx="195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(E2E)</a:t>
            </a:r>
            <a:endParaRPr lang="en-US" sz="1067"/>
          </a:p>
        </p:txBody>
      </p:sp>
      <p:sp>
        <p:nvSpPr>
          <p:cNvPr id="52" name="Text 50"/>
          <p:cNvSpPr/>
          <p:nvPr/>
        </p:nvSpPr>
        <p:spPr>
          <a:xfrm>
            <a:off x="8717280" y="57912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 b="1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3,000 ms — sub-3 second</a:t>
            </a:r>
            <a:endParaRPr lang="en-US" sz="1067"/>
          </a:p>
        </p:txBody>
      </p:sp>
    </p:spTree>
    <p:extLst>
      <p:ext uri="{BB962C8B-B14F-4D97-AF65-F5344CB8AC3E}">
        <p14:creationId xmlns:p14="http://schemas.microsoft.com/office/powerpoint/2010/main" val="14110969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64905" y="2653030"/>
            <a:ext cx="3502025" cy="30753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0" b="1" spc="865">
                <a:solidFill>
                  <a:srgbClr val="16395A"/>
                </a:solidFill>
                <a:latin typeface="Tahoma"/>
                <a:cs typeface="Tahoma"/>
              </a:rPr>
              <a:t>04</a:t>
            </a:r>
            <a:endParaRPr sz="20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40273" y="2185542"/>
            <a:ext cx="16033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84555" algn="l"/>
              </a:tabLst>
            </a:pP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P</a:t>
            </a:r>
            <a:r>
              <a:rPr sz="1600" b="1" spc="22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A</a:t>
            </a:r>
            <a:r>
              <a:rPr sz="1600" b="1" spc="22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R</a:t>
            </a:r>
            <a:r>
              <a:rPr sz="1600" b="1" spc="22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 spc="-50">
                <a:solidFill>
                  <a:srgbClr val="2095F3"/>
                </a:solidFill>
                <a:latin typeface="Calibri"/>
                <a:cs typeface="Calibri"/>
              </a:rPr>
              <a:t>T</a:t>
            </a: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	F</a:t>
            </a:r>
            <a:r>
              <a:rPr sz="1600" b="1" spc="22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O</a:t>
            </a:r>
            <a:r>
              <a:rPr sz="1600" b="1" spc="22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U</a:t>
            </a:r>
            <a:r>
              <a:rPr sz="1600" b="1" spc="22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 spc="-50">
                <a:solidFill>
                  <a:srgbClr val="2095F3"/>
                </a:solidFill>
                <a:latin typeface="Calibri"/>
                <a:cs typeface="Calibri"/>
              </a:rPr>
              <a:t>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/>
          <p:nvPr/>
        </p:nvSpPr>
        <p:spPr>
          <a:xfrm>
            <a:off x="2985897" y="2639390"/>
            <a:ext cx="618998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305">
                <a:solidFill>
                  <a:srgbClr val="FFFFFF"/>
                </a:solidFill>
                <a:latin typeface="Tahoma"/>
                <a:cs typeface="Tahoma"/>
              </a:rPr>
              <a:t>Backend</a:t>
            </a:r>
            <a:r>
              <a:rPr sz="6000" b="1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0" b="1" spc="-33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6000" b="1" spc="-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0" b="1" spc="360">
                <a:solidFill>
                  <a:srgbClr val="FFFFFF"/>
                </a:solidFill>
                <a:latin typeface="Tahoma"/>
                <a:cs typeface="Tahoma"/>
              </a:rPr>
              <a:t>App</a:t>
            </a:r>
            <a:endParaRPr sz="60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54396" y="3977640"/>
            <a:ext cx="1280160" cy="55244"/>
          </a:xfrm>
          <a:custGeom>
            <a:avLst/>
            <a:gdLst/>
            <a:ahLst/>
            <a:cxnLst/>
            <a:rect l="l" t="t" r="r" b="b"/>
            <a:pathLst>
              <a:path w="1280159" h="55245">
                <a:moveTo>
                  <a:pt x="1280159" y="0"/>
                </a:moveTo>
                <a:lnTo>
                  <a:pt x="0" y="0"/>
                </a:lnTo>
                <a:lnTo>
                  <a:pt x="0" y="54863"/>
                </a:lnTo>
                <a:lnTo>
                  <a:pt x="1280159" y="54863"/>
                </a:lnTo>
                <a:lnTo>
                  <a:pt x="1280159" y="0"/>
                </a:lnTo>
                <a:close/>
              </a:path>
            </a:pathLst>
          </a:custGeom>
          <a:solidFill>
            <a:srgbClr val="2095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944114" y="4224908"/>
            <a:ext cx="6271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The</a:t>
            </a:r>
            <a:r>
              <a:rPr sz="1800" spc="-40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secure</a:t>
            </a:r>
            <a:r>
              <a:rPr sz="1800" spc="-20">
                <a:solidFill>
                  <a:srgbClr val="BBD3EB"/>
                </a:solidFill>
                <a:latin typeface="Calibri"/>
                <a:cs typeface="Calibri"/>
              </a:rPr>
              <a:t> gateway,</a:t>
            </a:r>
            <a:r>
              <a:rPr sz="1800" spc="-40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the</a:t>
            </a:r>
            <a:r>
              <a:rPr sz="1800" spc="-2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cloud,</a:t>
            </a:r>
            <a:r>
              <a:rPr sz="1800" spc="-1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and</a:t>
            </a:r>
            <a:r>
              <a:rPr sz="1800" spc="-3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the</a:t>
            </a:r>
            <a:r>
              <a:rPr sz="1800" spc="-2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app</a:t>
            </a:r>
            <a:r>
              <a:rPr sz="1800" spc="-20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the</a:t>
            </a:r>
            <a:r>
              <a:rPr sz="1800" spc="-3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user</a:t>
            </a:r>
            <a:r>
              <a:rPr sz="1800" spc="-40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actually</a:t>
            </a:r>
            <a:r>
              <a:rPr sz="1800" spc="-2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BBD3EB"/>
                </a:solidFill>
                <a:latin typeface="Calibri"/>
                <a:cs typeface="Calibri"/>
              </a:rPr>
              <a:t>holds.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219456"/>
            <a:ext cx="713232" cy="457200"/>
          </a:xfrm>
          <a:prstGeom prst="roundRect">
            <a:avLst>
              <a:gd name="adj" fmla="val 14000"/>
            </a:avLst>
          </a:prstGeom>
          <a:solidFill>
            <a:srgbClr val="2A7DE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57200" y="219456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21</a:t>
            </a:r>
          </a:p>
        </p:txBody>
      </p:sp>
      <p:sp>
        <p:nvSpPr>
          <p:cNvPr id="5" name="Text 3"/>
          <p:cNvSpPr/>
          <p:nvPr/>
        </p:nvSpPr>
        <p:spPr>
          <a:xfrm>
            <a:off x="1325880" y="16459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1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SERVICES &amp; DATA FLOW</a:t>
            </a:r>
            <a:endParaRPr lang="en-US" sz="2200"/>
          </a:p>
        </p:txBody>
      </p:sp>
      <p:sp>
        <p:nvSpPr>
          <p:cNvPr id="6" name="Text 4"/>
          <p:cNvSpPr/>
          <p:nvPr/>
        </p:nvSpPr>
        <p:spPr>
          <a:xfrm>
            <a:off x="9326880" y="274320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>
                <a:solidFill>
                  <a:srgbClr val="B9C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APP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474692" y="1013676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173735" y="983950"/>
            <a:ext cx="4909711" cy="3560618"/>
          </a:xfrm>
          <a:prstGeom prst="roundRect">
            <a:avLst>
              <a:gd name="adj" fmla="val 2290"/>
            </a:avLst>
          </a:prstGeom>
          <a:solidFill>
            <a:srgbClr val="F3F5F8"/>
          </a:solidFill>
          <a:ln w="12700">
            <a:solidFill>
              <a:srgbClr val="D9E0E8"/>
            </a:solidFill>
            <a:prstDash val="solid"/>
          </a:ln>
          <a:effectLst>
            <a:outerShdw blurRad="889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6650" y="941568"/>
            <a:ext cx="566928" cy="566928"/>
          </a:xfrm>
          <a:prstGeom prst="ellipse">
            <a:avLst/>
          </a:prstGeom>
          <a:solidFill>
            <a:srgbClr val="1E4E79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" y="1098373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6008" y="958070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1E5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Cloudinary — Photo Storage</a:t>
            </a:r>
            <a:endParaRPr lang="en-US" sz="1400"/>
          </a:p>
        </p:txBody>
      </p:sp>
      <p:sp>
        <p:nvSpPr>
          <p:cNvPr id="14" name="Text 10"/>
          <p:cNvSpPr/>
          <p:nvPr/>
        </p:nvSpPr>
        <p:spPr>
          <a:xfrm>
            <a:off x="731520" y="5166360"/>
            <a:ext cx="30449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>
                <a:solidFill>
                  <a:srgbClr val="94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\</a:t>
            </a:r>
            <a:endParaRPr lang="en-US" sz="950"/>
          </a:p>
        </p:txBody>
      </p:sp>
      <p:sp>
        <p:nvSpPr>
          <p:cNvPr id="15" name="Shape 11"/>
          <p:cNvSpPr/>
          <p:nvPr/>
        </p:nvSpPr>
        <p:spPr>
          <a:xfrm>
            <a:off x="5122903" y="981720"/>
            <a:ext cx="6860494" cy="3356632"/>
          </a:xfrm>
          <a:prstGeom prst="roundRect">
            <a:avLst>
              <a:gd name="adj" fmla="val 2290"/>
            </a:avLst>
          </a:prstGeom>
          <a:solidFill>
            <a:srgbClr val="F3F5F8"/>
          </a:solidFill>
          <a:ln w="12700">
            <a:solidFill>
              <a:srgbClr val="D9E0E8"/>
            </a:solidFill>
            <a:prstDash val="solid"/>
          </a:ln>
          <a:effectLst>
            <a:outerShdw blurRad="889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Shape 12"/>
          <p:cNvSpPr/>
          <p:nvPr/>
        </p:nvSpPr>
        <p:spPr>
          <a:xfrm>
            <a:off x="5357553" y="1051269"/>
            <a:ext cx="566928" cy="626871"/>
          </a:xfrm>
          <a:prstGeom prst="ellipse">
            <a:avLst/>
          </a:prstGeom>
          <a:solidFill>
            <a:srgbClr val="1E4E79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7971" y="119737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19621" y="1089229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1E5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— Alerts &amp; Push</a:t>
            </a:r>
            <a:endParaRPr lang="en-US" sz="1400"/>
          </a:p>
        </p:txBody>
      </p:sp>
      <p:sp>
        <p:nvSpPr>
          <p:cNvPr id="21" name="Text 15"/>
          <p:cNvSpPr/>
          <p:nvPr/>
        </p:nvSpPr>
        <p:spPr>
          <a:xfrm>
            <a:off x="4572000" y="5166360"/>
            <a:ext cx="30449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/>
          </a:p>
        </p:txBody>
      </p:sp>
      <p:sp>
        <p:nvSpPr>
          <p:cNvPr id="26" name="Text 19"/>
          <p:cNvSpPr/>
          <p:nvPr/>
        </p:nvSpPr>
        <p:spPr>
          <a:xfrm>
            <a:off x="9098280" y="1719072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400"/>
          </a:p>
        </p:txBody>
      </p:sp>
      <p:sp>
        <p:nvSpPr>
          <p:cNvPr id="29" name="Text 21"/>
          <p:cNvSpPr/>
          <p:nvPr/>
        </p:nvSpPr>
        <p:spPr>
          <a:xfrm>
            <a:off x="8412480" y="5166360"/>
            <a:ext cx="30449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451306F1-D4B6-2F22-B76F-781D7CABA9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3825" y="1701904"/>
            <a:ext cx="5688975" cy="2563609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951411D2-5817-FC31-7D94-3A0B2BC2E6DC}"/>
              </a:ext>
            </a:extLst>
          </p:cNvPr>
          <p:cNvSpPr txBox="1"/>
          <p:nvPr/>
        </p:nvSpPr>
        <p:spPr>
          <a:xfrm>
            <a:off x="6676828" y="5112333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1E5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 Deploy — Video Relay</a:t>
            </a:r>
            <a:endParaRPr lang="en-US" sz="1800"/>
          </a:p>
        </p:txBody>
      </p:sp>
      <p:sp>
        <p:nvSpPr>
          <p:cNvPr id="47" name="Shape 18">
            <a:extLst>
              <a:ext uri="{FF2B5EF4-FFF2-40B4-BE49-F238E27FC236}">
                <a16:creationId xmlns:a16="http://schemas.microsoft.com/office/drawing/2014/main" id="{5B18F90D-BEC5-6454-5BA5-61A0920091A9}"/>
              </a:ext>
            </a:extLst>
          </p:cNvPr>
          <p:cNvSpPr/>
          <p:nvPr/>
        </p:nvSpPr>
        <p:spPr>
          <a:xfrm>
            <a:off x="6109900" y="5000826"/>
            <a:ext cx="566928" cy="566928"/>
          </a:xfrm>
          <a:prstGeom prst="ellipse">
            <a:avLst/>
          </a:prstGeom>
          <a:solidFill>
            <a:srgbClr val="1E4E79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8" name="Image 2" descr="preencoded.png">
            <a:extLst>
              <a:ext uri="{FF2B5EF4-FFF2-40B4-BE49-F238E27FC236}">
                <a16:creationId xmlns:a16="http://schemas.microsoft.com/office/drawing/2014/main" id="{8F4B54AA-0C09-8C90-494F-5E65021AEF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5446" y="5147130"/>
            <a:ext cx="274320" cy="27432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15B8A1CF-6B8B-39DF-0CF4-4D2152B63A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780" y="1729525"/>
            <a:ext cx="4860724" cy="2521126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CB3297C6-4D3E-7AF6-F7DC-935A5D4186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780" y="4333449"/>
            <a:ext cx="5528120" cy="2452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5002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219456"/>
            <a:ext cx="713232" cy="457200"/>
          </a:xfrm>
          <a:prstGeom prst="roundRect">
            <a:avLst>
              <a:gd name="adj" fmla="val 14000"/>
            </a:avLst>
          </a:prstGeom>
          <a:solidFill>
            <a:srgbClr val="2A7DE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57200" y="219456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22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1325880" y="16459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1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COMMUNICATION</a:t>
            </a:r>
            <a:endParaRPr lang="en-US" sz="2200"/>
          </a:p>
        </p:txBody>
      </p:sp>
      <p:sp>
        <p:nvSpPr>
          <p:cNvPr id="6" name="Text 4"/>
          <p:cNvSpPr/>
          <p:nvPr/>
        </p:nvSpPr>
        <p:spPr>
          <a:xfrm>
            <a:off x="9326880" y="274320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>
                <a:solidFill>
                  <a:srgbClr val="B9C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APP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457200" y="98755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3F4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HiveMQ Cloud is the message broker — 7 dedicated topics handle real-time state sync, alerts, commands, and video control.</a:t>
            </a:r>
            <a:endParaRPr lang="en-US" sz="1250"/>
          </a:p>
        </p:txBody>
      </p:sp>
      <p:sp>
        <p:nvSpPr>
          <p:cNvPr id="8" name="Shape 6"/>
          <p:cNvSpPr/>
          <p:nvPr/>
        </p:nvSpPr>
        <p:spPr>
          <a:xfrm>
            <a:off x="457200" y="1426464"/>
            <a:ext cx="420624" cy="420624"/>
          </a:xfrm>
          <a:prstGeom prst="ellipse">
            <a:avLst/>
          </a:prstGeom>
          <a:solidFill>
            <a:srgbClr val="1E4E79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527048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9264" y="142646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>
                <a:solidFill>
                  <a:srgbClr val="1E5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 CONNECTION</a:t>
            </a:r>
            <a:endParaRPr lang="en-US" sz="110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457200" y="1956816"/>
          <a:ext cx="5440680" cy="1481328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</a:rPr>
                        <a:t>Detail</a:t>
                      </a:r>
                      <a:endParaRPr lang="en-US" sz="105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</a:rPr>
                        <a:t>ESP32-CAM</a:t>
                      </a:r>
                      <a:endParaRPr lang="en-US" sz="105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</a:rPr>
                        <a:t>Mobile App</a:t>
                      </a:r>
                      <a:endParaRPr lang="en-US" sz="105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3F454D"/>
                          </a:solidFill>
                        </a:rPr>
                        <a:t>Protocol</a:t>
                      </a:r>
                      <a:endParaRPr lang="en-US" sz="100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9626D"/>
                          </a:solidFill>
                        </a:rPr>
                        <a:t>MQTT over TLS</a:t>
                      </a:r>
                      <a:endParaRPr lang="en-US" sz="100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9626D"/>
                          </a:solidFill>
                        </a:rPr>
                        <a:t>MQTT over WSS</a:t>
                      </a:r>
                      <a:endParaRPr lang="en-US" sz="100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3F454D"/>
                          </a:solidFill>
                        </a:rPr>
                        <a:t>Port</a:t>
                      </a:r>
                      <a:endParaRPr lang="en-US" sz="100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9626D"/>
                          </a:solidFill>
                        </a:rPr>
                        <a:t>8883</a:t>
                      </a:r>
                      <a:endParaRPr lang="en-US" sz="100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9626D"/>
                          </a:solidFill>
                        </a:rPr>
                        <a:t>8884</a:t>
                      </a:r>
                      <a:endParaRPr lang="en-US" sz="100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3F454D"/>
                          </a:solidFill>
                        </a:rPr>
                        <a:t>Client ID</a:t>
                      </a:r>
                      <a:endParaRPr lang="en-US" sz="100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9626D"/>
                          </a:solidFill>
                        </a:rPr>
                        <a:t>eagle_eye_cam_01</a:t>
                      </a:r>
                      <a:endParaRPr lang="en-US" sz="100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9626D"/>
                          </a:solidFill>
                        </a:rPr>
                        <a:t>Auto-generated</a:t>
                      </a:r>
                      <a:endParaRPr lang="en-US" sz="100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3F454D"/>
                          </a:solidFill>
                        </a:rPr>
                        <a:t>Auth</a:t>
                      </a:r>
                      <a:endParaRPr lang="en-US" sz="100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9626D"/>
                          </a:solidFill>
                        </a:rPr>
                        <a:t>Username + password</a:t>
                      </a:r>
                      <a:endParaRPr lang="en-US" sz="100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9626D"/>
                          </a:solidFill>
                        </a:rPr>
                        <a:t>Username + password</a:t>
                      </a:r>
                      <a:endParaRPr lang="en-US" sz="100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6400800" y="1591056"/>
            <a:ext cx="438912" cy="438912"/>
          </a:xfrm>
          <a:prstGeom prst="ellipse">
            <a:avLst/>
          </a:prstGeom>
          <a:solidFill>
            <a:srgbClr val="1E4E79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1700784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31152" y="1591056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0">
                <a:solidFill>
                  <a:srgbClr val="1E5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WILL &amp; TESTAMENT (LWT)</a:t>
            </a:r>
            <a:endParaRPr lang="en-US" sz="1100"/>
          </a:p>
        </p:txBody>
      </p:sp>
      <p:sp>
        <p:nvSpPr>
          <p:cNvPr id="16" name="Text 11"/>
          <p:cNvSpPr/>
          <p:nvPr/>
        </p:nvSpPr>
        <p:spPr>
          <a:xfrm>
            <a:off x="6400800" y="2157984"/>
            <a:ext cx="51023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>
                <a:solidFill>
                  <a:srgbClr val="5962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connect, ESP32 registers a will message:
</a:t>
            </a:r>
            <a:endParaRPr lang="en-US" sz="1000"/>
          </a:p>
          <a:p>
            <a:pPr marL="0" indent="0">
              <a:lnSpc>
                <a:spcPct val="108000"/>
              </a:lnSpc>
              <a:buNone/>
            </a:pPr>
            <a:r>
              <a:rPr lang="en-US" sz="1000" b="1">
                <a:solidFill>
                  <a:srgbClr val="3F4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Topic:  </a:t>
            </a:r>
            <a:r>
              <a:rPr lang="en-US" sz="1000">
                <a:solidFill>
                  <a:srgbClr val="5962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{camId}/status   </a:t>
            </a:r>
            <a:r>
              <a:rPr lang="en-US" sz="1000" b="1">
                <a:solidFill>
                  <a:srgbClr val="3F4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Message:  </a:t>
            </a:r>
            <a:r>
              <a:rPr lang="en-US" sz="1000">
                <a:solidFill>
                  <a:srgbClr val="5962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"offline"
</a:t>
            </a:r>
            <a:endParaRPr lang="en-US" sz="1000"/>
          </a:p>
          <a:p>
            <a:pPr marL="0" indent="0">
              <a:lnSpc>
                <a:spcPct val="108000"/>
              </a:lnSpc>
              <a:buNone/>
            </a:pPr>
            <a:r>
              <a:rPr lang="en-US" sz="1000" b="1">
                <a:solidFill>
                  <a:srgbClr val="2A7D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QoS: 1  |  Retain: true
</a:t>
            </a:r>
            <a:endParaRPr lang="en-US" sz="1000"/>
          </a:p>
          <a:p>
            <a:pPr marL="0" indent="0">
              <a:lnSpc>
                <a:spcPct val="108000"/>
              </a:lnSpc>
              <a:buNone/>
            </a:pPr>
            <a:endParaRPr lang="en-US" sz="1000"/>
          </a:p>
          <a:p>
            <a:pPr marL="0" indent="0">
              <a:lnSpc>
                <a:spcPct val="108000"/>
              </a:lnSpc>
              <a:buNone/>
            </a:pPr>
            <a:r>
              <a:rPr lang="en-US" sz="1000">
                <a:solidFill>
                  <a:srgbClr val="5962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camera loses power, HiveMQ auto-publishes "offline" — the app shows camera as offline instantly.</a:t>
            </a:r>
            <a:endParaRPr lang="en-US" sz="1000"/>
          </a:p>
        </p:txBody>
      </p:sp>
      <p:sp>
        <p:nvSpPr>
          <p:cNvPr id="17" name="Shape 12"/>
          <p:cNvSpPr/>
          <p:nvPr/>
        </p:nvSpPr>
        <p:spPr>
          <a:xfrm>
            <a:off x="457200" y="3639312"/>
            <a:ext cx="5669280" cy="2578608"/>
          </a:xfrm>
          <a:prstGeom prst="roundRect">
            <a:avLst>
              <a:gd name="adj" fmla="val 2837"/>
            </a:avLst>
          </a:prstGeom>
          <a:solidFill>
            <a:srgbClr val="F3F5F8"/>
          </a:solidFill>
          <a:ln w="12700">
            <a:solidFill>
              <a:srgbClr val="D9E0E8"/>
            </a:solidFill>
            <a:prstDash val="solid"/>
          </a:ln>
          <a:effectLst>
            <a:outerShdw blurRad="889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Shape 13"/>
          <p:cNvSpPr/>
          <p:nvPr/>
        </p:nvSpPr>
        <p:spPr>
          <a:xfrm>
            <a:off x="658368" y="3822192"/>
            <a:ext cx="438912" cy="438912"/>
          </a:xfrm>
          <a:prstGeom prst="ellipse">
            <a:avLst/>
          </a:prstGeom>
          <a:solidFill>
            <a:srgbClr val="1E4E79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3931920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07008" y="3822192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E5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PUBLISHES  (4 topics)</a:t>
            </a:r>
            <a:endParaRPr lang="en-US" sz="1150"/>
          </a:p>
        </p:txBody>
      </p:sp>
      <p:graphicFrame>
        <p:nvGraphicFramePr>
          <p:cNvPr id="21" name="Table 1"/>
          <p:cNvGraphicFramePr>
            <a:graphicFrameLocks noGrp="1"/>
          </p:cNvGraphicFramePr>
          <p:nvPr/>
        </p:nvGraphicFramePr>
        <p:xfrm>
          <a:off x="658368" y="4389120"/>
          <a:ext cx="5266944" cy="1536192"/>
        </p:xfrm>
        <a:graphic>
          <a:graphicData uri="http://schemas.openxmlformats.org/drawingml/2006/table">
            <a:tbl>
              <a:tblPr/>
              <a:tblGrid>
                <a:gridCol w="20014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5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E5A8A"/>
                          </a:solidFill>
                        </a:rPr>
                        <a:t>{camId}/status</a:t>
                      </a:r>
                      <a:endParaRPr lang="en-US" sz="100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59626D"/>
                          </a:solidFill>
                        </a:rPr>
                        <a:t>online / armed / disarmed — QoS 1, retained</a:t>
                      </a:r>
                      <a:endParaRPr lang="en-US" sz="100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E5A8A"/>
                          </a:solidFill>
                        </a:rPr>
                        <a:t>{camId}/alert</a:t>
                      </a:r>
                      <a:endParaRPr lang="en-US" sz="100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59626D"/>
                          </a:solidFill>
                        </a:rPr>
                        <a:t>Person detected → uploads photo → publishes secure_url</a:t>
                      </a:r>
                      <a:endParaRPr lang="en-US" sz="100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E5A8A"/>
                          </a:solidFill>
                        </a:rPr>
                        <a:t>{camId}/detection_status</a:t>
                      </a:r>
                      <a:endParaRPr lang="en-US" sz="100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59626D"/>
                          </a:solidFill>
                        </a:rPr>
                        <a:t>person_detected or no_person after each inference</a:t>
                      </a:r>
                      <a:endParaRPr lang="en-US" sz="100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E5A8A"/>
                          </a:solidFill>
                        </a:rPr>
                        <a:t>{camId}/motor_status</a:t>
                      </a:r>
                      <a:endParaRPr lang="en-US" sz="100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59626D"/>
                          </a:solidFill>
                        </a:rPr>
                        <a:t>left / right / center — confirms pan command executed</a:t>
                      </a:r>
                      <a:endParaRPr lang="en-US" sz="100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Shape 15"/>
          <p:cNvSpPr/>
          <p:nvPr/>
        </p:nvSpPr>
        <p:spPr>
          <a:xfrm>
            <a:off x="6558995" y="3821762"/>
            <a:ext cx="5465365" cy="2396158"/>
          </a:xfrm>
          <a:prstGeom prst="roundRect">
            <a:avLst>
              <a:gd name="adj" fmla="val 2837"/>
            </a:avLst>
          </a:prstGeom>
          <a:solidFill>
            <a:srgbClr val="F3F5F8"/>
          </a:solidFill>
          <a:ln w="12700">
            <a:solidFill>
              <a:srgbClr val="D9E0E8"/>
            </a:solidFill>
            <a:prstDash val="solid"/>
          </a:ln>
          <a:effectLst>
            <a:outerShdw blurRad="889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3" name="Shape 16"/>
          <p:cNvSpPr/>
          <p:nvPr/>
        </p:nvSpPr>
        <p:spPr>
          <a:xfrm>
            <a:off x="6556248" y="3822192"/>
            <a:ext cx="438912" cy="438912"/>
          </a:xfrm>
          <a:prstGeom prst="ellipse">
            <a:avLst/>
          </a:prstGeom>
          <a:solidFill>
            <a:srgbClr val="1E4E79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5976" y="3931920"/>
            <a:ext cx="219456" cy="2194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104888" y="3822192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E5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PUBLISHES  (3 topics)</a:t>
            </a:r>
            <a:endParaRPr lang="en-US" sz="1150"/>
          </a:p>
        </p:txBody>
      </p:sp>
      <p:graphicFrame>
        <p:nvGraphicFramePr>
          <p:cNvPr id="26" name="Table 2"/>
          <p:cNvGraphicFramePr>
            <a:graphicFrameLocks noGrp="1"/>
          </p:cNvGraphicFramePr>
          <p:nvPr/>
        </p:nvGraphicFramePr>
        <p:xfrm>
          <a:off x="6556248" y="4389120"/>
          <a:ext cx="5266944" cy="1152144"/>
        </p:xfrm>
        <a:graphic>
          <a:graphicData uri="http://schemas.openxmlformats.org/drawingml/2006/table">
            <a:tbl>
              <a:tblPr/>
              <a:tblGrid>
                <a:gridCol w="20014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5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E5A8A"/>
                          </a:solidFill>
                        </a:rPr>
                        <a:t>{camId}/command</a:t>
                      </a:r>
                      <a:endParaRPr lang="en-US" sz="100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59626D"/>
                          </a:solidFill>
                        </a:rPr>
                        <a:t>arm or disarm — camera enables/disables detection</a:t>
                      </a:r>
                      <a:endParaRPr lang="en-US" sz="100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E5A8A"/>
                          </a:solidFill>
                        </a:rPr>
                        <a:t>{camId}/stream_status</a:t>
                      </a:r>
                      <a:endParaRPr lang="en-US" sz="100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59626D"/>
                          </a:solidFill>
                        </a:rPr>
                        <a:t>start or stop — camera opens/closes WebSocket relay</a:t>
                      </a:r>
                      <a:endParaRPr lang="en-US" sz="100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E5A8A"/>
                          </a:solidFill>
                        </a:rPr>
                        <a:t>{camId}/pan</a:t>
                      </a:r>
                      <a:endParaRPr lang="en-US" sz="100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59626D"/>
                          </a:solidFill>
                        </a:rPr>
                        <a:t>left / right / center — camera moves servo motor</a:t>
                      </a:r>
                      <a:endParaRPr lang="en-US" sz="100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7" name="Text 18"/>
          <p:cNvSpPr/>
          <p:nvPr/>
        </p:nvSpPr>
        <p:spPr>
          <a:xfrm>
            <a:off x="6556248" y="5632704"/>
            <a:ext cx="5266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>
                <a:solidFill>
                  <a:srgbClr val="1E5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Per-Camera Isolation  </a:t>
            </a:r>
            <a:r>
              <a:rPr lang="en-US" sz="950">
                <a:solidFill>
                  <a:srgbClr val="5962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topic prefixed with cameraId — multiple cameras share one broker, zero collision.</a:t>
            </a:r>
            <a:endParaRPr lang="en-US" sz="950"/>
          </a:p>
        </p:txBody>
      </p:sp>
      <p:sp>
        <p:nvSpPr>
          <p:cNvPr id="28" name="Shape 19"/>
          <p:cNvSpPr/>
          <p:nvPr/>
        </p:nvSpPr>
        <p:spPr>
          <a:xfrm>
            <a:off x="457200" y="6355080"/>
            <a:ext cx="3657600" cy="365760"/>
          </a:xfrm>
          <a:prstGeom prst="roundRect">
            <a:avLst>
              <a:gd name="adj" fmla="val 15000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9" name="Text 20"/>
          <p:cNvSpPr/>
          <p:nvPr/>
        </p:nvSpPr>
        <p:spPr>
          <a:xfrm>
            <a:off x="457200" y="6355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Per-Camera Topic Isolation</a:t>
            </a:r>
            <a:endParaRPr lang="en-US" sz="950"/>
          </a:p>
        </p:txBody>
      </p:sp>
      <p:sp>
        <p:nvSpPr>
          <p:cNvPr id="30" name="Shape 21"/>
          <p:cNvSpPr/>
          <p:nvPr/>
        </p:nvSpPr>
        <p:spPr>
          <a:xfrm>
            <a:off x="4325112" y="6355080"/>
            <a:ext cx="3657600" cy="365760"/>
          </a:xfrm>
          <a:prstGeom prst="roundRect">
            <a:avLst>
              <a:gd name="adj" fmla="val 15000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1" name="Text 22"/>
          <p:cNvSpPr/>
          <p:nvPr/>
        </p:nvSpPr>
        <p:spPr>
          <a:xfrm>
            <a:off x="4325112" y="6355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Retained + QoS 1 for /status</a:t>
            </a:r>
            <a:endParaRPr lang="en-US" sz="950"/>
          </a:p>
        </p:txBody>
      </p:sp>
      <p:sp>
        <p:nvSpPr>
          <p:cNvPr id="32" name="Shape 23"/>
          <p:cNvSpPr/>
          <p:nvPr/>
        </p:nvSpPr>
        <p:spPr>
          <a:xfrm>
            <a:off x="8193024" y="6355080"/>
            <a:ext cx="3538728" cy="365760"/>
          </a:xfrm>
          <a:prstGeom prst="roundRect">
            <a:avLst>
              <a:gd name="adj" fmla="val 15000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3" name="Text 24"/>
          <p:cNvSpPr/>
          <p:nvPr/>
        </p:nvSpPr>
        <p:spPr>
          <a:xfrm>
            <a:off x="8193024" y="6355080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MQTT: ~30 KB RAM on ESP32</a:t>
            </a:r>
            <a:endParaRPr lang="en-US" sz="950"/>
          </a:p>
        </p:txBody>
      </p:sp>
    </p:spTree>
    <p:extLst>
      <p:ext uri="{BB962C8B-B14F-4D97-AF65-F5344CB8AC3E}">
        <p14:creationId xmlns:p14="http://schemas.microsoft.com/office/powerpoint/2010/main" val="22504151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219456"/>
            <a:ext cx="713232" cy="457200"/>
          </a:xfrm>
          <a:prstGeom prst="roundRect">
            <a:avLst>
              <a:gd name="adj" fmla="val 14000"/>
            </a:avLst>
          </a:prstGeom>
          <a:solidFill>
            <a:srgbClr val="2A7DE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57200" y="219456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23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1325880" y="16459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1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SESSION MANAGEMENT</a:t>
            </a:r>
            <a:endParaRPr lang="en-US" sz="2200"/>
          </a:p>
        </p:txBody>
      </p:sp>
      <p:sp>
        <p:nvSpPr>
          <p:cNvPr id="6" name="Text 4"/>
          <p:cNvSpPr/>
          <p:nvPr/>
        </p:nvSpPr>
        <p:spPr>
          <a:xfrm>
            <a:off x="9326880" y="274320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>
                <a:solidFill>
                  <a:srgbClr val="B9C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APP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457200" y="98755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3F4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connections use TLS encryption. Separate credentials per service. The system self-heals on connection drops.</a:t>
            </a:r>
            <a:endParaRPr lang="en-US" sz="125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3593592" cy="4297680"/>
          </a:xfrm>
          <a:prstGeom prst="roundRect">
            <a:avLst>
              <a:gd name="adj" fmla="val 2290"/>
            </a:avLst>
          </a:prstGeom>
          <a:solidFill>
            <a:srgbClr val="F3F5F8"/>
          </a:solidFill>
          <a:ln w="12700">
            <a:solidFill>
              <a:srgbClr val="D9E0E8"/>
            </a:solidFill>
            <a:prstDash val="solid"/>
          </a:ln>
          <a:effectLst>
            <a:outerShdw blurRad="889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731520" y="1719072"/>
            <a:ext cx="566928" cy="566928"/>
          </a:xfrm>
          <a:prstGeom prst="ellipse">
            <a:avLst/>
          </a:prstGeom>
          <a:solidFill>
            <a:srgbClr val="1E4E79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865376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17320" y="1719072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1E5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</a:t>
            </a:r>
            <a:endParaRPr lang="en-US" sz="1400"/>
          </a:p>
        </p:txBody>
      </p:sp>
      <p:sp>
        <p:nvSpPr>
          <p:cNvPr id="12" name="Text 9"/>
          <p:cNvSpPr/>
          <p:nvPr/>
        </p:nvSpPr>
        <p:spPr>
          <a:xfrm>
            <a:off x="731520" y="2468880"/>
            <a:ext cx="304495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>
                <a:solidFill>
                  <a:srgbClr val="5962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7 connections (MQTT, HTTPS, WSS) are TLS-encrypted — zero plaintext traffic</a:t>
            </a:r>
            <a:endParaRPr lang="en-US" sz="105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>
                <a:solidFill>
                  <a:srgbClr val="5962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embeds the ISRG Root X1 CA certificate in flash</a:t>
            </a:r>
            <a:endParaRPr lang="en-US" sz="105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>
                <a:solidFill>
                  <a:srgbClr val="5962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the server's certificate chain before connecting — prevents MITM attacks even on untrusted Wi-Fi</a:t>
            </a:r>
            <a:endParaRPr lang="en-US" sz="1050"/>
          </a:p>
        </p:txBody>
      </p:sp>
      <p:sp>
        <p:nvSpPr>
          <p:cNvPr id="13" name="Shape 10"/>
          <p:cNvSpPr/>
          <p:nvPr/>
        </p:nvSpPr>
        <p:spPr>
          <a:xfrm>
            <a:off x="4297680" y="1463040"/>
            <a:ext cx="3593592" cy="4297680"/>
          </a:xfrm>
          <a:prstGeom prst="roundRect">
            <a:avLst>
              <a:gd name="adj" fmla="val 2290"/>
            </a:avLst>
          </a:prstGeom>
          <a:solidFill>
            <a:srgbClr val="F3F5F8"/>
          </a:solidFill>
          <a:ln w="12700">
            <a:solidFill>
              <a:srgbClr val="D9E0E8"/>
            </a:solidFill>
            <a:prstDash val="solid"/>
          </a:ln>
          <a:effectLst>
            <a:outerShdw blurRad="889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" name="Shape 11"/>
          <p:cNvSpPr/>
          <p:nvPr/>
        </p:nvSpPr>
        <p:spPr>
          <a:xfrm>
            <a:off x="4572000" y="1719072"/>
            <a:ext cx="566928" cy="566928"/>
          </a:xfrm>
          <a:prstGeom prst="ellipse">
            <a:avLst/>
          </a:prstGeom>
          <a:solidFill>
            <a:srgbClr val="1E4E79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1865376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57800" y="1719072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1E5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400"/>
          </a:p>
        </p:txBody>
      </p:sp>
      <p:sp>
        <p:nvSpPr>
          <p:cNvPr id="17" name="Text 13"/>
          <p:cNvSpPr/>
          <p:nvPr/>
        </p:nvSpPr>
        <p:spPr>
          <a:xfrm>
            <a:off x="4572000" y="2468880"/>
            <a:ext cx="304495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>
                <a:solidFill>
                  <a:srgbClr val="5962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HiveMQ: separate credentials — eagle_eye_cam (camera) and eagle_eye_app (mobile) prevent single-breach compromise</a:t>
            </a:r>
            <a:endParaRPr lang="en-US" sz="105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>
                <a:solidFill>
                  <a:srgbClr val="5962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Cloudinary: unsigned upload preset — no API secret stored on ESP32 firmware</a:t>
            </a:r>
            <a:endParaRPr lang="en-US" sz="105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>
                <a:solidFill>
                  <a:srgbClr val="5962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Firebase: secure API key (ESP32) + official SDK (app); security rules restrict writes to /cameras/{camId}/ path</a:t>
            </a:r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FontTx/>
              <a:buChar char="•"/>
            </a:pPr>
            <a:r>
              <a:rPr lang="en-PK" sz="1050">
                <a:solidFill>
                  <a:srgbClr val="59626D"/>
                </a:solidFill>
                <a:latin typeface="Arial" pitchFamily="34" charset="0"/>
                <a:cs typeface="Arial" pitchFamily="34" charset="-120"/>
              </a:rPr>
              <a:t>Deno Room Security: Implemented WebSocket room authentication using camera-specific access tokens. Only clients verified with valid identifiers can access the active live-feed room, preventing unauthorized stream interception.</a:t>
            </a:r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endParaRPr lang="en-US" sz="1050"/>
          </a:p>
        </p:txBody>
      </p:sp>
      <p:sp>
        <p:nvSpPr>
          <p:cNvPr id="18" name="Shape 14"/>
          <p:cNvSpPr/>
          <p:nvPr/>
        </p:nvSpPr>
        <p:spPr>
          <a:xfrm>
            <a:off x="8138160" y="1463040"/>
            <a:ext cx="3593592" cy="4297680"/>
          </a:xfrm>
          <a:prstGeom prst="roundRect">
            <a:avLst>
              <a:gd name="adj" fmla="val 2290"/>
            </a:avLst>
          </a:prstGeom>
          <a:solidFill>
            <a:srgbClr val="F3F5F8"/>
          </a:solidFill>
          <a:ln w="12700">
            <a:solidFill>
              <a:srgbClr val="D9E0E8"/>
            </a:solidFill>
            <a:prstDash val="solid"/>
          </a:ln>
          <a:effectLst>
            <a:outerShdw blurRad="889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5"/>
          <p:cNvSpPr/>
          <p:nvPr/>
        </p:nvSpPr>
        <p:spPr>
          <a:xfrm>
            <a:off x="8412480" y="1719072"/>
            <a:ext cx="566928" cy="566928"/>
          </a:xfrm>
          <a:prstGeom prst="ellipse">
            <a:avLst/>
          </a:prstGeom>
          <a:solidFill>
            <a:srgbClr val="1E4E79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8784" y="1865376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098280" y="1719072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1E5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&amp; Self-Healing</a:t>
            </a:r>
            <a:endParaRPr lang="en-US" sz="1400"/>
          </a:p>
        </p:txBody>
      </p:sp>
      <p:sp>
        <p:nvSpPr>
          <p:cNvPr id="22" name="Text 17"/>
          <p:cNvSpPr/>
          <p:nvPr/>
        </p:nvSpPr>
        <p:spPr>
          <a:xfrm>
            <a:off x="8412480" y="2468880"/>
            <a:ext cx="304495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>
                <a:solidFill>
                  <a:srgbClr val="5962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LWT: camera registers "offline" will message — broker auto-publishes if camera crashes</a:t>
            </a:r>
            <a:endParaRPr lang="en-US" sz="105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>
                <a:solidFill>
                  <a:srgbClr val="5962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Keep-Alive: app sends 30-second background pings to the broker</a:t>
            </a:r>
            <a:endParaRPr lang="en-US" sz="105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>
                <a:solidFill>
                  <a:srgbClr val="5962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Auto-Reconnect: both ESP32 and app run background loops to re-establish connections and re-subscribe</a:t>
            </a:r>
            <a:endParaRPr lang="en-US" sz="105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>
                <a:solidFill>
                  <a:srgbClr val="5962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Session: app uses cleanSession: true — broker discards stale queued messages</a:t>
            </a:r>
            <a:endParaRPr lang="en-US" sz="105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>
                <a:solidFill>
                  <a:srgbClr val="5962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 Room Cleanup: rooms created dynamically, deleted when both sides disconnect</a:t>
            </a:r>
            <a:endParaRPr lang="en-US" sz="1050"/>
          </a:p>
        </p:txBody>
      </p:sp>
      <p:sp>
        <p:nvSpPr>
          <p:cNvPr id="23" name="Shape 18"/>
          <p:cNvSpPr/>
          <p:nvPr/>
        </p:nvSpPr>
        <p:spPr>
          <a:xfrm>
            <a:off x="457200" y="5961888"/>
            <a:ext cx="3593592" cy="713232"/>
          </a:xfrm>
          <a:prstGeom prst="roundRect">
            <a:avLst>
              <a:gd name="adj" fmla="val 8974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Shape 19"/>
          <p:cNvSpPr/>
          <p:nvPr/>
        </p:nvSpPr>
        <p:spPr>
          <a:xfrm>
            <a:off x="640080" y="6117336"/>
            <a:ext cx="402336" cy="402336"/>
          </a:xfrm>
          <a:prstGeom prst="ellipse">
            <a:avLst/>
          </a:prstGeom>
          <a:solidFill>
            <a:srgbClr val="2A7DE1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6208776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52144" y="6016752"/>
            <a:ext cx="2724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Open Ports
</a:t>
            </a:r>
            <a:endParaRPr lang="en-US" sz="1050"/>
          </a:p>
          <a:p>
            <a:pPr marL="0" indent="0">
              <a:buNone/>
            </a:pPr>
            <a:r>
              <a:rPr lang="en-US" sz="900">
                <a:solidFill>
                  <a:srgbClr val="C4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camera and phone connect outward. No port forwarding needed.</a:t>
            </a:r>
            <a:endParaRPr lang="en-US" sz="1050"/>
          </a:p>
        </p:txBody>
      </p:sp>
      <p:sp>
        <p:nvSpPr>
          <p:cNvPr id="27" name="Shape 21"/>
          <p:cNvSpPr/>
          <p:nvPr/>
        </p:nvSpPr>
        <p:spPr>
          <a:xfrm>
            <a:off x="4297680" y="5961888"/>
            <a:ext cx="3593592" cy="713232"/>
          </a:xfrm>
          <a:prstGeom prst="roundRect">
            <a:avLst>
              <a:gd name="adj" fmla="val 8974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Shape 22"/>
          <p:cNvSpPr/>
          <p:nvPr/>
        </p:nvSpPr>
        <p:spPr>
          <a:xfrm>
            <a:off x="4480560" y="6117336"/>
            <a:ext cx="402336" cy="402336"/>
          </a:xfrm>
          <a:prstGeom prst="ellipse">
            <a:avLst/>
          </a:prstGeom>
          <a:solidFill>
            <a:srgbClr val="2A7DE1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6208776"/>
            <a:ext cx="219456" cy="21945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992624" y="6016752"/>
            <a:ext cx="2724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Secrets on Hardware
</a:t>
            </a:r>
            <a:endParaRPr lang="en-US" sz="1050"/>
          </a:p>
          <a:p>
            <a:pPr marL="0" indent="0">
              <a:buNone/>
            </a:pPr>
            <a:r>
              <a:rPr lang="en-US" sz="900">
                <a:solidFill>
                  <a:srgbClr val="C4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Cloudinary uses unsigned preset; API secret never leaves the dashboard.</a:t>
            </a:r>
            <a:endParaRPr lang="en-US" sz="1050"/>
          </a:p>
        </p:txBody>
      </p:sp>
      <p:sp>
        <p:nvSpPr>
          <p:cNvPr id="31" name="Shape 24"/>
          <p:cNvSpPr/>
          <p:nvPr/>
        </p:nvSpPr>
        <p:spPr>
          <a:xfrm>
            <a:off x="8138160" y="5961888"/>
            <a:ext cx="3593592" cy="713232"/>
          </a:xfrm>
          <a:prstGeom prst="roundRect">
            <a:avLst>
              <a:gd name="adj" fmla="val 8974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Shape 25"/>
          <p:cNvSpPr/>
          <p:nvPr/>
        </p:nvSpPr>
        <p:spPr>
          <a:xfrm>
            <a:off x="8321040" y="6117336"/>
            <a:ext cx="402336" cy="402336"/>
          </a:xfrm>
          <a:prstGeom prst="ellipse">
            <a:avLst/>
          </a:prstGeom>
          <a:solidFill>
            <a:srgbClr val="2A7DE1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6208776"/>
            <a:ext cx="219456" cy="21945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833104" y="6016752"/>
            <a:ext cx="2724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
</a:t>
            </a:r>
            <a:endParaRPr lang="en-US" sz="1050"/>
          </a:p>
          <a:p>
            <a:pPr marL="0" indent="0">
              <a:buNone/>
            </a:pPr>
            <a:r>
              <a:rPr lang="en-US" sz="900">
                <a:solidFill>
                  <a:srgbClr val="C4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LWT + auto-reconnect: system recovers from drops in seconds.</a:t>
            </a:r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40598343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8" y="0"/>
            <a:ext cx="12188952" cy="84124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8788" y="192024"/>
            <a:ext cx="603504" cy="457200"/>
          </a:xfrm>
          <a:prstGeom prst="roundRect">
            <a:avLst>
              <a:gd name="adj" fmla="val 16000"/>
            </a:avLst>
          </a:prstGeom>
          <a:solidFill>
            <a:srgbClr val="2196F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58788" y="192024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  <p:sp>
        <p:nvSpPr>
          <p:cNvPr id="5" name="Text 3"/>
          <p:cNvSpPr/>
          <p:nvPr/>
        </p:nvSpPr>
        <p:spPr>
          <a:xfrm>
            <a:off x="1236028" y="16459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2100" b="1" spc="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2100"/>
          </a:p>
        </p:txBody>
      </p:sp>
      <p:sp>
        <p:nvSpPr>
          <p:cNvPr id="6" name="Text 4"/>
          <p:cNvSpPr/>
          <p:nvPr/>
        </p:nvSpPr>
        <p:spPr>
          <a:xfrm>
            <a:off x="9145588" y="292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100" b="1" spc="300">
                <a:solidFill>
                  <a:srgbClr val="BC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APP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550228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 — built with </a:t>
            </a:r>
            <a:r>
              <a:rPr lang="en-US" sz="1300" b="1" i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(Expo)</a:t>
            </a:r>
            <a:r>
              <a:rPr lang="en-US" sz="1300" i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to watch, get alerted, and control the camera from anywhere.</a:t>
            </a:r>
            <a:endParaRPr lang="en-US" sz="1300"/>
          </a:p>
        </p:txBody>
      </p:sp>
      <p:sp>
        <p:nvSpPr>
          <p:cNvPr id="16" name="Shape 13"/>
          <p:cNvSpPr/>
          <p:nvPr/>
        </p:nvSpPr>
        <p:spPr>
          <a:xfrm>
            <a:off x="3546712" y="1484505"/>
            <a:ext cx="2526834" cy="5063972"/>
          </a:xfrm>
          <a:prstGeom prst="roundRect">
            <a:avLst>
              <a:gd name="adj" fmla="val 9091"/>
            </a:avLst>
          </a:prstGeom>
          <a:solidFill>
            <a:srgbClr val="1A1A1A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Shape 15"/>
          <p:cNvSpPr/>
          <p:nvPr/>
        </p:nvSpPr>
        <p:spPr>
          <a:xfrm>
            <a:off x="4390708" y="1536192"/>
            <a:ext cx="731520" cy="18288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Shape 20"/>
          <p:cNvSpPr/>
          <p:nvPr/>
        </p:nvSpPr>
        <p:spPr>
          <a:xfrm>
            <a:off x="6252994" y="1484504"/>
            <a:ext cx="2526834" cy="5063973"/>
          </a:xfrm>
          <a:prstGeom prst="roundRect">
            <a:avLst>
              <a:gd name="adj" fmla="val 9091"/>
            </a:avLst>
          </a:prstGeom>
          <a:solidFill>
            <a:srgbClr val="1A1A1A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6" name="Shape 22"/>
          <p:cNvSpPr/>
          <p:nvPr/>
        </p:nvSpPr>
        <p:spPr>
          <a:xfrm>
            <a:off x="7408228" y="1536192"/>
            <a:ext cx="731520" cy="18288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7028" y="1508760"/>
            <a:ext cx="274320" cy="2743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602788" y="149047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100" b="1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 (MQTT)</a:t>
            </a:r>
            <a:endParaRPr lang="en-US" sz="1100"/>
          </a:p>
        </p:txBody>
      </p:sp>
      <p:sp>
        <p:nvSpPr>
          <p:cNvPr id="34" name="Text 28"/>
          <p:cNvSpPr/>
          <p:nvPr/>
        </p:nvSpPr>
        <p:spPr>
          <a:xfrm>
            <a:off x="9602788" y="17373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9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MQTT-over-WebSocket for real-time status &amp; commands.</a:t>
            </a:r>
            <a:endParaRPr lang="en-US" sz="95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6296" y="2461882"/>
            <a:ext cx="274320" cy="27432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592056" y="2443594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100" b="1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 (Deno)</a:t>
            </a:r>
            <a:endParaRPr lang="en-US" sz="1100"/>
          </a:p>
        </p:txBody>
      </p:sp>
      <p:sp>
        <p:nvSpPr>
          <p:cNvPr id="40" name="Text 32"/>
          <p:cNvSpPr/>
          <p:nvPr/>
        </p:nvSpPr>
        <p:spPr>
          <a:xfrm>
            <a:off x="9592056" y="269048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95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App tell whether esp32 cam is live or not </a:t>
            </a:r>
            <a:endParaRPr lang="en-US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7028" y="3126261"/>
            <a:ext cx="274320" cy="27432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9602788" y="3107973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100" b="1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status (LWT)</a:t>
            </a:r>
            <a:endParaRPr lang="en-US" sz="1100"/>
          </a:p>
        </p:txBody>
      </p:sp>
      <p:sp>
        <p:nvSpPr>
          <p:cNvPr id="43" name="Text 34"/>
          <p:cNvSpPr/>
          <p:nvPr/>
        </p:nvSpPr>
        <p:spPr>
          <a:xfrm>
            <a:off x="9602788" y="3354861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9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last-will gives a true online/offline indicator, not a guess.</a:t>
            </a:r>
            <a:endParaRPr lang="en-US" sz="950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6296" y="3951625"/>
            <a:ext cx="274320" cy="27432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9592056" y="3933337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100" b="1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secure</a:t>
            </a:r>
            <a:endParaRPr lang="en-US" sz="1100"/>
          </a:p>
        </p:txBody>
      </p:sp>
      <p:sp>
        <p:nvSpPr>
          <p:cNvPr id="46" name="Text 36"/>
          <p:cNvSpPr/>
          <p:nvPr/>
        </p:nvSpPr>
        <p:spPr>
          <a:xfrm>
            <a:off x="9592056" y="4180225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9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(TLS). Phone never connects directly to the camera.</a:t>
            </a:r>
            <a:endParaRPr lang="en-US" sz="950"/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57ED5049-7D39-2161-F57B-915EFB43BF4C}"/>
              </a:ext>
            </a:extLst>
          </p:cNvPr>
          <p:cNvSpPr/>
          <p:nvPr/>
        </p:nvSpPr>
        <p:spPr>
          <a:xfrm>
            <a:off x="756290" y="1495237"/>
            <a:ext cx="2526834" cy="5063972"/>
          </a:xfrm>
          <a:prstGeom prst="roundRect">
            <a:avLst>
              <a:gd name="adj" fmla="val 9091"/>
            </a:avLst>
          </a:prstGeom>
          <a:solidFill>
            <a:srgbClr val="1A1A1A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37" name="Picture 36" descr="A screenshot of a phone&#10;&#10;AI-generated content may be incorrect.">
            <a:extLst>
              <a:ext uri="{FF2B5EF4-FFF2-40B4-BE49-F238E27FC236}">
                <a16:creationId xmlns:a16="http://schemas.microsoft.com/office/drawing/2014/main" id="{30AA6461-7CEC-40B1-1E52-0920BBF084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598" y="1556197"/>
            <a:ext cx="2130918" cy="4786649"/>
          </a:xfrm>
          <a:prstGeom prst="rect">
            <a:avLst/>
          </a:prstGeom>
        </p:spPr>
      </p:pic>
      <p:pic>
        <p:nvPicPr>
          <p:cNvPr id="48" name="Picture 47" descr="A screenshot of a phone&#10;&#10;AI-generated content may be incorrect.">
            <a:extLst>
              <a:ext uri="{FF2B5EF4-FFF2-40B4-BE49-F238E27FC236}">
                <a16:creationId xmlns:a16="http://schemas.microsoft.com/office/drawing/2014/main" id="{722A85D5-B289-5CB8-D231-834746AF54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37286" y="1588393"/>
            <a:ext cx="2152383" cy="4732987"/>
          </a:xfrm>
          <a:prstGeom prst="rect">
            <a:avLst/>
          </a:prstGeom>
        </p:spPr>
      </p:pic>
      <p:pic>
        <p:nvPicPr>
          <p:cNvPr id="51" name="Picture 50" descr="A screenshot of a phone&#10;&#10;AI-generated content may be incorrect.">
            <a:extLst>
              <a:ext uri="{FF2B5EF4-FFF2-40B4-BE49-F238E27FC236}">
                <a16:creationId xmlns:a16="http://schemas.microsoft.com/office/drawing/2014/main" id="{DDB1E1F4-FC52-2E5D-AA1B-C7507ECDB1E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8920" y="1556198"/>
            <a:ext cx="2195313" cy="487250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1098" y="261443"/>
            <a:ext cx="436638" cy="321242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US" sz="2000" b="1" spc="-29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2 5</a:t>
            </a:r>
            <a:endParaRPr sz="2000" b="1" spc="-290">
              <a:solidFill>
                <a:srgbClr val="FFFFFF"/>
              </a:solidFill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0"/>
              <a:t>SOCIETAL</a:t>
            </a:r>
            <a:r>
              <a:rPr spc="210"/>
              <a:t> </a:t>
            </a:r>
            <a:r>
              <a:rPr spc="95"/>
              <a:t>IMPACT</a:t>
            </a:r>
            <a:r>
              <a:rPr spc="200"/>
              <a:t> </a:t>
            </a:r>
            <a:r>
              <a:t>&amp;</a:t>
            </a:r>
            <a:r>
              <a:rPr spc="175"/>
              <a:t> </a:t>
            </a:r>
            <a:r>
              <a:rPr spc="60"/>
              <a:t>SUSTAINABILITY</a:t>
            </a:r>
            <a:r>
              <a:rPr spc="225"/>
              <a:t> </a:t>
            </a:r>
            <a:r>
              <a:rPr spc="50"/>
              <a:t>(UN</a:t>
            </a:r>
            <a:r>
              <a:rPr spc="190"/>
              <a:t> </a:t>
            </a:r>
            <a:r>
              <a:rPr spc="65"/>
              <a:t>SDGS)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194542" y="324103"/>
            <a:ext cx="6807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R</a:t>
            </a:r>
            <a:r>
              <a:rPr sz="1100" b="1" spc="-50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E</a:t>
            </a:r>
            <a:r>
              <a:rPr sz="1100" b="1" spc="-4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S</a:t>
            </a:r>
            <a:r>
              <a:rPr sz="1100" b="1" spc="-5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U</a:t>
            </a:r>
            <a:r>
              <a:rPr sz="1100" b="1" spc="-5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L</a:t>
            </a:r>
            <a:r>
              <a:rPr sz="1100" b="1" spc="-4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T</a:t>
            </a:r>
            <a:r>
              <a:rPr sz="1100" b="1" spc="-4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 spc="-50">
                <a:solidFill>
                  <a:srgbClr val="BBD3EB"/>
                </a:solidFill>
                <a:latin typeface="Calibri"/>
                <a:cs typeface="Calibri"/>
              </a:rPr>
              <a:t>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1924844"/>
            <a:ext cx="5853430" cy="887094"/>
          </a:xfrm>
          <a:prstGeom prst="rect">
            <a:avLst/>
          </a:prstGeom>
        </p:spPr>
        <p:txBody>
          <a:bodyPr vert="horz" wrap="square" lIns="0" tIns="5016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800" b="1" spc="50">
                <a:solidFill>
                  <a:srgbClr val="1F4E79"/>
                </a:solidFill>
                <a:latin typeface="Tahoma"/>
                <a:cs typeface="Tahoma"/>
              </a:rPr>
              <a:t>SDG</a:t>
            </a:r>
            <a:r>
              <a:rPr sz="1800" b="1" spc="-3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800" b="1">
                <a:solidFill>
                  <a:srgbClr val="1F4E79"/>
                </a:solidFill>
                <a:latin typeface="Tahoma"/>
                <a:cs typeface="Tahoma"/>
              </a:rPr>
              <a:t>9</a:t>
            </a:r>
            <a:r>
              <a:rPr sz="1800" b="1" spc="-25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800" b="1" spc="145">
                <a:solidFill>
                  <a:srgbClr val="1F4E79"/>
                </a:solidFill>
                <a:latin typeface="Tahoma"/>
                <a:cs typeface="Tahoma"/>
              </a:rPr>
              <a:t>—</a:t>
            </a:r>
            <a:r>
              <a:rPr sz="1800" b="1" spc="-35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800" b="1">
                <a:solidFill>
                  <a:srgbClr val="1F4E79"/>
                </a:solidFill>
                <a:latin typeface="Tahoma"/>
                <a:cs typeface="Tahoma"/>
              </a:rPr>
              <a:t>Industry</a:t>
            </a:r>
            <a:r>
              <a:rPr sz="1800" b="1" spc="-3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800" b="1">
                <a:solidFill>
                  <a:srgbClr val="1F4E79"/>
                </a:solidFill>
                <a:latin typeface="Tahoma"/>
                <a:cs typeface="Tahoma"/>
              </a:rPr>
              <a:t>&amp;</a:t>
            </a:r>
            <a:r>
              <a:rPr sz="1800" b="1" spc="-2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800" b="1" spc="-10">
                <a:solidFill>
                  <a:srgbClr val="1F4E79"/>
                </a:solidFill>
                <a:latin typeface="Tahoma"/>
                <a:cs typeface="Tahoma"/>
              </a:rPr>
              <a:t>Innovation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11900"/>
              </a:lnSpc>
              <a:spcBef>
                <a:spcPts val="35"/>
              </a:spcBef>
            </a:pPr>
            <a:r>
              <a:rPr sz="1600" spc="-10">
                <a:solidFill>
                  <a:srgbClr val="1A1A1A"/>
                </a:solidFill>
                <a:latin typeface="Calibri"/>
                <a:cs typeface="Calibri"/>
              </a:rPr>
              <a:t>D</a:t>
            </a:r>
            <a:r>
              <a:rPr sz="1600" spc="-13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err="1">
                <a:solidFill>
                  <a:srgbClr val="1A1A1A"/>
                </a:solidFill>
                <a:latin typeface="Calibri"/>
                <a:cs typeface="Calibri"/>
              </a:rPr>
              <a:t>em</a:t>
            </a:r>
            <a:r>
              <a:rPr sz="1600" spc="-16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spc="70" err="1">
                <a:solidFill>
                  <a:srgbClr val="1A1A1A"/>
                </a:solidFill>
                <a:latin typeface="Calibri"/>
                <a:cs typeface="Calibri"/>
              </a:rPr>
              <a:t>ocratising</a:t>
            </a:r>
            <a:r>
              <a:rPr sz="1600" spc="39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spc="80">
                <a:solidFill>
                  <a:srgbClr val="1A1A1A"/>
                </a:solidFill>
                <a:latin typeface="Calibri"/>
                <a:cs typeface="Calibri"/>
              </a:rPr>
              <a:t>AI</a:t>
            </a:r>
            <a:r>
              <a:rPr sz="1600" spc="1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spc="60">
                <a:solidFill>
                  <a:srgbClr val="1A1A1A"/>
                </a:solidFill>
                <a:latin typeface="Calibri"/>
                <a:cs typeface="Calibri"/>
              </a:rPr>
              <a:t>security</a:t>
            </a:r>
            <a:r>
              <a:rPr sz="1600" spc="18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spc="75">
                <a:solidFill>
                  <a:srgbClr val="1A1A1A"/>
                </a:solidFill>
                <a:latin typeface="Calibri"/>
                <a:cs typeface="Calibri"/>
              </a:rPr>
              <a:t>on</a:t>
            </a:r>
            <a:r>
              <a:rPr sz="1600" spc="21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1A1A1A"/>
                </a:solidFill>
                <a:latin typeface="Calibri"/>
                <a:cs typeface="Calibri"/>
              </a:rPr>
              <a:t>~</a:t>
            </a:r>
            <a:r>
              <a:rPr sz="1600" spc="4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spc="65">
                <a:solidFill>
                  <a:srgbClr val="1A1A1A"/>
                </a:solidFill>
                <a:latin typeface="Calibri"/>
                <a:cs typeface="Calibri"/>
              </a:rPr>
              <a:t>$</a:t>
            </a:r>
            <a:r>
              <a:rPr lang="en-US" sz="1600" spc="65">
                <a:solidFill>
                  <a:srgbClr val="1A1A1A"/>
                </a:solidFill>
                <a:latin typeface="Calibri"/>
                <a:cs typeface="Calibri"/>
              </a:rPr>
              <a:t>5</a:t>
            </a:r>
            <a:r>
              <a:rPr sz="1600" spc="19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1A1A1A"/>
                </a:solidFill>
                <a:latin typeface="Calibri"/>
                <a:cs typeface="Calibri"/>
              </a:rPr>
              <a:t>m</a:t>
            </a:r>
            <a:r>
              <a:rPr sz="1600" spc="-15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spc="70" err="1">
                <a:solidFill>
                  <a:srgbClr val="1A1A1A"/>
                </a:solidFill>
                <a:latin typeface="Calibri"/>
                <a:cs typeface="Calibri"/>
              </a:rPr>
              <a:t>icrocontrollers</a:t>
            </a:r>
            <a:r>
              <a:rPr sz="1600" spc="22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1A1A1A"/>
                </a:solidFill>
                <a:latin typeface="Calibri"/>
                <a:cs typeface="Calibri"/>
              </a:rPr>
              <a:t>(vs</a:t>
            </a:r>
            <a:r>
              <a:rPr sz="1600" spc="18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spc="65">
                <a:solidFill>
                  <a:srgbClr val="1A1A1A"/>
                </a:solidFill>
                <a:latin typeface="Calibri"/>
                <a:cs typeface="Calibri"/>
              </a:rPr>
              <a:t>$200+ </a:t>
            </a:r>
            <a:r>
              <a:rPr sz="1600" spc="-10">
                <a:solidFill>
                  <a:srgbClr val="1A1A1A"/>
                </a:solidFill>
                <a:latin typeface="Calibri"/>
                <a:cs typeface="Calibri"/>
              </a:rPr>
              <a:t>systems).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3007284"/>
            <a:ext cx="5280660" cy="887094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800" b="1" spc="50">
                <a:solidFill>
                  <a:srgbClr val="1F4E79"/>
                </a:solidFill>
                <a:latin typeface="Tahoma"/>
                <a:cs typeface="Tahoma"/>
              </a:rPr>
              <a:t>SDG</a:t>
            </a:r>
            <a:r>
              <a:rPr sz="1800" b="1" spc="10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800" b="1" spc="-450">
                <a:solidFill>
                  <a:srgbClr val="1F4E79"/>
                </a:solidFill>
                <a:latin typeface="Tahoma"/>
                <a:cs typeface="Tahoma"/>
              </a:rPr>
              <a:t>11</a:t>
            </a:r>
            <a:r>
              <a:rPr sz="1800" b="1" spc="8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800" b="1" spc="145">
                <a:solidFill>
                  <a:srgbClr val="1F4E79"/>
                </a:solidFill>
                <a:latin typeface="Tahoma"/>
                <a:cs typeface="Tahoma"/>
              </a:rPr>
              <a:t>—</a:t>
            </a:r>
            <a:r>
              <a:rPr sz="1800" b="1" spc="105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800" b="1">
                <a:solidFill>
                  <a:srgbClr val="1F4E79"/>
                </a:solidFill>
                <a:latin typeface="Tahoma"/>
                <a:cs typeface="Tahoma"/>
              </a:rPr>
              <a:t>Sustainable</a:t>
            </a:r>
            <a:r>
              <a:rPr sz="1800" b="1" spc="8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800" b="1" spc="-10">
                <a:solidFill>
                  <a:srgbClr val="1F4E79"/>
                </a:solidFill>
                <a:latin typeface="Tahoma"/>
                <a:cs typeface="Tahoma"/>
              </a:rPr>
              <a:t>Cities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59"/>
              </a:spcBef>
            </a:pPr>
            <a:r>
              <a:rPr sz="1600" spc="75">
                <a:solidFill>
                  <a:srgbClr val="1A1A1A"/>
                </a:solidFill>
                <a:latin typeface="Calibri"/>
                <a:cs typeface="Calibri"/>
              </a:rPr>
              <a:t>Safer</a:t>
            </a:r>
            <a:r>
              <a:rPr sz="1600" spc="10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spc="70">
                <a:solidFill>
                  <a:srgbClr val="1A1A1A"/>
                </a:solidFill>
                <a:latin typeface="Calibri"/>
                <a:cs typeface="Calibri"/>
              </a:rPr>
              <a:t>low-</a:t>
            </a:r>
            <a:r>
              <a:rPr sz="1600" spc="-16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spc="100">
                <a:solidFill>
                  <a:srgbClr val="1A1A1A"/>
                </a:solidFill>
                <a:latin typeface="Calibri"/>
                <a:cs typeface="Calibri"/>
              </a:rPr>
              <a:t>income</a:t>
            </a:r>
            <a:r>
              <a:rPr sz="1600" spc="19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spc="95">
                <a:solidFill>
                  <a:srgbClr val="1A1A1A"/>
                </a:solidFill>
                <a:latin typeface="Calibri"/>
                <a:cs typeface="Calibri"/>
              </a:rPr>
              <a:t>housing</a:t>
            </a:r>
            <a:r>
              <a:rPr sz="1600" spc="33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spc="55">
                <a:solidFill>
                  <a:srgbClr val="1A1A1A"/>
                </a:solidFill>
                <a:latin typeface="Calibri"/>
                <a:cs typeface="Calibri"/>
              </a:rPr>
              <a:t>where</a:t>
            </a:r>
            <a:r>
              <a:rPr sz="1600" spc="18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spc="100">
                <a:solidFill>
                  <a:srgbClr val="1A1A1A"/>
                </a:solidFill>
                <a:latin typeface="Calibri"/>
                <a:cs typeface="Calibri"/>
              </a:rPr>
              <a:t>commercial</a:t>
            </a:r>
            <a:r>
              <a:rPr sz="1600" spc="14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spc="60">
                <a:solidFill>
                  <a:srgbClr val="1A1A1A"/>
                </a:solidFill>
                <a:latin typeface="Calibri"/>
                <a:cs typeface="Calibri"/>
              </a:rPr>
              <a:t>security</a:t>
            </a:r>
            <a:r>
              <a:rPr sz="1600" spc="17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spc="-25">
                <a:solidFill>
                  <a:srgbClr val="1A1A1A"/>
                </a:solidFill>
                <a:latin typeface="Calibri"/>
                <a:cs typeface="Calibri"/>
              </a:rPr>
              <a:t>is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600" spc="-10">
                <a:solidFill>
                  <a:srgbClr val="1A1A1A"/>
                </a:solidFill>
                <a:latin typeface="Calibri"/>
                <a:cs typeface="Calibri"/>
              </a:rPr>
              <a:t>unaffordable.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4089305"/>
            <a:ext cx="5992495" cy="887094"/>
          </a:xfrm>
          <a:prstGeom prst="rect">
            <a:avLst/>
          </a:prstGeom>
        </p:spPr>
        <p:txBody>
          <a:bodyPr vert="horz" wrap="square" lIns="0" tIns="5016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800" b="1" spc="50">
                <a:solidFill>
                  <a:srgbClr val="1F4E79"/>
                </a:solidFill>
                <a:latin typeface="Tahoma"/>
                <a:cs typeface="Tahoma"/>
              </a:rPr>
              <a:t>SDG </a:t>
            </a:r>
            <a:r>
              <a:rPr sz="1800" b="1" spc="-229">
                <a:solidFill>
                  <a:srgbClr val="1F4E79"/>
                </a:solidFill>
                <a:latin typeface="Tahoma"/>
                <a:cs typeface="Tahoma"/>
              </a:rPr>
              <a:t>16</a:t>
            </a:r>
            <a:r>
              <a:rPr sz="1800" b="1" spc="45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800" b="1" spc="145">
                <a:solidFill>
                  <a:srgbClr val="1F4E79"/>
                </a:solidFill>
                <a:latin typeface="Tahoma"/>
                <a:cs typeface="Tahoma"/>
              </a:rPr>
              <a:t>—</a:t>
            </a:r>
            <a:r>
              <a:rPr sz="1800" b="1" spc="55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800" b="1">
                <a:solidFill>
                  <a:srgbClr val="1F4E79"/>
                </a:solidFill>
                <a:latin typeface="Tahoma"/>
                <a:cs typeface="Tahoma"/>
              </a:rPr>
              <a:t>Privacy</a:t>
            </a:r>
            <a:r>
              <a:rPr sz="1800" b="1" spc="15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800" b="1" spc="65">
                <a:solidFill>
                  <a:srgbClr val="1F4E79"/>
                </a:solidFill>
                <a:latin typeface="Tahoma"/>
                <a:cs typeface="Tahoma"/>
              </a:rPr>
              <a:t>by</a:t>
            </a:r>
            <a:r>
              <a:rPr sz="1800" b="1" spc="3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800" b="1" spc="55">
                <a:solidFill>
                  <a:srgbClr val="1F4E79"/>
                </a:solidFill>
                <a:latin typeface="Tahoma"/>
                <a:cs typeface="Tahoma"/>
              </a:rPr>
              <a:t>Design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11900"/>
              </a:lnSpc>
              <a:spcBef>
                <a:spcPts val="35"/>
              </a:spcBef>
            </a:pPr>
            <a:r>
              <a:rPr lang="en-US" sz="1600">
                <a:solidFill>
                  <a:srgbClr val="1A1A1A"/>
                </a:solidFill>
                <a:latin typeface="Calibri"/>
                <a:cs typeface="Calibri"/>
              </a:rPr>
              <a:t>Im</a:t>
            </a:r>
            <a:r>
              <a:rPr lang="en-US" sz="1600" spc="55">
                <a:solidFill>
                  <a:srgbClr val="1A1A1A"/>
                </a:solidFill>
                <a:latin typeface="Calibri"/>
                <a:cs typeface="Calibri"/>
              </a:rPr>
              <a:t>ag</a:t>
            </a:r>
            <a:r>
              <a:rPr sz="1600">
                <a:solidFill>
                  <a:srgbClr val="1A1A1A"/>
                </a:solidFill>
                <a:latin typeface="Calibri"/>
                <a:cs typeface="Calibri"/>
              </a:rPr>
              <a:t>es</a:t>
            </a:r>
            <a:r>
              <a:rPr sz="1600" spc="17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spc="85">
                <a:solidFill>
                  <a:srgbClr val="1A1A1A"/>
                </a:solidFill>
                <a:latin typeface="Calibri"/>
                <a:cs typeface="Calibri"/>
              </a:rPr>
              <a:t>processed</a:t>
            </a:r>
            <a:r>
              <a:rPr sz="1600" spc="27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spc="70">
                <a:solidFill>
                  <a:srgbClr val="1A1A1A"/>
                </a:solidFill>
                <a:latin typeface="Calibri"/>
                <a:cs typeface="Calibri"/>
              </a:rPr>
              <a:t>locally;</a:t>
            </a:r>
            <a:r>
              <a:rPr sz="1600" spc="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spc="80">
                <a:solidFill>
                  <a:srgbClr val="1A1A1A"/>
                </a:solidFill>
                <a:latin typeface="Calibri"/>
                <a:cs typeface="Calibri"/>
              </a:rPr>
              <a:t>only</a:t>
            </a:r>
            <a:r>
              <a:rPr sz="1600" spc="18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spc="65">
                <a:solidFill>
                  <a:srgbClr val="1A1A1A"/>
                </a:solidFill>
                <a:latin typeface="Calibri"/>
                <a:cs typeface="Calibri"/>
              </a:rPr>
              <a:t>confirm</a:t>
            </a:r>
            <a:r>
              <a:rPr sz="1600" spc="-16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1A1A1A"/>
                </a:solidFill>
                <a:latin typeface="Calibri"/>
                <a:cs typeface="Calibri"/>
              </a:rPr>
              <a:t>ed</a:t>
            </a:r>
            <a:r>
              <a:rPr sz="1600" spc="30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spc="55">
                <a:solidFill>
                  <a:srgbClr val="1A1A1A"/>
                </a:solidFill>
                <a:latin typeface="Calibri"/>
                <a:cs typeface="Calibri"/>
              </a:rPr>
              <a:t>threats</a:t>
            </a:r>
            <a:r>
              <a:rPr sz="1600" spc="18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spc="60">
                <a:solidFill>
                  <a:srgbClr val="1A1A1A"/>
                </a:solidFill>
                <a:latin typeface="Calibri"/>
                <a:cs typeface="Calibri"/>
              </a:rPr>
              <a:t>ever</a:t>
            </a:r>
            <a:r>
              <a:rPr sz="1600" spc="12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spc="60">
                <a:solidFill>
                  <a:srgbClr val="1A1A1A"/>
                </a:solidFill>
                <a:latin typeface="Calibri"/>
                <a:cs typeface="Calibri"/>
              </a:rPr>
              <a:t>leave</a:t>
            </a:r>
            <a:r>
              <a:rPr sz="1600" spc="19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spc="25">
                <a:solidFill>
                  <a:srgbClr val="1A1A1A"/>
                </a:solidFill>
                <a:latin typeface="Calibri"/>
                <a:cs typeface="Calibri"/>
              </a:rPr>
              <a:t>the </a:t>
            </a:r>
            <a:r>
              <a:rPr sz="1600" spc="-10">
                <a:solidFill>
                  <a:srgbClr val="1A1A1A"/>
                </a:solidFill>
                <a:latin typeface="Calibri"/>
                <a:cs typeface="Calibri"/>
              </a:rPr>
              <a:t>device.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D63CA07-3300-7E95-20B3-0A70427699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1904" y="1588589"/>
            <a:ext cx="1840411" cy="184041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A094367-3EC5-38D5-BFE3-49CEAAAFEF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9671" y="1576552"/>
            <a:ext cx="1840412" cy="184041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49CCC81-BB58-2D19-2207-08ED835C6C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5800" y="3581400"/>
            <a:ext cx="1981200" cy="19812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5552" y="261443"/>
            <a:ext cx="453657" cy="321242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US" sz="2000" b="1" spc="-305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2 6</a:t>
            </a:r>
            <a:endParaRPr sz="2000" b="1" spc="-305">
              <a:solidFill>
                <a:srgbClr val="FFFFFF"/>
              </a:solidFill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"/>
              <a:t>TIMELINE</a:t>
            </a:r>
            <a:r>
              <a:rPr spc="175"/>
              <a:t> </a:t>
            </a:r>
            <a:r>
              <a:t>&amp;</a:t>
            </a:r>
            <a:r>
              <a:rPr spc="130"/>
              <a:t> </a:t>
            </a:r>
            <a:r>
              <a:rPr spc="105"/>
              <a:t>MILESTONES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194542" y="324103"/>
            <a:ext cx="6807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R</a:t>
            </a:r>
            <a:r>
              <a:rPr sz="1100" b="1" spc="-50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E</a:t>
            </a:r>
            <a:r>
              <a:rPr sz="1100" b="1" spc="-4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S</a:t>
            </a:r>
            <a:r>
              <a:rPr sz="1100" b="1" spc="-5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U</a:t>
            </a:r>
            <a:r>
              <a:rPr sz="1100" b="1" spc="-5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L</a:t>
            </a:r>
            <a:r>
              <a:rPr sz="1100" b="1" spc="-4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T</a:t>
            </a:r>
            <a:r>
              <a:rPr sz="1100" b="1" spc="-4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 spc="-50">
                <a:solidFill>
                  <a:srgbClr val="BBD3EB"/>
                </a:solidFill>
                <a:latin typeface="Calibri"/>
                <a:cs typeface="Calibri"/>
              </a:rPr>
              <a:t>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48640" y="1371600"/>
            <a:ext cx="11092180" cy="749935"/>
            <a:chOff x="548640" y="1371600"/>
            <a:chExt cx="11092180" cy="749935"/>
          </a:xfrm>
        </p:grpSpPr>
        <p:sp>
          <p:nvSpPr>
            <p:cNvPr id="6" name="object 6"/>
            <p:cNvSpPr/>
            <p:nvPr/>
          </p:nvSpPr>
          <p:spPr>
            <a:xfrm>
              <a:off x="548640" y="1371600"/>
              <a:ext cx="11092180" cy="749935"/>
            </a:xfrm>
            <a:custGeom>
              <a:avLst/>
              <a:gdLst/>
              <a:ahLst/>
              <a:cxnLst/>
              <a:rect l="l" t="t" r="r" b="b"/>
              <a:pathLst>
                <a:path w="11092180" h="749935">
                  <a:moveTo>
                    <a:pt x="11018519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676655"/>
                  </a:lnTo>
                  <a:lnTo>
                    <a:pt x="5748" y="705123"/>
                  </a:lnTo>
                  <a:lnTo>
                    <a:pt x="21426" y="728376"/>
                  </a:lnTo>
                  <a:lnTo>
                    <a:pt x="44678" y="744057"/>
                  </a:lnTo>
                  <a:lnTo>
                    <a:pt x="73151" y="749808"/>
                  </a:lnTo>
                  <a:lnTo>
                    <a:pt x="11018519" y="749808"/>
                  </a:lnTo>
                  <a:lnTo>
                    <a:pt x="11046987" y="744057"/>
                  </a:lnTo>
                  <a:lnTo>
                    <a:pt x="11070240" y="728376"/>
                  </a:lnTo>
                  <a:lnTo>
                    <a:pt x="11085921" y="705123"/>
                  </a:lnTo>
                  <a:lnTo>
                    <a:pt x="11091671" y="676655"/>
                  </a:lnTo>
                  <a:lnTo>
                    <a:pt x="11091671" y="73151"/>
                  </a:lnTo>
                  <a:lnTo>
                    <a:pt x="11085921" y="44684"/>
                  </a:lnTo>
                  <a:lnTo>
                    <a:pt x="11070240" y="21431"/>
                  </a:lnTo>
                  <a:lnTo>
                    <a:pt x="11046987" y="5750"/>
                  </a:lnTo>
                  <a:lnTo>
                    <a:pt x="11018519" y="0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68680" y="1554479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023" y="0"/>
                  </a:moveTo>
                  <a:lnTo>
                    <a:pt x="147992" y="5071"/>
                  </a:lnTo>
                  <a:lnTo>
                    <a:pt x="107574" y="19518"/>
                  </a:lnTo>
                  <a:lnTo>
                    <a:pt x="71920" y="42187"/>
                  </a:lnTo>
                  <a:lnTo>
                    <a:pt x="42183" y="71925"/>
                  </a:lnTo>
                  <a:lnTo>
                    <a:pt x="19516" y="107579"/>
                  </a:lnTo>
                  <a:lnTo>
                    <a:pt x="5071" y="147996"/>
                  </a:lnTo>
                  <a:lnTo>
                    <a:pt x="0" y="192024"/>
                  </a:lnTo>
                  <a:lnTo>
                    <a:pt x="5071" y="236051"/>
                  </a:lnTo>
                  <a:lnTo>
                    <a:pt x="19516" y="276468"/>
                  </a:lnTo>
                  <a:lnTo>
                    <a:pt x="42183" y="312122"/>
                  </a:lnTo>
                  <a:lnTo>
                    <a:pt x="71920" y="341860"/>
                  </a:lnTo>
                  <a:lnTo>
                    <a:pt x="107574" y="364529"/>
                  </a:lnTo>
                  <a:lnTo>
                    <a:pt x="147992" y="378976"/>
                  </a:lnTo>
                  <a:lnTo>
                    <a:pt x="192023" y="384048"/>
                  </a:lnTo>
                  <a:lnTo>
                    <a:pt x="236055" y="378976"/>
                  </a:lnTo>
                  <a:lnTo>
                    <a:pt x="276473" y="364529"/>
                  </a:lnTo>
                  <a:lnTo>
                    <a:pt x="312127" y="341860"/>
                  </a:lnTo>
                  <a:lnTo>
                    <a:pt x="341864" y="312122"/>
                  </a:lnTo>
                  <a:lnTo>
                    <a:pt x="364531" y="276468"/>
                  </a:lnTo>
                  <a:lnTo>
                    <a:pt x="378976" y="236051"/>
                  </a:lnTo>
                  <a:lnTo>
                    <a:pt x="384047" y="192024"/>
                  </a:lnTo>
                  <a:lnTo>
                    <a:pt x="378976" y="147996"/>
                  </a:lnTo>
                  <a:lnTo>
                    <a:pt x="364531" y="107579"/>
                  </a:lnTo>
                  <a:lnTo>
                    <a:pt x="341864" y="71925"/>
                  </a:lnTo>
                  <a:lnTo>
                    <a:pt x="312127" y="42187"/>
                  </a:lnTo>
                  <a:lnTo>
                    <a:pt x="276473" y="19518"/>
                  </a:lnTo>
                  <a:lnTo>
                    <a:pt x="236055" y="5071"/>
                  </a:lnTo>
                  <a:lnTo>
                    <a:pt x="192023" y="0"/>
                  </a:lnTo>
                  <a:close/>
                </a:path>
              </a:pathLst>
            </a:custGeom>
            <a:solidFill>
              <a:srgbClr val="2D7C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2375" y="1681483"/>
              <a:ext cx="176656" cy="134817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450594" y="1601469"/>
            <a:ext cx="33566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>
                <a:solidFill>
                  <a:srgbClr val="1A1A1A"/>
                </a:solidFill>
                <a:latin typeface="Calibri"/>
                <a:cs typeface="Calibri"/>
              </a:rPr>
              <a:t>AI</a:t>
            </a:r>
            <a:r>
              <a:rPr sz="1600" b="1" spc="-3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1A1A1A"/>
                </a:solidFill>
                <a:latin typeface="Calibri"/>
                <a:cs typeface="Calibri"/>
              </a:rPr>
              <a:t>Vision</a:t>
            </a:r>
            <a:r>
              <a:rPr sz="1600" b="1" spc="-3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1A1A1A"/>
                </a:solidFill>
                <a:latin typeface="Calibri"/>
                <a:cs typeface="Calibri"/>
              </a:rPr>
              <a:t>—</a:t>
            </a:r>
            <a:r>
              <a:rPr sz="1600" b="1" spc="-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b="1" spc="-10">
                <a:solidFill>
                  <a:srgbClr val="1A1A1A"/>
                </a:solidFill>
                <a:latin typeface="Calibri"/>
                <a:cs typeface="Calibri"/>
              </a:rPr>
              <a:t>on-</a:t>
            </a:r>
            <a:r>
              <a:rPr sz="1600" b="1">
                <a:solidFill>
                  <a:srgbClr val="1A1A1A"/>
                </a:solidFill>
                <a:latin typeface="Calibri"/>
                <a:cs typeface="Calibri"/>
              </a:rPr>
              <a:t>device</a:t>
            </a:r>
            <a:r>
              <a:rPr sz="1600" b="1" spc="-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1A1A1A"/>
                </a:solidFill>
                <a:latin typeface="Calibri"/>
                <a:cs typeface="Calibri"/>
              </a:rPr>
              <a:t>human</a:t>
            </a:r>
            <a:r>
              <a:rPr sz="1600" b="1" spc="-10">
                <a:solidFill>
                  <a:srgbClr val="1A1A1A"/>
                </a:solidFill>
                <a:latin typeface="Calibri"/>
                <a:cs typeface="Calibri"/>
              </a:rPr>
              <a:t> detection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523981" y="1633473"/>
            <a:ext cx="9055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65">
                <a:solidFill>
                  <a:srgbClr val="2D7C31"/>
                </a:solidFill>
                <a:latin typeface="Calibri"/>
                <a:cs typeface="Calibri"/>
              </a:rPr>
              <a:t>COMPLETED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48640" y="2231135"/>
            <a:ext cx="11092180" cy="749935"/>
            <a:chOff x="548640" y="2231135"/>
            <a:chExt cx="11092180" cy="749935"/>
          </a:xfrm>
        </p:grpSpPr>
        <p:sp>
          <p:nvSpPr>
            <p:cNvPr id="12" name="object 12"/>
            <p:cNvSpPr/>
            <p:nvPr/>
          </p:nvSpPr>
          <p:spPr>
            <a:xfrm>
              <a:off x="548640" y="2231135"/>
              <a:ext cx="11092180" cy="749935"/>
            </a:xfrm>
            <a:custGeom>
              <a:avLst/>
              <a:gdLst/>
              <a:ahLst/>
              <a:cxnLst/>
              <a:rect l="l" t="t" r="r" b="b"/>
              <a:pathLst>
                <a:path w="11092180" h="749935">
                  <a:moveTo>
                    <a:pt x="11018519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676655"/>
                  </a:lnTo>
                  <a:lnTo>
                    <a:pt x="5748" y="705123"/>
                  </a:lnTo>
                  <a:lnTo>
                    <a:pt x="21426" y="728376"/>
                  </a:lnTo>
                  <a:lnTo>
                    <a:pt x="44678" y="744057"/>
                  </a:lnTo>
                  <a:lnTo>
                    <a:pt x="73151" y="749808"/>
                  </a:lnTo>
                  <a:lnTo>
                    <a:pt x="11018519" y="749808"/>
                  </a:lnTo>
                  <a:lnTo>
                    <a:pt x="11046987" y="744057"/>
                  </a:lnTo>
                  <a:lnTo>
                    <a:pt x="11070240" y="728376"/>
                  </a:lnTo>
                  <a:lnTo>
                    <a:pt x="11085921" y="705123"/>
                  </a:lnTo>
                  <a:lnTo>
                    <a:pt x="11091671" y="676655"/>
                  </a:lnTo>
                  <a:lnTo>
                    <a:pt x="11091671" y="73151"/>
                  </a:lnTo>
                  <a:lnTo>
                    <a:pt x="11085921" y="44684"/>
                  </a:lnTo>
                  <a:lnTo>
                    <a:pt x="11070240" y="21431"/>
                  </a:lnTo>
                  <a:lnTo>
                    <a:pt x="11046987" y="5750"/>
                  </a:lnTo>
                  <a:lnTo>
                    <a:pt x="11018519" y="0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68680" y="2414015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023" y="0"/>
                  </a:moveTo>
                  <a:lnTo>
                    <a:pt x="147992" y="5071"/>
                  </a:lnTo>
                  <a:lnTo>
                    <a:pt x="107574" y="19518"/>
                  </a:lnTo>
                  <a:lnTo>
                    <a:pt x="71920" y="42187"/>
                  </a:lnTo>
                  <a:lnTo>
                    <a:pt x="42183" y="71925"/>
                  </a:lnTo>
                  <a:lnTo>
                    <a:pt x="19516" y="107579"/>
                  </a:lnTo>
                  <a:lnTo>
                    <a:pt x="5071" y="147996"/>
                  </a:lnTo>
                  <a:lnTo>
                    <a:pt x="0" y="192024"/>
                  </a:lnTo>
                  <a:lnTo>
                    <a:pt x="5071" y="236051"/>
                  </a:lnTo>
                  <a:lnTo>
                    <a:pt x="19516" y="276468"/>
                  </a:lnTo>
                  <a:lnTo>
                    <a:pt x="42183" y="312122"/>
                  </a:lnTo>
                  <a:lnTo>
                    <a:pt x="71920" y="341860"/>
                  </a:lnTo>
                  <a:lnTo>
                    <a:pt x="107574" y="364529"/>
                  </a:lnTo>
                  <a:lnTo>
                    <a:pt x="147992" y="378976"/>
                  </a:lnTo>
                  <a:lnTo>
                    <a:pt x="192023" y="384048"/>
                  </a:lnTo>
                  <a:lnTo>
                    <a:pt x="236055" y="378976"/>
                  </a:lnTo>
                  <a:lnTo>
                    <a:pt x="276473" y="364529"/>
                  </a:lnTo>
                  <a:lnTo>
                    <a:pt x="312127" y="341860"/>
                  </a:lnTo>
                  <a:lnTo>
                    <a:pt x="341864" y="312122"/>
                  </a:lnTo>
                  <a:lnTo>
                    <a:pt x="364531" y="276468"/>
                  </a:lnTo>
                  <a:lnTo>
                    <a:pt x="378976" y="236051"/>
                  </a:lnTo>
                  <a:lnTo>
                    <a:pt x="384047" y="192024"/>
                  </a:lnTo>
                  <a:lnTo>
                    <a:pt x="378976" y="147996"/>
                  </a:lnTo>
                  <a:lnTo>
                    <a:pt x="364531" y="107579"/>
                  </a:lnTo>
                  <a:lnTo>
                    <a:pt x="341864" y="71925"/>
                  </a:lnTo>
                  <a:lnTo>
                    <a:pt x="312127" y="42187"/>
                  </a:lnTo>
                  <a:lnTo>
                    <a:pt x="276473" y="19518"/>
                  </a:lnTo>
                  <a:lnTo>
                    <a:pt x="236055" y="5071"/>
                  </a:lnTo>
                  <a:lnTo>
                    <a:pt x="192023" y="0"/>
                  </a:lnTo>
                  <a:close/>
                </a:path>
              </a:pathLst>
            </a:custGeom>
            <a:solidFill>
              <a:srgbClr val="2D7C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2375" y="2541019"/>
              <a:ext cx="176656" cy="134817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450594" y="2459862"/>
            <a:ext cx="30143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>
                <a:solidFill>
                  <a:srgbClr val="1A1A1A"/>
                </a:solidFill>
                <a:latin typeface="Calibri"/>
                <a:cs typeface="Calibri"/>
              </a:rPr>
              <a:t>Voice</a:t>
            </a:r>
            <a:r>
              <a:rPr sz="1600" b="1" spc="-4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1A1A1A"/>
                </a:solidFill>
                <a:latin typeface="Calibri"/>
                <a:cs typeface="Calibri"/>
              </a:rPr>
              <a:t>alerts</a:t>
            </a:r>
            <a:r>
              <a:rPr sz="1600" b="1" spc="-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1A1A1A"/>
                </a:solidFill>
                <a:latin typeface="Calibri"/>
                <a:cs typeface="Calibri"/>
              </a:rPr>
              <a:t>—</a:t>
            </a:r>
            <a:r>
              <a:rPr sz="1600" b="1" spc="-2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1A1A1A"/>
                </a:solidFill>
                <a:latin typeface="Calibri"/>
                <a:cs typeface="Calibri"/>
              </a:rPr>
              <a:t>TTS</a:t>
            </a:r>
            <a:r>
              <a:rPr sz="1600" b="1" spc="-3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1A1A1A"/>
                </a:solidFill>
                <a:latin typeface="Calibri"/>
                <a:cs typeface="Calibri"/>
              </a:rPr>
              <a:t>/</a:t>
            </a:r>
            <a:r>
              <a:rPr sz="1600" b="1" spc="-3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1A1A1A"/>
                </a:solidFill>
                <a:latin typeface="Calibri"/>
                <a:cs typeface="Calibri"/>
              </a:rPr>
              <a:t>siren</a:t>
            </a:r>
            <a:r>
              <a:rPr sz="1600" b="1" spc="-2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b="1" spc="-10">
                <a:solidFill>
                  <a:srgbClr val="1A1A1A"/>
                </a:solidFill>
                <a:latin typeface="Calibri"/>
                <a:cs typeface="Calibri"/>
              </a:rPr>
              <a:t>deterrent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523981" y="2493390"/>
            <a:ext cx="9055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65">
                <a:solidFill>
                  <a:srgbClr val="2D7C31"/>
                </a:solidFill>
                <a:latin typeface="Calibri"/>
                <a:cs typeface="Calibri"/>
              </a:rPr>
              <a:t>COMPLETED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48640" y="3090672"/>
            <a:ext cx="11092180" cy="749935"/>
            <a:chOff x="548640" y="3090672"/>
            <a:chExt cx="11092180" cy="749935"/>
          </a:xfrm>
        </p:grpSpPr>
        <p:sp>
          <p:nvSpPr>
            <p:cNvPr id="18" name="object 18"/>
            <p:cNvSpPr/>
            <p:nvPr/>
          </p:nvSpPr>
          <p:spPr>
            <a:xfrm>
              <a:off x="548640" y="3090672"/>
              <a:ext cx="11092180" cy="749935"/>
            </a:xfrm>
            <a:custGeom>
              <a:avLst/>
              <a:gdLst/>
              <a:ahLst/>
              <a:cxnLst/>
              <a:rect l="l" t="t" r="r" b="b"/>
              <a:pathLst>
                <a:path w="11092180" h="749935">
                  <a:moveTo>
                    <a:pt x="11018519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676655"/>
                  </a:lnTo>
                  <a:lnTo>
                    <a:pt x="5748" y="705123"/>
                  </a:lnTo>
                  <a:lnTo>
                    <a:pt x="21426" y="728376"/>
                  </a:lnTo>
                  <a:lnTo>
                    <a:pt x="44678" y="744057"/>
                  </a:lnTo>
                  <a:lnTo>
                    <a:pt x="73151" y="749807"/>
                  </a:lnTo>
                  <a:lnTo>
                    <a:pt x="11018519" y="749807"/>
                  </a:lnTo>
                  <a:lnTo>
                    <a:pt x="11046987" y="744057"/>
                  </a:lnTo>
                  <a:lnTo>
                    <a:pt x="11070240" y="728376"/>
                  </a:lnTo>
                  <a:lnTo>
                    <a:pt x="11085921" y="705123"/>
                  </a:lnTo>
                  <a:lnTo>
                    <a:pt x="11091671" y="676655"/>
                  </a:lnTo>
                  <a:lnTo>
                    <a:pt x="11091671" y="73151"/>
                  </a:lnTo>
                  <a:lnTo>
                    <a:pt x="11085921" y="44684"/>
                  </a:lnTo>
                  <a:lnTo>
                    <a:pt x="11070240" y="21431"/>
                  </a:lnTo>
                  <a:lnTo>
                    <a:pt x="11046987" y="5750"/>
                  </a:lnTo>
                  <a:lnTo>
                    <a:pt x="11018519" y="0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68680" y="3273552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023" y="0"/>
                  </a:moveTo>
                  <a:lnTo>
                    <a:pt x="147992" y="5071"/>
                  </a:lnTo>
                  <a:lnTo>
                    <a:pt x="107574" y="19518"/>
                  </a:lnTo>
                  <a:lnTo>
                    <a:pt x="71920" y="42187"/>
                  </a:lnTo>
                  <a:lnTo>
                    <a:pt x="42183" y="71925"/>
                  </a:lnTo>
                  <a:lnTo>
                    <a:pt x="19516" y="107579"/>
                  </a:lnTo>
                  <a:lnTo>
                    <a:pt x="5071" y="147996"/>
                  </a:lnTo>
                  <a:lnTo>
                    <a:pt x="0" y="192024"/>
                  </a:lnTo>
                  <a:lnTo>
                    <a:pt x="5071" y="236051"/>
                  </a:lnTo>
                  <a:lnTo>
                    <a:pt x="19516" y="276468"/>
                  </a:lnTo>
                  <a:lnTo>
                    <a:pt x="42183" y="312122"/>
                  </a:lnTo>
                  <a:lnTo>
                    <a:pt x="71920" y="341860"/>
                  </a:lnTo>
                  <a:lnTo>
                    <a:pt x="107574" y="364529"/>
                  </a:lnTo>
                  <a:lnTo>
                    <a:pt x="147992" y="378976"/>
                  </a:lnTo>
                  <a:lnTo>
                    <a:pt x="192023" y="384048"/>
                  </a:lnTo>
                  <a:lnTo>
                    <a:pt x="236055" y="378976"/>
                  </a:lnTo>
                  <a:lnTo>
                    <a:pt x="276473" y="364529"/>
                  </a:lnTo>
                  <a:lnTo>
                    <a:pt x="312127" y="341860"/>
                  </a:lnTo>
                  <a:lnTo>
                    <a:pt x="341864" y="312122"/>
                  </a:lnTo>
                  <a:lnTo>
                    <a:pt x="364531" y="276468"/>
                  </a:lnTo>
                  <a:lnTo>
                    <a:pt x="378976" y="236051"/>
                  </a:lnTo>
                  <a:lnTo>
                    <a:pt x="384047" y="192024"/>
                  </a:lnTo>
                  <a:lnTo>
                    <a:pt x="378976" y="147996"/>
                  </a:lnTo>
                  <a:lnTo>
                    <a:pt x="364531" y="107579"/>
                  </a:lnTo>
                  <a:lnTo>
                    <a:pt x="341864" y="71925"/>
                  </a:lnTo>
                  <a:lnTo>
                    <a:pt x="312127" y="42187"/>
                  </a:lnTo>
                  <a:lnTo>
                    <a:pt x="276473" y="19518"/>
                  </a:lnTo>
                  <a:lnTo>
                    <a:pt x="236055" y="5071"/>
                  </a:lnTo>
                  <a:lnTo>
                    <a:pt x="192023" y="0"/>
                  </a:lnTo>
                  <a:close/>
                </a:path>
              </a:pathLst>
            </a:custGeom>
            <a:solidFill>
              <a:srgbClr val="2D7C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2375" y="3400555"/>
              <a:ext cx="176656" cy="134817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1450594" y="3319398"/>
            <a:ext cx="36112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>
                <a:solidFill>
                  <a:srgbClr val="1A1A1A"/>
                </a:solidFill>
                <a:latin typeface="Calibri"/>
                <a:cs typeface="Calibri"/>
              </a:rPr>
              <a:t>Core</a:t>
            </a:r>
            <a:r>
              <a:rPr sz="1600" b="1" spc="-3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b="1" spc="-10">
                <a:solidFill>
                  <a:srgbClr val="1A1A1A"/>
                </a:solidFill>
                <a:latin typeface="Calibri"/>
                <a:cs typeface="Calibri"/>
              </a:rPr>
              <a:t>system</a:t>
            </a:r>
            <a:r>
              <a:rPr sz="1600" b="1" spc="-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1A1A1A"/>
                </a:solidFill>
                <a:latin typeface="Calibri"/>
                <a:cs typeface="Calibri"/>
              </a:rPr>
              <a:t>—</a:t>
            </a:r>
            <a:r>
              <a:rPr sz="1600" b="1" spc="-3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1A1A1A"/>
                </a:solidFill>
                <a:latin typeface="Calibri"/>
                <a:cs typeface="Calibri"/>
              </a:rPr>
              <a:t>live</a:t>
            </a:r>
            <a:r>
              <a:rPr sz="1600" b="1" spc="-5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1A1A1A"/>
                </a:solidFill>
                <a:latin typeface="Calibri"/>
                <a:cs typeface="Calibri"/>
              </a:rPr>
              <a:t>stream</a:t>
            </a:r>
            <a:r>
              <a:rPr sz="1600" b="1" spc="-5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1A1A1A"/>
                </a:solidFill>
                <a:latin typeface="Calibri"/>
                <a:cs typeface="Calibri"/>
              </a:rPr>
              <a:t>&amp;</a:t>
            </a:r>
            <a:r>
              <a:rPr sz="1600" b="1" spc="-4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1A1A1A"/>
                </a:solidFill>
                <a:latin typeface="Calibri"/>
                <a:cs typeface="Calibri"/>
              </a:rPr>
              <a:t>smart</a:t>
            </a:r>
            <a:r>
              <a:rPr sz="1600" b="1" spc="-3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b="1" spc="-10">
                <a:solidFill>
                  <a:srgbClr val="1A1A1A"/>
                </a:solidFill>
                <a:latin typeface="Calibri"/>
                <a:cs typeface="Calibri"/>
              </a:rPr>
              <a:t>arming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523981" y="3352927"/>
            <a:ext cx="9055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65">
                <a:solidFill>
                  <a:srgbClr val="2D7C31"/>
                </a:solidFill>
                <a:latin typeface="Calibri"/>
                <a:cs typeface="Calibri"/>
              </a:rPr>
              <a:t>COMPLETED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97154" y="3981961"/>
            <a:ext cx="11092180" cy="749935"/>
            <a:chOff x="597154" y="3981961"/>
            <a:chExt cx="11092180" cy="749935"/>
          </a:xfrm>
        </p:grpSpPr>
        <p:sp>
          <p:nvSpPr>
            <p:cNvPr id="24" name="object 24"/>
            <p:cNvSpPr/>
            <p:nvPr/>
          </p:nvSpPr>
          <p:spPr>
            <a:xfrm>
              <a:off x="597154" y="3981961"/>
              <a:ext cx="11092180" cy="749935"/>
            </a:xfrm>
            <a:custGeom>
              <a:avLst/>
              <a:gdLst/>
              <a:ahLst/>
              <a:cxnLst/>
              <a:rect l="l" t="t" r="r" b="b"/>
              <a:pathLst>
                <a:path w="11092180" h="749935">
                  <a:moveTo>
                    <a:pt x="11018519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2"/>
                  </a:lnTo>
                  <a:lnTo>
                    <a:pt x="0" y="676656"/>
                  </a:lnTo>
                  <a:lnTo>
                    <a:pt x="5748" y="705123"/>
                  </a:lnTo>
                  <a:lnTo>
                    <a:pt x="21426" y="728376"/>
                  </a:lnTo>
                  <a:lnTo>
                    <a:pt x="44678" y="744057"/>
                  </a:lnTo>
                  <a:lnTo>
                    <a:pt x="73151" y="749808"/>
                  </a:lnTo>
                  <a:lnTo>
                    <a:pt x="11018519" y="749808"/>
                  </a:lnTo>
                  <a:lnTo>
                    <a:pt x="11046987" y="744057"/>
                  </a:lnTo>
                  <a:lnTo>
                    <a:pt x="11070240" y="728376"/>
                  </a:lnTo>
                  <a:lnTo>
                    <a:pt x="11085921" y="705123"/>
                  </a:lnTo>
                  <a:lnTo>
                    <a:pt x="11091671" y="676656"/>
                  </a:lnTo>
                  <a:lnTo>
                    <a:pt x="11091671" y="73152"/>
                  </a:lnTo>
                  <a:lnTo>
                    <a:pt x="11085921" y="44684"/>
                  </a:lnTo>
                  <a:lnTo>
                    <a:pt x="11070240" y="21431"/>
                  </a:lnTo>
                  <a:lnTo>
                    <a:pt x="11046987" y="5750"/>
                  </a:lnTo>
                  <a:lnTo>
                    <a:pt x="11018519" y="0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68680" y="4133088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023" y="0"/>
                  </a:moveTo>
                  <a:lnTo>
                    <a:pt x="147992" y="5071"/>
                  </a:lnTo>
                  <a:lnTo>
                    <a:pt x="107574" y="19518"/>
                  </a:lnTo>
                  <a:lnTo>
                    <a:pt x="71920" y="42187"/>
                  </a:lnTo>
                  <a:lnTo>
                    <a:pt x="42183" y="71925"/>
                  </a:lnTo>
                  <a:lnTo>
                    <a:pt x="19516" y="107579"/>
                  </a:lnTo>
                  <a:lnTo>
                    <a:pt x="5071" y="147996"/>
                  </a:lnTo>
                  <a:lnTo>
                    <a:pt x="0" y="192024"/>
                  </a:lnTo>
                  <a:lnTo>
                    <a:pt x="5071" y="236051"/>
                  </a:lnTo>
                  <a:lnTo>
                    <a:pt x="19516" y="276468"/>
                  </a:lnTo>
                  <a:lnTo>
                    <a:pt x="42183" y="312122"/>
                  </a:lnTo>
                  <a:lnTo>
                    <a:pt x="71920" y="341860"/>
                  </a:lnTo>
                  <a:lnTo>
                    <a:pt x="107574" y="364529"/>
                  </a:lnTo>
                  <a:lnTo>
                    <a:pt x="147992" y="378976"/>
                  </a:lnTo>
                  <a:lnTo>
                    <a:pt x="192023" y="384048"/>
                  </a:lnTo>
                  <a:lnTo>
                    <a:pt x="236055" y="378976"/>
                  </a:lnTo>
                  <a:lnTo>
                    <a:pt x="276473" y="364529"/>
                  </a:lnTo>
                  <a:lnTo>
                    <a:pt x="312127" y="341860"/>
                  </a:lnTo>
                  <a:lnTo>
                    <a:pt x="341864" y="312122"/>
                  </a:lnTo>
                  <a:lnTo>
                    <a:pt x="364531" y="276468"/>
                  </a:lnTo>
                  <a:lnTo>
                    <a:pt x="378976" y="236051"/>
                  </a:lnTo>
                  <a:lnTo>
                    <a:pt x="384047" y="192024"/>
                  </a:lnTo>
                  <a:lnTo>
                    <a:pt x="378976" y="147996"/>
                  </a:lnTo>
                  <a:lnTo>
                    <a:pt x="364531" y="107579"/>
                  </a:lnTo>
                  <a:lnTo>
                    <a:pt x="341864" y="71925"/>
                  </a:lnTo>
                  <a:lnTo>
                    <a:pt x="312127" y="42187"/>
                  </a:lnTo>
                  <a:lnTo>
                    <a:pt x="276473" y="19518"/>
                  </a:lnTo>
                  <a:lnTo>
                    <a:pt x="236055" y="5071"/>
                  </a:lnTo>
                  <a:lnTo>
                    <a:pt x="192023" y="0"/>
                  </a:lnTo>
                  <a:close/>
                </a:path>
              </a:pathLst>
            </a:custGeom>
            <a:solidFill>
              <a:srgbClr val="2D7C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2375" y="4260091"/>
              <a:ext cx="176656" cy="134817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450594" y="4180713"/>
            <a:ext cx="30810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>
                <a:solidFill>
                  <a:srgbClr val="1A1A1A"/>
                </a:solidFill>
                <a:latin typeface="Calibri"/>
                <a:cs typeface="Calibri"/>
              </a:rPr>
              <a:t>Remote</a:t>
            </a:r>
            <a:r>
              <a:rPr sz="1600" b="1" spc="-3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1A1A1A"/>
                </a:solidFill>
                <a:latin typeface="Calibri"/>
                <a:cs typeface="Calibri"/>
              </a:rPr>
              <a:t>live</a:t>
            </a:r>
            <a:r>
              <a:rPr sz="1600" b="1" spc="-4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1A1A1A"/>
                </a:solidFill>
                <a:latin typeface="Calibri"/>
                <a:cs typeface="Calibri"/>
              </a:rPr>
              <a:t>video</a:t>
            </a:r>
            <a:r>
              <a:rPr sz="1600" b="1" spc="-3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1A1A1A"/>
                </a:solidFill>
                <a:latin typeface="Calibri"/>
                <a:cs typeface="Calibri"/>
              </a:rPr>
              <a:t>&amp;</a:t>
            </a:r>
            <a:r>
              <a:rPr sz="1600" b="1" spc="-3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b="1" spc="-10">
                <a:solidFill>
                  <a:srgbClr val="1A1A1A"/>
                </a:solidFill>
                <a:latin typeface="Calibri"/>
                <a:cs typeface="Calibri"/>
              </a:rPr>
              <a:t>camera</a:t>
            </a:r>
            <a:r>
              <a:rPr sz="1600" b="1" spc="-1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b="1" spc="-10">
                <a:solidFill>
                  <a:srgbClr val="1A1A1A"/>
                </a:solidFill>
                <a:latin typeface="Calibri"/>
                <a:cs typeface="Calibri"/>
              </a:rPr>
              <a:t>pan/tilt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523981" y="4212717"/>
            <a:ext cx="9055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65">
                <a:solidFill>
                  <a:srgbClr val="2D7C31"/>
                </a:solidFill>
                <a:latin typeface="Calibri"/>
                <a:cs typeface="Calibri"/>
              </a:rPr>
              <a:t>COMPLETED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450594" y="5038420"/>
            <a:ext cx="32950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>
                <a:solidFill>
                  <a:srgbClr val="1A1A1A"/>
                </a:solidFill>
                <a:latin typeface="Calibri"/>
                <a:cs typeface="Calibri"/>
              </a:rPr>
              <a:t>Door-</a:t>
            </a:r>
            <a:r>
              <a:rPr sz="1600" b="1">
                <a:solidFill>
                  <a:srgbClr val="1A1A1A"/>
                </a:solidFill>
                <a:latin typeface="Calibri"/>
                <a:cs typeface="Calibri"/>
              </a:rPr>
              <a:t>lock</a:t>
            </a:r>
            <a:r>
              <a:rPr sz="1600" b="1" spc="-4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1A1A1A"/>
                </a:solidFill>
                <a:latin typeface="Calibri"/>
                <a:cs typeface="Calibri"/>
              </a:rPr>
              <a:t>control</a:t>
            </a:r>
            <a:r>
              <a:rPr sz="1600" b="1" spc="-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1A1A1A"/>
                </a:solidFill>
                <a:latin typeface="Calibri"/>
                <a:cs typeface="Calibri"/>
              </a:rPr>
              <a:t>—</a:t>
            </a:r>
            <a:r>
              <a:rPr sz="1600" b="1" spc="-3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b="1" spc="-10">
                <a:solidFill>
                  <a:srgbClr val="1A1A1A"/>
                </a:solidFill>
                <a:latin typeface="Calibri"/>
                <a:cs typeface="Calibri"/>
              </a:rPr>
              <a:t>physical</a:t>
            </a:r>
            <a:r>
              <a:rPr sz="1600" b="1" spc="-1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b="1" spc="-10">
                <a:solidFill>
                  <a:srgbClr val="1A1A1A"/>
                </a:solidFill>
                <a:latin typeface="Calibri"/>
                <a:cs typeface="Calibri"/>
              </a:rPr>
              <a:t>actuation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17016" y="5701033"/>
            <a:ext cx="11092180" cy="749935"/>
            <a:chOff x="548640" y="5669279"/>
            <a:chExt cx="11092180" cy="749935"/>
          </a:xfrm>
        </p:grpSpPr>
        <p:sp>
          <p:nvSpPr>
            <p:cNvPr id="36" name="object 36"/>
            <p:cNvSpPr/>
            <p:nvPr/>
          </p:nvSpPr>
          <p:spPr>
            <a:xfrm>
              <a:off x="548640" y="5669279"/>
              <a:ext cx="11092180" cy="749935"/>
            </a:xfrm>
            <a:custGeom>
              <a:avLst/>
              <a:gdLst/>
              <a:ahLst/>
              <a:cxnLst/>
              <a:rect l="l" t="t" r="r" b="b"/>
              <a:pathLst>
                <a:path w="11092180" h="749935">
                  <a:moveTo>
                    <a:pt x="11018519" y="0"/>
                  </a:moveTo>
                  <a:lnTo>
                    <a:pt x="73151" y="0"/>
                  </a:lnTo>
                  <a:lnTo>
                    <a:pt x="44678" y="5748"/>
                  </a:lnTo>
                  <a:lnTo>
                    <a:pt x="21426" y="21426"/>
                  </a:lnTo>
                  <a:lnTo>
                    <a:pt x="5748" y="44678"/>
                  </a:lnTo>
                  <a:lnTo>
                    <a:pt x="0" y="73152"/>
                  </a:lnTo>
                  <a:lnTo>
                    <a:pt x="0" y="676656"/>
                  </a:lnTo>
                  <a:lnTo>
                    <a:pt x="5748" y="705129"/>
                  </a:lnTo>
                  <a:lnTo>
                    <a:pt x="21426" y="728381"/>
                  </a:lnTo>
                  <a:lnTo>
                    <a:pt x="44678" y="744059"/>
                  </a:lnTo>
                  <a:lnTo>
                    <a:pt x="73151" y="749808"/>
                  </a:lnTo>
                  <a:lnTo>
                    <a:pt x="11018519" y="749808"/>
                  </a:lnTo>
                  <a:lnTo>
                    <a:pt x="11046987" y="744059"/>
                  </a:lnTo>
                  <a:lnTo>
                    <a:pt x="11070240" y="728381"/>
                  </a:lnTo>
                  <a:lnTo>
                    <a:pt x="11085921" y="705129"/>
                  </a:lnTo>
                  <a:lnTo>
                    <a:pt x="11091671" y="676656"/>
                  </a:lnTo>
                  <a:lnTo>
                    <a:pt x="11091671" y="73152"/>
                  </a:lnTo>
                  <a:lnTo>
                    <a:pt x="11085921" y="44678"/>
                  </a:lnTo>
                  <a:lnTo>
                    <a:pt x="11070240" y="21426"/>
                  </a:lnTo>
                  <a:lnTo>
                    <a:pt x="11046987" y="5748"/>
                  </a:lnTo>
                  <a:lnTo>
                    <a:pt x="11018519" y="0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68680" y="5852159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023" y="0"/>
                  </a:moveTo>
                  <a:lnTo>
                    <a:pt x="147992" y="5071"/>
                  </a:lnTo>
                  <a:lnTo>
                    <a:pt x="107574" y="19516"/>
                  </a:lnTo>
                  <a:lnTo>
                    <a:pt x="71920" y="42183"/>
                  </a:lnTo>
                  <a:lnTo>
                    <a:pt x="42183" y="71920"/>
                  </a:lnTo>
                  <a:lnTo>
                    <a:pt x="19516" y="107574"/>
                  </a:lnTo>
                  <a:lnTo>
                    <a:pt x="5071" y="147992"/>
                  </a:lnTo>
                  <a:lnTo>
                    <a:pt x="0" y="192023"/>
                  </a:lnTo>
                  <a:lnTo>
                    <a:pt x="5071" y="236055"/>
                  </a:lnTo>
                  <a:lnTo>
                    <a:pt x="19516" y="276473"/>
                  </a:lnTo>
                  <a:lnTo>
                    <a:pt x="42183" y="312127"/>
                  </a:lnTo>
                  <a:lnTo>
                    <a:pt x="71920" y="341864"/>
                  </a:lnTo>
                  <a:lnTo>
                    <a:pt x="107574" y="364531"/>
                  </a:lnTo>
                  <a:lnTo>
                    <a:pt x="147992" y="378976"/>
                  </a:lnTo>
                  <a:lnTo>
                    <a:pt x="192023" y="384047"/>
                  </a:lnTo>
                  <a:lnTo>
                    <a:pt x="236055" y="378976"/>
                  </a:lnTo>
                  <a:lnTo>
                    <a:pt x="276473" y="364531"/>
                  </a:lnTo>
                  <a:lnTo>
                    <a:pt x="312127" y="341864"/>
                  </a:lnTo>
                  <a:lnTo>
                    <a:pt x="341864" y="312127"/>
                  </a:lnTo>
                  <a:lnTo>
                    <a:pt x="364531" y="276473"/>
                  </a:lnTo>
                  <a:lnTo>
                    <a:pt x="378976" y="236055"/>
                  </a:lnTo>
                  <a:lnTo>
                    <a:pt x="384047" y="192023"/>
                  </a:lnTo>
                  <a:lnTo>
                    <a:pt x="378976" y="147992"/>
                  </a:lnTo>
                  <a:lnTo>
                    <a:pt x="364531" y="107574"/>
                  </a:lnTo>
                  <a:lnTo>
                    <a:pt x="341864" y="71920"/>
                  </a:lnTo>
                  <a:lnTo>
                    <a:pt x="312127" y="42183"/>
                  </a:lnTo>
                  <a:lnTo>
                    <a:pt x="276473" y="19516"/>
                  </a:lnTo>
                  <a:lnTo>
                    <a:pt x="236055" y="5071"/>
                  </a:lnTo>
                  <a:lnTo>
                    <a:pt x="192023" y="0"/>
                  </a:lnTo>
                  <a:close/>
                </a:path>
              </a:pathLst>
            </a:custGeom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6322" y="5969802"/>
              <a:ext cx="153412" cy="153412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1450594" y="5898591"/>
            <a:ext cx="2552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>
                <a:solidFill>
                  <a:srgbClr val="1A1A1A"/>
                </a:solidFill>
                <a:latin typeface="Calibri"/>
                <a:cs typeface="Calibri"/>
              </a:rPr>
              <a:t>Full</a:t>
            </a:r>
            <a:r>
              <a:rPr sz="1600" b="1" spc="-3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b="1" spc="-10">
                <a:solidFill>
                  <a:srgbClr val="1A1A1A"/>
                </a:solidFill>
                <a:latin typeface="Calibri"/>
                <a:cs typeface="Calibri"/>
              </a:rPr>
              <a:t>system</a:t>
            </a:r>
            <a:r>
              <a:rPr sz="1600" b="1" spc="-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b="1" spc="-10">
                <a:solidFill>
                  <a:srgbClr val="1A1A1A"/>
                </a:solidFill>
                <a:latin typeface="Calibri"/>
                <a:cs typeface="Calibri"/>
              </a:rPr>
              <a:t>integration</a:t>
            </a:r>
            <a:r>
              <a:rPr sz="1600" b="1" spc="-3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b="1" spc="-10">
                <a:solidFill>
                  <a:srgbClr val="1A1A1A"/>
                </a:solidFill>
                <a:latin typeface="Calibri"/>
                <a:cs typeface="Calibri"/>
              </a:rPr>
              <a:t>testing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0523981" y="5883913"/>
            <a:ext cx="151511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1200" b="1" spc="65">
                <a:solidFill>
                  <a:srgbClr val="2D7C31"/>
                </a:solidFill>
                <a:latin typeface="Calibri"/>
                <a:cs typeface="Calibri"/>
              </a:rPr>
              <a:t>COMPLETED</a:t>
            </a:r>
            <a:endParaRPr lang="en-PK" sz="1200" b="1" spc="65">
              <a:solidFill>
                <a:srgbClr val="2D7C31"/>
              </a:solidFill>
              <a:latin typeface="Calibri"/>
              <a:cs typeface="Calibri"/>
            </a:endParaRPr>
          </a:p>
        </p:txBody>
      </p:sp>
      <p:sp>
        <p:nvSpPr>
          <p:cNvPr id="42" name="object 25">
            <a:extLst>
              <a:ext uri="{FF2B5EF4-FFF2-40B4-BE49-F238E27FC236}">
                <a16:creationId xmlns:a16="http://schemas.microsoft.com/office/drawing/2014/main" id="{5DAD71C3-109A-C30C-81FD-E42A5B8D381E}"/>
              </a:ext>
            </a:extLst>
          </p:cNvPr>
          <p:cNvSpPr/>
          <p:nvPr/>
        </p:nvSpPr>
        <p:spPr>
          <a:xfrm>
            <a:off x="874317" y="5018662"/>
            <a:ext cx="384175" cy="384175"/>
          </a:xfrm>
          <a:custGeom>
            <a:avLst/>
            <a:gdLst/>
            <a:ahLst/>
            <a:cxnLst/>
            <a:rect l="l" t="t" r="r" b="b"/>
            <a:pathLst>
              <a:path w="384175" h="384175">
                <a:moveTo>
                  <a:pt x="192023" y="0"/>
                </a:moveTo>
                <a:lnTo>
                  <a:pt x="147992" y="5071"/>
                </a:lnTo>
                <a:lnTo>
                  <a:pt x="107574" y="19518"/>
                </a:lnTo>
                <a:lnTo>
                  <a:pt x="71920" y="42187"/>
                </a:lnTo>
                <a:lnTo>
                  <a:pt x="42183" y="71925"/>
                </a:lnTo>
                <a:lnTo>
                  <a:pt x="19516" y="107579"/>
                </a:lnTo>
                <a:lnTo>
                  <a:pt x="5071" y="147996"/>
                </a:lnTo>
                <a:lnTo>
                  <a:pt x="0" y="192024"/>
                </a:lnTo>
                <a:lnTo>
                  <a:pt x="5071" y="236051"/>
                </a:lnTo>
                <a:lnTo>
                  <a:pt x="19516" y="276468"/>
                </a:lnTo>
                <a:lnTo>
                  <a:pt x="42183" y="312122"/>
                </a:lnTo>
                <a:lnTo>
                  <a:pt x="71920" y="341860"/>
                </a:lnTo>
                <a:lnTo>
                  <a:pt x="107574" y="364529"/>
                </a:lnTo>
                <a:lnTo>
                  <a:pt x="147992" y="378976"/>
                </a:lnTo>
                <a:lnTo>
                  <a:pt x="192023" y="384048"/>
                </a:lnTo>
                <a:lnTo>
                  <a:pt x="236055" y="378976"/>
                </a:lnTo>
                <a:lnTo>
                  <a:pt x="276473" y="364529"/>
                </a:lnTo>
                <a:lnTo>
                  <a:pt x="312127" y="341860"/>
                </a:lnTo>
                <a:lnTo>
                  <a:pt x="341864" y="312122"/>
                </a:lnTo>
                <a:lnTo>
                  <a:pt x="364531" y="276468"/>
                </a:lnTo>
                <a:lnTo>
                  <a:pt x="378976" y="236051"/>
                </a:lnTo>
                <a:lnTo>
                  <a:pt x="384047" y="192024"/>
                </a:lnTo>
                <a:lnTo>
                  <a:pt x="378976" y="147996"/>
                </a:lnTo>
                <a:lnTo>
                  <a:pt x="364531" y="107579"/>
                </a:lnTo>
                <a:lnTo>
                  <a:pt x="341864" y="71925"/>
                </a:lnTo>
                <a:lnTo>
                  <a:pt x="312127" y="42187"/>
                </a:lnTo>
                <a:lnTo>
                  <a:pt x="276473" y="19518"/>
                </a:lnTo>
                <a:lnTo>
                  <a:pt x="236055" y="5071"/>
                </a:lnTo>
                <a:lnTo>
                  <a:pt x="192023" y="0"/>
                </a:lnTo>
                <a:close/>
              </a:path>
            </a:pathLst>
          </a:custGeom>
          <a:solidFill>
            <a:srgbClr val="2D7C3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3" name="object 26" descr="preencoded.png">
            <a:extLst>
              <a:ext uri="{FF2B5EF4-FFF2-40B4-BE49-F238E27FC236}">
                <a16:creationId xmlns:a16="http://schemas.microsoft.com/office/drawing/2014/main" id="{661C5070-4BED-ED2F-50F0-9979CE746C6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2375" y="5145666"/>
            <a:ext cx="176656" cy="134817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BBC852E2-8BC5-FAEB-3698-C5C4ECB88FF7}"/>
              </a:ext>
            </a:extLst>
          </p:cNvPr>
          <p:cNvSpPr txBox="1"/>
          <p:nvPr/>
        </p:nvSpPr>
        <p:spPr>
          <a:xfrm>
            <a:off x="10432542" y="4883907"/>
            <a:ext cx="1524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spc="65">
                <a:solidFill>
                  <a:srgbClr val="2D7C31"/>
                </a:solidFill>
                <a:latin typeface="Calibri"/>
                <a:cs typeface="Calibri"/>
              </a:rPr>
              <a:t>COMPLETED</a:t>
            </a:r>
            <a:endParaRPr lang="en-PK" sz="1200" b="1" spc="65">
              <a:solidFill>
                <a:srgbClr val="2D7C31"/>
              </a:solidFill>
              <a:latin typeface="Calibri"/>
              <a:cs typeface="Calibri"/>
            </a:endParaRPr>
          </a:p>
        </p:txBody>
      </p:sp>
      <p:sp>
        <p:nvSpPr>
          <p:cNvPr id="47" name="object 25">
            <a:extLst>
              <a:ext uri="{FF2B5EF4-FFF2-40B4-BE49-F238E27FC236}">
                <a16:creationId xmlns:a16="http://schemas.microsoft.com/office/drawing/2014/main" id="{0D92F2FF-5F0C-921C-A58E-F14F858416DD}"/>
              </a:ext>
            </a:extLst>
          </p:cNvPr>
          <p:cNvSpPr/>
          <p:nvPr/>
        </p:nvSpPr>
        <p:spPr>
          <a:xfrm>
            <a:off x="877949" y="5804444"/>
            <a:ext cx="384175" cy="384175"/>
          </a:xfrm>
          <a:custGeom>
            <a:avLst/>
            <a:gdLst/>
            <a:ahLst/>
            <a:cxnLst/>
            <a:rect l="l" t="t" r="r" b="b"/>
            <a:pathLst>
              <a:path w="384175" h="384175">
                <a:moveTo>
                  <a:pt x="192023" y="0"/>
                </a:moveTo>
                <a:lnTo>
                  <a:pt x="147992" y="5071"/>
                </a:lnTo>
                <a:lnTo>
                  <a:pt x="107574" y="19518"/>
                </a:lnTo>
                <a:lnTo>
                  <a:pt x="71920" y="42187"/>
                </a:lnTo>
                <a:lnTo>
                  <a:pt x="42183" y="71925"/>
                </a:lnTo>
                <a:lnTo>
                  <a:pt x="19516" y="107579"/>
                </a:lnTo>
                <a:lnTo>
                  <a:pt x="5071" y="147996"/>
                </a:lnTo>
                <a:lnTo>
                  <a:pt x="0" y="192024"/>
                </a:lnTo>
                <a:lnTo>
                  <a:pt x="5071" y="236051"/>
                </a:lnTo>
                <a:lnTo>
                  <a:pt x="19516" y="276468"/>
                </a:lnTo>
                <a:lnTo>
                  <a:pt x="42183" y="312122"/>
                </a:lnTo>
                <a:lnTo>
                  <a:pt x="71920" y="341860"/>
                </a:lnTo>
                <a:lnTo>
                  <a:pt x="107574" y="364529"/>
                </a:lnTo>
                <a:lnTo>
                  <a:pt x="147992" y="378976"/>
                </a:lnTo>
                <a:lnTo>
                  <a:pt x="192023" y="384048"/>
                </a:lnTo>
                <a:lnTo>
                  <a:pt x="236055" y="378976"/>
                </a:lnTo>
                <a:lnTo>
                  <a:pt x="276473" y="364529"/>
                </a:lnTo>
                <a:lnTo>
                  <a:pt x="312127" y="341860"/>
                </a:lnTo>
                <a:lnTo>
                  <a:pt x="341864" y="312122"/>
                </a:lnTo>
                <a:lnTo>
                  <a:pt x="364531" y="276468"/>
                </a:lnTo>
                <a:lnTo>
                  <a:pt x="378976" y="236051"/>
                </a:lnTo>
                <a:lnTo>
                  <a:pt x="384047" y="192024"/>
                </a:lnTo>
                <a:lnTo>
                  <a:pt x="378976" y="147996"/>
                </a:lnTo>
                <a:lnTo>
                  <a:pt x="364531" y="107579"/>
                </a:lnTo>
                <a:lnTo>
                  <a:pt x="341864" y="71925"/>
                </a:lnTo>
                <a:lnTo>
                  <a:pt x="312127" y="42187"/>
                </a:lnTo>
                <a:lnTo>
                  <a:pt x="276473" y="19518"/>
                </a:lnTo>
                <a:lnTo>
                  <a:pt x="236055" y="5071"/>
                </a:lnTo>
                <a:lnTo>
                  <a:pt x="192023" y="0"/>
                </a:lnTo>
                <a:close/>
              </a:path>
            </a:pathLst>
          </a:custGeom>
          <a:solidFill>
            <a:srgbClr val="2D7C3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8" name="object 26" descr="preencoded.png">
            <a:extLst>
              <a:ext uri="{FF2B5EF4-FFF2-40B4-BE49-F238E27FC236}">
                <a16:creationId xmlns:a16="http://schemas.microsoft.com/office/drawing/2014/main" id="{E4F92027-391A-3131-5C75-A064AF4226E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6322" y="5953691"/>
            <a:ext cx="176656" cy="134817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1E4D7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26720" y="134112"/>
            <a:ext cx="609600" cy="609600"/>
          </a:xfrm>
          <a:prstGeom prst="roundRect">
            <a:avLst>
              <a:gd name="adj" fmla="val 16000"/>
            </a:avLst>
          </a:prstGeom>
          <a:solidFill>
            <a:srgbClr val="4FC3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26720" y="134112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>
                <a:solidFill>
                  <a:srgbClr val="1E4D7B"/>
                </a:solidFill>
                <a:latin typeface="Arial"/>
                <a:cs typeface="Arial"/>
              </a:rPr>
              <a:t>27</a:t>
            </a:r>
            <a:endParaRPr lang="en-US" sz="2133"/>
          </a:p>
        </p:txBody>
      </p:sp>
      <p:sp>
        <p:nvSpPr>
          <p:cNvPr id="5" name="Text 3"/>
          <p:cNvSpPr/>
          <p:nvPr/>
        </p:nvSpPr>
        <p:spPr>
          <a:xfrm>
            <a:off x="1219200" y="134112"/>
            <a:ext cx="82905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2133" b="1" spc="16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HEALTH &amp; SAFETY CONSIDERATIONS</a:t>
            </a:r>
            <a:endParaRPr lang="en-US" sz="2133"/>
          </a:p>
        </p:txBody>
      </p:sp>
      <p:sp>
        <p:nvSpPr>
          <p:cNvPr id="6" name="Text 4"/>
          <p:cNvSpPr/>
          <p:nvPr/>
        </p:nvSpPr>
        <p:spPr>
          <a:xfrm>
            <a:off x="9509760" y="134112"/>
            <a:ext cx="21945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spc="267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T A N D A R D S</a:t>
            </a:r>
            <a:endParaRPr lang="en-US" sz="1333"/>
          </a:p>
        </p:txBody>
      </p:sp>
      <p:sp>
        <p:nvSpPr>
          <p:cNvPr id="7" name="Shape 5"/>
          <p:cNvSpPr/>
          <p:nvPr/>
        </p:nvSpPr>
        <p:spPr>
          <a:xfrm>
            <a:off x="487680" y="999744"/>
            <a:ext cx="11216640" cy="902208"/>
          </a:xfrm>
          <a:prstGeom prst="roundRect">
            <a:avLst>
              <a:gd name="adj" fmla="val 8108"/>
            </a:avLst>
          </a:prstGeom>
          <a:solidFill>
            <a:srgbClr val="FFF3F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487680" y="999744"/>
            <a:ext cx="487680" cy="902208"/>
          </a:xfrm>
          <a:prstGeom prst="roundRect">
            <a:avLst>
              <a:gd name="adj" fmla="val 15000"/>
            </a:avLst>
          </a:prstGeom>
          <a:solidFill>
            <a:srgbClr val="E5393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877824" y="999744"/>
            <a:ext cx="97536" cy="902208"/>
          </a:xfrm>
          <a:prstGeom prst="rect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408" y="1316736"/>
            <a:ext cx="268224" cy="2682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72896" y="1048512"/>
            <a:ext cx="10582656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 b="1" spc="107">
                <a:solidFill>
                  <a:srgbClr val="1E4D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ELECTRICAL &amp; HARDWARE SAFETY</a:t>
            </a:r>
            <a:endParaRPr lang="en-US" sz="1200"/>
          </a:p>
        </p:txBody>
      </p:sp>
      <p:sp>
        <p:nvSpPr>
          <p:cNvPr id="12" name="Text 9"/>
          <p:cNvSpPr/>
          <p:nvPr/>
        </p:nvSpPr>
        <p:spPr>
          <a:xfrm>
            <a:off x="1072896" y="1280160"/>
            <a:ext cx="10582656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50">
                <a:solidFill>
                  <a:srgbClr val="37474F"/>
                </a:solidFill>
                <a:latin typeface="Arial"/>
                <a:ea typeface="Arial" pitchFamily="34" charset="-122"/>
                <a:cs typeface="Arial"/>
              </a:rPr>
              <a:t>•   5V operation</a:t>
            </a:r>
            <a:endParaRPr lang="en-US" sz="1050" b="1">
              <a:solidFill>
                <a:srgbClr val="1565C0"/>
              </a:solidFill>
              <a:latin typeface="Arial"/>
              <a:cs typeface="Arial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040699" y="1585904"/>
            <a:ext cx="10582656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50">
                <a:solidFill>
                  <a:srgbClr val="37474F"/>
                </a:solidFill>
                <a:latin typeface="Arial"/>
                <a:ea typeface="Arial" pitchFamily="34" charset="-122"/>
                <a:cs typeface="Arial"/>
              </a:rPr>
              <a:t>•   CPU thermal load</a:t>
            </a:r>
            <a:endParaRPr lang="en-US" sz="1050">
              <a:solidFill>
                <a:srgbClr val="90A4AE"/>
              </a:solidFill>
              <a:latin typeface="Arial"/>
              <a:cs typeface="Arial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87680" y="1938528"/>
            <a:ext cx="11216640" cy="902208"/>
          </a:xfrm>
          <a:prstGeom prst="roundRect">
            <a:avLst>
              <a:gd name="adj" fmla="val 8108"/>
            </a:avLst>
          </a:prstGeom>
          <a:solidFill>
            <a:srgbClr val="E8F4F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Shape 13"/>
          <p:cNvSpPr/>
          <p:nvPr/>
        </p:nvSpPr>
        <p:spPr>
          <a:xfrm>
            <a:off x="487680" y="1938528"/>
            <a:ext cx="487680" cy="902208"/>
          </a:xfrm>
          <a:prstGeom prst="roundRect">
            <a:avLst>
              <a:gd name="adj" fmla="val 15000"/>
            </a:avLst>
          </a:prstGeom>
          <a:solidFill>
            <a:srgbClr val="1976D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Shape 14"/>
          <p:cNvSpPr/>
          <p:nvPr/>
        </p:nvSpPr>
        <p:spPr>
          <a:xfrm>
            <a:off x="877824" y="1938528"/>
            <a:ext cx="97536" cy="902208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408" y="2255520"/>
            <a:ext cx="268224" cy="26822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072896" y="1987296"/>
            <a:ext cx="10582656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 b="1" spc="107">
                <a:solidFill>
                  <a:srgbClr val="1E4D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&amp; DATA PROTECTION</a:t>
            </a:r>
            <a:endParaRPr lang="en-US" sz="1200"/>
          </a:p>
        </p:txBody>
      </p:sp>
      <p:sp>
        <p:nvSpPr>
          <p:cNvPr id="20" name="Text 16"/>
          <p:cNvSpPr/>
          <p:nvPr/>
        </p:nvSpPr>
        <p:spPr>
          <a:xfrm>
            <a:off x="1072896" y="2218944"/>
            <a:ext cx="10582656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50">
                <a:solidFill>
                  <a:srgbClr val="37474F"/>
                </a:solidFill>
                <a:latin typeface="Arial"/>
                <a:ea typeface="Arial" pitchFamily="34" charset="-122"/>
                <a:cs typeface="Arial"/>
              </a:rPr>
              <a:t>•   On-device AI processing  </a:t>
            </a:r>
            <a:endParaRPr lang="en-US" sz="1050">
              <a:solidFill>
                <a:srgbClr val="37474F"/>
              </a:solidFill>
              <a:latin typeface="Arial"/>
              <a:cs typeface="Arial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1072896" y="2420112"/>
            <a:ext cx="10582656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50">
                <a:solidFill>
                  <a:srgbClr val="37474F"/>
                </a:solidFill>
                <a:latin typeface="Arial"/>
                <a:ea typeface="Arial" pitchFamily="34" charset="-122"/>
                <a:cs typeface="Arial"/>
              </a:rPr>
              <a:t>•   Cloud photo storage  </a:t>
            </a:r>
            <a:endParaRPr lang="en-US" sz="1050">
              <a:solidFill>
                <a:srgbClr val="37474F"/>
              </a:solidFill>
              <a:latin typeface="Arial"/>
              <a:cs typeface="Arial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1072896" y="2621280"/>
            <a:ext cx="10582656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50">
                <a:solidFill>
                  <a:srgbClr val="37474F"/>
                </a:solidFill>
                <a:latin typeface="Arial"/>
                <a:ea typeface="Arial" pitchFamily="34" charset="-122"/>
                <a:cs typeface="Arial"/>
              </a:rPr>
              <a:t>•   MQTT control channel </a:t>
            </a:r>
            <a:endParaRPr lang="en-US" sz="1050">
              <a:solidFill>
                <a:srgbClr val="37474F"/>
              </a:solidFill>
              <a:latin typeface="Arial"/>
              <a:cs typeface="Arial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487680" y="2877312"/>
            <a:ext cx="11216640" cy="902208"/>
          </a:xfrm>
          <a:prstGeom prst="roundRect">
            <a:avLst>
              <a:gd name="adj" fmla="val 8108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Shape 20"/>
          <p:cNvSpPr/>
          <p:nvPr/>
        </p:nvSpPr>
        <p:spPr>
          <a:xfrm>
            <a:off x="487680" y="2877312"/>
            <a:ext cx="487680" cy="902208"/>
          </a:xfrm>
          <a:prstGeom prst="roundRect">
            <a:avLst>
              <a:gd name="adj" fmla="val 15000"/>
            </a:avLst>
          </a:prstGeom>
          <a:solidFill>
            <a:srgbClr val="388E3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Shape 21"/>
          <p:cNvSpPr/>
          <p:nvPr/>
        </p:nvSpPr>
        <p:spPr>
          <a:xfrm>
            <a:off x="877824" y="2877312"/>
            <a:ext cx="97536" cy="902208"/>
          </a:xfrm>
          <a:prstGeom prst="rect">
            <a:avLst/>
          </a:prstGeom>
          <a:solidFill>
            <a:srgbClr val="388E3C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408" y="3194304"/>
            <a:ext cx="268224" cy="26822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072896" y="2926080"/>
            <a:ext cx="10582656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 b="1" spc="107">
                <a:solidFill>
                  <a:srgbClr val="1E4D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&amp; CYBERSECURITY</a:t>
            </a:r>
            <a:endParaRPr lang="en-US" sz="1200"/>
          </a:p>
        </p:txBody>
      </p:sp>
      <p:sp>
        <p:nvSpPr>
          <p:cNvPr id="28" name="Text 23"/>
          <p:cNvSpPr/>
          <p:nvPr/>
        </p:nvSpPr>
        <p:spPr>
          <a:xfrm>
            <a:off x="1072896" y="3157728"/>
            <a:ext cx="10582656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50">
                <a:solidFill>
                  <a:srgbClr val="37474F"/>
                </a:solidFill>
                <a:latin typeface="Arial"/>
                <a:ea typeface="Arial" pitchFamily="34" charset="-122"/>
                <a:cs typeface="Arial"/>
              </a:rPr>
              <a:t>•   Internet-connected device  </a:t>
            </a:r>
            <a:r>
              <a:rPr lang="en-US" sz="1050">
                <a:solidFill>
                  <a:srgbClr val="90A4AE"/>
                </a:solidFill>
                <a:latin typeface="Arial"/>
                <a:ea typeface="Arial" pitchFamily="34" charset="-122"/>
                <a:cs typeface="Arial"/>
              </a:rPr>
              <a:t>  </a:t>
            </a:r>
            <a:r>
              <a:rPr lang="en-US" sz="1050">
                <a:solidFill>
                  <a:srgbClr val="37474F"/>
                </a:solidFill>
                <a:latin typeface="Arial"/>
                <a:ea typeface="Arial" pitchFamily="34" charset="-122"/>
                <a:cs typeface="Arial"/>
              </a:rPr>
              <a:t>outbound-only architecture, no inbound ports, no port-forwarding</a:t>
            </a:r>
            <a:endParaRPr lang="en-US" sz="1050">
              <a:latin typeface="Arial"/>
              <a:cs typeface="Arial"/>
            </a:endParaRPr>
          </a:p>
        </p:txBody>
      </p:sp>
      <p:sp>
        <p:nvSpPr>
          <p:cNvPr id="30" name="Text 25"/>
          <p:cNvSpPr/>
          <p:nvPr/>
        </p:nvSpPr>
        <p:spPr>
          <a:xfrm>
            <a:off x="1072896" y="3366880"/>
            <a:ext cx="10582656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50">
                <a:solidFill>
                  <a:srgbClr val="37474F"/>
                </a:solidFill>
                <a:latin typeface="Arial"/>
                <a:ea typeface="Arial" pitchFamily="34" charset="-122"/>
                <a:cs typeface="Arial"/>
              </a:rPr>
              <a:t>•   Stored </a:t>
            </a:r>
            <a:r>
              <a:rPr lang="en-US" sz="1050" err="1">
                <a:solidFill>
                  <a:srgbClr val="37474F"/>
                </a:solidFill>
                <a:latin typeface="Arial"/>
                <a:ea typeface="Arial" pitchFamily="34" charset="-122"/>
                <a:cs typeface="Arial"/>
              </a:rPr>
              <a:t>WiFi</a:t>
            </a:r>
            <a:r>
              <a:rPr lang="en-US" sz="1050">
                <a:solidFill>
                  <a:srgbClr val="37474F"/>
                </a:solidFill>
                <a:latin typeface="Arial"/>
                <a:ea typeface="Arial" pitchFamily="34" charset="-122"/>
                <a:cs typeface="Arial"/>
              </a:rPr>
              <a:t> credentials  </a:t>
            </a:r>
            <a:endParaRPr lang="en-US" sz="1050">
              <a:solidFill>
                <a:srgbClr val="37474F"/>
              </a:solidFill>
              <a:latin typeface="Arial"/>
              <a:cs typeface="Arial"/>
            </a:endParaRPr>
          </a:p>
        </p:txBody>
      </p:sp>
      <p:sp>
        <p:nvSpPr>
          <p:cNvPr id="39" name="Shape 33"/>
          <p:cNvSpPr/>
          <p:nvPr/>
        </p:nvSpPr>
        <p:spPr>
          <a:xfrm>
            <a:off x="573539" y="3939218"/>
            <a:ext cx="11216640" cy="707136"/>
          </a:xfrm>
          <a:prstGeom prst="roundRect">
            <a:avLst>
              <a:gd name="adj" fmla="val 10345"/>
            </a:avLst>
          </a:prstGeom>
          <a:solidFill>
            <a:srgbClr val="F3E5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0" name="Shape 34"/>
          <p:cNvSpPr/>
          <p:nvPr/>
        </p:nvSpPr>
        <p:spPr>
          <a:xfrm>
            <a:off x="509145" y="3982148"/>
            <a:ext cx="487680" cy="707136"/>
          </a:xfrm>
          <a:prstGeom prst="roundRect">
            <a:avLst>
              <a:gd name="adj" fmla="val 15000"/>
            </a:avLst>
          </a:prstGeom>
          <a:solidFill>
            <a:srgbClr val="7B1FA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1" name="Shape 35"/>
          <p:cNvSpPr/>
          <p:nvPr/>
        </p:nvSpPr>
        <p:spPr>
          <a:xfrm>
            <a:off x="899289" y="3982148"/>
            <a:ext cx="97536" cy="707136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873" y="4201604"/>
            <a:ext cx="268224" cy="268224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1158755" y="3987986"/>
            <a:ext cx="10582656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 b="1" spc="107">
                <a:solidFill>
                  <a:srgbClr val="1E4D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WELLBEING &amp; ETHICS</a:t>
            </a:r>
            <a:endParaRPr lang="en-US" sz="1200"/>
          </a:p>
        </p:txBody>
      </p:sp>
      <p:sp>
        <p:nvSpPr>
          <p:cNvPr id="45" name="Text 38"/>
          <p:cNvSpPr/>
          <p:nvPr/>
        </p:nvSpPr>
        <p:spPr>
          <a:xfrm>
            <a:off x="1158755" y="4292013"/>
            <a:ext cx="10582656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50">
                <a:solidFill>
                  <a:srgbClr val="37474F"/>
                </a:solidFill>
                <a:latin typeface="Arial"/>
                <a:ea typeface="Arial" pitchFamily="34" charset="-122"/>
                <a:cs typeface="Arial"/>
              </a:rPr>
              <a:t>•   Surveillance discomfort  user arm/disarm control</a:t>
            </a:r>
            <a:endParaRPr lang="en-US" sz="1050">
              <a:latin typeface="Arial"/>
              <a:cs typeface="Arial"/>
            </a:endParaRPr>
          </a:p>
        </p:txBody>
      </p:sp>
      <p:sp>
        <p:nvSpPr>
          <p:cNvPr id="46" name="Shape 39"/>
          <p:cNvSpPr/>
          <p:nvPr/>
        </p:nvSpPr>
        <p:spPr>
          <a:xfrm>
            <a:off x="487680" y="5571744"/>
            <a:ext cx="11216640" cy="341376"/>
          </a:xfrm>
          <a:prstGeom prst="roundRect">
            <a:avLst>
              <a:gd name="adj" fmla="val 21429"/>
            </a:avLst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7" name="Text 40"/>
          <p:cNvSpPr/>
          <p:nvPr/>
        </p:nvSpPr>
        <p:spPr>
          <a:xfrm>
            <a:off x="487680" y="5571744"/>
            <a:ext cx="11216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identified hazards  ·  15 international standards referenced  ·  Privacy-by-design  ·  Outbound-only  ·  All mitigations implemented in code</a:t>
            </a:r>
            <a:endParaRPr lang="en-US" sz="1000"/>
          </a:p>
        </p:txBody>
      </p:sp>
      <p:sp>
        <p:nvSpPr>
          <p:cNvPr id="48" name="Text 41"/>
          <p:cNvSpPr/>
          <p:nvPr/>
        </p:nvSpPr>
        <p:spPr>
          <a:xfrm>
            <a:off x="609600" y="6339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67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EagleEye · FYP Final Defence · June 2026</a:t>
            </a:r>
            <a:endParaRPr lang="en-US" sz="1067"/>
          </a:p>
        </p:txBody>
      </p:sp>
      <p:sp>
        <p:nvSpPr>
          <p:cNvPr id="49" name="Text 42"/>
          <p:cNvSpPr/>
          <p:nvPr/>
        </p:nvSpPr>
        <p:spPr>
          <a:xfrm>
            <a:off x="10363200" y="6339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28</a:t>
            </a:r>
            <a:endParaRPr lang="en-US" sz="1067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1588" y="239979"/>
            <a:ext cx="275590" cy="331470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000" b="1" spc="-330">
                <a:solidFill>
                  <a:srgbClr val="FFFFFF"/>
                </a:solidFill>
                <a:latin typeface="Tahoma"/>
                <a:cs typeface="Tahoma"/>
              </a:rPr>
              <a:t>28</a:t>
            </a:r>
            <a:endParaRPr sz="2000" b="1" spc="-330">
              <a:solidFill>
                <a:srgbClr val="FFFFFF"/>
              </a:solidFill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4"/>
              <a:t>WORK</a:t>
            </a:r>
            <a:r>
              <a:rPr spc="175"/>
              <a:t> </a:t>
            </a:r>
            <a:r>
              <a:rPr spc="-10"/>
              <a:t>DIVISION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194542" y="324103"/>
            <a:ext cx="6807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R</a:t>
            </a:r>
            <a:r>
              <a:rPr sz="1100" b="1" spc="-50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E</a:t>
            </a:r>
            <a:r>
              <a:rPr sz="1100" b="1" spc="-4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S</a:t>
            </a:r>
            <a:r>
              <a:rPr sz="1100" b="1" spc="-5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U</a:t>
            </a:r>
            <a:r>
              <a:rPr sz="1100" b="1" spc="-5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L</a:t>
            </a:r>
            <a:r>
              <a:rPr sz="1100" b="1" spc="-4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T</a:t>
            </a:r>
            <a:r>
              <a:rPr sz="1100" b="1" spc="-4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 spc="-50">
                <a:solidFill>
                  <a:srgbClr val="BBD3EB"/>
                </a:solidFill>
                <a:latin typeface="Calibri"/>
                <a:cs typeface="Calibri"/>
              </a:rPr>
              <a:t>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7630" y="2991739"/>
            <a:ext cx="1838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>
                <a:solidFill>
                  <a:srgbClr val="1F4E79"/>
                </a:solidFill>
                <a:latin typeface="Tahoma"/>
                <a:cs typeface="Tahoma"/>
              </a:rPr>
              <a:t>Murtaza</a:t>
            </a:r>
            <a:r>
              <a:rPr sz="1800" b="1" spc="29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800" b="1" spc="40">
                <a:solidFill>
                  <a:srgbClr val="1F4E79"/>
                </a:solidFill>
                <a:latin typeface="Tahoma"/>
                <a:cs typeface="Tahoma"/>
              </a:rPr>
              <a:t>Khalid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81252" y="3480308"/>
            <a:ext cx="257873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80">
                <a:solidFill>
                  <a:srgbClr val="2095F3"/>
                </a:solidFill>
                <a:latin typeface="Calibri"/>
                <a:cs typeface="Calibri"/>
              </a:rPr>
              <a:t>COMPUTER</a:t>
            </a:r>
            <a:r>
              <a:rPr sz="1150" b="1" spc="204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150" b="1" spc="75">
                <a:solidFill>
                  <a:srgbClr val="2095F3"/>
                </a:solidFill>
                <a:latin typeface="Calibri"/>
                <a:cs typeface="Calibri"/>
              </a:rPr>
              <a:t>VISION</a:t>
            </a:r>
            <a:r>
              <a:rPr sz="1150" b="1" spc="22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150" b="1">
                <a:solidFill>
                  <a:srgbClr val="2095F3"/>
                </a:solidFill>
                <a:latin typeface="Calibri"/>
                <a:cs typeface="Calibri"/>
              </a:rPr>
              <a:t>&amp;</a:t>
            </a:r>
            <a:r>
              <a:rPr sz="1150" b="1" spc="200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150" b="1" spc="80">
                <a:solidFill>
                  <a:srgbClr val="2095F3"/>
                </a:solidFill>
                <a:latin typeface="Calibri"/>
                <a:cs typeface="Calibri"/>
              </a:rPr>
              <a:t>EMBEDDED</a:t>
            </a:r>
            <a:r>
              <a:rPr sz="1150" b="1" spc="204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150" b="1" spc="-25">
                <a:solidFill>
                  <a:srgbClr val="2095F3"/>
                </a:solidFill>
                <a:latin typeface="Calibri"/>
                <a:cs typeface="Calibri"/>
              </a:rPr>
              <a:t>AI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8819" y="3866159"/>
            <a:ext cx="2846705" cy="841256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865"/>
              </a:spcBef>
              <a:buChar char="•"/>
              <a:tabLst>
                <a:tab pos="189230" algn="l"/>
              </a:tabLst>
            </a:pPr>
            <a:r>
              <a:rPr sz="1350">
                <a:solidFill>
                  <a:srgbClr val="1A1A1A"/>
                </a:solidFill>
                <a:latin typeface="Calibri"/>
                <a:cs typeface="Calibri"/>
              </a:rPr>
              <a:t>Dataset</a:t>
            </a:r>
            <a:r>
              <a:rPr sz="1350" spc="-5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350">
                <a:solidFill>
                  <a:srgbClr val="1A1A1A"/>
                </a:solidFill>
                <a:latin typeface="Calibri"/>
                <a:cs typeface="Calibri"/>
              </a:rPr>
              <a:t>+</a:t>
            </a:r>
            <a:r>
              <a:rPr sz="1350" spc="-3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350">
                <a:solidFill>
                  <a:srgbClr val="1A1A1A"/>
                </a:solidFill>
                <a:latin typeface="Calibri"/>
                <a:cs typeface="Calibri"/>
              </a:rPr>
              <a:t>TinyML</a:t>
            </a:r>
            <a:r>
              <a:rPr sz="1350" spc="-4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350">
                <a:solidFill>
                  <a:srgbClr val="1A1A1A"/>
                </a:solidFill>
                <a:latin typeface="Calibri"/>
                <a:cs typeface="Calibri"/>
              </a:rPr>
              <a:t>training</a:t>
            </a:r>
            <a:r>
              <a:rPr sz="1350" spc="-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350" spc="-10">
                <a:solidFill>
                  <a:srgbClr val="1A1A1A"/>
                </a:solidFill>
                <a:latin typeface="Calibri"/>
                <a:cs typeface="Calibri"/>
              </a:rPr>
              <a:t>(INT8).</a:t>
            </a:r>
            <a:endParaRPr sz="1350">
              <a:latin typeface="Calibri"/>
              <a:cs typeface="Calibri"/>
            </a:endParaRPr>
          </a:p>
          <a:p>
            <a:pPr marL="188595" marR="5080" indent="-176530">
              <a:lnSpc>
                <a:spcPct val="109600"/>
              </a:lnSpc>
              <a:spcBef>
                <a:spcPts val="615"/>
              </a:spcBef>
              <a:buChar char="•"/>
              <a:tabLst>
                <a:tab pos="190500" algn="l"/>
              </a:tabLst>
            </a:pPr>
            <a:r>
              <a:rPr sz="1350" spc="-10">
                <a:solidFill>
                  <a:srgbClr val="1A1A1A"/>
                </a:solidFill>
                <a:latin typeface="Calibri"/>
                <a:cs typeface="Calibri"/>
              </a:rPr>
              <a:t>ESP32-</a:t>
            </a:r>
            <a:r>
              <a:rPr sz="1350">
                <a:solidFill>
                  <a:srgbClr val="1A1A1A"/>
                </a:solidFill>
                <a:latin typeface="Calibri"/>
                <a:cs typeface="Calibri"/>
              </a:rPr>
              <a:t>CAM</a:t>
            </a:r>
            <a:r>
              <a:rPr sz="1350" spc="-4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350">
                <a:solidFill>
                  <a:srgbClr val="1A1A1A"/>
                </a:solidFill>
                <a:latin typeface="Calibri"/>
                <a:cs typeface="Calibri"/>
              </a:rPr>
              <a:t>C++</a:t>
            </a:r>
            <a:r>
              <a:rPr sz="1350" spc="-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350">
                <a:solidFill>
                  <a:srgbClr val="1A1A1A"/>
                </a:solidFill>
                <a:latin typeface="Calibri"/>
                <a:cs typeface="Calibri"/>
              </a:rPr>
              <a:t>firmware</a:t>
            </a:r>
            <a:r>
              <a:rPr sz="1350" spc="-2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350">
                <a:solidFill>
                  <a:srgbClr val="1A1A1A"/>
                </a:solidFill>
                <a:latin typeface="Calibri"/>
                <a:cs typeface="Calibri"/>
              </a:rPr>
              <a:t>&amp;</a:t>
            </a:r>
            <a:r>
              <a:rPr sz="1350" spc="-3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350" spc="-10">
                <a:solidFill>
                  <a:srgbClr val="1A1A1A"/>
                </a:solidFill>
                <a:latin typeface="Calibri"/>
                <a:cs typeface="Calibri"/>
              </a:rPr>
              <a:t>inference 	engine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021651" y="2991739"/>
            <a:ext cx="3327426" cy="289823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b="1" spc="55">
                <a:solidFill>
                  <a:srgbClr val="1F4E79"/>
                </a:solidFill>
                <a:latin typeface="Tahoma"/>
                <a:cs typeface="Tahoma"/>
              </a:rPr>
              <a:t>Muhammad Haseeb</a:t>
            </a:r>
            <a:endParaRPr lang="en-US" sz="1800" b="1" spc="95" err="1">
              <a:solidFill>
                <a:srgbClr val="1F4E79"/>
              </a:solidFill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903089" y="3480308"/>
            <a:ext cx="236918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70">
                <a:solidFill>
                  <a:srgbClr val="2095F3"/>
                </a:solidFill>
                <a:latin typeface="Calibri"/>
                <a:cs typeface="Calibri"/>
              </a:rPr>
              <a:t>AUDIO</a:t>
            </a:r>
            <a:r>
              <a:rPr sz="1150" b="1" spc="204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150" b="1" spc="80">
                <a:solidFill>
                  <a:srgbClr val="2095F3"/>
                </a:solidFill>
                <a:latin typeface="Calibri"/>
                <a:cs typeface="Calibri"/>
              </a:rPr>
              <a:t>INTELLIGENCE</a:t>
            </a:r>
            <a:r>
              <a:rPr sz="1150" b="1" spc="24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150" b="1">
                <a:solidFill>
                  <a:srgbClr val="2095F3"/>
                </a:solidFill>
                <a:latin typeface="Calibri"/>
                <a:cs typeface="Calibri"/>
              </a:rPr>
              <a:t>&amp;</a:t>
            </a:r>
            <a:r>
              <a:rPr sz="1150" b="1" spc="21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150" b="1" spc="65">
                <a:solidFill>
                  <a:srgbClr val="2095F3"/>
                </a:solidFill>
                <a:latin typeface="Calibri"/>
                <a:cs typeface="Calibri"/>
              </a:rPr>
              <a:t>SENSING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38598" y="3866159"/>
            <a:ext cx="2832735" cy="841256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865"/>
              </a:spcBef>
              <a:buChar char="•"/>
              <a:tabLst>
                <a:tab pos="189230" algn="l"/>
              </a:tabLst>
            </a:pPr>
            <a:r>
              <a:rPr sz="1350">
                <a:solidFill>
                  <a:srgbClr val="1A1A1A"/>
                </a:solidFill>
                <a:latin typeface="Calibri"/>
                <a:cs typeface="Calibri"/>
              </a:rPr>
              <a:t>Audio</a:t>
            </a:r>
            <a:r>
              <a:rPr sz="1350" spc="-4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350">
                <a:solidFill>
                  <a:srgbClr val="1A1A1A"/>
                </a:solidFill>
                <a:latin typeface="Calibri"/>
                <a:cs typeface="Calibri"/>
              </a:rPr>
              <a:t>classifier</a:t>
            </a:r>
            <a:r>
              <a:rPr sz="1350" spc="-3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350">
                <a:solidFill>
                  <a:srgbClr val="1A1A1A"/>
                </a:solidFill>
                <a:latin typeface="Calibri"/>
                <a:cs typeface="Calibri"/>
              </a:rPr>
              <a:t>on</a:t>
            </a:r>
            <a:r>
              <a:rPr sz="1350" spc="-5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350" spc="-10">
                <a:solidFill>
                  <a:srgbClr val="1A1A1A"/>
                </a:solidFill>
                <a:latin typeface="Calibri"/>
                <a:cs typeface="Calibri"/>
              </a:rPr>
              <a:t>UrbanSound8K.</a:t>
            </a:r>
            <a:endParaRPr sz="1350">
              <a:latin typeface="Calibri"/>
              <a:cs typeface="Calibri"/>
            </a:endParaRPr>
          </a:p>
          <a:p>
            <a:pPr marL="188595" marR="5080" indent="-176530">
              <a:lnSpc>
                <a:spcPct val="109600"/>
              </a:lnSpc>
              <a:spcBef>
                <a:spcPts val="615"/>
              </a:spcBef>
              <a:buChar char="•"/>
              <a:tabLst>
                <a:tab pos="190500" algn="l"/>
              </a:tabLst>
            </a:pPr>
            <a:r>
              <a:rPr sz="1350">
                <a:solidFill>
                  <a:srgbClr val="1A1A1A"/>
                </a:solidFill>
                <a:latin typeface="Calibri"/>
                <a:cs typeface="Calibri"/>
              </a:rPr>
              <a:t>Detects</a:t>
            </a:r>
            <a:r>
              <a:rPr sz="1350" spc="-3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350" spc="-30">
                <a:solidFill>
                  <a:srgbClr val="1A1A1A"/>
                </a:solidFill>
                <a:latin typeface="Calibri"/>
                <a:cs typeface="Calibri"/>
              </a:rPr>
              <a:t>door-</a:t>
            </a:r>
            <a:r>
              <a:rPr sz="1350">
                <a:solidFill>
                  <a:srgbClr val="1A1A1A"/>
                </a:solidFill>
                <a:latin typeface="Calibri"/>
                <a:cs typeface="Calibri"/>
              </a:rPr>
              <a:t>open</a:t>
            </a:r>
            <a:r>
              <a:rPr sz="1350" spc="-1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350">
                <a:solidFill>
                  <a:srgbClr val="1A1A1A"/>
                </a:solidFill>
                <a:latin typeface="Calibri"/>
                <a:cs typeface="Calibri"/>
              </a:rPr>
              <a:t>/</a:t>
            </a:r>
            <a:r>
              <a:rPr sz="1350" spc="-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350" spc="-10">
                <a:solidFill>
                  <a:srgbClr val="1A1A1A"/>
                </a:solidFill>
                <a:latin typeface="Calibri"/>
                <a:cs typeface="Calibri"/>
              </a:rPr>
              <a:t>footsteps</a:t>
            </a:r>
            <a:r>
              <a:rPr sz="1350" spc="-3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350">
                <a:solidFill>
                  <a:srgbClr val="1A1A1A"/>
                </a:solidFill>
                <a:latin typeface="Calibri"/>
                <a:cs typeface="Calibri"/>
              </a:rPr>
              <a:t>/</a:t>
            </a:r>
            <a:r>
              <a:rPr sz="1350" spc="-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350" spc="-10">
                <a:solidFill>
                  <a:srgbClr val="1A1A1A"/>
                </a:solidFill>
                <a:latin typeface="Calibri"/>
                <a:cs typeface="Calibri"/>
              </a:rPr>
              <a:t>glass-	break.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103614" y="2991739"/>
            <a:ext cx="1621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>
                <a:solidFill>
                  <a:srgbClr val="1F4E79"/>
                </a:solidFill>
                <a:latin typeface="Tahoma"/>
                <a:cs typeface="Tahoma"/>
              </a:rPr>
              <a:t>Huzaifa</a:t>
            </a:r>
            <a:r>
              <a:rPr sz="1800" b="1" spc="22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800" b="1" spc="55">
                <a:solidFill>
                  <a:srgbClr val="1F4E79"/>
                </a:solidFill>
                <a:latin typeface="Tahoma"/>
                <a:cs typeface="Tahoma"/>
              </a:rPr>
              <a:t>Khan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678418" y="3480308"/>
            <a:ext cx="245554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55">
                <a:solidFill>
                  <a:srgbClr val="2095F3"/>
                </a:solidFill>
                <a:latin typeface="Calibri"/>
                <a:cs typeface="Calibri"/>
              </a:rPr>
              <a:t>IOT</a:t>
            </a:r>
            <a:r>
              <a:rPr sz="1150" b="1" spc="21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150" b="1" spc="80">
                <a:solidFill>
                  <a:srgbClr val="2095F3"/>
                </a:solidFill>
                <a:latin typeface="Calibri"/>
                <a:cs typeface="Calibri"/>
              </a:rPr>
              <a:t>CONNECTIVITY</a:t>
            </a:r>
            <a:r>
              <a:rPr sz="1150" b="1" spc="24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150" b="1">
                <a:solidFill>
                  <a:srgbClr val="2095F3"/>
                </a:solidFill>
                <a:latin typeface="Calibri"/>
                <a:cs typeface="Calibri"/>
              </a:rPr>
              <a:t>&amp;</a:t>
            </a:r>
            <a:r>
              <a:rPr sz="1150" b="1" spc="204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150" b="1" spc="75">
                <a:solidFill>
                  <a:srgbClr val="2095F3"/>
                </a:solidFill>
                <a:latin typeface="Calibri"/>
                <a:cs typeface="Calibri"/>
              </a:rPr>
              <a:t>MOBILE</a:t>
            </a:r>
            <a:r>
              <a:rPr sz="1150" b="1" spc="210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150" b="1" spc="30">
                <a:solidFill>
                  <a:srgbClr val="2095F3"/>
                </a:solidFill>
                <a:latin typeface="Calibri"/>
                <a:cs typeface="Calibri"/>
              </a:rPr>
              <a:t>APP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357996" y="3942359"/>
            <a:ext cx="2510790" cy="77957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8595" marR="151130" indent="-176530">
              <a:lnSpc>
                <a:spcPct val="110400"/>
              </a:lnSpc>
              <a:spcBef>
                <a:spcPts val="95"/>
              </a:spcBef>
              <a:buChar char="•"/>
              <a:tabLst>
                <a:tab pos="190500" algn="l"/>
              </a:tabLst>
            </a:pPr>
            <a:r>
              <a:rPr sz="1350">
                <a:solidFill>
                  <a:srgbClr val="1A1A1A"/>
                </a:solidFill>
                <a:latin typeface="Calibri"/>
                <a:cs typeface="Calibri"/>
              </a:rPr>
              <a:t>Secure</a:t>
            </a:r>
            <a:r>
              <a:rPr sz="1350" spc="-10">
                <a:solidFill>
                  <a:srgbClr val="1A1A1A"/>
                </a:solidFill>
                <a:latin typeface="Calibri"/>
                <a:cs typeface="Calibri"/>
              </a:rPr>
              <a:t>,</a:t>
            </a:r>
            <a:r>
              <a:rPr sz="1350" spc="-4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350" spc="-20">
                <a:solidFill>
                  <a:srgbClr val="1A1A1A"/>
                </a:solidFill>
                <a:latin typeface="Calibri"/>
                <a:cs typeface="Calibri"/>
              </a:rPr>
              <a:t>MQTT, 	</a:t>
            </a:r>
            <a:r>
              <a:rPr sz="1350">
                <a:solidFill>
                  <a:srgbClr val="1A1A1A"/>
                </a:solidFill>
                <a:latin typeface="Calibri"/>
                <a:cs typeface="Calibri"/>
              </a:rPr>
              <a:t>Cloudinary</a:t>
            </a:r>
            <a:r>
              <a:rPr sz="1350" spc="-1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350">
                <a:solidFill>
                  <a:srgbClr val="1A1A1A"/>
                </a:solidFill>
                <a:latin typeface="Calibri"/>
                <a:cs typeface="Calibri"/>
              </a:rPr>
              <a:t>/</a:t>
            </a:r>
            <a:r>
              <a:rPr sz="1350" spc="-4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350" spc="-10">
                <a:solidFill>
                  <a:srgbClr val="1A1A1A"/>
                </a:solidFill>
                <a:latin typeface="Calibri"/>
                <a:cs typeface="Calibri"/>
              </a:rPr>
              <a:t>Firebase.</a:t>
            </a:r>
            <a:endParaRPr sz="135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spcBef>
                <a:spcPts val="760"/>
              </a:spcBef>
              <a:buChar char="•"/>
              <a:tabLst>
                <a:tab pos="189230" algn="l"/>
              </a:tabLst>
            </a:pPr>
            <a:r>
              <a:rPr sz="1350" spc="-10">
                <a:solidFill>
                  <a:srgbClr val="1A1A1A"/>
                </a:solidFill>
                <a:latin typeface="Calibri"/>
                <a:cs typeface="Calibri"/>
              </a:rPr>
              <a:t>React</a:t>
            </a:r>
            <a:r>
              <a:rPr sz="1350" spc="-3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350">
                <a:solidFill>
                  <a:srgbClr val="1A1A1A"/>
                </a:solidFill>
                <a:latin typeface="Calibri"/>
                <a:cs typeface="Calibri"/>
              </a:rPr>
              <a:t>Native</a:t>
            </a:r>
            <a:r>
              <a:rPr sz="1350" spc="-3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350" spc="-20">
                <a:solidFill>
                  <a:srgbClr val="1A1A1A"/>
                </a:solidFill>
                <a:latin typeface="Calibri"/>
                <a:cs typeface="Calibri"/>
              </a:rPr>
              <a:t>app.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5059FE-C085-D821-7A00-0E3379F32AE9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PK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04172" y="2653030"/>
            <a:ext cx="3263265" cy="30753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0" b="1" spc="-25">
                <a:solidFill>
                  <a:srgbClr val="16395A"/>
                </a:solidFill>
                <a:latin typeface="Tahoma"/>
                <a:cs typeface="Tahoma"/>
              </a:rPr>
              <a:t>05</a:t>
            </a:r>
            <a:endParaRPr sz="20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96661" y="2185542"/>
            <a:ext cx="14916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84555" algn="l"/>
              </a:tabLst>
            </a:pP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P</a:t>
            </a:r>
            <a:r>
              <a:rPr sz="1600" b="1" spc="22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A</a:t>
            </a:r>
            <a:r>
              <a:rPr sz="1600" b="1" spc="22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R</a:t>
            </a:r>
            <a:r>
              <a:rPr sz="1600" b="1" spc="22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 spc="-50">
                <a:solidFill>
                  <a:srgbClr val="2095F3"/>
                </a:solidFill>
                <a:latin typeface="Calibri"/>
                <a:cs typeface="Calibri"/>
              </a:rPr>
              <a:t>T</a:t>
            </a: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	F</a:t>
            </a:r>
            <a:r>
              <a:rPr sz="1600" b="1" spc="225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I</a:t>
            </a:r>
            <a:r>
              <a:rPr sz="1600" b="1" spc="220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2095F3"/>
                </a:solidFill>
                <a:latin typeface="Calibri"/>
                <a:cs typeface="Calibri"/>
              </a:rPr>
              <a:t>V</a:t>
            </a:r>
            <a:r>
              <a:rPr sz="1600" b="1" spc="229">
                <a:solidFill>
                  <a:srgbClr val="2095F3"/>
                </a:solidFill>
                <a:latin typeface="Calibri"/>
                <a:cs typeface="Calibri"/>
              </a:rPr>
              <a:t> </a:t>
            </a:r>
            <a:r>
              <a:rPr sz="1600" b="1" spc="-50">
                <a:solidFill>
                  <a:srgbClr val="2095F3"/>
                </a:solidFill>
                <a:latin typeface="Calibri"/>
                <a:cs typeface="Calibri"/>
              </a:rPr>
              <a:t>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/>
          <p:nvPr/>
        </p:nvSpPr>
        <p:spPr>
          <a:xfrm>
            <a:off x="2329052" y="2639390"/>
            <a:ext cx="750570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105">
                <a:solidFill>
                  <a:srgbClr val="FFFFFF"/>
                </a:solidFill>
                <a:latin typeface="Tahoma"/>
                <a:cs typeface="Tahoma"/>
              </a:rPr>
              <a:t>Results</a:t>
            </a:r>
            <a:r>
              <a:rPr sz="6000" b="1" spc="-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0" b="1" spc="-33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6000" b="1" spc="-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0" b="1" spc="165">
                <a:solidFill>
                  <a:srgbClr val="FFFFFF"/>
                </a:solidFill>
                <a:latin typeface="Tahoma"/>
                <a:cs typeface="Tahoma"/>
              </a:rPr>
              <a:t>Wrap-</a:t>
            </a:r>
            <a:r>
              <a:rPr sz="6000" b="1" spc="280">
                <a:solidFill>
                  <a:srgbClr val="FFFFFF"/>
                </a:solidFill>
                <a:latin typeface="Tahoma"/>
                <a:cs typeface="Tahoma"/>
              </a:rPr>
              <a:t>up</a:t>
            </a:r>
            <a:endParaRPr sz="60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54396" y="3977640"/>
            <a:ext cx="1280160" cy="55244"/>
          </a:xfrm>
          <a:custGeom>
            <a:avLst/>
            <a:gdLst/>
            <a:ahLst/>
            <a:cxnLst/>
            <a:rect l="l" t="t" r="r" b="b"/>
            <a:pathLst>
              <a:path w="1280159" h="55245">
                <a:moveTo>
                  <a:pt x="1280159" y="0"/>
                </a:moveTo>
                <a:lnTo>
                  <a:pt x="0" y="0"/>
                </a:lnTo>
                <a:lnTo>
                  <a:pt x="0" y="54863"/>
                </a:lnTo>
                <a:lnTo>
                  <a:pt x="1280159" y="54863"/>
                </a:lnTo>
                <a:lnTo>
                  <a:pt x="1280159" y="0"/>
                </a:lnTo>
                <a:close/>
              </a:path>
            </a:pathLst>
          </a:custGeom>
          <a:solidFill>
            <a:srgbClr val="2095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971545" y="4227957"/>
            <a:ext cx="62160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System</a:t>
            </a:r>
            <a:r>
              <a:rPr sz="1800" spc="-70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performance,</a:t>
            </a:r>
            <a:r>
              <a:rPr sz="1800" spc="-40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contributions,</a:t>
            </a:r>
            <a:r>
              <a:rPr sz="1800" spc="-50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impact,</a:t>
            </a:r>
            <a:r>
              <a:rPr sz="1800" spc="-4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and</a:t>
            </a:r>
            <a:r>
              <a:rPr sz="1800" spc="-60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what</a:t>
            </a:r>
            <a:r>
              <a:rPr sz="1800" spc="-50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comes</a:t>
            </a:r>
            <a:r>
              <a:rPr sz="1800" spc="-5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BBD3EB"/>
                </a:solidFill>
                <a:latin typeface="Calibri"/>
                <a:cs typeface="Calibri"/>
              </a:rPr>
              <a:t>next.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444" y="239979"/>
            <a:ext cx="29210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00">
                <a:solidFill>
                  <a:srgbClr val="FFFFFF"/>
                </a:solidFill>
                <a:latin typeface="Tahoma"/>
                <a:cs typeface="Tahoma"/>
              </a:rPr>
              <a:t>18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0"/>
              <a:t>CONCLUSION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119866" y="324103"/>
            <a:ext cx="7810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W</a:t>
            </a:r>
            <a:r>
              <a:rPr sz="1100" b="1" spc="-60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R</a:t>
            </a:r>
            <a:r>
              <a:rPr sz="1100" b="1" spc="-4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A</a:t>
            </a:r>
            <a:r>
              <a:rPr sz="1100" b="1" spc="-4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P</a:t>
            </a:r>
            <a:r>
              <a:rPr sz="1100" b="1" spc="-4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BBD3EB"/>
                </a:solidFill>
                <a:latin typeface="Calibri"/>
                <a:cs typeface="Calibri"/>
              </a:rPr>
              <a:t>-</a:t>
            </a:r>
            <a:r>
              <a:rPr sz="1100" b="1" spc="-5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100" b="1" spc="75">
                <a:solidFill>
                  <a:srgbClr val="BBD3EB"/>
                </a:solidFill>
                <a:latin typeface="Calibri"/>
                <a:cs typeface="Calibri"/>
              </a:rPr>
              <a:t>UP 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062004"/>
            <a:ext cx="5347335" cy="61468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800" b="1" spc="55">
                <a:solidFill>
                  <a:srgbClr val="1F4E79"/>
                </a:solidFill>
                <a:latin typeface="Tahoma"/>
                <a:cs typeface="Tahoma"/>
              </a:rPr>
              <a:t>Summary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1600" spc="-10">
                <a:solidFill>
                  <a:srgbClr val="1A1A1A"/>
                </a:solidFill>
                <a:latin typeface="Calibri"/>
                <a:cs typeface="Calibri"/>
              </a:rPr>
              <a:t>Sophisticated</a:t>
            </a:r>
            <a:r>
              <a:rPr sz="1600" spc="-4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1A1A1A"/>
                </a:solidFill>
                <a:latin typeface="Calibri"/>
                <a:cs typeface="Calibri"/>
              </a:rPr>
              <a:t>smart</a:t>
            </a:r>
            <a:r>
              <a:rPr sz="1600" spc="-2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1A1A1A"/>
                </a:solidFill>
                <a:latin typeface="Calibri"/>
                <a:cs typeface="Calibri"/>
              </a:rPr>
              <a:t>security</a:t>
            </a:r>
            <a:r>
              <a:rPr sz="1600" spc="-1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1A1A1A"/>
                </a:solidFill>
                <a:latin typeface="Calibri"/>
                <a:cs typeface="Calibri"/>
              </a:rPr>
              <a:t>does</a:t>
            </a:r>
            <a:r>
              <a:rPr sz="1600" spc="-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1A1A1A"/>
                </a:solidFill>
                <a:latin typeface="Calibri"/>
                <a:cs typeface="Calibri"/>
              </a:rPr>
              <a:t>not</a:t>
            </a:r>
            <a:r>
              <a:rPr sz="1600" spc="-2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1A1A1A"/>
                </a:solidFill>
                <a:latin typeface="Calibri"/>
                <a:cs typeface="Calibri"/>
              </a:rPr>
              <a:t>need</a:t>
            </a:r>
            <a:r>
              <a:rPr sz="1600" spc="-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1A1A1A"/>
                </a:solidFill>
                <a:latin typeface="Calibri"/>
                <a:cs typeface="Calibri"/>
              </a:rPr>
              <a:t>expensive</a:t>
            </a:r>
            <a:r>
              <a:rPr sz="1600" spc="-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1A1A1A"/>
                </a:solidFill>
                <a:latin typeface="Calibri"/>
                <a:cs typeface="Calibri"/>
              </a:rPr>
              <a:t>hardware.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2871629"/>
            <a:ext cx="6695440" cy="116014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800" b="1" spc="55">
                <a:solidFill>
                  <a:srgbClr val="1F4E79"/>
                </a:solidFill>
                <a:latin typeface="Tahoma"/>
                <a:cs typeface="Tahoma"/>
              </a:rPr>
              <a:t>Key</a:t>
            </a:r>
            <a:r>
              <a:rPr sz="1800" b="1" spc="-10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800" b="1" spc="50">
                <a:solidFill>
                  <a:srgbClr val="1F4E79"/>
                </a:solidFill>
                <a:latin typeface="Tahoma"/>
                <a:cs typeface="Tahoma"/>
              </a:rPr>
              <a:t>achievement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11900"/>
              </a:lnSpc>
              <a:spcBef>
                <a:spcPts val="35"/>
              </a:spcBef>
            </a:pPr>
            <a:r>
              <a:rPr sz="1600">
                <a:solidFill>
                  <a:srgbClr val="1A1A1A"/>
                </a:solidFill>
                <a:latin typeface="Calibri"/>
                <a:cs typeface="Calibri"/>
              </a:rPr>
              <a:t>A</a:t>
            </a:r>
            <a:r>
              <a:rPr sz="1600" spc="25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spc="80">
                <a:solidFill>
                  <a:srgbClr val="1A1A1A"/>
                </a:solidFill>
                <a:latin typeface="Calibri"/>
                <a:cs typeface="Calibri"/>
              </a:rPr>
              <a:t>custom</a:t>
            </a:r>
            <a:r>
              <a:rPr sz="1600" spc="-16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1A1A1A"/>
                </a:solidFill>
                <a:latin typeface="Calibri"/>
                <a:cs typeface="Calibri"/>
              </a:rPr>
              <a:t>,</a:t>
            </a:r>
            <a:r>
              <a:rPr sz="1600" spc="5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1A1A1A"/>
                </a:solidFill>
                <a:latin typeface="Calibri"/>
                <a:cs typeface="Calibri"/>
              </a:rPr>
              <a:t>from</a:t>
            </a:r>
            <a:r>
              <a:rPr sz="1600" spc="-14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1A1A1A"/>
                </a:solidFill>
                <a:latin typeface="Calibri"/>
                <a:cs typeface="Calibri"/>
              </a:rPr>
              <a:t>-</a:t>
            </a:r>
            <a:r>
              <a:rPr sz="1600" spc="-16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spc="65">
                <a:solidFill>
                  <a:srgbClr val="1A1A1A"/>
                </a:solidFill>
                <a:latin typeface="Calibri"/>
                <a:cs typeface="Calibri"/>
              </a:rPr>
              <a:t>scratch</a:t>
            </a:r>
            <a:r>
              <a:rPr sz="1600" spc="254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spc="70">
                <a:solidFill>
                  <a:srgbClr val="1A1A1A"/>
                </a:solidFill>
                <a:latin typeface="Calibri"/>
                <a:cs typeface="Calibri"/>
              </a:rPr>
              <a:t>96×</a:t>
            </a:r>
            <a:r>
              <a:rPr sz="1600" spc="3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1A1A1A"/>
                </a:solidFill>
                <a:latin typeface="Calibri"/>
                <a:cs typeface="Calibri"/>
              </a:rPr>
              <a:t>96</a:t>
            </a:r>
            <a:r>
              <a:rPr sz="1600" spc="18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spc="85">
                <a:solidFill>
                  <a:srgbClr val="1A1A1A"/>
                </a:solidFill>
                <a:latin typeface="Calibri"/>
                <a:cs typeface="Calibri"/>
              </a:rPr>
              <a:t>RGB</a:t>
            </a:r>
            <a:r>
              <a:rPr sz="1600" spc="20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spc="90">
                <a:solidFill>
                  <a:srgbClr val="1A1A1A"/>
                </a:solidFill>
                <a:latin typeface="Calibri"/>
                <a:cs typeface="Calibri"/>
              </a:rPr>
              <a:t>depthwise-</a:t>
            </a:r>
            <a:r>
              <a:rPr sz="1600" spc="-16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spc="85">
                <a:solidFill>
                  <a:srgbClr val="1A1A1A"/>
                </a:solidFill>
                <a:latin typeface="Calibri"/>
                <a:cs typeface="Calibri"/>
              </a:rPr>
              <a:t>separable</a:t>
            </a:r>
            <a:r>
              <a:rPr sz="1600" spc="19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1A1A1A"/>
                </a:solidFill>
                <a:latin typeface="Calibri"/>
                <a:cs typeface="Calibri"/>
              </a:rPr>
              <a:t>C</a:t>
            </a:r>
            <a:r>
              <a:rPr sz="1600" spc="-14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spc="-20">
                <a:solidFill>
                  <a:srgbClr val="1A1A1A"/>
                </a:solidFill>
                <a:latin typeface="Calibri"/>
                <a:cs typeface="Calibri"/>
              </a:rPr>
              <a:t>N</a:t>
            </a:r>
            <a:r>
              <a:rPr sz="1600" spc="-9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1A1A1A"/>
                </a:solidFill>
                <a:latin typeface="Calibri"/>
                <a:cs typeface="Calibri"/>
              </a:rPr>
              <a:t>N</a:t>
            </a:r>
            <a:r>
              <a:rPr sz="1600" spc="34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spc="70">
                <a:solidFill>
                  <a:srgbClr val="1A1A1A"/>
                </a:solidFill>
                <a:latin typeface="Calibri"/>
                <a:cs typeface="Calibri"/>
              </a:rPr>
              <a:t>running </a:t>
            </a:r>
            <a:r>
              <a:rPr sz="1600" spc="80">
                <a:solidFill>
                  <a:srgbClr val="1A1A1A"/>
                </a:solidFill>
                <a:latin typeface="Calibri"/>
                <a:cs typeface="Calibri"/>
              </a:rPr>
              <a:t>device</a:t>
            </a:r>
            <a:r>
              <a:rPr sz="1600" spc="19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1A1A1A"/>
                </a:solidFill>
                <a:latin typeface="Calibri"/>
                <a:cs typeface="Calibri"/>
              </a:rPr>
              <a:t>(~</a:t>
            </a:r>
            <a:r>
              <a:rPr sz="1600" spc="3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spc="65">
                <a:solidFill>
                  <a:srgbClr val="1A1A1A"/>
                </a:solidFill>
                <a:latin typeface="Calibri"/>
                <a:cs typeface="Calibri"/>
              </a:rPr>
              <a:t>872</a:t>
            </a:r>
            <a:r>
              <a:rPr sz="1600" spc="19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1A1A1A"/>
                </a:solidFill>
                <a:latin typeface="Calibri"/>
                <a:cs typeface="Calibri"/>
              </a:rPr>
              <a:t>m</a:t>
            </a:r>
            <a:r>
              <a:rPr sz="1600" spc="-15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1A1A1A"/>
                </a:solidFill>
                <a:latin typeface="Calibri"/>
                <a:cs typeface="Calibri"/>
              </a:rPr>
              <a:t>s,</a:t>
            </a:r>
            <a:r>
              <a:rPr sz="1600" spc="4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spc="50">
                <a:solidFill>
                  <a:srgbClr val="1A1A1A"/>
                </a:solidFill>
                <a:latin typeface="Calibri"/>
                <a:cs typeface="Calibri"/>
              </a:rPr>
              <a:t>90.8%</a:t>
            </a:r>
            <a:r>
              <a:rPr sz="1600" spc="34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spc="90">
                <a:solidFill>
                  <a:srgbClr val="1A1A1A"/>
                </a:solidFill>
                <a:latin typeface="Calibri"/>
                <a:cs typeface="Calibri"/>
              </a:rPr>
              <a:t>balanced</a:t>
            </a:r>
            <a:r>
              <a:rPr sz="1600" spc="27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spc="80">
                <a:solidFill>
                  <a:srgbClr val="1A1A1A"/>
                </a:solidFill>
                <a:latin typeface="Calibri"/>
                <a:cs typeface="Calibri"/>
              </a:rPr>
              <a:t>accuracy),</a:t>
            </a:r>
            <a:r>
              <a:rPr sz="1600" spc="6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1A1A1A"/>
                </a:solidFill>
                <a:latin typeface="Calibri"/>
                <a:cs typeface="Calibri"/>
              </a:rPr>
              <a:t>with</a:t>
            </a:r>
            <a:r>
              <a:rPr sz="1600" spc="204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1A1A1A"/>
                </a:solidFill>
                <a:latin typeface="Calibri"/>
                <a:cs typeface="Calibri"/>
              </a:rPr>
              <a:t>a</a:t>
            </a:r>
            <a:r>
              <a:rPr sz="1600" spc="17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spc="85">
                <a:solidFill>
                  <a:srgbClr val="1A1A1A"/>
                </a:solidFill>
                <a:latin typeface="Calibri"/>
                <a:cs typeface="Calibri"/>
              </a:rPr>
              <a:t>cloud</a:t>
            </a:r>
            <a:r>
              <a:rPr sz="1600" spc="-9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1A1A1A"/>
                </a:solidFill>
                <a:latin typeface="Calibri"/>
                <a:cs typeface="Calibri"/>
              </a:rPr>
              <a:t>-</a:t>
            </a:r>
            <a:r>
              <a:rPr sz="1600" spc="-16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spc="80">
                <a:solidFill>
                  <a:srgbClr val="1A1A1A"/>
                </a:solidFill>
                <a:latin typeface="Calibri"/>
                <a:cs typeface="Calibri"/>
              </a:rPr>
              <a:t>connected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600" spc="65">
                <a:solidFill>
                  <a:srgbClr val="1A1A1A"/>
                </a:solidFill>
                <a:latin typeface="Calibri"/>
                <a:cs typeface="Calibri"/>
              </a:rPr>
              <a:t>that</a:t>
            </a:r>
            <a:r>
              <a:rPr sz="1600" spc="12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spc="70">
                <a:solidFill>
                  <a:srgbClr val="1A1A1A"/>
                </a:solidFill>
                <a:latin typeface="Calibri"/>
                <a:cs typeface="Calibri"/>
              </a:rPr>
              <a:t>works</a:t>
            </a:r>
            <a:r>
              <a:rPr sz="1600" spc="21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1A1A1A"/>
                </a:solidFill>
                <a:latin typeface="Calibri"/>
                <a:cs typeface="Calibri"/>
              </a:rPr>
              <a:t>from</a:t>
            </a:r>
            <a:r>
              <a:rPr sz="1600" spc="34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spc="65">
                <a:solidFill>
                  <a:srgbClr val="1A1A1A"/>
                </a:solidFill>
                <a:latin typeface="Calibri"/>
                <a:cs typeface="Calibri"/>
              </a:rPr>
              <a:t>anywhere.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4226719"/>
            <a:ext cx="4017010" cy="61468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800" b="1" spc="55">
                <a:solidFill>
                  <a:srgbClr val="1F4E79"/>
                </a:solidFill>
                <a:latin typeface="Tahoma"/>
                <a:cs typeface="Tahoma"/>
              </a:rPr>
              <a:t>Future</a:t>
            </a:r>
            <a:r>
              <a:rPr sz="1800" b="1" spc="15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1800" b="1" spc="55">
                <a:solidFill>
                  <a:srgbClr val="1F4E79"/>
                </a:solidFill>
                <a:latin typeface="Tahoma"/>
                <a:cs typeface="Tahoma"/>
              </a:rPr>
              <a:t>scope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1600">
                <a:solidFill>
                  <a:srgbClr val="1A1A1A"/>
                </a:solidFill>
                <a:latin typeface="Calibri"/>
                <a:cs typeface="Calibri"/>
              </a:rPr>
              <a:t>Solar</a:t>
            </a:r>
            <a:r>
              <a:rPr sz="1600" spc="-1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1A1A1A"/>
                </a:solidFill>
                <a:latin typeface="Calibri"/>
                <a:cs typeface="Calibri"/>
              </a:rPr>
              <a:t>power;</a:t>
            </a:r>
            <a:r>
              <a:rPr sz="1600" spc="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1A1A1A"/>
                </a:solidFill>
                <a:latin typeface="Calibri"/>
                <a:cs typeface="Calibri"/>
              </a:rPr>
              <a:t>on-</a:t>
            </a:r>
            <a:r>
              <a:rPr sz="1600">
                <a:solidFill>
                  <a:srgbClr val="1A1A1A"/>
                </a:solidFill>
                <a:latin typeface="Calibri"/>
                <a:cs typeface="Calibri"/>
              </a:rPr>
              <a:t>device</a:t>
            </a:r>
            <a:r>
              <a:rPr sz="1600" spc="-10">
                <a:solidFill>
                  <a:srgbClr val="1A1A1A"/>
                </a:solidFill>
                <a:latin typeface="Calibri"/>
                <a:cs typeface="Calibri"/>
              </a:rPr>
              <a:t> face-recognition</a:t>
            </a:r>
            <a:r>
              <a:rPr sz="1600" spc="-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1A1A1A"/>
                </a:solidFill>
                <a:latin typeface="Calibri"/>
                <a:cs typeface="Calibri"/>
              </a:rPr>
              <a:t>add-</a:t>
            </a:r>
            <a:r>
              <a:rPr sz="1600" spc="-25">
                <a:solidFill>
                  <a:srgbClr val="1A1A1A"/>
                </a:solidFill>
                <a:latin typeface="Calibri"/>
                <a:cs typeface="Calibri"/>
              </a:rPr>
              <a:t>on.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662626" y="1424815"/>
            <a:ext cx="4053204" cy="1447800"/>
            <a:chOff x="7662626" y="1424815"/>
            <a:chExt cx="4053204" cy="144780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62626" y="1424815"/>
              <a:ext cx="4053169" cy="144728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726679" y="1463040"/>
              <a:ext cx="3931920" cy="1325880"/>
            </a:xfrm>
            <a:custGeom>
              <a:avLst/>
              <a:gdLst/>
              <a:ahLst/>
              <a:cxnLst/>
              <a:rect l="l" t="t" r="r" b="b"/>
              <a:pathLst>
                <a:path w="3931920" h="1325880">
                  <a:moveTo>
                    <a:pt x="3840479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1234439"/>
                  </a:lnTo>
                  <a:lnTo>
                    <a:pt x="7179" y="1270051"/>
                  </a:lnTo>
                  <a:lnTo>
                    <a:pt x="26765" y="1299114"/>
                  </a:lnTo>
                  <a:lnTo>
                    <a:pt x="55828" y="1318700"/>
                  </a:lnTo>
                  <a:lnTo>
                    <a:pt x="91440" y="1325880"/>
                  </a:lnTo>
                  <a:lnTo>
                    <a:pt x="3840479" y="1325880"/>
                  </a:lnTo>
                  <a:lnTo>
                    <a:pt x="3876091" y="1318700"/>
                  </a:lnTo>
                  <a:lnTo>
                    <a:pt x="3905154" y="1299114"/>
                  </a:lnTo>
                  <a:lnTo>
                    <a:pt x="3924740" y="1270051"/>
                  </a:lnTo>
                  <a:lnTo>
                    <a:pt x="3931920" y="1234439"/>
                  </a:lnTo>
                  <a:lnTo>
                    <a:pt x="3931920" y="91439"/>
                  </a:lnTo>
                  <a:lnTo>
                    <a:pt x="3924740" y="55828"/>
                  </a:lnTo>
                  <a:lnTo>
                    <a:pt x="3905154" y="26765"/>
                  </a:lnTo>
                  <a:lnTo>
                    <a:pt x="3876091" y="7179"/>
                  </a:lnTo>
                  <a:lnTo>
                    <a:pt x="3840479" y="0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989189" y="1420326"/>
            <a:ext cx="1884680" cy="1106170"/>
          </a:xfrm>
          <a:prstGeom prst="rect">
            <a:avLst/>
          </a:prstGeom>
        </p:spPr>
        <p:txBody>
          <a:bodyPr vert="horz" wrap="square" lIns="0" tIns="284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40"/>
              </a:spcBef>
            </a:pPr>
            <a:r>
              <a:rPr sz="3400" b="1" spc="-10">
                <a:solidFill>
                  <a:srgbClr val="1F4E79"/>
                </a:solidFill>
                <a:latin typeface="Tahoma"/>
                <a:cs typeface="Tahoma"/>
              </a:rPr>
              <a:t>90.8</a:t>
            </a:r>
            <a:r>
              <a:rPr sz="3400" b="1" spc="-385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2000" b="1" spc="-700">
                <a:solidFill>
                  <a:srgbClr val="2095F3"/>
                </a:solidFill>
                <a:latin typeface="Tahoma"/>
                <a:cs typeface="Tahoma"/>
              </a:rPr>
              <a:t>%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1250">
                <a:solidFill>
                  <a:srgbClr val="545454"/>
                </a:solidFill>
                <a:latin typeface="Calibri"/>
                <a:cs typeface="Calibri"/>
              </a:rPr>
              <a:t>balanced</a:t>
            </a:r>
            <a:r>
              <a:rPr sz="1250" spc="-4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250" spc="-10">
                <a:solidFill>
                  <a:srgbClr val="545454"/>
                </a:solidFill>
                <a:latin typeface="Calibri"/>
                <a:cs typeface="Calibri"/>
              </a:rPr>
              <a:t>on-</a:t>
            </a:r>
            <a:r>
              <a:rPr sz="1250">
                <a:solidFill>
                  <a:srgbClr val="545454"/>
                </a:solidFill>
                <a:latin typeface="Calibri"/>
                <a:cs typeface="Calibri"/>
              </a:rPr>
              <a:t>device</a:t>
            </a:r>
            <a:r>
              <a:rPr sz="1250" spc="-2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250" spc="-10">
                <a:solidFill>
                  <a:srgbClr val="545454"/>
                </a:solidFill>
                <a:latin typeface="Calibri"/>
                <a:cs typeface="Calibri"/>
              </a:rPr>
              <a:t>accuracy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635240" y="2860548"/>
            <a:ext cx="4108450" cy="1502410"/>
            <a:chOff x="7635240" y="2860548"/>
            <a:chExt cx="4108450" cy="150241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35240" y="2860548"/>
              <a:ext cx="4107942" cy="150190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726680" y="2926080"/>
              <a:ext cx="3931920" cy="1325880"/>
            </a:xfrm>
            <a:custGeom>
              <a:avLst/>
              <a:gdLst/>
              <a:ahLst/>
              <a:cxnLst/>
              <a:rect l="l" t="t" r="r" b="b"/>
              <a:pathLst>
                <a:path w="3931920" h="1325879">
                  <a:moveTo>
                    <a:pt x="3840479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40"/>
                  </a:lnTo>
                  <a:lnTo>
                    <a:pt x="0" y="1234440"/>
                  </a:lnTo>
                  <a:lnTo>
                    <a:pt x="7179" y="1270051"/>
                  </a:lnTo>
                  <a:lnTo>
                    <a:pt x="26765" y="1299114"/>
                  </a:lnTo>
                  <a:lnTo>
                    <a:pt x="55828" y="1318700"/>
                  </a:lnTo>
                  <a:lnTo>
                    <a:pt x="91440" y="1325880"/>
                  </a:lnTo>
                  <a:lnTo>
                    <a:pt x="3840479" y="1325880"/>
                  </a:lnTo>
                  <a:lnTo>
                    <a:pt x="3876091" y="1318700"/>
                  </a:lnTo>
                  <a:lnTo>
                    <a:pt x="3905154" y="1299114"/>
                  </a:lnTo>
                  <a:lnTo>
                    <a:pt x="3924740" y="1270051"/>
                  </a:lnTo>
                  <a:lnTo>
                    <a:pt x="3931920" y="1234440"/>
                  </a:lnTo>
                  <a:lnTo>
                    <a:pt x="3931920" y="91440"/>
                  </a:lnTo>
                  <a:lnTo>
                    <a:pt x="3924740" y="55828"/>
                  </a:lnTo>
                  <a:lnTo>
                    <a:pt x="3905154" y="26765"/>
                  </a:lnTo>
                  <a:lnTo>
                    <a:pt x="3876091" y="7179"/>
                  </a:lnTo>
                  <a:lnTo>
                    <a:pt x="3840479" y="0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989189" y="2884091"/>
            <a:ext cx="1565910" cy="1105535"/>
          </a:xfrm>
          <a:prstGeom prst="rect">
            <a:avLst/>
          </a:prstGeom>
        </p:spPr>
        <p:txBody>
          <a:bodyPr vert="horz" wrap="square" lIns="0" tIns="284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40"/>
              </a:spcBef>
            </a:pPr>
            <a:r>
              <a:rPr sz="3400" b="1" spc="-240">
                <a:solidFill>
                  <a:srgbClr val="1F4E79"/>
                </a:solidFill>
                <a:latin typeface="Tahoma"/>
                <a:cs typeface="Tahoma"/>
              </a:rPr>
              <a:t>~872</a:t>
            </a:r>
            <a:r>
              <a:rPr sz="3400" b="1" spc="-395">
                <a:solidFill>
                  <a:srgbClr val="1F4E79"/>
                </a:solidFill>
                <a:latin typeface="Tahoma"/>
                <a:cs typeface="Tahoma"/>
              </a:rPr>
              <a:t> </a:t>
            </a:r>
            <a:r>
              <a:rPr sz="2000" b="1" spc="70">
                <a:solidFill>
                  <a:srgbClr val="2095F3"/>
                </a:solidFill>
                <a:latin typeface="Tahoma"/>
                <a:cs typeface="Tahoma"/>
              </a:rPr>
              <a:t>ms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250">
                <a:solidFill>
                  <a:srgbClr val="545454"/>
                </a:solidFill>
                <a:latin typeface="Calibri"/>
                <a:cs typeface="Calibri"/>
              </a:rPr>
              <a:t>fully</a:t>
            </a:r>
            <a:r>
              <a:rPr sz="1250" spc="-2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250">
                <a:solidFill>
                  <a:srgbClr val="545454"/>
                </a:solidFill>
                <a:latin typeface="Calibri"/>
                <a:cs typeface="Calibri"/>
              </a:rPr>
              <a:t>local</a:t>
            </a:r>
            <a:r>
              <a:rPr sz="1250" spc="-1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250" spc="-10">
                <a:solidFill>
                  <a:srgbClr val="545454"/>
                </a:solidFill>
                <a:latin typeface="Calibri"/>
                <a:cs typeface="Calibri"/>
              </a:rPr>
              <a:t>inference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635240" y="4323588"/>
            <a:ext cx="4108450" cy="1502410"/>
            <a:chOff x="7635240" y="4323588"/>
            <a:chExt cx="4108450" cy="1502410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35240" y="4323588"/>
              <a:ext cx="4107942" cy="150190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726680" y="4389120"/>
              <a:ext cx="3931920" cy="1325880"/>
            </a:xfrm>
            <a:custGeom>
              <a:avLst/>
              <a:gdLst/>
              <a:ahLst/>
              <a:cxnLst/>
              <a:rect l="l" t="t" r="r" b="b"/>
              <a:pathLst>
                <a:path w="3931920" h="1325879">
                  <a:moveTo>
                    <a:pt x="3840479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1234439"/>
                  </a:lnTo>
                  <a:lnTo>
                    <a:pt x="7179" y="1270030"/>
                  </a:lnTo>
                  <a:lnTo>
                    <a:pt x="26765" y="1299095"/>
                  </a:lnTo>
                  <a:lnTo>
                    <a:pt x="55828" y="1318693"/>
                  </a:lnTo>
                  <a:lnTo>
                    <a:pt x="91440" y="1325879"/>
                  </a:lnTo>
                  <a:lnTo>
                    <a:pt x="3840479" y="1325879"/>
                  </a:lnTo>
                  <a:lnTo>
                    <a:pt x="3876091" y="1318693"/>
                  </a:lnTo>
                  <a:lnTo>
                    <a:pt x="3905154" y="1299095"/>
                  </a:lnTo>
                  <a:lnTo>
                    <a:pt x="3924740" y="1270030"/>
                  </a:lnTo>
                  <a:lnTo>
                    <a:pt x="3931920" y="1234439"/>
                  </a:lnTo>
                  <a:lnTo>
                    <a:pt x="3931920" y="91439"/>
                  </a:lnTo>
                  <a:lnTo>
                    <a:pt x="3924740" y="55828"/>
                  </a:lnTo>
                  <a:lnTo>
                    <a:pt x="3905154" y="26765"/>
                  </a:lnTo>
                  <a:lnTo>
                    <a:pt x="3876091" y="7179"/>
                  </a:lnTo>
                  <a:lnTo>
                    <a:pt x="3840479" y="0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989189" y="4324344"/>
            <a:ext cx="1679575" cy="1129030"/>
          </a:xfrm>
          <a:prstGeom prst="rect">
            <a:avLst/>
          </a:prstGeom>
        </p:spPr>
        <p:txBody>
          <a:bodyPr vert="horz" wrap="square" lIns="0" tIns="300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70"/>
              </a:spcBef>
            </a:pPr>
            <a:r>
              <a:rPr sz="3400" b="1" spc="-395">
                <a:solidFill>
                  <a:srgbClr val="1F4E79"/>
                </a:solidFill>
                <a:latin typeface="Tahoma"/>
                <a:cs typeface="Tahoma"/>
              </a:rPr>
              <a:t>~$10</a:t>
            </a:r>
            <a:endParaRPr sz="3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1250" spc="-10">
                <a:solidFill>
                  <a:srgbClr val="545454"/>
                </a:solidFill>
                <a:latin typeface="Calibri"/>
                <a:cs typeface="Calibri"/>
              </a:rPr>
              <a:t>microcontroller</a:t>
            </a:r>
            <a:r>
              <a:rPr sz="1250" spc="2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250" spc="-10">
                <a:solidFill>
                  <a:srgbClr val="545454"/>
                </a:solidFill>
                <a:latin typeface="Calibri"/>
                <a:cs typeface="Calibri"/>
              </a:rPr>
              <a:t>hardware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0406"/>
            <a:ext cx="12188825" cy="6858000"/>
          </a:xfrm>
          <a:custGeom>
            <a:avLst/>
            <a:gdLst/>
            <a:ahLst/>
            <a:cxnLst/>
            <a:rect l="l" t="t" r="r" b="b"/>
            <a:pathLst>
              <a:path w="12188825" h="6858000">
                <a:moveTo>
                  <a:pt x="12188825" y="0"/>
                </a:moveTo>
                <a:lnTo>
                  <a:pt x="0" y="0"/>
                </a:lnTo>
                <a:lnTo>
                  <a:pt x="0" y="6858000"/>
                </a:lnTo>
                <a:lnTo>
                  <a:pt x="12188825" y="6858000"/>
                </a:lnTo>
                <a:lnTo>
                  <a:pt x="12188825" y="0"/>
                </a:lnTo>
                <a:close/>
              </a:path>
            </a:pathLst>
          </a:custGeom>
          <a:solidFill>
            <a:srgbClr val="1F4E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878707" y="1761871"/>
            <a:ext cx="443293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spc="229"/>
              <a:t>EagleEye</a:t>
            </a:r>
            <a:endParaRPr sz="7200"/>
          </a:p>
        </p:txBody>
      </p:sp>
      <p:sp>
        <p:nvSpPr>
          <p:cNvPr id="4" name="object 4"/>
          <p:cNvSpPr txBox="1"/>
          <p:nvPr/>
        </p:nvSpPr>
        <p:spPr>
          <a:xfrm>
            <a:off x="2782570" y="3061843"/>
            <a:ext cx="6624955" cy="9175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600" b="1" spc="60">
                <a:solidFill>
                  <a:srgbClr val="2095F3"/>
                </a:solidFill>
                <a:latin typeface="Tahoma"/>
                <a:cs typeface="Tahoma"/>
              </a:rPr>
              <a:t>Smart </a:t>
            </a:r>
            <a:r>
              <a:rPr sz="2600" b="1" spc="-65">
                <a:solidFill>
                  <a:srgbClr val="2095F3"/>
                </a:solidFill>
                <a:latin typeface="Tahoma"/>
                <a:cs typeface="Tahoma"/>
              </a:rPr>
              <a:t>AI</a:t>
            </a:r>
            <a:r>
              <a:rPr sz="2600" b="1" spc="75">
                <a:solidFill>
                  <a:srgbClr val="2095F3"/>
                </a:solidFill>
                <a:latin typeface="Tahoma"/>
                <a:cs typeface="Tahoma"/>
              </a:rPr>
              <a:t> </a:t>
            </a:r>
            <a:r>
              <a:rPr sz="2600" b="1">
                <a:solidFill>
                  <a:srgbClr val="2095F3"/>
                </a:solidFill>
                <a:latin typeface="Tahoma"/>
                <a:cs typeface="Tahoma"/>
              </a:rPr>
              <a:t>surveillance,</a:t>
            </a:r>
            <a:r>
              <a:rPr sz="2600" b="1" spc="45">
                <a:solidFill>
                  <a:srgbClr val="2095F3"/>
                </a:solidFill>
                <a:latin typeface="Tahoma"/>
                <a:cs typeface="Tahoma"/>
              </a:rPr>
              <a:t> </a:t>
            </a:r>
            <a:r>
              <a:rPr sz="2600" b="1" spc="75">
                <a:solidFill>
                  <a:srgbClr val="2095F3"/>
                </a:solidFill>
                <a:latin typeface="Tahoma"/>
                <a:cs typeface="Tahoma"/>
              </a:rPr>
              <a:t>from</a:t>
            </a:r>
            <a:r>
              <a:rPr sz="2600" b="1" spc="70">
                <a:solidFill>
                  <a:srgbClr val="2095F3"/>
                </a:solidFill>
                <a:latin typeface="Tahoma"/>
                <a:cs typeface="Tahoma"/>
              </a:rPr>
              <a:t> </a:t>
            </a:r>
            <a:r>
              <a:rPr sz="2600" b="1" spc="45">
                <a:solidFill>
                  <a:srgbClr val="2095F3"/>
                </a:solidFill>
                <a:latin typeface="Tahoma"/>
                <a:cs typeface="Tahoma"/>
              </a:rPr>
              <a:t>anywhere.</a:t>
            </a:r>
            <a:endParaRPr sz="26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735"/>
              </a:spcBef>
            </a:pP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Open</a:t>
            </a:r>
            <a:r>
              <a:rPr sz="1800" spc="-20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BBD3EB"/>
                </a:solidFill>
                <a:latin typeface="Calibri"/>
                <a:cs typeface="Calibri"/>
              </a:rPr>
              <a:t>for</a:t>
            </a:r>
            <a:r>
              <a:rPr sz="1800" spc="-25">
                <a:solidFill>
                  <a:srgbClr val="BBD3EB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BBD3EB"/>
                </a:solidFill>
                <a:latin typeface="Calibri"/>
                <a:cs typeface="Calibri"/>
              </a:rPr>
              <a:t>questions.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58240"/>
          </a:xfrm>
          <a:prstGeom prst="rect">
            <a:avLst/>
          </a:prstGeom>
          <a:solidFill>
            <a:srgbClr val="1F4E79"/>
          </a:solidFill>
        </p:spPr>
        <p:txBody>
          <a:bodyPr wrap="square" lIns="0" tIns="0" rIns="0" bIns="0" rtlCol="0"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548640" y="219456"/>
            <a:ext cx="731520" cy="707136"/>
          </a:xfrm>
          <a:prstGeom prst="roundRect">
            <a:avLst>
              <a:gd name="adj" fmla="val 13793"/>
            </a:avLst>
          </a:prstGeom>
          <a:solidFill>
            <a:srgbClr val="2AA5B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548640" y="219456"/>
            <a:ext cx="7315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933"/>
          </a:p>
        </p:txBody>
      </p:sp>
      <p:sp>
        <p:nvSpPr>
          <p:cNvPr id="5" name="Text 3"/>
          <p:cNvSpPr/>
          <p:nvPr/>
        </p:nvSpPr>
        <p:spPr>
          <a:xfrm>
            <a:off x="1524000" y="219456"/>
            <a:ext cx="792480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2933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(IEEE)</a:t>
            </a:r>
            <a:endParaRPr lang="en-US" sz="2933"/>
          </a:p>
        </p:txBody>
      </p:sp>
      <p:sp>
        <p:nvSpPr>
          <p:cNvPr id="6" name="Text 4"/>
          <p:cNvSpPr/>
          <p:nvPr/>
        </p:nvSpPr>
        <p:spPr>
          <a:xfrm>
            <a:off x="9753600" y="219456"/>
            <a:ext cx="19507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spc="400">
                <a:solidFill>
                  <a:srgbClr val="9DB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</a:t>
            </a:r>
            <a:endParaRPr lang="en-US" sz="1333"/>
          </a:p>
        </p:txBody>
      </p:sp>
      <p:sp>
        <p:nvSpPr>
          <p:cNvPr id="7" name="Text 5"/>
          <p:cNvSpPr/>
          <p:nvPr/>
        </p:nvSpPr>
        <p:spPr>
          <a:xfrm>
            <a:off x="487680" y="1463040"/>
            <a:ext cx="4267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133" b="1">
                <a:solidFill>
                  <a:srgbClr val="2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133"/>
          </a:p>
        </p:txBody>
      </p:sp>
      <p:sp>
        <p:nvSpPr>
          <p:cNvPr id="8" name="Text 6"/>
          <p:cNvSpPr/>
          <p:nvPr/>
        </p:nvSpPr>
        <p:spPr>
          <a:xfrm>
            <a:off x="914400" y="1463040"/>
            <a:ext cx="505968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133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A. Al-Khedher, "Hybrid Vision-Based Surveillance System for Smart Home Applications," IEEE Trans. Consumer Electronics, vol. 65, no. 4, pp. 450–459, 2019.</a:t>
            </a:r>
            <a:endParaRPr lang="en-US" sz="1133"/>
          </a:p>
        </p:txBody>
      </p:sp>
      <p:sp>
        <p:nvSpPr>
          <p:cNvPr id="9" name="Text 7"/>
          <p:cNvSpPr/>
          <p:nvPr/>
        </p:nvSpPr>
        <p:spPr>
          <a:xfrm>
            <a:off x="487680" y="2170176"/>
            <a:ext cx="4267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133" b="1">
                <a:solidFill>
                  <a:srgbClr val="2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133"/>
          </a:p>
        </p:txBody>
      </p:sp>
      <p:sp>
        <p:nvSpPr>
          <p:cNvPr id="10" name="Text 8"/>
          <p:cNvSpPr/>
          <p:nvPr/>
        </p:nvSpPr>
        <p:spPr>
          <a:xfrm>
            <a:off x="914400" y="2170176"/>
            <a:ext cx="505968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133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W. Shi, J. Cao, Q. Zhang, Y. Li, and L. Xu, "Edge Computing: Vision and Challenges," IEEE Internet of Things Journal, vol. 3, no. 5, pp. 637–646, 2016.</a:t>
            </a:r>
            <a:endParaRPr lang="en-US" sz="1133"/>
          </a:p>
        </p:txBody>
      </p:sp>
      <p:sp>
        <p:nvSpPr>
          <p:cNvPr id="11" name="Text 9"/>
          <p:cNvSpPr/>
          <p:nvPr/>
        </p:nvSpPr>
        <p:spPr>
          <a:xfrm>
            <a:off x="487680" y="2877312"/>
            <a:ext cx="4267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133" b="1">
                <a:solidFill>
                  <a:srgbClr val="2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133"/>
          </a:p>
        </p:txBody>
      </p:sp>
      <p:sp>
        <p:nvSpPr>
          <p:cNvPr id="12" name="Text 10"/>
          <p:cNvSpPr/>
          <p:nvPr/>
        </p:nvSpPr>
        <p:spPr>
          <a:xfrm>
            <a:off x="914400" y="2877312"/>
            <a:ext cx="505968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133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Tanwar et al., "Privacy-Preserving Surveillance Using Edge Computing," in Proc. 2020 IEEE GUCON, 2020.</a:t>
            </a:r>
            <a:endParaRPr lang="en-US" sz="1133"/>
          </a:p>
        </p:txBody>
      </p:sp>
      <p:sp>
        <p:nvSpPr>
          <p:cNvPr id="13" name="Text 11"/>
          <p:cNvSpPr/>
          <p:nvPr/>
        </p:nvSpPr>
        <p:spPr>
          <a:xfrm>
            <a:off x="487680" y="3584448"/>
            <a:ext cx="4267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133" b="1">
                <a:solidFill>
                  <a:srgbClr val="2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133"/>
          </a:p>
        </p:txBody>
      </p:sp>
      <p:sp>
        <p:nvSpPr>
          <p:cNvPr id="14" name="Text 12"/>
          <p:cNvSpPr/>
          <p:nvPr/>
        </p:nvSpPr>
        <p:spPr>
          <a:xfrm>
            <a:off x="914400" y="3584448"/>
            <a:ext cx="505968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133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Redmon, S. Divvala, R. Girshick, and A. Farhadi, "You Only Look Once: Unified, Real-Time Object Detection," in Proc. IEEE CVPR, 2016, pp. 779–788.</a:t>
            </a:r>
            <a:endParaRPr lang="en-US" sz="1133"/>
          </a:p>
        </p:txBody>
      </p:sp>
      <p:sp>
        <p:nvSpPr>
          <p:cNvPr id="15" name="Text 13"/>
          <p:cNvSpPr/>
          <p:nvPr/>
        </p:nvSpPr>
        <p:spPr>
          <a:xfrm>
            <a:off x="487680" y="4291584"/>
            <a:ext cx="4267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133" b="1">
                <a:solidFill>
                  <a:srgbClr val="2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133"/>
          </a:p>
        </p:txBody>
      </p:sp>
      <p:sp>
        <p:nvSpPr>
          <p:cNvPr id="16" name="Text 14"/>
          <p:cNvSpPr/>
          <p:nvPr/>
        </p:nvSpPr>
        <p:spPr>
          <a:xfrm>
            <a:off x="914400" y="4291584"/>
            <a:ext cx="505968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133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W. Liu et al., "SSD: Single Shot MultiBox Detector," in Proc. ECCV, 2016, pp. 21–37.</a:t>
            </a:r>
            <a:endParaRPr lang="en-US" sz="1133"/>
          </a:p>
        </p:txBody>
      </p:sp>
      <p:sp>
        <p:nvSpPr>
          <p:cNvPr id="17" name="Text 15"/>
          <p:cNvSpPr/>
          <p:nvPr/>
        </p:nvSpPr>
        <p:spPr>
          <a:xfrm>
            <a:off x="487680" y="4998720"/>
            <a:ext cx="4267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133" b="1">
                <a:solidFill>
                  <a:srgbClr val="2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133"/>
          </a:p>
        </p:txBody>
      </p:sp>
      <p:sp>
        <p:nvSpPr>
          <p:cNvPr id="18" name="Text 16"/>
          <p:cNvSpPr/>
          <p:nvPr/>
        </p:nvSpPr>
        <p:spPr>
          <a:xfrm>
            <a:off x="914400" y="4998720"/>
            <a:ext cx="505968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133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G. Howard et al., "MobileNets: Efficient Convolutional Neural Networks for Mobile Vision Applications," arXiv:1704.04861, 2017.</a:t>
            </a:r>
            <a:endParaRPr lang="en-US" sz="1133"/>
          </a:p>
        </p:txBody>
      </p:sp>
      <p:sp>
        <p:nvSpPr>
          <p:cNvPr id="19" name="Text 17"/>
          <p:cNvSpPr/>
          <p:nvPr/>
        </p:nvSpPr>
        <p:spPr>
          <a:xfrm>
            <a:off x="487680" y="5705856"/>
            <a:ext cx="4267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133" b="1">
                <a:solidFill>
                  <a:srgbClr val="2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1133"/>
          </a:p>
        </p:txBody>
      </p:sp>
      <p:sp>
        <p:nvSpPr>
          <p:cNvPr id="20" name="Text 18"/>
          <p:cNvSpPr/>
          <p:nvPr/>
        </p:nvSpPr>
        <p:spPr>
          <a:xfrm>
            <a:off x="914400" y="5705856"/>
            <a:ext cx="505968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133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Sandler, A. Howard, M. Zhu, A. Zhmoginov, and L.-C. Chen, "MobileNetV2: Inverted Residuals and Linear Bottlenecks," in Proc. IEEE CVPR, 2018, pp. 4510–4520.</a:t>
            </a:r>
            <a:endParaRPr lang="en-US" sz="1133"/>
          </a:p>
        </p:txBody>
      </p:sp>
      <p:sp>
        <p:nvSpPr>
          <p:cNvPr id="21" name="Text 19"/>
          <p:cNvSpPr/>
          <p:nvPr/>
        </p:nvSpPr>
        <p:spPr>
          <a:xfrm>
            <a:off x="6339840" y="1463040"/>
            <a:ext cx="4267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133" b="1">
                <a:solidFill>
                  <a:srgbClr val="2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lang="en-US" sz="1133"/>
          </a:p>
        </p:txBody>
      </p:sp>
      <p:sp>
        <p:nvSpPr>
          <p:cNvPr id="22" name="Text 20"/>
          <p:cNvSpPr/>
          <p:nvPr/>
        </p:nvSpPr>
        <p:spPr>
          <a:xfrm>
            <a:off x="6766560" y="1463040"/>
            <a:ext cx="505968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133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Jacob et al., "Quantization and Training of Neural Networks for Efficient Integer-Arithmetic-Only Inference," in Proc. IEEE CVPR, 2018, pp. 2704–2713.</a:t>
            </a:r>
            <a:endParaRPr lang="en-US" sz="1133"/>
          </a:p>
        </p:txBody>
      </p:sp>
      <p:sp>
        <p:nvSpPr>
          <p:cNvPr id="23" name="Text 21"/>
          <p:cNvSpPr/>
          <p:nvPr/>
        </p:nvSpPr>
        <p:spPr>
          <a:xfrm>
            <a:off x="6339840" y="2170176"/>
            <a:ext cx="4267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133" b="1">
                <a:solidFill>
                  <a:srgbClr val="2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</a:t>
            </a:r>
            <a:endParaRPr lang="en-US" sz="1133"/>
          </a:p>
        </p:txBody>
      </p:sp>
      <p:sp>
        <p:nvSpPr>
          <p:cNvPr id="24" name="Text 22"/>
          <p:cNvSpPr/>
          <p:nvPr/>
        </p:nvSpPr>
        <p:spPr>
          <a:xfrm>
            <a:off x="6766560" y="2170176"/>
            <a:ext cx="505968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133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Hinton, O. Vinyals, and J. Dean, "Distilling the Knowledge in a Neural Network," in NIPS Deep Learning Workshop, 2015.</a:t>
            </a:r>
            <a:endParaRPr lang="en-US" sz="1133"/>
          </a:p>
        </p:txBody>
      </p:sp>
      <p:sp>
        <p:nvSpPr>
          <p:cNvPr id="25" name="Text 23"/>
          <p:cNvSpPr/>
          <p:nvPr/>
        </p:nvSpPr>
        <p:spPr>
          <a:xfrm>
            <a:off x="6339840" y="2877312"/>
            <a:ext cx="4267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133" b="1">
                <a:solidFill>
                  <a:srgbClr val="2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</a:t>
            </a:r>
            <a:endParaRPr lang="en-US" sz="1133"/>
          </a:p>
        </p:txBody>
      </p:sp>
      <p:sp>
        <p:nvSpPr>
          <p:cNvPr id="26" name="Text 24"/>
          <p:cNvSpPr/>
          <p:nvPr/>
        </p:nvSpPr>
        <p:spPr>
          <a:xfrm>
            <a:off x="6766560" y="2877312"/>
            <a:ext cx="505968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133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 Lai, N. Suda, and V. Chandra, "CMSIS-NN: Efficient Neural Network Kernels for Arm Cortex-M CPUs," arXiv:1801.06601, 2018.</a:t>
            </a:r>
            <a:endParaRPr lang="en-US" sz="1133"/>
          </a:p>
        </p:txBody>
      </p:sp>
      <p:sp>
        <p:nvSpPr>
          <p:cNvPr id="27" name="Text 25"/>
          <p:cNvSpPr/>
          <p:nvPr/>
        </p:nvSpPr>
        <p:spPr>
          <a:xfrm>
            <a:off x="6339840" y="3584448"/>
            <a:ext cx="4267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133" b="1">
                <a:solidFill>
                  <a:srgbClr val="2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</a:t>
            </a:r>
            <a:endParaRPr lang="en-US" sz="1133"/>
          </a:p>
        </p:txBody>
      </p:sp>
      <p:sp>
        <p:nvSpPr>
          <p:cNvPr id="28" name="Text 26"/>
          <p:cNvSpPr/>
          <p:nvPr/>
        </p:nvSpPr>
        <p:spPr>
          <a:xfrm>
            <a:off x="6766560" y="3584448"/>
            <a:ext cx="505968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133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David et al., "TensorFlow Lite Micro: Embedded Machine Learning for TinyML Systems," in Proc. Machine Learning and Systems (MLSys), vol. 3, 2021, pp. 800–811.</a:t>
            </a:r>
            <a:endParaRPr lang="en-US" sz="1133"/>
          </a:p>
        </p:txBody>
      </p:sp>
      <p:sp>
        <p:nvSpPr>
          <p:cNvPr id="29" name="Text 27"/>
          <p:cNvSpPr/>
          <p:nvPr/>
        </p:nvSpPr>
        <p:spPr>
          <a:xfrm>
            <a:off x="6339840" y="4291584"/>
            <a:ext cx="4267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133" b="1">
                <a:solidFill>
                  <a:srgbClr val="2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</a:t>
            </a:r>
            <a:endParaRPr lang="en-US" sz="1133"/>
          </a:p>
        </p:txBody>
      </p:sp>
      <p:sp>
        <p:nvSpPr>
          <p:cNvPr id="30" name="Text 28"/>
          <p:cNvSpPr/>
          <p:nvPr/>
        </p:nvSpPr>
        <p:spPr>
          <a:xfrm>
            <a:off x="6766560" y="4291584"/>
            <a:ext cx="505968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133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Banks and R. Gupta, "MQTT Version 3.1.1," OASIS Standard, 2014.</a:t>
            </a:r>
            <a:endParaRPr lang="en-US" sz="1133"/>
          </a:p>
        </p:txBody>
      </p:sp>
      <p:sp>
        <p:nvSpPr>
          <p:cNvPr id="31" name="Text 29"/>
          <p:cNvSpPr/>
          <p:nvPr/>
        </p:nvSpPr>
        <p:spPr>
          <a:xfrm>
            <a:off x="6339840" y="4998720"/>
            <a:ext cx="4267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133" b="1">
                <a:solidFill>
                  <a:srgbClr val="2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</a:t>
            </a:r>
            <a:endParaRPr lang="en-US" sz="1133"/>
          </a:p>
        </p:txBody>
      </p:sp>
      <p:sp>
        <p:nvSpPr>
          <p:cNvPr id="32" name="Text 30"/>
          <p:cNvSpPr/>
          <p:nvPr/>
        </p:nvSpPr>
        <p:spPr>
          <a:xfrm>
            <a:off x="6766560" y="4998720"/>
            <a:ext cx="505968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133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Salamon, C. Jacoby, and J. P. Bello, "A Dataset and Taxonomy for Urban Sound Research," in Proc. ACM Int. Conf. Multimedia (ACM MM), 2014, pp. 1041–1044.</a:t>
            </a:r>
            <a:endParaRPr lang="en-US" sz="1133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39</Slides>
  <Notes>18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Office Theme</vt:lpstr>
      <vt:lpstr>EagleEye: Intelligent Edge AI Surveillance System</vt:lpstr>
      <vt:lpstr>Introduction</vt:lpstr>
      <vt:lpstr>PowerPoint Presentation</vt:lpstr>
      <vt:lpstr>02 PROBLEM STATEMENT</vt:lpstr>
      <vt:lpstr>03 PROPOSED SOLUTION &amp; CORE FUNCTIONALITIES</vt:lpstr>
      <vt:lpstr>04 PROPOSED SOLUTION &amp; CORE FUNCTIONALITIES</vt:lpstr>
      <vt:lpstr>05 LITERATURE REVIEW &amp; ANALYSIS</vt:lpstr>
      <vt:lpstr>06 FOUNDATIONS WE BUILD ON</vt:lpstr>
      <vt:lpstr>The System</vt:lpstr>
      <vt:lpstr>07 SYSTEM ARCHITECTURE — v1: LOCAL PROTOTYPE</vt:lpstr>
      <vt:lpstr>PowerPoint Presentation</vt:lpstr>
      <vt:lpstr>PowerPoint Presentation</vt:lpstr>
      <vt:lpstr>PowerPoint Presentation</vt:lpstr>
      <vt:lpstr>AI Vision</vt:lpstr>
      <vt:lpstr>PowerPoint Presentation</vt:lpstr>
      <vt:lpstr>PowerPoint Presentation</vt:lpstr>
      <vt:lpstr>13  AIVISION — TRAINING TECHNIQUES (THE TOOLBOX)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SOCIETAL IMPACT &amp; SUSTAINABILITY (UN SDGS)</vt:lpstr>
      <vt:lpstr>TIMELINE &amp; MILESTONES</vt:lpstr>
      <vt:lpstr>PowerPoint Presentation</vt:lpstr>
      <vt:lpstr>WORK DIVISION</vt:lpstr>
      <vt:lpstr>PowerPoint Presentation</vt:lpstr>
      <vt:lpstr>CONCLUSION</vt:lpstr>
      <vt:lpstr>EagleEye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EagleEye — FYP Final Defence</dc:title>
  <dc:subject>PptxGenJS Presentation</dc:subject>
  <dc:creator>EagleEye Team — ITU Lahore</dc:creator>
  <cp:revision>4</cp:revision>
  <dcterms:created xsi:type="dcterms:W3CDTF">2026-06-14T16:32:55Z</dcterms:created>
  <dcterms:modified xsi:type="dcterms:W3CDTF">2026-06-17T00:57:19Z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2026-06-14T00:00:00Z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2026-06-14T00:00:00Z</vt:filetime>
  </property>
  <property fmtid="{D5CDD505-2E9C-101B-9397-08002B2CF9AE}" pid="6" name="Producer">
    <vt:lpwstr>Microsoft® PowerPoint® for Microsoft 365</vt:lpwstr>
  </property>
</Properties>
</file>