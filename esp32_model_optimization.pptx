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37160"/>
            <a:ext cx="640080" cy="640080"/>
          </a:xfrm>
          <a:prstGeom prst="roundRect">
            <a:avLst/>
          </a:prstGeom>
          <a:solidFill>
            <a:srgbClr val="1A9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AI MODEL OPTIMIZATION &amp; SPEEDUP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FIRMWARE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38328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B4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 bIns="182880"/>
          <a:lstStyle/>
          <a:p>
            <a:pPr algn="ctr">
              <a:defRPr sz="1400" b="1">
                <a:solidFill>
                  <a:srgbClr val="14325A"/>
                </a:solidFill>
                <a:latin typeface="Arial"/>
              </a:defRPr>
            </a:pPr>
            <a:r>
              <a:t>1. INT8 QUANTIZATION</a:t>
            </a:r>
          </a:p>
          <a:p>
            <a:pPr>
              <a:spcAft>
                <a:spcPts val="1200"/>
              </a:spcAft>
              <a:defRPr sz="1100" i="1">
                <a:solidFill>
                  <a:srgbClr val="646464"/>
                </a:solidFill>
                <a:latin typeface="Arial"/>
              </a:defRPr>
            </a:pPr>
            <a:r>
              <a:t>Precision Downsizing</a:t>
            </a:r>
          </a:p>
          <a:p>
            <a:pPr>
              <a:spcAft>
                <a:spcPts val="4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What it is:</a:t>
            </a:r>
          </a:p>
          <a:p>
            <a:pPr lvl="1">
              <a:spcAft>
                <a:spcPts val="4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Converts weights &amp; activation floats (32-bit) to integers (8-bit) post-training.</a:t>
            </a:r>
          </a:p>
          <a:p>
            <a:pPr>
              <a:spcAft>
                <a:spcPts val="4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Key Benefits:</a:t>
            </a:r>
          </a:p>
          <a:p>
            <a:pPr lvl="1">
              <a:spcAft>
                <a:spcPts val="4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Shrinks model size 4× (from 52 KB to 13 KB), allowing it to easily fit in the internal Flash.</a:t>
            </a:r>
          </a:p>
          <a:p>
            <a:pPr lvl="1">
              <a:spcAft>
                <a:spcPts val="4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Reduces memory bandwidth requirement, preventing bottlenecks.</a:t>
            </a:r>
          </a:p>
          <a:p>
            <a:pPr lvl="1">
              <a:spcAft>
                <a:spcPts val="4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Replaces costly floating-point calculations with faster, native integer arithmetic.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2F9F5"/>
          </a:solidFill>
          <a:ln w="19050">
            <a:solidFill>
              <a:srgbClr val="AA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 bIns="182880"/>
          <a:lstStyle/>
          <a:p>
            <a:pPr algn="ctr">
              <a:defRPr sz="1400" b="1">
                <a:solidFill>
                  <a:srgbClr val="14325A"/>
                </a:solidFill>
                <a:latin typeface="Arial"/>
              </a:defRPr>
            </a:pPr>
            <a:r>
              <a:t>2. DEPTHWISE SEPARABLE CONV</a:t>
            </a:r>
          </a:p>
          <a:p>
            <a:pPr>
              <a:spcAft>
                <a:spcPts val="1200"/>
              </a:spcAft>
              <a:defRPr sz="1100" i="1">
                <a:solidFill>
                  <a:srgbClr val="646464"/>
                </a:solidFill>
                <a:latin typeface="Arial"/>
              </a:defRPr>
            </a:pPr>
            <a:r>
              <a:t>Algorithmic Efficiency</a:t>
            </a:r>
          </a:p>
          <a:p>
            <a:pPr>
              <a:spcAft>
                <a:spcPts val="4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What it is:</a:t>
            </a:r>
          </a:p>
          <a:p>
            <a:pPr lvl="1">
              <a:spcAft>
                <a:spcPts val="4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Splits standard 2D convolution into a spatial filter (Depthwise) and a channel mixer (Pointwise).</a:t>
            </a:r>
          </a:p>
          <a:p>
            <a:pPr>
              <a:spcAft>
                <a:spcPts val="4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Key Benefits:</a:t>
            </a:r>
          </a:p>
          <a:p>
            <a:pPr lvl="1">
              <a:spcAft>
                <a:spcPts val="4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Mathematically reduces total multiplications by ~80-90% for a 3x3 kernel.</a:t>
            </a:r>
          </a:p>
          <a:p>
            <a:pPr lvl="1">
              <a:spcAft>
                <a:spcPts val="4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Total operations drop from tens of millions to only 3.2 million multiply-adds.</a:t>
            </a:r>
          </a:p>
          <a:p>
            <a:pPr lvl="1">
              <a:spcAft>
                <a:spcPts val="4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Significantly reduces memory footprint needed for intermediate tensors.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383280" cy="475488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B4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 bIns="182880"/>
          <a:lstStyle/>
          <a:p>
            <a:pPr algn="ctr">
              <a:defRPr sz="1400" b="1">
                <a:solidFill>
                  <a:srgbClr val="14325A"/>
                </a:solidFill>
                <a:latin typeface="Arial"/>
              </a:defRPr>
            </a:pPr>
            <a:r>
              <a:t>3. ESP-NN ACCELERATION</a:t>
            </a:r>
          </a:p>
          <a:p>
            <a:pPr>
              <a:spcAft>
                <a:spcPts val="1200"/>
              </a:spcAft>
              <a:defRPr sz="1100" i="1">
                <a:solidFill>
                  <a:srgbClr val="646464"/>
                </a:solidFill>
                <a:latin typeface="Arial"/>
              </a:defRPr>
            </a:pPr>
            <a:r>
              <a:t>Hardware-Specific Kernels</a:t>
            </a:r>
          </a:p>
          <a:p>
            <a:pPr>
              <a:spcAft>
                <a:spcPts val="4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What it is:</a:t>
            </a:r>
          </a:p>
          <a:p>
            <a:pPr lvl="1">
              <a:spcAft>
                <a:spcPts val="4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Espressif's library containing hand-tuned assembly/C kernels optimized for the Xtensa processor.</a:t>
            </a:r>
          </a:p>
          <a:p>
            <a:pPr>
              <a:spcAft>
                <a:spcPts val="4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Key Benefits:</a:t>
            </a:r>
          </a:p>
          <a:p>
            <a:pPr lvl="1">
              <a:spcAft>
                <a:spcPts val="4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Replaces default, generic TensorFlow Lite Micro mathematical operations.</a:t>
            </a:r>
          </a:p>
          <a:p>
            <a:pPr lvl="1">
              <a:spcAft>
                <a:spcPts val="4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Implements SIMD-like instruction usage to run multiple multiplications per clock cycle.</a:t>
            </a:r>
          </a:p>
          <a:p>
            <a:pPr lvl="1">
              <a:spcAft>
                <a:spcPts val="40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Performance boost: Reduces inference time 3× (from ~2.5 seconds down to 800 milliseconds).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