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[Diagram Request: 3-zone flat diagram — SITE (ESP32-CAM) → SITE PC (Mosquitto broker + bridge.py → Cloudinary/Firebase) → Phone (same LAN). Mark live-video &amp; servo as ❌ camera-LAN-IP links.]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[Diagram Request: 3-zone flat diagram — SITE A (ESP32-CAM, any network / 4G) → CLOUD (HiveMQ Cloud MQTT broker · Cloudinary · Firebase → Cloud Function → FCM · Deno Deploy WS relay) → ANYWHERE (Phone). All device arrows point OUTWARD (teal); 🔒 lock on every link.]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Photo of ESP32-CAM setup]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Horizontal 5-phase timeline plotting Accuracy vs Latency, ending at the ★ v7.16 marker]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[Diagram Request: Vertical Layer Stack Diagram]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Comparison bar chart — Test Accuracy &amp; Human Recall for v7.16 vs v7.15 vs v7.3]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Python Terminal Output showing Magic Byte verification]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App Screen &amp; Alert Notification]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Table/Chart showing roles]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Icons of SDG 9, SDG 11, and SDG 16]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Visuals to add:</a:t>
            </a:r>
          </a:p>
          <a:p>
            <a:r>
              <a:t>- [Visual Request: Gantt Chart]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FFFFFF"/>
                </a:solidFill>
                <a:latin typeface="Calibri"/>
              </a:rPr>
              <a:t>EagleEye: Intelligent Edge AI Surveillance System</a:t>
            </a:r>
          </a:p>
          <a:p>
            <a:pPr algn="ctr">
              <a:spcBef>
                <a:spcPts val="1400"/>
              </a:spcBef>
              <a:buNone/>
            </a:pPr>
            <a:r>
              <a:rPr sz="2200" b="0" i="1">
                <a:solidFill>
                  <a:srgbClr val="CFE2F3"/>
                </a:solidFill>
                <a:latin typeface="Calibri"/>
              </a:rPr>
              <a:t>Mid-Project Evaluation</a:t>
            </a:r>
          </a:p>
          <a:p>
            <a:pPr algn="ctr">
              <a:spcBef>
                <a:spcPts val="600"/>
              </a:spcBef>
              <a:buNone/>
            </a:pPr>
            <a:r>
              <a:rPr sz="1800" b="0" i="0">
                <a:solidFill>
                  <a:srgbClr val="CFE2F3"/>
                </a:solidFill>
                <a:latin typeface="Calibri"/>
              </a:rPr>
              <a:t>[Member 1], [Member 2], [Member 3]</a:t>
            </a:r>
          </a:p>
          <a:p>
            <a:pPr algn="ctr">
              <a:spcBef>
                <a:spcPts val="600"/>
              </a:spcBef>
              <a:buNone/>
            </a:pPr>
            <a:r>
              <a:rPr sz="1800" b="0" i="0">
                <a:solidFill>
                  <a:srgbClr val="CFE2F3"/>
                </a:solidFill>
                <a:latin typeface="Calibri"/>
              </a:rPr>
              <a:t>[Advisor Name]</a:t>
            </a:r>
          </a:p>
          <a:p>
            <a:pPr algn="ctr">
              <a:spcBef>
                <a:spcPts val="600"/>
              </a:spcBef>
              <a:buNone/>
            </a:pPr>
            <a:r>
              <a:rPr sz="1600" b="0" i="0">
                <a:solidFill>
                  <a:srgbClr val="CFE2F3"/>
                </a:solidFill>
                <a:latin typeface="Calibri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Problem Statement (Recap)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The Issue: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Traditional surveillance systems are bandwidth-heavy, expensive, and privacy-invasive (streaming 24/7 video to the cloud).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The Gap: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Lack of affordable, "privacy-first" smart cameras that process data entirely on the edge.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Our Goal: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Develop a decentralized, low-power surveillance system that detects intruders locally on an ESP32-CAM and only transmits confirmed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Proposed Solution &amp; Core Functionalities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Calibri"/>
              </a:rPr>
              <a:t>Project Concept: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A proactive, multi-layered security system combining Edge AI with physical automation.</a:t>
            </a:r>
          </a:p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Calibri"/>
              </a:rPr>
              <a:t>Key Functionalities: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AI Vision Detection: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Real-time human recognition using TinyML (eliminating simple motion false alarms).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Voice Alert System: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Immediate audible warnings (Text-to-Speech/Siren) upon detection to deter intruders.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Smart Arming Logic: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Automated "Arm/Disarm" triggers based on sensor states.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Live Surveillance: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Low-latency video streaming for manual verification.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Dynamic Camera Control: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Auto: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Intelligent tracking of moving targets.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Manual: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Remote Pan/Tilt control via the mobile app.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Physical Security: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Integrated Remote Door Lock control to secure premises instantly.</a:t>
            </a:r>
          </a:p>
          <a:p>
            <a:pPr>
              <a:spcAft>
                <a:spcPts val="5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Calibri"/>
              </a:rPr>
              <a:t>The Solution: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Bridging the gap between passive CCTVs and expensive smart security.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Providing a system that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detects, acts, and secures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autonomously.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Previous Literature Review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Commercial &amp; Cloud-Centric Limits: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Systems (Ring/Nest):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Rely on continuous cloud streaming, causing high bandwidth usage and privacy risks (data stored externally) [1].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Cost &amp; Power: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Recurring subscription fees and high power consumption (~1.25V/hour) make them unsuitable for off-grid use.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Early Edge AI Limitations: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Complex Models: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Standard architectures like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MobileNet-SSD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or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YOLOv5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are too heavy for ESP32, causing low frame rates (1–3 FPS) and high latency.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Hardware Failures: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Large tensors exhausted the 520KB SRAM, leading to frequent "Brownout" and "Camera Init Failed" errors.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Sensor Reliability: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Reliance on simple PIR sensors caused 85-95% false positive rates (triggered by wind/animals).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Current Literature &amp; TinyML Advancements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Quantization Revolution: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Technique: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Converting 32-bit floating-point weights to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8-bit integers (Int8)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Result: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Reduces model size by ~75% while retaining ~97% detection accuracy, allowing fit within limited SRAM.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Optimized Custom Architectures: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Grayscale Inputs: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shifting from RGB to 1-channel (48x48) inputs reduces tensor interactions by 3x.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Shallow CNNs: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Custom layers designed for specific object detection (Human) outperform generic "Kitchen Sink" models in speed (~112ms inference).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Energy &amp; Architecture: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Sensor Fusion: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Waking the camera only on PIR triggers reduces idle consumption (~0.93V/hour).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Frameworks: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TensorFlow Lite for Microcontrollers enables OS-free, low-latency inference on bare metal.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System Architecture — v1: Local Prototype (LAN-only)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[Diagram Request: 3-zone flat diagram — SITE (ESP32-CAM) → SITE PC (Mosquitto broker + bridge.py → Cloudinary/Firebase) → Phone (same LAN). Mark live-video &amp; servo as ❌ camera-LAN-IP links.]</a:t>
            </a:r>
          </a:p>
          <a:p>
            <a:pPr>
              <a:spcAft>
                <a:spcPts val="500"/>
              </a:spcAft>
              <a:buNone/>
            </a:pPr>
            <a:r>
              <a:rPr sz="1700" b="0" i="1">
                <a:solidFill>
                  <a:srgbClr val="1A1A1A"/>
                </a:solidFill>
                <a:latin typeface="Calibri"/>
              </a:rPr>
              <a:t>One network for everything; a PC had to stay powered on at the site.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Flow: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ESP32-CAM → local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Mosquitto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broker on a site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PC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`bridge.py`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uploads the JPEG to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Cloudinary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+ writes alert metadata to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Firebase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app reads Firebase.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Live video &amp; servo: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the app talks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directly to the camera's LAN IP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(HTTP MJPEG /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GET /servo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Arm / disarm: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app → Firebase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config/armed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; the bridge gates on it.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Limitations: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❌ same network only · ❌ a PC must stay on running Mosquitto +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bridge.py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· ❌ type the camera's IP (breaks on CGNAT / no port-forwarding) · ❌ open broker, no TLS, hardcoded Wi-Fi creds →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not shippable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System Architecture — v2: Cloud &amp; Outbound-Only (HiveMQ + Relay) ★ current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[Diagram Request: 3-zone flat diagram — SITE A (ESP32-CAM, any network / 4G) → CLOUD (HiveMQ Cloud MQTT broker · Cloudinary · Firebase → Cloud Function → FCM · Deno Deploy WS relay) → ANYWHERE (Phone). All device arrows point OUTWARD (teal); 🔒 lock on every link.]</a:t>
            </a:r>
          </a:p>
          <a:p>
            <a:pPr>
              <a:spcAft>
                <a:spcPts val="500"/>
              </a:spcAft>
              <a:buNone/>
            </a:pPr>
            <a:r>
              <a:rPr sz="1700" b="0" i="1">
                <a:solidFill>
                  <a:srgbClr val="1A1A1A"/>
                </a:solidFill>
                <a:latin typeface="Calibri"/>
              </a:rPr>
              <a:t>The device dials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out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 to the cloud and stays connected — so it works from any network with no IP, no port-forwarding, no PC on site.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Outbound-only rule (the key idea):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the camera always connects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out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and stays connected, like a messaging app → no static IP, no port-forwarding, no on-site PC.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Control + alerts plane: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MQTT over TLS to HiveMQ Cloud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(managed broker). Topics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status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(with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LWT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true online/offline),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alert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cmd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(servo, arm/disarm, stream on/off),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cmd/ack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. The app speaks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MQTT-over-WebSocket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servo &amp; arm/disarm work from anywhere.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Alerts anywhere: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device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HTTPS-POSTs the JPEG directly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to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Cloudinary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writes metadata to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Firebase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a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Cloud Function fires an FCM push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phone is alerted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even with the app closed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. (No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bridge.py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no site PC.)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Video plane (on-demand):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app sends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cmd:{stream:on}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device opens an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outbound WebSocket to the Deno Deploy relay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→ relay fans frames to the app; closing the screen stops it.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Never 24/7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(QVGA–VGA JPEG, ~5–15 fps).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Security &amp; cost: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TLS everywhere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mqtts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8883 /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wss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/ HTTPS),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per-device credentials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least-privilege topics; works on Wi-Fi / office /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4G-LTE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; entire stack on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free tiers (~$0–10 / month)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Engineering Design: The Edge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Photo of ESP32-CAM setup]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Hardware: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AI-Thinker ESP32-CAM.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Workflow: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Capture: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Frame (RGB565).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Pre-processing: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Center-crop &amp; resize to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96x96 RGB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, normalize to [0,1] (matches the deployed v7.16 model).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Inference: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Run the custom from-scratch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depthwise-separable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TFLite Micro INT8 model.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555555"/>
                </a:solidFill>
                <a:latin typeface="Calibri"/>
              </a:rPr>
              <a:t>Logic: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If human probability exceeds the alert threshold -&gt; Trigger Alert state.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Innovation: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Implemented "Warm-up" and "Cooldown" state machines to prevent false positive loops and sensor noise.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Model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Horizontal 5-phase timeline plotting Accuracy vs Latency, ending at the ★ v7.16 marker]</a:t>
            </a:r>
          </a:p>
          <a:p>
            <a:pPr>
              <a:spcAft>
                <a:spcPts val="500"/>
              </a:spcAft>
              <a:buNone/>
            </a:pPr>
            <a:r>
              <a:rPr sz="1500" b="0" i="1">
                <a:solidFill>
                  <a:srgbClr val="1A1A1A"/>
                </a:solidFill>
                <a:latin typeface="Calibri"/>
              </a:rPr>
              <a:t>Governing constraint: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the detector must run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on the ESP32-CAM itself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~100 kB tensor arena, no GPU, no cloud inference, sub-second latency. Every version is a negotiation between accuracy, latency, memory, and real-world reliability.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17 engineered variants (v1.0 → v7.17)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across five phases — the recurring lesson: the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smallest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model is not the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best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model; converge on the smallest model that still generalizes.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0 — Off-the-shelf reference (Oct–Dec 2025):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bootstrapped on pre-built person detectors (Edge Impulse + a TFLite ESP32 reference). Proved the on-device TFLite pipeline works (first end-to-end IoT path ~712 ms).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Lesson: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inference works on-device, but a generic model is slow and not ours.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1 — Custom "Tiny CNN", 48×48 grayscale (Feb–May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trained our own. v1.0 baseline (~80–85%, ~106 ms) → v1.1 color reverted (latency/memory) → v2.0 augmented →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v2.1 hard-negative &gt;90%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(live ESP32 capturer) → v3.0 Optuna-heavy 94.96% but &gt;300 ms → v4.0 knowledge-distilled 91.77% @ &lt;150 ms → v5.0 tiny-dropout 91.7%, 12.6 KB.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Lesson: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accuracy is available, but not for free.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2 — Edge Impulse cloud, 48×48 (mid-May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EI project 1000575 "final", ~1,862 images. v6.0 RGB (superseded — firmware fed 1-channel) →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v6.1 grayscale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(long-running deployed EI model).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Firmware lesson: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AllOpsResolver → MicroMutableOpResolver (register only needed ops).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3 — Transfer learning: MobileNetV1 0.2, 96×96 RGB (mid-May–Jun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the 48×48 grayscale tiny CNN couldn't generalize in real scenes. Jumped to a pretrained MobileNetV1 backbone — with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ESP-NN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Espressif's optimized neural-network kernel library that accelerates TensorFlow Lite Micro inference on the ESP32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)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disabled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, because it produced saturated/wrong predictions for the MobileNet path on the ESP32-S1. Sweep v7.0 (89.86%) →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v7.3 class-weighted = 92.35% test (project peak)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→ v7.4 64×64 + EON 91.13% / ~570 ms (fast pick).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Findings: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resolution &gt; color; 48px collapses recall; 0.1-width can't reach 90%.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4 — From-scratch depthwise-separable → the final model (late May–Jun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for the FYP novelty we wanted a custom, from-scratch model still &gt;90%. Standard from-scratch convs (v7.11–v7.13) overfit (recall 67–76%). Breakthrough =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depthwise-separable convolutions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(~8–10× fewer MACs): v7.14 gray80 (86.85%, but an ESP-NN depthwise-kernel bug saturated it → "always human") → v7.15 rgb80, ESP-NN off (bias fixed, balanced 88.38%) →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★ v7.16 rgb96, ESP-NN off: 90.83% test, 87.5% human recall, balanced, ~872 ms — the deployed final model.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v7.17 is the grayscale sibling (86.24%, below target).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5 — In-house local pipeline (13 Jun 2026):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 local replica of the EI "final" CNN (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model-training/train_rgb.py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) so the team owns the whole train → quantize →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model_data.h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→ flash loop. RGB 92.16% INT8; grayscale 91.83% (with 100 pure-black frames added as non-human negatives so a blacked-out camera reads non-human).</a:t>
            </a:r>
          </a:p>
          <a:p>
            <a:pPr>
              <a:spcAft>
                <a:spcPts val="5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Model evolution — at a glance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(latency = on-device ESP32-CAM; `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` = estimated / not separately benchmarked):*</a:t>
            </a:r>
          </a:p>
          <a:p>
            <a:pPr>
              <a:spcAft>
                <a:spcPts val="5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Calibri"/>
              </a:rPr>
              <a:t>¹ Held-out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test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accuracy, INT8, unless noted (v3.0 = 5-fold CV; v1.0 / v6.1 ≈ validation). ² On-device ESP32-CAM;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*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= estimated. ³ INT8 validation (local pipeline). Full per-version log: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models/MODEL_VERSIONS.md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4572000"/>
          <a:ext cx="10881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Ver.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Trained on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Accuracy¹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Latency²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P0 ref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Pretrained person detector (EI / TFLite)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~96×96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COCO-person (pretrained)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~700 ms*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proved on-device TFLite; generic, not ours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v1.0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Tiny separable CNN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~1.5k human / non-human*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80–85%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~106 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original prod; too weak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v2.1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Tiny CNN + hard-negatives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+ live field hard-negatives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&gt;90%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~106 ms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field-hardened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v3.0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Heavy CNN 16-32-64 (Optuna)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same set, 5-fold CV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94.96%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&gt;300 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most accurate, too slow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v4.0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Distilled tiny (MobileNetV2 teacher)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distillation set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91.77%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&lt;150 ms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fast, but 48px ceiling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v6.1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Edge Impulse CNN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48×48 gray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EI cloud ~1,862 imgs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~90%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~110 ms*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long-deployed; detail-limited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v7.3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MobileNetV1 0.2 (transfer)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cleaned 469h / 920n + class-wt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92.35% (peak)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~1 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most accurate (borrowed backbone)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MobileNetV1 0.2 + EON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64×64 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same cleaned / balanced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91.13%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~570 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fast pick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v7.15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Depthwise-separable, from-scratch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80×80 RGB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929h / 920n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88.38%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~750 ms*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bias fixed; just under 90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★ v7.16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Depthwise-separable, from-scratch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929h / 920n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90.83%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~872 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deployed final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v7.17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Depthwise-separable (gray)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929h / 920n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86.24%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~820 ms*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lower-RAM sibling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Local-RGB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From-scratch (EI replica,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train_rgb.py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763 / 763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92.16%³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~872 ms*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in-house pipeline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Local-gray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From-scratch (+100 black frames)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gray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balanced 763 / 763 + black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91.83%³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~820 ms*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currently flashed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Training Techniques (the toolbox)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500" b="0" i="1">
                <a:solidFill>
                  <a:srgbClr val="1A1A1A"/>
                </a:solidFill>
                <a:latin typeface="Calibri"/>
              </a:rPr>
              <a:t>Across the evolution, each phase contributed a reusable technique. The key ones: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INT8 post-training quantization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32-bit floats → 8-bit integers (~4× smaller, fast integer math on the MCU) via representative-dataset calibration. Exposed a real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"quantization gap"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(float ↑ but INT8 flat — v7.1) that later phases had to close.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Data augmentation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RandomFlip / Rotation / Zoom / brightness jitter for robustness to lighting and camera angle (v2.0+).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Hard-negative mining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a live ESP32 Wi-Fi capturer harvested the exact false positives/negatives the camera saw in the field; oversampled them to push past 90% (v2.1).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Train on what the device actually gets wrong.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Optuna hyperparameter search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automated tuning of learning rate, dropout, and architecture (v3.0: 94.96% F1; also tuned the distillation in v4.0).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Knowledge distillation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a large MobileNetV2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teacher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transferred its learned probabilities into a tiny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student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(α = 0.378, T = 9.23) → 91.77% @ &lt;150 ms (v4.0).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Class balancing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geometric augmentation to parity (v7.2) vs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class weighting / cost-sensitive learning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(v7.3, the winner) — fixed the human-minority bias on cleaned data.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Transfer learning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a pretrained (ImageNet) MobileNetV1 backbone, width 0.2, 96×96 RGB (v7.0–v7.9) — reached the project's peak accuracy of 92.35% (v7.3).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Final Technique (Deep Dive): Depthwise-Separable, From-Scratch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[Diagram Request: Vertical Layer Stack Diagram]</a:t>
            </a:r>
          </a:p>
          <a:p>
            <a:pPr>
              <a:spcAft>
                <a:spcPts val="500"/>
              </a:spcAft>
              <a:buNone/>
            </a:pPr>
            <a:r>
              <a:rPr sz="1500" b="0" i="1">
                <a:solidFill>
                  <a:srgbClr val="1A1A1A"/>
                </a:solidFill>
                <a:latin typeface="Calibri"/>
              </a:rPr>
              <a:t>Input 96×96×3 RGB → Conv2D(8) +BN +MaxPool → SeparableConv2D(16) +BN +MaxPool → SeparableConv2D(32) +BN +MaxPool → Flatten → Dropout(0.5) → Dense(2, Softmax)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Why depthwise-separable: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each standard convolution is factorized into a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depthwise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(per-channel) conv + a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1×1 pointwise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conv → ~8–10× fewer multiply-accumulates. Conv MACs ≈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2.8M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(v7.16) vs ~17–42M for standard convs — this is what makes a from-scratch CNN fit the ESP32 budget and stay sub-second.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From-scratch (no borrowed backbone):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satisfies the FYP novelty requirement — a custom architecture the team owns,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not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 pretrained MobileNet, that still clears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&gt;90%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ESP-NN disabled (on-device bias fix):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ESP-NN is Espressif's neural-network kernel library — hand-optimized low-level conv / depthwise / pooling routines that accelerate TensorFlow Lite Micro inference on the ESP32.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Here its depthwise kernel saturated the model to "always human" on the ESP32-S1 (the v7.14 bug); turning ESP-NN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off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(falling back to the reference kernels) removed the bias with no accuracy loss — the model is light enough to stay sub-second even without the accelerator.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Balanced training: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929 human / 920 non-human + class weights → no class bias.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INT8 quantization: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input scale 1/255 (zero-point −128), output scale 1/256 — the same calibration as the EI "final" pipeline; deployed as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model_data.h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Resolution as the final lever: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bumping 80×80 → 96×96 (v7.15 → v7.16) added the last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~2.5 pts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needed to cross 90%.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AI Vision —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Comparison bar chart — Test Accuracy &amp; Human Recall for v7.16 vs v7.15 vs v7.3]</a:t>
            </a:r>
          </a:p>
          <a:p>
            <a:pPr>
              <a:spcAft>
                <a:spcPts val="5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Final deployed model — ★ v7.16 (96×96 RGB depthwise, from-scratch, ESP-NN off):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Held-out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TEST accuracy 90.83%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(297/327) — the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&gt;90% target met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Human recall 87.5%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(98/112) ·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non-human recall 92.6%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(199/215) —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balanced, no class bias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On-device latency ~872 ms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on the ESP32-CAM — fully local, INT8, no GPU, no cloud.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1A1A1A"/>
                </a:solidFill>
                <a:latin typeface="Calibri"/>
              </a:rPr>
              <a:t>From-scratch depthwise CNN (~2.8M conv MACs); ESP-NN off → no on-device saturation (runs cleanly, no bias).</a:t>
            </a:r>
          </a:p>
          <a:p>
            <a:pPr>
              <a:spcAft>
                <a:spcPts val="5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Two predecessors, for context: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v7.15 (80×80 RGB depthwise, ESP-NN off)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the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direct predecessor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: balanced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88.38%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test (human/non-human recall both 88.4%). Proved depthwise + RGB + ESP-NN-off fixed the on-device bias; v7.16 then bumped 80→96 for the last ~2.5 pts.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v7.3 (96×96 RGB MobileNetV1, class-weighted)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— the project's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peak accuracy 92.35%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test (human recall 92.0%), but on a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borrowed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ImageNet backbone. v7.16 deliberately traded ~1.5 pts to be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fully from-scratch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(novelty) while staying balanced and ESP-NN-safe.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45720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Human recall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T="25400" marB="25400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v7.3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MobileNetV1 0.2 (transfer)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92.35%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peak — borrowed backbone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v7.15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Depthwise, from-scratch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80×80 RGB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88.38%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88.4%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direct predecessor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★ v7.16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Depthwise, from-scratch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96×96 RGB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90.83%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Calibri"/>
                        </a:rPr>
                        <a:t>deployed final</a:t>
                      </a:r>
                    </a:p>
                  </a:txBody>
                  <a:tcPr marT="25400" marB="2540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Backend Integration (Gateway &amp; Cloud)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Python Terminal Output showing Magic Byte verification]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MQTT Protocol: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Uses lightweight publish/subscribe model (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eagleeye/camera/image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) to save battery.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Python Bridge (Gateway):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555555"/>
                </a:solidFill>
                <a:latin typeface="Calibri"/>
              </a:rPr>
              <a:t>Acts as a security buffer (the camera has no direct internet access).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555555"/>
                </a:solidFill>
                <a:latin typeface="Calibri"/>
              </a:rPr>
              <a:t>Verifies JPEG "Magic Bytes" to ensure data integrity before upload.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0" i="0">
                <a:solidFill>
                  <a:srgbClr val="555555"/>
                </a:solidFill>
                <a:latin typeface="Calibri"/>
              </a:rPr>
              <a:t>Handles secure API handshakes with Cloudinary and Firebase.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Mobile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App Screen &amp; Alert Notification]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Technology: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React Native (Expo).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Key Features: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Real-time Sync: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Gallery updates instantly via Firebase listeners.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Visual Evidence: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Fetches high-res secure URLs from Cloudinary.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System Health: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Displays connection status and last-seen timestamps.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Results &amp; Performance Analysis (System)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Latency Metrics (end-to-end):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On-device detection: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~872 ms (ESP32-CAM, v7.16 — fully local, no cloud/GPU).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Upload: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~2-3s (Network dependent).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Alert to phone: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&lt; 1s (App).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Detection accuracy: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90.8% held-out test, balanced (87.5% human / 92.6% non-human recall) — detail in "AI Vision — Results".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Stability: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Decoupled architecture prevents the camera from freezing during network uploads.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Revised Work Division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Table/Chart showing roles]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Murtaza Khalid (Computer Vision &amp; Embedded AI):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Dataset &amp; Training: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Curated the human detection dataset and trained the custom TinyML model (Int8 Quantized).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Firmware Development: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Developed the ESP32-CAM C++ firmware, optimizing the inference engine and camera driver.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State Machine Logic: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Implemented the "Warm-up" and "Cooldown" algorithms to eliminate false positives.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Haseeb (Audio Intelligence &amp; Sensing):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Audio Model Development: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Trained the Audio Classification Model on urban sound datasets (UrbanSound8K).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Threat Detection: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Optimized the model to specifically detect "Door Opening", "Footsteps", and "Glass Breaking".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Integration: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Tuned the inference to run within 300ms latency for real-time acoustic alerts.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300" b="1" i="0">
                <a:solidFill>
                  <a:srgbClr val="1A1A1A"/>
                </a:solidFill>
                <a:latin typeface="Calibri"/>
              </a:rPr>
              <a:t>Huzaifa Khan (IoT Connectivity &amp; Mobile App):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Backend Architecture: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Designed the secure Python Gateway, MQTT Broker, and Cloud integrations (Cloudinary/Firebase).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Mobile App: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Built the React Native application for real-time alerts, live streaming, and history retrieval.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100" b="1" i="0">
                <a:solidFill>
                  <a:srgbClr val="555555"/>
                </a:solidFill>
                <a:latin typeface="Calibri"/>
              </a:rPr>
              <a:t>System Security:</a:t>
            </a:r>
            <a:r>
              <a:rPr sz="1100" b="0" i="0">
                <a:solidFill>
                  <a:srgbClr val="555555"/>
                </a:solidFill>
                <a:latin typeface="Calibri"/>
              </a:rPr>
              <a:t> Implemented Magic Byte verification and secure API handshakes.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Societal Impact &amp; Sustainability (UN SDGs)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Icons of SDG 9, SDG 11, and SDG 16]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Alignment with UN Sustainable Development Goals: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SDG 9 (Industry, Innovation &amp; Infrastructure):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Democratizing access to AI security by using low-cost, readily available microcontrollers (~$10 vs $200+ systems).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SDG 11 (Sustainable Cities &amp; Communities):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Enhancing safety in low-income housing where expensive security systems are unaffordable.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Privacy &amp; Ethics: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555555"/>
                </a:solidFill>
                <a:latin typeface="Calibri"/>
              </a:rPr>
              <a:t>Privacy by Design: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Images are processed locally. Only confirmed threats are transmitted. Empty frames or non-threats never leave the device, preserving user privacy.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Updated Timeline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500" b="0" i="1">
                <a:solidFill>
                  <a:srgbClr val="1A1A1A"/>
                </a:solidFill>
                <a:latin typeface="Calibri"/>
              </a:rPr>
              <a:t>(Mapping: Rubric MR5 - Revised Milestones)</a:t>
            </a:r>
          </a:p>
          <a:p>
            <a:pPr>
              <a:spcAft>
                <a:spcPts val="50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alibri"/>
              </a:rPr>
              <a:t>▦ [Visual Request: Gantt Chart]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Completed: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✅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AI Vision: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Confirmed as finished (Human Detection).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✅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Voice Integration: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Confirmed as finished (Alerts).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✅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Core System: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Confirmed as finished (Live Stream &amp; Arming).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500" b="1" i="0">
                <a:solidFill>
                  <a:srgbClr val="1A1A1A"/>
                </a:solidFill>
                <a:latin typeface="Calibri"/>
              </a:rPr>
              <a:t>Upcoming (Final Phase):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⬜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Dynamic Control: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Pan/Tilt &amp; Auto-Tracking.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⬜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Physical Security: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Door Lock Integration.</a:t>
            </a:r>
          </a:p>
          <a:p>
            <a:pPr lvl="1">
              <a:spcAft>
                <a:spcPts val="500"/>
              </a:spcAft>
              <a:buFont typeface="Calibri"/>
              <a:buChar char="•"/>
            </a:pPr>
            <a:r>
              <a:rPr sz="1300" b="0" i="0">
                <a:solidFill>
                  <a:srgbClr val="555555"/>
                </a:solidFill>
                <a:latin typeface="Calibri"/>
              </a:rPr>
              <a:t>⬜ </a:t>
            </a:r>
            <a:r>
              <a:rPr sz="1300" b="1" i="0">
                <a:solidFill>
                  <a:srgbClr val="555555"/>
                </a:solidFill>
                <a:latin typeface="Calibri"/>
              </a:rPr>
              <a:t>Final Steps:</a:t>
            </a:r>
            <a:r>
              <a:rPr sz="1300" b="0" i="0">
                <a:solidFill>
                  <a:srgbClr val="555555"/>
                </a:solidFill>
                <a:latin typeface="Calibri"/>
              </a:rPr>
              <a:t> System Integration Testing.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Summary: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EagleEye proves that sophisticated "Smart Security" does not need expensive hardware.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Key Achievement: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Runs a custom,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from-scratch 96×96 RGB depthwise-separable CNN fully on-device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(~872 ms, 90.8% balanced accuracy) while maintaining a cloud-connected, user-friendly mobile app.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Future Scope: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Exploring solar power integration and "Face Recognition" add-ons.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Thank You.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0" i="1">
                <a:solidFill>
                  <a:srgbClr val="1A1A1A"/>
                </a:solidFill>
                <a:latin typeface="Calibri"/>
              </a:rPr>
              <a:t>Open for Questions.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4E79"/>
                </a:solidFill>
                <a:latin typeface="Calibri"/>
              </a:rPr>
              <a:t>References (IEEE)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54864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[1] M. A. Al-Khedher, "Hybrid Vision-Based Surveillance System for Smart Home Applications,"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IEEE Transactions on Consumer Electronics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vol. 65, no. 4, pp. 450-459, 2019.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[2] S. Tanwar et al., "Privacy-Preserving Surveillance Using Edge Computing,"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2020 IEEE International Conference on Computing, Power and Communication Technologies (GUCON)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2020.</a:t>
            </a:r>
          </a:p>
          <a:p>
            <a:pPr>
              <a:spcAft>
                <a:spcPts val="500"/>
              </a:spcAft>
              <a:buFont typeface="Calibri"/>
              <a:buChar char="•"/>
            </a:pPr>
            <a:r>
              <a:rPr sz="1700" b="0" i="0">
                <a:solidFill>
                  <a:srgbClr val="1A1A1A"/>
                </a:solidFill>
                <a:latin typeface="Calibri"/>
              </a:rPr>
              <a:t>[3] P. Warden, "TinyML: Machine Learning with TensorFlow Lite on Arduino and Ultra-Low-Power Microcontrollers," </a:t>
            </a:r>
            <a:r>
              <a:rPr sz="1700" b="0" i="1">
                <a:solidFill>
                  <a:srgbClr val="1A1A1A"/>
                </a:solidFill>
                <a:latin typeface="Calibri"/>
              </a:rPr>
              <a:t>O'Reilly Media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