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70" r:id="rId4"/>
    <p:sldId id="258" r:id="rId5"/>
    <p:sldId id="259" r:id="rId6"/>
    <p:sldId id="260" r:id="rId7"/>
    <p:sldId id="261" r:id="rId8"/>
    <p:sldId id="262" r:id="rId9"/>
    <p:sldId id="263" r:id="rId10"/>
    <p:sldId id="264" r:id="rId11"/>
    <p:sldId id="266" r:id="rId12"/>
    <p:sldId id="267" r:id="rId13"/>
    <p:sldId id="268" r:id="rId14"/>
    <p:sldId id="269" r:id="rId15"/>
    <p:sldId id="271" r:id="rId16"/>
  </p:sldIdLst>
  <p:sldSz cx="17475200" cy="9753600"/>
  <p:notesSz cx="17475200" cy="97536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2" d="100"/>
          <a:sy n="42" d="100"/>
        </p:scale>
        <p:origin x="884" y="3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10640" y="3023616"/>
            <a:ext cx="14853920" cy="2048255"/>
          </a:xfrm>
          <a:prstGeom prst="rect">
            <a:avLst/>
          </a:prstGeom>
        </p:spPr>
        <p:txBody>
          <a:bodyPr wrap="square" lIns="0" tIns="0" rIns="0" bIns="0">
            <a:spAutoFit/>
          </a:bodyPr>
          <a:lstStyle>
            <a:lvl1pPr>
              <a:defRPr sz="4350" b="0" i="0">
                <a:solidFill>
                  <a:srgbClr val="0A365D"/>
                </a:solidFill>
                <a:latin typeface="Arial MT"/>
                <a:cs typeface="Arial MT"/>
              </a:defRPr>
            </a:lvl1pPr>
          </a:lstStyle>
          <a:p>
            <a:endParaRPr/>
          </a:p>
        </p:txBody>
      </p:sp>
      <p:sp>
        <p:nvSpPr>
          <p:cNvPr id="3" name="Holder 3"/>
          <p:cNvSpPr>
            <a:spLocks noGrp="1"/>
          </p:cNvSpPr>
          <p:nvPr>
            <p:ph type="subTitle" idx="4"/>
          </p:nvPr>
        </p:nvSpPr>
        <p:spPr>
          <a:xfrm>
            <a:off x="2621280" y="5462016"/>
            <a:ext cx="12232640" cy="24384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12/15/2025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50" b="0" i="0">
                <a:solidFill>
                  <a:srgbClr val="0A365D"/>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12/15/2025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810000" y="2679700"/>
            <a:ext cx="13030200" cy="6527800"/>
          </a:xfrm>
          <a:prstGeom prst="rect">
            <a:avLst/>
          </a:prstGeom>
        </p:spPr>
      </p:pic>
      <p:sp>
        <p:nvSpPr>
          <p:cNvPr id="2" name="Holder 2"/>
          <p:cNvSpPr>
            <a:spLocks noGrp="1"/>
          </p:cNvSpPr>
          <p:nvPr>
            <p:ph type="title"/>
          </p:nvPr>
        </p:nvSpPr>
        <p:spPr/>
        <p:txBody>
          <a:bodyPr lIns="0" tIns="0" rIns="0" bIns="0"/>
          <a:lstStyle>
            <a:lvl1pPr>
              <a:defRPr sz="4350" b="0" i="0">
                <a:solidFill>
                  <a:srgbClr val="0A365D"/>
                </a:solidFill>
                <a:latin typeface="Arial MT"/>
                <a:cs typeface="Arial MT"/>
              </a:defRPr>
            </a:lvl1pPr>
          </a:lstStyle>
          <a:p>
            <a:endParaRPr/>
          </a:p>
        </p:txBody>
      </p:sp>
      <p:sp>
        <p:nvSpPr>
          <p:cNvPr id="3" name="Holder 3"/>
          <p:cNvSpPr>
            <a:spLocks noGrp="1"/>
          </p:cNvSpPr>
          <p:nvPr>
            <p:ph sz="half" idx="2"/>
          </p:nvPr>
        </p:nvSpPr>
        <p:spPr>
          <a:xfrm>
            <a:off x="873760" y="2243328"/>
            <a:ext cx="7601712" cy="643737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8999728" y="2243328"/>
            <a:ext cx="7601712" cy="643737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12/15/2025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350" b="0" i="0">
                <a:solidFill>
                  <a:srgbClr val="0A365D"/>
                </a:solidFill>
                <a:latin typeface="Arial MT"/>
                <a:cs typeface="Arial M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12/15/2025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12/15/2025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886283" y="314324"/>
            <a:ext cx="15702632" cy="1354455"/>
          </a:xfrm>
          <a:prstGeom prst="rect">
            <a:avLst/>
          </a:prstGeom>
        </p:spPr>
        <p:txBody>
          <a:bodyPr wrap="square" lIns="0" tIns="0" rIns="0" bIns="0">
            <a:spAutoFit/>
          </a:bodyPr>
          <a:lstStyle>
            <a:lvl1pPr>
              <a:defRPr sz="4350" b="0" i="0">
                <a:solidFill>
                  <a:srgbClr val="0A365D"/>
                </a:solidFill>
                <a:latin typeface="Arial MT"/>
                <a:cs typeface="Arial MT"/>
              </a:defRPr>
            </a:lvl1pPr>
          </a:lstStyle>
          <a:p>
            <a:endParaRPr/>
          </a:p>
        </p:txBody>
      </p:sp>
      <p:sp>
        <p:nvSpPr>
          <p:cNvPr id="3" name="Holder 3"/>
          <p:cNvSpPr>
            <a:spLocks noGrp="1"/>
          </p:cNvSpPr>
          <p:nvPr>
            <p:ph type="body" idx="1"/>
          </p:nvPr>
        </p:nvSpPr>
        <p:spPr>
          <a:xfrm>
            <a:off x="1647196" y="2678906"/>
            <a:ext cx="8087359" cy="605917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5941568" y="9070848"/>
            <a:ext cx="5592064" cy="48768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873760" y="9070848"/>
            <a:ext cx="4019296" cy="4876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12/15/2025</a:t>
            </a:fld>
            <a:endParaRPr lang="en-US"/>
          </a:p>
        </p:txBody>
      </p:sp>
      <p:sp>
        <p:nvSpPr>
          <p:cNvPr id="6" name="Holder 6"/>
          <p:cNvSpPr>
            <a:spLocks noGrp="1"/>
          </p:cNvSpPr>
          <p:nvPr>
            <p:ph type="sldNum" sz="quarter" idx="7"/>
          </p:nvPr>
        </p:nvSpPr>
        <p:spPr>
          <a:xfrm>
            <a:off x="12582144" y="9070848"/>
            <a:ext cx="4019296" cy="4876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jpg"/><Relationship Id="rId7" Type="http://schemas.openxmlformats.org/officeDocument/2006/relationships/image" Target="../media/image15.jpg"/><Relationship Id="rId2" Type="http://schemas.openxmlformats.org/officeDocument/2006/relationships/image" Target="../media/image10.jpg"/><Relationship Id="rId1" Type="http://schemas.openxmlformats.org/officeDocument/2006/relationships/slideLayout" Target="../slideLayouts/slideLayout2.xml"/><Relationship Id="rId6" Type="http://schemas.openxmlformats.org/officeDocument/2006/relationships/image" Target="../media/image14.jpg"/><Relationship Id="rId11" Type="http://schemas.openxmlformats.org/officeDocument/2006/relationships/image" Target="../media/image19.jpg"/><Relationship Id="rId5" Type="http://schemas.openxmlformats.org/officeDocument/2006/relationships/image" Target="../media/image13.jpg"/><Relationship Id="rId10" Type="http://schemas.openxmlformats.org/officeDocument/2006/relationships/image" Target="../media/image18.jpg"/><Relationship Id="rId4" Type="http://schemas.openxmlformats.org/officeDocument/2006/relationships/image" Target="../media/image12.jpg"/><Relationship Id="rId9" Type="http://schemas.openxmlformats.org/officeDocument/2006/relationships/image" Target="../media/image17.jpg"/></Relationships>
</file>

<file path=ppt/slides/_rels/slide7.xml.rels><?xml version="1.0" encoding="UTF-8" standalone="yes"?>
<Relationships xmlns="http://schemas.openxmlformats.org/package/2006/relationships"><Relationship Id="rId8" Type="http://schemas.openxmlformats.org/officeDocument/2006/relationships/image" Target="../media/image26.jpg"/><Relationship Id="rId3" Type="http://schemas.openxmlformats.org/officeDocument/2006/relationships/image" Target="../media/image21.jpg"/><Relationship Id="rId7" Type="http://schemas.openxmlformats.org/officeDocument/2006/relationships/image" Target="../media/image25.jpg"/><Relationship Id="rId2" Type="http://schemas.openxmlformats.org/officeDocument/2006/relationships/image" Target="../media/image20.jpg"/><Relationship Id="rId1" Type="http://schemas.openxmlformats.org/officeDocument/2006/relationships/slideLayout" Target="../slideLayouts/slideLayout2.xml"/><Relationship Id="rId6" Type="http://schemas.openxmlformats.org/officeDocument/2006/relationships/image" Target="../media/image24.jpg"/><Relationship Id="rId5" Type="http://schemas.openxmlformats.org/officeDocument/2006/relationships/image" Target="../media/image23.jpg"/><Relationship Id="rId4" Type="http://schemas.openxmlformats.org/officeDocument/2006/relationships/image" Target="../media/image22.jpg"/><Relationship Id="rId9" Type="http://schemas.openxmlformats.org/officeDocument/2006/relationships/image" Target="../media/image2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image" Target="../media/image34.jpg"/><Relationship Id="rId1" Type="http://schemas.openxmlformats.org/officeDocument/2006/relationships/slideLayout" Target="../slideLayouts/slideLayout2.xml"/><Relationship Id="rId5" Type="http://schemas.openxmlformats.org/officeDocument/2006/relationships/image" Target="../media/image37.jpg"/><Relationship Id="rId4" Type="http://schemas.openxmlformats.org/officeDocument/2006/relationships/image" Target="../media/image3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78155" y="2524477"/>
            <a:ext cx="14264640" cy="2804160"/>
          </a:xfrm>
          <a:prstGeom prst="rect">
            <a:avLst/>
          </a:prstGeom>
        </p:spPr>
        <p:txBody>
          <a:bodyPr vert="horz" wrap="square" lIns="0" tIns="198120" rIns="0" bIns="0" rtlCol="0">
            <a:spAutoFit/>
          </a:bodyPr>
          <a:lstStyle/>
          <a:p>
            <a:pPr marL="12700" marR="5080" indent="15240" algn="ctr">
              <a:lnSpc>
                <a:spcPts val="7200"/>
              </a:lnSpc>
              <a:spcBef>
                <a:spcPts val="1560"/>
              </a:spcBef>
            </a:pPr>
            <a:r>
              <a:rPr sz="7200" spc="-484" dirty="0">
                <a:solidFill>
                  <a:srgbClr val="013A6B"/>
                </a:solidFill>
              </a:rPr>
              <a:t>EagleEye:</a:t>
            </a:r>
            <a:r>
              <a:rPr sz="7200" spc="95" dirty="0">
                <a:solidFill>
                  <a:srgbClr val="013A6B"/>
                </a:solidFill>
              </a:rPr>
              <a:t> </a:t>
            </a:r>
            <a:r>
              <a:rPr sz="7200" spc="-625" dirty="0">
                <a:solidFill>
                  <a:srgbClr val="013464"/>
                </a:solidFill>
              </a:rPr>
              <a:t>A</a:t>
            </a:r>
            <a:r>
              <a:rPr sz="7200" spc="-465" dirty="0">
                <a:solidFill>
                  <a:srgbClr val="013464"/>
                </a:solidFill>
              </a:rPr>
              <a:t> </a:t>
            </a:r>
            <a:r>
              <a:rPr sz="7200" spc="-340" dirty="0" err="1">
                <a:solidFill>
                  <a:srgbClr val="053664"/>
                </a:solidFill>
              </a:rPr>
              <a:t>TinyML</a:t>
            </a:r>
            <a:r>
              <a:rPr lang="en-US" sz="7200" spc="-340" dirty="0">
                <a:solidFill>
                  <a:srgbClr val="053664"/>
                </a:solidFill>
              </a:rPr>
              <a:t> Voice</a:t>
            </a:r>
            <a:r>
              <a:rPr sz="7200" spc="-340" dirty="0">
                <a:solidFill>
                  <a:srgbClr val="053664"/>
                </a:solidFill>
              </a:rPr>
              <a:t>-</a:t>
            </a:r>
            <a:r>
              <a:rPr sz="7200" spc="-375" dirty="0">
                <a:solidFill>
                  <a:srgbClr val="053664"/>
                </a:solidFill>
              </a:rPr>
              <a:t>Based</a:t>
            </a:r>
            <a:r>
              <a:rPr sz="7200" spc="204" dirty="0">
                <a:solidFill>
                  <a:srgbClr val="053664"/>
                </a:solidFill>
              </a:rPr>
              <a:t> </a:t>
            </a:r>
            <a:r>
              <a:rPr sz="7200" spc="-330" dirty="0">
                <a:solidFill>
                  <a:srgbClr val="03345D"/>
                </a:solidFill>
              </a:rPr>
              <a:t>Smart </a:t>
            </a:r>
            <a:r>
              <a:rPr sz="7200" spc="-195" dirty="0">
                <a:solidFill>
                  <a:srgbClr val="013860"/>
                </a:solidFill>
              </a:rPr>
              <a:t>Intrusion</a:t>
            </a:r>
            <a:r>
              <a:rPr sz="7200" spc="-400" dirty="0">
                <a:solidFill>
                  <a:srgbClr val="013860"/>
                </a:solidFill>
              </a:rPr>
              <a:t> </a:t>
            </a:r>
            <a:r>
              <a:rPr sz="7200" spc="-275" dirty="0">
                <a:solidFill>
                  <a:srgbClr val="003460"/>
                </a:solidFill>
              </a:rPr>
              <a:t>Detection</a:t>
            </a:r>
            <a:r>
              <a:rPr lang="en-US" sz="7200" spc="-275" dirty="0">
                <a:solidFill>
                  <a:srgbClr val="003460"/>
                </a:solidFill>
              </a:rPr>
              <a:t> System</a:t>
            </a:r>
            <a:endParaRPr lang="en-US" sz="7200" dirty="0"/>
          </a:p>
          <a:p>
            <a:pPr marL="27940" algn="ctr">
              <a:lnSpc>
                <a:spcPct val="100000"/>
              </a:lnSpc>
              <a:spcBef>
                <a:spcPts val="1210"/>
              </a:spcBef>
            </a:pPr>
            <a:r>
              <a:rPr lang="en-US" sz="4000" spc="-254" dirty="0">
                <a:solidFill>
                  <a:srgbClr val="000000"/>
                </a:solidFill>
                <a:latin typeface="Calibri"/>
                <a:cs typeface="Calibri"/>
              </a:rPr>
              <a:t>A</a:t>
            </a:r>
            <a:r>
              <a:rPr lang="en-US" sz="4000" spc="-250" dirty="0">
                <a:solidFill>
                  <a:srgbClr val="000000"/>
                </a:solidFill>
                <a:latin typeface="Calibri"/>
                <a:cs typeface="Calibri"/>
              </a:rPr>
              <a:t> </a:t>
            </a:r>
            <a:r>
              <a:rPr lang="en-US" sz="4000" spc="-95" dirty="0">
                <a:solidFill>
                  <a:srgbClr val="000000"/>
                </a:solidFill>
                <a:latin typeface="Calibri"/>
                <a:cs typeface="Calibri"/>
              </a:rPr>
              <a:t>Privacy-Preserving,</a:t>
            </a:r>
            <a:r>
              <a:rPr lang="en-US" sz="4000" spc="-265" dirty="0">
                <a:solidFill>
                  <a:srgbClr val="000000"/>
                </a:solidFill>
                <a:latin typeface="Calibri"/>
                <a:cs typeface="Calibri"/>
              </a:rPr>
              <a:t> </a:t>
            </a:r>
            <a:r>
              <a:rPr lang="en-US" sz="4000" spc="-120" dirty="0">
                <a:solidFill>
                  <a:srgbClr val="000000"/>
                </a:solidFill>
                <a:latin typeface="Calibri"/>
                <a:cs typeface="Calibri"/>
              </a:rPr>
              <a:t>Hybrid</a:t>
            </a:r>
            <a:r>
              <a:rPr lang="en-US" sz="4000" spc="-105" dirty="0">
                <a:solidFill>
                  <a:srgbClr val="000000"/>
                </a:solidFill>
                <a:latin typeface="Calibri"/>
                <a:cs typeface="Calibri"/>
              </a:rPr>
              <a:t> </a:t>
            </a:r>
            <a:r>
              <a:rPr lang="en-US" sz="4000" spc="-140" dirty="0">
                <a:solidFill>
                  <a:srgbClr val="000000"/>
                </a:solidFill>
                <a:latin typeface="Calibri"/>
                <a:cs typeface="Calibri"/>
              </a:rPr>
              <a:t>Edge-</a:t>
            </a:r>
            <a:r>
              <a:rPr lang="en-US" sz="4000" spc="-60" dirty="0">
                <a:solidFill>
                  <a:srgbClr val="000000"/>
                </a:solidFill>
                <a:latin typeface="Calibri"/>
                <a:cs typeface="Calibri"/>
              </a:rPr>
              <a:t>Cloud</a:t>
            </a:r>
            <a:r>
              <a:rPr lang="en-US" sz="4000" spc="40" dirty="0">
                <a:solidFill>
                  <a:srgbClr val="000000"/>
                </a:solidFill>
                <a:latin typeface="Calibri"/>
                <a:cs typeface="Calibri"/>
              </a:rPr>
              <a:t> </a:t>
            </a:r>
            <a:r>
              <a:rPr lang="en-US" sz="4000" spc="-100" dirty="0">
                <a:solidFill>
                  <a:srgbClr val="000000"/>
                </a:solidFill>
                <a:latin typeface="Calibri"/>
                <a:cs typeface="Calibri"/>
              </a:rPr>
              <a:t>Security</a:t>
            </a:r>
            <a:r>
              <a:rPr lang="en-US" sz="4000" spc="-30" dirty="0">
                <a:solidFill>
                  <a:srgbClr val="000000"/>
                </a:solidFill>
                <a:latin typeface="Calibri"/>
                <a:cs typeface="Calibri"/>
              </a:rPr>
              <a:t> </a:t>
            </a:r>
            <a:r>
              <a:rPr lang="en-US" sz="4000" spc="-10" dirty="0">
                <a:solidFill>
                  <a:srgbClr val="000000"/>
                </a:solidFill>
                <a:latin typeface="Calibri"/>
                <a:cs typeface="Calibri"/>
              </a:rPr>
              <a:t>Solution</a:t>
            </a:r>
            <a:endParaRPr lang="en-US" sz="4000" dirty="0">
              <a:latin typeface="Calibri"/>
              <a:cs typeface="Calibri"/>
            </a:endParaRPr>
          </a:p>
        </p:txBody>
      </p:sp>
      <p:sp>
        <p:nvSpPr>
          <p:cNvPr id="3" name="object 3"/>
          <p:cNvSpPr txBox="1"/>
          <p:nvPr/>
        </p:nvSpPr>
        <p:spPr>
          <a:xfrm>
            <a:off x="4634092" y="6019800"/>
            <a:ext cx="8152765" cy="2730875"/>
          </a:xfrm>
          <a:prstGeom prst="rect">
            <a:avLst/>
          </a:prstGeom>
        </p:spPr>
        <p:txBody>
          <a:bodyPr vert="horz" wrap="square" lIns="0" tIns="14604" rIns="0" bIns="0" rtlCol="0">
            <a:spAutoFit/>
          </a:bodyPr>
          <a:lstStyle/>
          <a:p>
            <a:pPr marL="31750" algn="ctr">
              <a:lnSpc>
                <a:spcPts val="3465"/>
              </a:lnSpc>
              <a:spcBef>
                <a:spcPts val="114"/>
              </a:spcBef>
            </a:pPr>
            <a:r>
              <a:rPr sz="2900" spc="-10" dirty="0">
                <a:latin typeface="Calibri"/>
                <a:cs typeface="Calibri"/>
              </a:rPr>
              <a:t>Team</a:t>
            </a:r>
            <a:r>
              <a:rPr sz="2900" spc="-75" dirty="0">
                <a:latin typeface="Calibri"/>
                <a:cs typeface="Calibri"/>
              </a:rPr>
              <a:t> </a:t>
            </a:r>
            <a:r>
              <a:rPr sz="2900" spc="-55" dirty="0">
                <a:latin typeface="Calibri"/>
                <a:cs typeface="Calibri"/>
              </a:rPr>
              <a:t>Members:</a:t>
            </a:r>
            <a:r>
              <a:rPr sz="2900" spc="60" dirty="0">
                <a:latin typeface="Calibri"/>
                <a:cs typeface="Calibri"/>
              </a:rPr>
              <a:t> </a:t>
            </a:r>
            <a:r>
              <a:rPr lang="en-US" sz="2900" spc="60" dirty="0">
                <a:latin typeface="Calibri"/>
                <a:cs typeface="Calibri"/>
              </a:rPr>
              <a:t>Murtaza khalid</a:t>
            </a:r>
            <a:r>
              <a:rPr sz="2900" dirty="0">
                <a:latin typeface="Calibri"/>
                <a:cs typeface="Calibri"/>
              </a:rPr>
              <a:t>,</a:t>
            </a:r>
            <a:r>
              <a:rPr sz="2900" spc="-155" dirty="0">
                <a:latin typeface="Calibri"/>
                <a:cs typeface="Calibri"/>
              </a:rPr>
              <a:t> </a:t>
            </a:r>
            <a:r>
              <a:rPr lang="en-US" sz="2900" spc="-20" dirty="0">
                <a:latin typeface="Calibri"/>
                <a:cs typeface="Calibri"/>
              </a:rPr>
              <a:t>Muhammed Haseeb</a:t>
            </a:r>
            <a:r>
              <a:rPr sz="2900" dirty="0">
                <a:latin typeface="Calibri"/>
                <a:cs typeface="Calibri"/>
              </a:rPr>
              <a:t>,</a:t>
            </a:r>
            <a:r>
              <a:rPr sz="2900" spc="80" dirty="0">
                <a:latin typeface="Calibri"/>
                <a:cs typeface="Calibri"/>
              </a:rPr>
              <a:t> </a:t>
            </a:r>
            <a:r>
              <a:rPr lang="en-US" sz="2900" spc="-10" dirty="0">
                <a:latin typeface="Calibri"/>
                <a:cs typeface="Calibri"/>
              </a:rPr>
              <a:t>Huzaifa Khan</a:t>
            </a:r>
            <a:endParaRPr sz="2900" dirty="0">
              <a:latin typeface="Calibri"/>
              <a:cs typeface="Calibri"/>
            </a:endParaRPr>
          </a:p>
          <a:p>
            <a:pPr algn="ctr">
              <a:lnSpc>
                <a:spcPts val="3645"/>
              </a:lnSpc>
            </a:pPr>
            <a:r>
              <a:rPr sz="3050" spc="-55" dirty="0">
                <a:latin typeface="Calibri"/>
                <a:cs typeface="Calibri"/>
              </a:rPr>
              <a:t>Advisors:</a:t>
            </a:r>
            <a:r>
              <a:rPr sz="3050" spc="-110" dirty="0">
                <a:latin typeface="Calibri"/>
                <a:cs typeface="Calibri"/>
              </a:rPr>
              <a:t> </a:t>
            </a:r>
            <a:r>
              <a:rPr lang="en-US" sz="3050" spc="-55" dirty="0">
                <a:latin typeface="Calibri"/>
                <a:cs typeface="Calibri"/>
              </a:rPr>
              <a:t>Rehan Hafiz</a:t>
            </a:r>
            <a:r>
              <a:rPr sz="3050" spc="-80" dirty="0">
                <a:latin typeface="Calibri"/>
                <a:cs typeface="Calibri"/>
              </a:rPr>
              <a:t>,</a:t>
            </a:r>
            <a:r>
              <a:rPr sz="3050" spc="-95" dirty="0">
                <a:latin typeface="Calibri"/>
                <a:cs typeface="Calibri"/>
              </a:rPr>
              <a:t> </a:t>
            </a:r>
            <a:endParaRPr lang="en-US" sz="3050" spc="-95" dirty="0">
              <a:latin typeface="Calibri"/>
              <a:cs typeface="Calibri"/>
            </a:endParaRPr>
          </a:p>
          <a:p>
            <a:pPr algn="ctr">
              <a:lnSpc>
                <a:spcPts val="3645"/>
              </a:lnSpc>
            </a:pPr>
            <a:r>
              <a:rPr lang="en-US" sz="3050" spc="-95" dirty="0">
                <a:latin typeface="Calibri"/>
                <a:cs typeface="Calibri"/>
              </a:rPr>
              <a:t>co-Advisor: </a:t>
            </a:r>
            <a:r>
              <a:rPr lang="en-US" sz="3050" spc="-75" dirty="0">
                <a:latin typeface="Calibri"/>
                <a:cs typeface="Calibri"/>
              </a:rPr>
              <a:t>Rehan Ahmed</a:t>
            </a:r>
            <a:endParaRPr sz="3050" dirty="0">
              <a:latin typeface="Calibri"/>
              <a:cs typeface="Calibri"/>
            </a:endParaRPr>
          </a:p>
          <a:p>
            <a:pPr algn="ctr">
              <a:lnSpc>
                <a:spcPct val="100000"/>
              </a:lnSpc>
              <a:spcBef>
                <a:spcPts val="3490"/>
              </a:spcBef>
            </a:pPr>
            <a:r>
              <a:rPr sz="2900" spc="-70" dirty="0">
                <a:solidFill>
                  <a:srgbClr val="6B6B6B"/>
                </a:solidFill>
                <a:latin typeface="Calibri"/>
                <a:cs typeface="Calibri"/>
              </a:rPr>
              <a:t>Faculty</a:t>
            </a:r>
            <a:r>
              <a:rPr sz="2900" spc="-95" dirty="0">
                <a:solidFill>
                  <a:srgbClr val="6B6B6B"/>
                </a:solidFill>
                <a:latin typeface="Calibri"/>
                <a:cs typeface="Calibri"/>
              </a:rPr>
              <a:t> </a:t>
            </a:r>
            <a:r>
              <a:rPr sz="2900" spc="-105" dirty="0">
                <a:solidFill>
                  <a:srgbClr val="6B6B6B"/>
                </a:solidFill>
                <a:latin typeface="Calibri"/>
                <a:cs typeface="Calibri"/>
              </a:rPr>
              <a:t>of</a:t>
            </a:r>
            <a:r>
              <a:rPr sz="2900" spc="-210" dirty="0">
                <a:solidFill>
                  <a:srgbClr val="6B6B6B"/>
                </a:solidFill>
                <a:latin typeface="Calibri"/>
                <a:cs typeface="Calibri"/>
              </a:rPr>
              <a:t> </a:t>
            </a:r>
            <a:r>
              <a:rPr sz="2900" spc="-65" dirty="0">
                <a:solidFill>
                  <a:srgbClr val="626262"/>
                </a:solidFill>
                <a:latin typeface="Calibri"/>
                <a:cs typeface="Calibri"/>
              </a:rPr>
              <a:t>Engineering,</a:t>
            </a:r>
            <a:r>
              <a:rPr sz="2900" spc="-40" dirty="0">
                <a:solidFill>
                  <a:srgbClr val="626262"/>
                </a:solidFill>
                <a:latin typeface="Calibri"/>
                <a:cs typeface="Calibri"/>
              </a:rPr>
              <a:t> </a:t>
            </a:r>
            <a:r>
              <a:rPr sz="2900" spc="-90" dirty="0">
                <a:solidFill>
                  <a:srgbClr val="676767"/>
                </a:solidFill>
                <a:latin typeface="Calibri"/>
                <a:cs typeface="Calibri"/>
              </a:rPr>
              <a:t>Information</a:t>
            </a:r>
            <a:r>
              <a:rPr sz="2900" spc="60" dirty="0">
                <a:solidFill>
                  <a:srgbClr val="676767"/>
                </a:solidFill>
                <a:latin typeface="Calibri"/>
                <a:cs typeface="Calibri"/>
              </a:rPr>
              <a:t> </a:t>
            </a:r>
            <a:r>
              <a:rPr sz="2900" spc="-100" dirty="0">
                <a:solidFill>
                  <a:srgbClr val="6B6B6B"/>
                </a:solidFill>
                <a:latin typeface="Calibri"/>
                <a:cs typeface="Calibri"/>
              </a:rPr>
              <a:t>Technology</a:t>
            </a:r>
            <a:r>
              <a:rPr sz="2900" spc="-60" dirty="0">
                <a:solidFill>
                  <a:srgbClr val="6B6B6B"/>
                </a:solidFill>
                <a:latin typeface="Calibri"/>
                <a:cs typeface="Calibri"/>
              </a:rPr>
              <a:t> </a:t>
            </a:r>
            <a:r>
              <a:rPr sz="2900" spc="-35" dirty="0">
                <a:solidFill>
                  <a:srgbClr val="696969"/>
                </a:solidFill>
                <a:latin typeface="Calibri"/>
                <a:cs typeface="Calibri"/>
              </a:rPr>
              <a:t>University</a:t>
            </a:r>
            <a:endParaRPr sz="2900"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137900" y="5422900"/>
            <a:ext cx="3263900" cy="2870200"/>
          </a:xfrm>
          <a:prstGeom prst="rect">
            <a:avLst/>
          </a:prstGeom>
        </p:spPr>
      </p:pic>
      <p:pic>
        <p:nvPicPr>
          <p:cNvPr id="3" name="object 3"/>
          <p:cNvPicPr/>
          <p:nvPr/>
        </p:nvPicPr>
        <p:blipFill>
          <a:blip r:embed="rId3" cstate="print"/>
          <a:stretch>
            <a:fillRect/>
          </a:stretch>
        </p:blipFill>
        <p:spPr>
          <a:xfrm>
            <a:off x="14719300" y="5930900"/>
            <a:ext cx="927100" cy="1841500"/>
          </a:xfrm>
          <a:prstGeom prst="rect">
            <a:avLst/>
          </a:prstGeom>
        </p:spPr>
      </p:pic>
      <p:pic>
        <p:nvPicPr>
          <p:cNvPr id="4" name="object 4"/>
          <p:cNvPicPr/>
          <p:nvPr/>
        </p:nvPicPr>
        <p:blipFill>
          <a:blip r:embed="rId4" cstate="print"/>
          <a:stretch>
            <a:fillRect/>
          </a:stretch>
        </p:blipFill>
        <p:spPr>
          <a:xfrm>
            <a:off x="11226800" y="1003300"/>
            <a:ext cx="4851400" cy="2832100"/>
          </a:xfrm>
          <a:prstGeom prst="rect">
            <a:avLst/>
          </a:prstGeom>
        </p:spPr>
      </p:pic>
      <p:sp>
        <p:nvSpPr>
          <p:cNvPr id="5" name="object 5"/>
          <p:cNvSpPr txBox="1">
            <a:spLocks noGrp="1"/>
          </p:cNvSpPr>
          <p:nvPr>
            <p:ph type="title"/>
          </p:nvPr>
        </p:nvSpPr>
        <p:spPr>
          <a:xfrm>
            <a:off x="938318" y="960613"/>
            <a:ext cx="8395335" cy="2347595"/>
          </a:xfrm>
          <a:prstGeom prst="rect">
            <a:avLst/>
          </a:prstGeom>
        </p:spPr>
        <p:txBody>
          <a:bodyPr vert="horz" wrap="square" lIns="0" tIns="114935" rIns="0" bIns="0" rtlCol="0">
            <a:spAutoFit/>
          </a:bodyPr>
          <a:lstStyle/>
          <a:p>
            <a:pPr marL="12700" marR="5080" indent="8890">
              <a:lnSpc>
                <a:spcPts val="5850"/>
              </a:lnSpc>
              <a:spcBef>
                <a:spcPts val="905"/>
              </a:spcBef>
            </a:pPr>
            <a:r>
              <a:rPr sz="5450" spc="-229" dirty="0">
                <a:solidFill>
                  <a:srgbClr val="074170"/>
                </a:solidFill>
              </a:rPr>
              <a:t>Home</a:t>
            </a:r>
            <a:r>
              <a:rPr sz="5450" spc="-175" dirty="0">
                <a:solidFill>
                  <a:srgbClr val="074170"/>
                </a:solidFill>
              </a:rPr>
              <a:t> </a:t>
            </a:r>
            <a:r>
              <a:rPr sz="5450" dirty="0">
                <a:solidFill>
                  <a:srgbClr val="033D6E"/>
                </a:solidFill>
              </a:rPr>
              <a:t>Security</a:t>
            </a:r>
            <a:r>
              <a:rPr sz="5450" spc="-70" dirty="0">
                <a:solidFill>
                  <a:srgbClr val="033D6E"/>
                </a:solidFill>
              </a:rPr>
              <a:t> </a:t>
            </a:r>
            <a:r>
              <a:rPr sz="5450" spc="-229" dirty="0">
                <a:solidFill>
                  <a:srgbClr val="033A69"/>
                </a:solidFill>
              </a:rPr>
              <a:t>Today</a:t>
            </a:r>
            <a:r>
              <a:rPr sz="5450" spc="-140" dirty="0">
                <a:solidFill>
                  <a:srgbClr val="033A69"/>
                </a:solidFill>
              </a:rPr>
              <a:t> </a:t>
            </a:r>
            <a:r>
              <a:rPr sz="5450" spc="-95" dirty="0">
                <a:solidFill>
                  <a:srgbClr val="033B6E"/>
                </a:solidFill>
              </a:rPr>
              <a:t>Faces </a:t>
            </a:r>
            <a:r>
              <a:rPr sz="5450" spc="-305" dirty="0">
                <a:solidFill>
                  <a:srgbClr val="053D6B"/>
                </a:solidFill>
              </a:rPr>
              <a:t>a</a:t>
            </a:r>
            <a:r>
              <a:rPr sz="5450" spc="-155" dirty="0">
                <a:solidFill>
                  <a:srgbClr val="053D6B"/>
                </a:solidFill>
              </a:rPr>
              <a:t> </a:t>
            </a:r>
            <a:r>
              <a:rPr sz="5450" dirty="0">
                <a:solidFill>
                  <a:srgbClr val="013B6B"/>
                </a:solidFill>
              </a:rPr>
              <a:t>Critical</a:t>
            </a:r>
            <a:r>
              <a:rPr sz="5450" spc="-145" dirty="0">
                <a:solidFill>
                  <a:srgbClr val="013B6B"/>
                </a:solidFill>
              </a:rPr>
              <a:t> </a:t>
            </a:r>
            <a:r>
              <a:rPr sz="5450" spc="-350" dirty="0">
                <a:solidFill>
                  <a:srgbClr val="013D6D"/>
                </a:solidFill>
              </a:rPr>
              <a:t>Gap</a:t>
            </a:r>
            <a:r>
              <a:rPr sz="5450" spc="-135" dirty="0">
                <a:solidFill>
                  <a:srgbClr val="013D6D"/>
                </a:solidFill>
              </a:rPr>
              <a:t> </a:t>
            </a:r>
            <a:r>
              <a:rPr sz="5450" spc="120" dirty="0">
                <a:solidFill>
                  <a:srgbClr val="033F6E"/>
                </a:solidFill>
              </a:rPr>
              <a:t>in</a:t>
            </a:r>
            <a:r>
              <a:rPr sz="5450" spc="-515" dirty="0">
                <a:solidFill>
                  <a:srgbClr val="033F6E"/>
                </a:solidFill>
              </a:rPr>
              <a:t> </a:t>
            </a:r>
            <a:r>
              <a:rPr sz="5450" spc="-20" dirty="0">
                <a:solidFill>
                  <a:srgbClr val="013662"/>
                </a:solidFill>
              </a:rPr>
              <a:t>Both </a:t>
            </a:r>
            <a:r>
              <a:rPr sz="5450" dirty="0">
                <a:solidFill>
                  <a:srgbClr val="053D6D"/>
                </a:solidFill>
              </a:rPr>
              <a:t>Interaction</a:t>
            </a:r>
            <a:r>
              <a:rPr sz="5450" spc="55" dirty="0">
                <a:solidFill>
                  <a:srgbClr val="053D6D"/>
                </a:solidFill>
              </a:rPr>
              <a:t> </a:t>
            </a:r>
            <a:r>
              <a:rPr sz="5450" spc="-130" dirty="0">
                <a:solidFill>
                  <a:srgbClr val="013B67"/>
                </a:solidFill>
              </a:rPr>
              <a:t>and</a:t>
            </a:r>
            <a:r>
              <a:rPr sz="5450" spc="-440" dirty="0">
                <a:solidFill>
                  <a:srgbClr val="013B67"/>
                </a:solidFill>
              </a:rPr>
              <a:t> </a:t>
            </a:r>
            <a:r>
              <a:rPr sz="5450" spc="-10" dirty="0">
                <a:solidFill>
                  <a:srgbClr val="013D6E"/>
                </a:solidFill>
              </a:rPr>
              <a:t>Evidence</a:t>
            </a:r>
            <a:endParaRPr sz="5450"/>
          </a:p>
        </p:txBody>
      </p:sp>
      <p:sp>
        <p:nvSpPr>
          <p:cNvPr id="10" name="object 10"/>
          <p:cNvSpPr txBox="1"/>
          <p:nvPr/>
        </p:nvSpPr>
        <p:spPr>
          <a:xfrm>
            <a:off x="16107677" y="9462029"/>
            <a:ext cx="1237615" cy="219710"/>
          </a:xfrm>
          <a:prstGeom prst="rect">
            <a:avLst/>
          </a:prstGeom>
        </p:spPr>
        <p:txBody>
          <a:bodyPr vert="horz" wrap="square" lIns="0" tIns="0" rIns="0" bIns="0" rtlCol="0">
            <a:spAutoFit/>
          </a:bodyPr>
          <a:lstStyle/>
          <a:p>
            <a:pPr marL="12700">
              <a:lnSpc>
                <a:spcPts val="1545"/>
              </a:lnSpc>
            </a:pPr>
            <a:r>
              <a:rPr sz="1500" spc="65" dirty="0">
                <a:latin typeface="Calibri"/>
                <a:cs typeface="Calibri"/>
              </a:rPr>
              <a:t>G</a:t>
            </a:r>
            <a:r>
              <a:rPr sz="1500" spc="470" dirty="0">
                <a:latin typeface="Calibri"/>
                <a:cs typeface="Calibri"/>
              </a:rPr>
              <a:t> </a:t>
            </a:r>
            <a:r>
              <a:rPr sz="1500" spc="-25" dirty="0">
                <a:latin typeface="Calibri"/>
                <a:cs typeface="Calibri"/>
              </a:rPr>
              <a:t>NotebookLM</a:t>
            </a:r>
            <a:endParaRPr sz="1500">
              <a:latin typeface="Calibri"/>
              <a:cs typeface="Calibri"/>
            </a:endParaRPr>
          </a:p>
        </p:txBody>
      </p:sp>
      <p:sp>
        <p:nvSpPr>
          <p:cNvPr id="6" name="object 6"/>
          <p:cNvSpPr txBox="1"/>
          <p:nvPr/>
        </p:nvSpPr>
        <p:spPr>
          <a:xfrm>
            <a:off x="906771" y="3952169"/>
            <a:ext cx="8474075" cy="2085339"/>
          </a:xfrm>
          <a:prstGeom prst="rect">
            <a:avLst/>
          </a:prstGeom>
        </p:spPr>
        <p:txBody>
          <a:bodyPr vert="horz" wrap="square" lIns="0" tIns="73025" rIns="0" bIns="0" rtlCol="0">
            <a:spAutoFit/>
          </a:bodyPr>
          <a:lstStyle/>
          <a:p>
            <a:pPr marL="520065" marR="5080" indent="-508000">
              <a:lnSpc>
                <a:spcPct val="89800"/>
              </a:lnSpc>
              <a:spcBef>
                <a:spcPts val="575"/>
              </a:spcBef>
              <a:buFont typeface="Arial MT"/>
              <a:buChar char="■"/>
              <a:tabLst>
                <a:tab pos="520065" algn="l"/>
                <a:tab pos="525780" algn="l"/>
              </a:tabLst>
            </a:pPr>
            <a:r>
              <a:rPr sz="3650" dirty="0">
                <a:solidFill>
                  <a:srgbClr val="004172"/>
                </a:solidFill>
                <a:latin typeface="Calibri"/>
                <a:cs typeface="Calibri"/>
              </a:rPr>
              <a:t>	</a:t>
            </a:r>
            <a:r>
              <a:rPr sz="3650" spc="-204" dirty="0">
                <a:latin typeface="Calibri"/>
                <a:cs typeface="Calibri"/>
              </a:rPr>
              <a:t>Homeowners</a:t>
            </a:r>
            <a:r>
              <a:rPr sz="3650" spc="60" dirty="0">
                <a:latin typeface="Calibri"/>
                <a:cs typeface="Calibri"/>
              </a:rPr>
              <a:t> </a:t>
            </a:r>
            <a:r>
              <a:rPr sz="3650" spc="-180" dirty="0">
                <a:latin typeface="Calibri"/>
                <a:cs typeface="Calibri"/>
              </a:rPr>
              <a:t>require</a:t>
            </a:r>
            <a:r>
              <a:rPr sz="3650" spc="-45" dirty="0">
                <a:latin typeface="Calibri"/>
                <a:cs typeface="Calibri"/>
              </a:rPr>
              <a:t> </a:t>
            </a:r>
            <a:r>
              <a:rPr sz="3650" spc="-195" dirty="0">
                <a:latin typeface="Calibri"/>
                <a:cs typeface="Calibri"/>
              </a:rPr>
              <a:t>an</a:t>
            </a:r>
            <a:r>
              <a:rPr sz="3650" spc="-55" dirty="0">
                <a:latin typeface="Calibri"/>
                <a:cs typeface="Calibri"/>
              </a:rPr>
              <a:t> </a:t>
            </a:r>
            <a:r>
              <a:rPr sz="3650" spc="-160" dirty="0">
                <a:latin typeface="Calibri"/>
                <a:cs typeface="Calibri"/>
              </a:rPr>
              <a:t>affordable</a:t>
            </a:r>
            <a:r>
              <a:rPr sz="3650" spc="85" dirty="0">
                <a:latin typeface="Calibri"/>
                <a:cs typeface="Calibri"/>
              </a:rPr>
              <a:t> </a:t>
            </a:r>
            <a:r>
              <a:rPr sz="3650" spc="-210" dirty="0">
                <a:latin typeface="Calibri"/>
                <a:cs typeface="Calibri"/>
              </a:rPr>
              <a:t>way</a:t>
            </a:r>
            <a:r>
              <a:rPr sz="3650" spc="-140" dirty="0">
                <a:latin typeface="Calibri"/>
                <a:cs typeface="Calibri"/>
              </a:rPr>
              <a:t> </a:t>
            </a:r>
            <a:r>
              <a:rPr sz="3650" spc="-165" dirty="0">
                <a:latin typeface="Calibri"/>
                <a:cs typeface="Calibri"/>
              </a:rPr>
              <a:t>to</a:t>
            </a:r>
            <a:r>
              <a:rPr sz="3650" spc="-204" dirty="0">
                <a:latin typeface="Calibri"/>
                <a:cs typeface="Calibri"/>
              </a:rPr>
              <a:t> </a:t>
            </a:r>
            <a:r>
              <a:rPr sz="3650" spc="-25" dirty="0">
                <a:latin typeface="Calibri"/>
                <a:cs typeface="Calibri"/>
              </a:rPr>
              <a:t>not </a:t>
            </a:r>
            <a:r>
              <a:rPr sz="3650" spc="-140" dirty="0">
                <a:latin typeface="Calibri"/>
                <a:cs typeface="Calibri"/>
              </a:rPr>
              <a:t>just</a:t>
            </a:r>
            <a:r>
              <a:rPr sz="3650" spc="-180" dirty="0">
                <a:latin typeface="Calibri"/>
                <a:cs typeface="Calibri"/>
              </a:rPr>
              <a:t> </a:t>
            </a:r>
            <a:r>
              <a:rPr sz="3650" i="1" spc="-135" dirty="0">
                <a:latin typeface="Calibri"/>
                <a:cs typeface="Calibri"/>
              </a:rPr>
              <a:t>detect</a:t>
            </a:r>
            <a:r>
              <a:rPr sz="3650" i="1" spc="-30" dirty="0">
                <a:latin typeface="Calibri"/>
                <a:cs typeface="Calibri"/>
              </a:rPr>
              <a:t> </a:t>
            </a:r>
            <a:r>
              <a:rPr sz="3650" spc="-150" dirty="0">
                <a:latin typeface="Calibri"/>
                <a:cs typeface="Calibri"/>
              </a:rPr>
              <a:t>potential</a:t>
            </a:r>
            <a:r>
              <a:rPr sz="3650" spc="15" dirty="0">
                <a:latin typeface="Calibri"/>
                <a:cs typeface="Calibri"/>
              </a:rPr>
              <a:t> </a:t>
            </a:r>
            <a:r>
              <a:rPr sz="3650" spc="-150" dirty="0">
                <a:latin typeface="Calibri"/>
                <a:cs typeface="Calibri"/>
              </a:rPr>
              <a:t>intruders,</a:t>
            </a:r>
            <a:r>
              <a:rPr sz="3650" spc="-30" dirty="0">
                <a:latin typeface="Calibri"/>
                <a:cs typeface="Calibri"/>
              </a:rPr>
              <a:t> </a:t>
            </a:r>
            <a:r>
              <a:rPr sz="3650" spc="-145" dirty="0">
                <a:latin typeface="Calibri"/>
                <a:cs typeface="Calibri"/>
              </a:rPr>
              <a:t>but</a:t>
            </a:r>
            <a:r>
              <a:rPr sz="3650" spc="-100" dirty="0">
                <a:latin typeface="Calibri"/>
                <a:cs typeface="Calibri"/>
              </a:rPr>
              <a:t> </a:t>
            </a:r>
            <a:r>
              <a:rPr sz="3650" spc="-229" dirty="0">
                <a:latin typeface="Calibri"/>
                <a:cs typeface="Calibri"/>
              </a:rPr>
              <a:t>to</a:t>
            </a:r>
            <a:r>
              <a:rPr sz="3650" spc="-165" dirty="0">
                <a:latin typeface="Calibri"/>
                <a:cs typeface="Calibri"/>
              </a:rPr>
              <a:t> </a:t>
            </a:r>
            <a:r>
              <a:rPr sz="3650" spc="-10" dirty="0">
                <a:latin typeface="Calibri"/>
                <a:cs typeface="Calibri"/>
              </a:rPr>
              <a:t>actively </a:t>
            </a:r>
            <a:r>
              <a:rPr sz="3650" i="1" spc="-105" dirty="0">
                <a:solidFill>
                  <a:srgbClr val="080808"/>
                </a:solidFill>
                <a:latin typeface="Calibri"/>
                <a:cs typeface="Calibri"/>
              </a:rPr>
              <a:t>verify</a:t>
            </a:r>
            <a:r>
              <a:rPr sz="3650" i="1" spc="-140" dirty="0">
                <a:solidFill>
                  <a:srgbClr val="080808"/>
                </a:solidFill>
                <a:latin typeface="Calibri"/>
                <a:cs typeface="Calibri"/>
              </a:rPr>
              <a:t> </a:t>
            </a:r>
            <a:r>
              <a:rPr sz="3650" i="1" spc="-140" dirty="0">
                <a:latin typeface="Calibri"/>
                <a:cs typeface="Calibri"/>
              </a:rPr>
              <a:t>and</a:t>
            </a:r>
            <a:r>
              <a:rPr sz="3650" i="1" spc="-75" dirty="0">
                <a:latin typeface="Calibri"/>
                <a:cs typeface="Calibri"/>
              </a:rPr>
              <a:t> </a:t>
            </a:r>
            <a:r>
              <a:rPr sz="3650" i="1" spc="-105" dirty="0">
                <a:solidFill>
                  <a:srgbClr val="080808"/>
                </a:solidFill>
                <a:latin typeface="Calibri"/>
                <a:cs typeface="Calibri"/>
              </a:rPr>
              <a:t>speak</a:t>
            </a:r>
            <a:r>
              <a:rPr sz="3650" i="1" spc="-100" dirty="0">
                <a:solidFill>
                  <a:srgbClr val="080808"/>
                </a:solidFill>
                <a:latin typeface="Calibri"/>
                <a:cs typeface="Calibri"/>
              </a:rPr>
              <a:t> </a:t>
            </a:r>
            <a:r>
              <a:rPr sz="3650" spc="-160" dirty="0">
                <a:latin typeface="Calibri"/>
                <a:cs typeface="Calibri"/>
              </a:rPr>
              <a:t>to</a:t>
            </a:r>
            <a:r>
              <a:rPr sz="3650" spc="-190" dirty="0">
                <a:latin typeface="Calibri"/>
                <a:cs typeface="Calibri"/>
              </a:rPr>
              <a:t> </a:t>
            </a:r>
            <a:r>
              <a:rPr sz="3650" spc="-220" dirty="0">
                <a:latin typeface="Calibri"/>
                <a:cs typeface="Calibri"/>
              </a:rPr>
              <a:t>them</a:t>
            </a:r>
            <a:r>
              <a:rPr sz="3650" spc="-60" dirty="0">
                <a:latin typeface="Calibri"/>
                <a:cs typeface="Calibri"/>
              </a:rPr>
              <a:t> </a:t>
            </a:r>
            <a:r>
              <a:rPr sz="3650" spc="-75" dirty="0">
                <a:latin typeface="Calibri"/>
                <a:cs typeface="Calibri"/>
              </a:rPr>
              <a:t>in</a:t>
            </a:r>
            <a:r>
              <a:rPr sz="3650" spc="-204" dirty="0">
                <a:latin typeface="Calibri"/>
                <a:cs typeface="Calibri"/>
              </a:rPr>
              <a:t> </a:t>
            </a:r>
            <a:r>
              <a:rPr sz="3650" spc="-160" dirty="0">
                <a:latin typeface="Calibri"/>
                <a:cs typeface="Calibri"/>
              </a:rPr>
              <a:t>real-</a:t>
            </a:r>
            <a:r>
              <a:rPr sz="3650" spc="-155" dirty="0">
                <a:latin typeface="Calibri"/>
                <a:cs typeface="Calibri"/>
              </a:rPr>
              <a:t>time</a:t>
            </a:r>
            <a:r>
              <a:rPr sz="3650" spc="70" dirty="0">
                <a:latin typeface="Calibri"/>
                <a:cs typeface="Calibri"/>
              </a:rPr>
              <a:t> </a:t>
            </a:r>
            <a:r>
              <a:rPr sz="3650" spc="-229" dirty="0">
                <a:latin typeface="Calibri"/>
                <a:cs typeface="Calibri"/>
              </a:rPr>
              <a:t>to</a:t>
            </a:r>
            <a:r>
              <a:rPr sz="3650" spc="-170" dirty="0">
                <a:latin typeface="Calibri"/>
                <a:cs typeface="Calibri"/>
              </a:rPr>
              <a:t> </a:t>
            </a:r>
            <a:r>
              <a:rPr sz="3650" spc="-10" dirty="0">
                <a:latin typeface="Calibri"/>
                <a:cs typeface="Calibri"/>
              </a:rPr>
              <a:t>deter </a:t>
            </a:r>
            <a:r>
              <a:rPr sz="3650" spc="-135" dirty="0">
                <a:latin typeface="Calibri"/>
                <a:cs typeface="Calibri"/>
              </a:rPr>
              <a:t>crime.</a:t>
            </a:r>
            <a:r>
              <a:rPr sz="3650" spc="-100" dirty="0">
                <a:latin typeface="Calibri"/>
                <a:cs typeface="Calibri"/>
              </a:rPr>
              <a:t> </a:t>
            </a:r>
            <a:r>
              <a:rPr sz="3650" spc="-85" dirty="0">
                <a:latin typeface="Calibri"/>
                <a:cs typeface="Calibri"/>
              </a:rPr>
              <a:t>Passive</a:t>
            </a:r>
            <a:r>
              <a:rPr sz="3650" spc="5" dirty="0">
                <a:latin typeface="Calibri"/>
                <a:cs typeface="Calibri"/>
              </a:rPr>
              <a:t> </a:t>
            </a:r>
            <a:r>
              <a:rPr sz="3650" spc="-110" dirty="0">
                <a:latin typeface="Calibri"/>
                <a:cs typeface="Calibri"/>
              </a:rPr>
              <a:t>alerts</a:t>
            </a:r>
            <a:r>
              <a:rPr sz="3650" spc="-75" dirty="0">
                <a:latin typeface="Calibri"/>
                <a:cs typeface="Calibri"/>
              </a:rPr>
              <a:t> </a:t>
            </a:r>
            <a:r>
              <a:rPr sz="3650" spc="-155" dirty="0">
                <a:latin typeface="Calibri"/>
                <a:cs typeface="Calibri"/>
              </a:rPr>
              <a:t>are</a:t>
            </a:r>
            <a:r>
              <a:rPr sz="3650" spc="-175" dirty="0">
                <a:latin typeface="Calibri"/>
                <a:cs typeface="Calibri"/>
              </a:rPr>
              <a:t> </a:t>
            </a:r>
            <a:r>
              <a:rPr sz="3650" spc="-165" dirty="0">
                <a:latin typeface="Calibri"/>
                <a:cs typeface="Calibri"/>
              </a:rPr>
              <a:t>not</a:t>
            </a:r>
            <a:r>
              <a:rPr sz="3650" spc="-160" dirty="0">
                <a:latin typeface="Calibri"/>
                <a:cs typeface="Calibri"/>
              </a:rPr>
              <a:t> </a:t>
            </a:r>
            <a:r>
              <a:rPr sz="3650" spc="-10" dirty="0">
                <a:latin typeface="Calibri"/>
                <a:cs typeface="Calibri"/>
              </a:rPr>
              <a:t>enough.</a:t>
            </a:r>
            <a:endParaRPr sz="3650">
              <a:latin typeface="Calibri"/>
              <a:cs typeface="Calibri"/>
            </a:endParaRPr>
          </a:p>
        </p:txBody>
      </p:sp>
      <p:sp>
        <p:nvSpPr>
          <p:cNvPr id="7" name="object 7"/>
          <p:cNvSpPr txBox="1"/>
          <p:nvPr/>
        </p:nvSpPr>
        <p:spPr>
          <a:xfrm>
            <a:off x="908975" y="6649508"/>
            <a:ext cx="8712835" cy="2070100"/>
          </a:xfrm>
          <a:prstGeom prst="rect">
            <a:avLst/>
          </a:prstGeom>
        </p:spPr>
        <p:txBody>
          <a:bodyPr vert="horz" wrap="square" lIns="0" tIns="60960" rIns="0" bIns="0" rtlCol="0">
            <a:spAutoFit/>
          </a:bodyPr>
          <a:lstStyle/>
          <a:p>
            <a:pPr marL="518795" marR="5080" indent="-506730">
              <a:lnSpc>
                <a:spcPts val="3950"/>
              </a:lnSpc>
              <a:spcBef>
                <a:spcPts val="480"/>
              </a:spcBef>
              <a:buChar char="■"/>
              <a:tabLst>
                <a:tab pos="518795" algn="l"/>
                <a:tab pos="525780" algn="l"/>
              </a:tabLst>
            </a:pPr>
            <a:r>
              <a:rPr sz="3550" dirty="0">
                <a:solidFill>
                  <a:srgbClr val="034177"/>
                </a:solidFill>
                <a:latin typeface="Arial MT"/>
                <a:cs typeface="Arial MT"/>
              </a:rPr>
              <a:t>	</a:t>
            </a:r>
            <a:r>
              <a:rPr sz="3550" spc="-100" dirty="0">
                <a:latin typeface="Calibri"/>
                <a:cs typeface="Calibri"/>
              </a:rPr>
              <a:t>Purely </a:t>
            </a:r>
            <a:r>
              <a:rPr sz="3550" spc="-105" dirty="0">
                <a:latin typeface="Calibri"/>
                <a:cs typeface="Calibri"/>
              </a:rPr>
              <a:t>offline</a:t>
            </a:r>
            <a:r>
              <a:rPr sz="3550" spc="-95" dirty="0">
                <a:latin typeface="Calibri"/>
                <a:cs typeface="Calibri"/>
              </a:rPr>
              <a:t> </a:t>
            </a:r>
            <a:r>
              <a:rPr sz="3550" spc="-114" dirty="0">
                <a:latin typeface="Calibri"/>
                <a:cs typeface="Calibri"/>
              </a:rPr>
              <a:t>cameras</a:t>
            </a:r>
            <a:r>
              <a:rPr sz="3550" spc="-85" dirty="0">
                <a:latin typeface="Calibri"/>
                <a:cs typeface="Calibri"/>
              </a:rPr>
              <a:t> </a:t>
            </a:r>
            <a:r>
              <a:rPr sz="3550" spc="-150" dirty="0">
                <a:latin typeface="Calibri"/>
                <a:cs typeface="Calibri"/>
              </a:rPr>
              <a:t>are</a:t>
            </a:r>
            <a:r>
              <a:rPr sz="3550" spc="-114" dirty="0">
                <a:latin typeface="Calibri"/>
                <a:cs typeface="Calibri"/>
              </a:rPr>
              <a:t> </a:t>
            </a:r>
            <a:r>
              <a:rPr sz="3550" spc="-40" dirty="0">
                <a:latin typeface="Calibri"/>
                <a:cs typeface="Calibri"/>
              </a:rPr>
              <a:t>critically</a:t>
            </a:r>
            <a:r>
              <a:rPr sz="3550" spc="-10" dirty="0">
                <a:latin typeface="Calibri"/>
                <a:cs typeface="Calibri"/>
              </a:rPr>
              <a:t> vulnerable. </a:t>
            </a:r>
            <a:r>
              <a:rPr sz="3550" spc="-100" dirty="0">
                <a:latin typeface="Calibri"/>
                <a:cs typeface="Calibri"/>
              </a:rPr>
              <a:t>If</a:t>
            </a:r>
            <a:r>
              <a:rPr sz="3550" spc="-180" dirty="0">
                <a:latin typeface="Calibri"/>
                <a:cs typeface="Calibri"/>
              </a:rPr>
              <a:t> </a:t>
            </a:r>
            <a:r>
              <a:rPr sz="3550" spc="-80" dirty="0">
                <a:latin typeface="Calibri"/>
                <a:cs typeface="Calibri"/>
              </a:rPr>
              <a:t>an</a:t>
            </a:r>
            <a:r>
              <a:rPr sz="3550" spc="-125" dirty="0">
                <a:latin typeface="Calibri"/>
                <a:cs typeface="Calibri"/>
              </a:rPr>
              <a:t> </a:t>
            </a:r>
            <a:r>
              <a:rPr sz="3550" spc="-114" dirty="0">
                <a:latin typeface="Calibri"/>
                <a:cs typeface="Calibri"/>
              </a:rPr>
              <a:t>intruder</a:t>
            </a:r>
            <a:r>
              <a:rPr sz="3550" spc="-85" dirty="0">
                <a:latin typeface="Calibri"/>
                <a:cs typeface="Calibri"/>
              </a:rPr>
              <a:t> </a:t>
            </a:r>
            <a:r>
              <a:rPr sz="3550" spc="-95" dirty="0">
                <a:latin typeface="Calibri"/>
                <a:cs typeface="Calibri"/>
              </a:rPr>
              <a:t>steals</a:t>
            </a:r>
            <a:r>
              <a:rPr sz="3550" spc="-75" dirty="0">
                <a:latin typeface="Calibri"/>
                <a:cs typeface="Calibri"/>
              </a:rPr>
              <a:t> </a:t>
            </a:r>
            <a:r>
              <a:rPr sz="3550" spc="-105" dirty="0">
                <a:latin typeface="Calibri"/>
                <a:cs typeface="Calibri"/>
              </a:rPr>
              <a:t>or</a:t>
            </a:r>
            <a:r>
              <a:rPr sz="3550" spc="-265" dirty="0">
                <a:latin typeface="Calibri"/>
                <a:cs typeface="Calibri"/>
              </a:rPr>
              <a:t> </a:t>
            </a:r>
            <a:r>
              <a:rPr sz="3550" spc="-95" dirty="0">
                <a:latin typeface="Calibri"/>
                <a:cs typeface="Calibri"/>
              </a:rPr>
              <a:t>destroys</a:t>
            </a:r>
            <a:r>
              <a:rPr sz="3550" spc="40" dirty="0">
                <a:latin typeface="Calibri"/>
                <a:cs typeface="Calibri"/>
              </a:rPr>
              <a:t> </a:t>
            </a:r>
            <a:r>
              <a:rPr sz="3550" spc="-155" dirty="0">
                <a:latin typeface="Calibri"/>
                <a:cs typeface="Calibri"/>
              </a:rPr>
              <a:t>the</a:t>
            </a:r>
            <a:r>
              <a:rPr sz="3550" spc="-140" dirty="0">
                <a:latin typeface="Calibri"/>
                <a:cs typeface="Calibri"/>
              </a:rPr>
              <a:t> </a:t>
            </a:r>
            <a:r>
              <a:rPr sz="3550" spc="-105" dirty="0">
                <a:latin typeface="Calibri"/>
                <a:cs typeface="Calibri"/>
              </a:rPr>
              <a:t>device,</a:t>
            </a:r>
            <a:r>
              <a:rPr sz="3550" spc="-75" dirty="0">
                <a:latin typeface="Calibri"/>
                <a:cs typeface="Calibri"/>
              </a:rPr>
              <a:t> </a:t>
            </a:r>
            <a:r>
              <a:rPr sz="3550" spc="-25" dirty="0">
                <a:latin typeface="Calibri"/>
                <a:cs typeface="Calibri"/>
              </a:rPr>
              <a:t>all </a:t>
            </a:r>
            <a:r>
              <a:rPr sz="3550" spc="-140" dirty="0">
                <a:latin typeface="Calibri"/>
                <a:cs typeface="Calibri"/>
              </a:rPr>
              <a:t>recorded</a:t>
            </a:r>
            <a:r>
              <a:rPr sz="3550" spc="-60" dirty="0">
                <a:latin typeface="Calibri"/>
                <a:cs typeface="Calibri"/>
              </a:rPr>
              <a:t> </a:t>
            </a:r>
            <a:r>
              <a:rPr sz="3550" spc="-210" dirty="0">
                <a:latin typeface="Calibri"/>
                <a:cs typeface="Calibri"/>
              </a:rPr>
              <a:t>footage—</a:t>
            </a:r>
            <a:r>
              <a:rPr sz="3550" spc="-75" dirty="0">
                <a:latin typeface="Calibri"/>
                <a:cs typeface="Calibri"/>
              </a:rPr>
              <a:t>and</a:t>
            </a:r>
            <a:r>
              <a:rPr sz="3550" spc="70" dirty="0">
                <a:latin typeface="Calibri"/>
                <a:cs typeface="Calibri"/>
              </a:rPr>
              <a:t> </a:t>
            </a:r>
            <a:r>
              <a:rPr sz="3550" spc="-155" dirty="0">
                <a:latin typeface="Calibri"/>
                <a:cs typeface="Calibri"/>
              </a:rPr>
              <a:t>the</a:t>
            </a:r>
            <a:r>
              <a:rPr sz="3550" spc="-125" dirty="0">
                <a:latin typeface="Calibri"/>
                <a:cs typeface="Calibri"/>
              </a:rPr>
              <a:t> </a:t>
            </a:r>
            <a:r>
              <a:rPr sz="3550" spc="-80" dirty="0">
                <a:latin typeface="Calibri"/>
                <a:cs typeface="Calibri"/>
              </a:rPr>
              <a:t>only</a:t>
            </a:r>
            <a:r>
              <a:rPr sz="3550" spc="-105" dirty="0">
                <a:latin typeface="Calibri"/>
                <a:cs typeface="Calibri"/>
              </a:rPr>
              <a:t> </a:t>
            </a:r>
            <a:r>
              <a:rPr sz="3550" spc="-114" dirty="0">
                <a:latin typeface="Calibri"/>
                <a:cs typeface="Calibri"/>
              </a:rPr>
              <a:t>evidence</a:t>
            </a:r>
            <a:r>
              <a:rPr sz="3550" spc="-35" dirty="0">
                <a:latin typeface="Calibri"/>
                <a:cs typeface="Calibri"/>
              </a:rPr>
              <a:t> </a:t>
            </a:r>
            <a:r>
              <a:rPr sz="3550" spc="-130" dirty="0">
                <a:solidFill>
                  <a:srgbClr val="0A0A0A"/>
                </a:solidFill>
                <a:latin typeface="Calibri"/>
                <a:cs typeface="Calibri"/>
              </a:rPr>
              <a:t>of</a:t>
            </a:r>
            <a:r>
              <a:rPr sz="3550" spc="-150" dirty="0">
                <a:solidFill>
                  <a:srgbClr val="0A0A0A"/>
                </a:solidFill>
                <a:latin typeface="Calibri"/>
                <a:cs typeface="Calibri"/>
              </a:rPr>
              <a:t> </a:t>
            </a:r>
            <a:r>
              <a:rPr sz="3550" spc="-25" dirty="0">
                <a:latin typeface="Calibri"/>
                <a:cs typeface="Calibri"/>
              </a:rPr>
              <a:t>the </a:t>
            </a:r>
            <a:r>
              <a:rPr sz="3550" spc="-185" dirty="0">
                <a:latin typeface="Calibri"/>
                <a:cs typeface="Calibri"/>
              </a:rPr>
              <a:t>crime—</a:t>
            </a:r>
            <a:r>
              <a:rPr sz="3550" dirty="0">
                <a:latin typeface="Calibri"/>
                <a:cs typeface="Calibri"/>
              </a:rPr>
              <a:t>is</a:t>
            </a:r>
            <a:r>
              <a:rPr sz="3550" spc="-165" dirty="0">
                <a:latin typeface="Calibri"/>
                <a:cs typeface="Calibri"/>
              </a:rPr>
              <a:t> </a:t>
            </a:r>
            <a:r>
              <a:rPr sz="3550" spc="-114" dirty="0">
                <a:latin typeface="Calibri"/>
                <a:cs typeface="Calibri"/>
              </a:rPr>
              <a:t>permanently</a:t>
            </a:r>
            <a:r>
              <a:rPr sz="3550" spc="15" dirty="0">
                <a:latin typeface="Calibri"/>
                <a:cs typeface="Calibri"/>
              </a:rPr>
              <a:t> </a:t>
            </a:r>
            <a:r>
              <a:rPr sz="3550" spc="-10" dirty="0">
                <a:latin typeface="Calibri"/>
                <a:cs typeface="Calibri"/>
              </a:rPr>
              <a:t>lost.</a:t>
            </a:r>
            <a:endParaRPr sz="3550">
              <a:latin typeface="Calibri"/>
              <a:cs typeface="Calibri"/>
            </a:endParaRPr>
          </a:p>
        </p:txBody>
      </p:sp>
      <p:sp>
        <p:nvSpPr>
          <p:cNvPr id="8" name="object 8"/>
          <p:cNvSpPr txBox="1"/>
          <p:nvPr/>
        </p:nvSpPr>
        <p:spPr>
          <a:xfrm>
            <a:off x="12486646" y="4015316"/>
            <a:ext cx="2276475" cy="533400"/>
          </a:xfrm>
          <a:prstGeom prst="rect">
            <a:avLst/>
          </a:prstGeom>
        </p:spPr>
        <p:txBody>
          <a:bodyPr vert="horz" wrap="square" lIns="0" tIns="16510" rIns="0" bIns="0" rtlCol="0">
            <a:spAutoFit/>
          </a:bodyPr>
          <a:lstStyle/>
          <a:p>
            <a:pPr marL="12700">
              <a:lnSpc>
                <a:spcPct val="100000"/>
              </a:lnSpc>
              <a:spcBef>
                <a:spcPts val="130"/>
              </a:spcBef>
            </a:pPr>
            <a:r>
              <a:rPr sz="3300" dirty="0">
                <a:solidFill>
                  <a:srgbClr val="777777"/>
                </a:solidFill>
                <a:latin typeface="Calibri"/>
                <a:cs typeface="Calibri"/>
              </a:rPr>
              <a:t>Passive</a:t>
            </a:r>
            <a:r>
              <a:rPr sz="3300" spc="-100" dirty="0">
                <a:solidFill>
                  <a:srgbClr val="777777"/>
                </a:solidFill>
                <a:latin typeface="Calibri"/>
                <a:cs typeface="Calibri"/>
              </a:rPr>
              <a:t> </a:t>
            </a:r>
            <a:r>
              <a:rPr sz="3300" spc="-85" dirty="0">
                <a:solidFill>
                  <a:srgbClr val="6E6E6E"/>
                </a:solidFill>
                <a:latin typeface="Calibri"/>
                <a:cs typeface="Calibri"/>
              </a:rPr>
              <a:t>Alerts</a:t>
            </a:r>
            <a:endParaRPr sz="3300">
              <a:latin typeface="Calibri"/>
              <a:cs typeface="Calibri"/>
            </a:endParaRPr>
          </a:p>
        </p:txBody>
      </p:sp>
      <p:sp>
        <p:nvSpPr>
          <p:cNvPr id="9" name="object 9"/>
          <p:cNvSpPr txBox="1"/>
          <p:nvPr/>
        </p:nvSpPr>
        <p:spPr>
          <a:xfrm>
            <a:off x="12410446" y="8269816"/>
            <a:ext cx="2451735" cy="533400"/>
          </a:xfrm>
          <a:prstGeom prst="rect">
            <a:avLst/>
          </a:prstGeom>
        </p:spPr>
        <p:txBody>
          <a:bodyPr vert="horz" wrap="square" lIns="0" tIns="16510" rIns="0" bIns="0" rtlCol="0">
            <a:spAutoFit/>
          </a:bodyPr>
          <a:lstStyle/>
          <a:p>
            <a:pPr marL="12700">
              <a:lnSpc>
                <a:spcPct val="100000"/>
              </a:lnSpc>
              <a:spcBef>
                <a:spcPts val="130"/>
              </a:spcBef>
            </a:pPr>
            <a:r>
              <a:rPr sz="3300" dirty="0">
                <a:solidFill>
                  <a:srgbClr val="DA691D"/>
                </a:solidFill>
                <a:latin typeface="Calibri"/>
                <a:cs typeface="Calibri"/>
              </a:rPr>
              <a:t>Evidence</a:t>
            </a:r>
            <a:r>
              <a:rPr sz="3300" spc="300" dirty="0">
                <a:solidFill>
                  <a:srgbClr val="DA691D"/>
                </a:solidFill>
                <a:latin typeface="Calibri"/>
                <a:cs typeface="Calibri"/>
              </a:rPr>
              <a:t> </a:t>
            </a:r>
            <a:r>
              <a:rPr sz="3300" spc="70" dirty="0">
                <a:solidFill>
                  <a:srgbClr val="DB6D21"/>
                </a:solidFill>
                <a:latin typeface="Calibri"/>
                <a:cs typeface="Calibri"/>
              </a:rPr>
              <a:t>Lost</a:t>
            </a:r>
            <a:endParaRPr sz="33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98E42D8-76A1-9E18-B41C-8E2A84A19196}"/>
              </a:ext>
            </a:extLst>
          </p:cNvPr>
          <p:cNvSpPr>
            <a:spLocks noGrp="1"/>
          </p:cNvSpPr>
          <p:nvPr>
            <p:ph type="body" idx="1"/>
          </p:nvPr>
        </p:nvSpPr>
        <p:spPr>
          <a:xfrm>
            <a:off x="203200" y="152400"/>
            <a:ext cx="17068800" cy="9448800"/>
          </a:xfrm>
        </p:spPr>
        <p:txBody>
          <a:bodyPr/>
          <a:lstStyle/>
          <a:p>
            <a:endParaRPr lang="en-PK" dirty="0"/>
          </a:p>
        </p:txBody>
      </p:sp>
      <p:pic>
        <p:nvPicPr>
          <p:cNvPr id="5" name="Picture 4" descr="A diagram of a process&#10;&#10;AI-generated content may be incorrect.">
            <a:extLst>
              <a:ext uri="{FF2B5EF4-FFF2-40B4-BE49-F238E27FC236}">
                <a16:creationId xmlns:a16="http://schemas.microsoft.com/office/drawing/2014/main" id="{98EFDAFF-9F92-780E-8541-C562038B7F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99" y="76200"/>
            <a:ext cx="17538699" cy="9566563"/>
          </a:xfrm>
          <a:prstGeom prst="rect">
            <a:avLst/>
          </a:prstGeom>
        </p:spPr>
      </p:pic>
    </p:spTree>
    <p:extLst>
      <p:ext uri="{BB962C8B-B14F-4D97-AF65-F5344CB8AC3E}">
        <p14:creationId xmlns:p14="http://schemas.microsoft.com/office/powerpoint/2010/main" val="40384233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36600" y="2298700"/>
            <a:ext cx="16002000" cy="4419600"/>
          </a:xfrm>
          <a:prstGeom prst="rect">
            <a:avLst/>
          </a:prstGeom>
        </p:spPr>
      </p:pic>
      <p:sp>
        <p:nvSpPr>
          <p:cNvPr id="3" name="object 3"/>
          <p:cNvSpPr txBox="1">
            <a:spLocks noGrp="1"/>
          </p:cNvSpPr>
          <p:nvPr>
            <p:ph type="title"/>
          </p:nvPr>
        </p:nvSpPr>
        <p:spPr>
          <a:xfrm>
            <a:off x="1561157" y="414866"/>
            <a:ext cx="14298930" cy="1377950"/>
          </a:xfrm>
          <a:prstGeom prst="rect">
            <a:avLst/>
          </a:prstGeom>
        </p:spPr>
        <p:txBody>
          <a:bodyPr vert="horz" wrap="square" lIns="0" tIns="69850" rIns="0" bIns="0" rtlCol="0">
            <a:spAutoFit/>
          </a:bodyPr>
          <a:lstStyle/>
          <a:p>
            <a:pPr marL="1275080" marR="5080" indent="-1263015">
              <a:lnSpc>
                <a:spcPts val="5150"/>
              </a:lnSpc>
              <a:spcBef>
                <a:spcPts val="550"/>
              </a:spcBef>
            </a:pPr>
            <a:r>
              <a:rPr sz="4550" dirty="0">
                <a:solidFill>
                  <a:srgbClr val="08385D"/>
                </a:solidFill>
              </a:rPr>
              <a:t>The</a:t>
            </a:r>
            <a:r>
              <a:rPr sz="4550" spc="-110" dirty="0">
                <a:solidFill>
                  <a:srgbClr val="08385D"/>
                </a:solidFill>
              </a:rPr>
              <a:t> </a:t>
            </a:r>
            <a:r>
              <a:rPr sz="4550" dirty="0"/>
              <a:t>Technical</a:t>
            </a:r>
            <a:r>
              <a:rPr sz="4550" spc="-105" dirty="0"/>
              <a:t> </a:t>
            </a:r>
            <a:r>
              <a:rPr sz="4550" dirty="0">
                <a:solidFill>
                  <a:srgbClr val="053660"/>
                </a:solidFill>
              </a:rPr>
              <a:t>Barrier:</a:t>
            </a:r>
            <a:r>
              <a:rPr sz="4550" spc="-75" dirty="0">
                <a:solidFill>
                  <a:srgbClr val="053660"/>
                </a:solidFill>
              </a:rPr>
              <a:t> </a:t>
            </a:r>
            <a:r>
              <a:rPr sz="4550" spc="55" dirty="0">
                <a:solidFill>
                  <a:srgbClr val="053862"/>
                </a:solidFill>
              </a:rPr>
              <a:t>Affordable</a:t>
            </a:r>
            <a:r>
              <a:rPr sz="4550" spc="45" dirty="0">
                <a:solidFill>
                  <a:srgbClr val="053862"/>
                </a:solidFill>
              </a:rPr>
              <a:t> </a:t>
            </a:r>
            <a:r>
              <a:rPr sz="4550" spc="-114" dirty="0">
                <a:solidFill>
                  <a:srgbClr val="03315B"/>
                </a:solidFill>
              </a:rPr>
              <a:t>Edge</a:t>
            </a:r>
            <a:r>
              <a:rPr sz="4550" spc="-229" dirty="0">
                <a:solidFill>
                  <a:srgbClr val="03315B"/>
                </a:solidFill>
              </a:rPr>
              <a:t> </a:t>
            </a:r>
            <a:r>
              <a:rPr sz="4550" dirty="0">
                <a:solidFill>
                  <a:srgbClr val="03345B"/>
                </a:solidFill>
              </a:rPr>
              <a:t>Devices</a:t>
            </a:r>
            <a:r>
              <a:rPr sz="4550" spc="20" dirty="0">
                <a:solidFill>
                  <a:srgbClr val="03345B"/>
                </a:solidFill>
              </a:rPr>
              <a:t> </a:t>
            </a:r>
            <a:r>
              <a:rPr sz="4550" spc="-10" dirty="0">
                <a:solidFill>
                  <a:srgbClr val="083864"/>
                </a:solidFill>
              </a:rPr>
              <a:t>Cannot </a:t>
            </a:r>
            <a:r>
              <a:rPr sz="4550" dirty="0">
                <a:solidFill>
                  <a:srgbClr val="083D64"/>
                </a:solidFill>
              </a:rPr>
              <a:t>Handle</a:t>
            </a:r>
            <a:r>
              <a:rPr sz="4550" spc="105" dirty="0">
                <a:solidFill>
                  <a:srgbClr val="083D64"/>
                </a:solidFill>
              </a:rPr>
              <a:t> </a:t>
            </a:r>
            <a:r>
              <a:rPr sz="4550" spc="-10" dirty="0">
                <a:solidFill>
                  <a:srgbClr val="033664"/>
                </a:solidFill>
              </a:rPr>
              <a:t>AI</a:t>
            </a:r>
            <a:r>
              <a:rPr sz="4550" spc="-345" dirty="0">
                <a:solidFill>
                  <a:srgbClr val="033664"/>
                </a:solidFill>
              </a:rPr>
              <a:t> </a:t>
            </a:r>
            <a:r>
              <a:rPr sz="4550" dirty="0">
                <a:solidFill>
                  <a:srgbClr val="05365E"/>
                </a:solidFill>
              </a:rPr>
              <a:t>and</a:t>
            </a:r>
            <a:r>
              <a:rPr sz="4550" spc="-260" dirty="0">
                <a:solidFill>
                  <a:srgbClr val="05365E"/>
                </a:solidFill>
              </a:rPr>
              <a:t> </a:t>
            </a:r>
            <a:r>
              <a:rPr sz="4550" dirty="0">
                <a:solidFill>
                  <a:srgbClr val="083B67"/>
                </a:solidFill>
              </a:rPr>
              <a:t>Live</a:t>
            </a:r>
            <a:r>
              <a:rPr sz="4550" spc="-220" dirty="0">
                <a:solidFill>
                  <a:srgbClr val="083B67"/>
                </a:solidFill>
              </a:rPr>
              <a:t> </a:t>
            </a:r>
            <a:r>
              <a:rPr sz="4550" dirty="0">
                <a:solidFill>
                  <a:srgbClr val="053862"/>
                </a:solidFill>
              </a:rPr>
              <a:t>Streaming</a:t>
            </a:r>
            <a:r>
              <a:rPr sz="4550" spc="80" dirty="0">
                <a:solidFill>
                  <a:srgbClr val="053862"/>
                </a:solidFill>
              </a:rPr>
              <a:t> </a:t>
            </a:r>
            <a:r>
              <a:rPr sz="4550" spc="-10" dirty="0">
                <a:solidFill>
                  <a:srgbClr val="03315B"/>
                </a:solidFill>
              </a:rPr>
              <a:t>Simultaneously</a:t>
            </a:r>
            <a:endParaRPr sz="4550"/>
          </a:p>
        </p:txBody>
      </p:sp>
      <p:sp>
        <p:nvSpPr>
          <p:cNvPr id="8" name="object 8"/>
          <p:cNvSpPr txBox="1"/>
          <p:nvPr/>
        </p:nvSpPr>
        <p:spPr>
          <a:xfrm>
            <a:off x="16107677" y="9462029"/>
            <a:ext cx="1237615" cy="219710"/>
          </a:xfrm>
          <a:prstGeom prst="rect">
            <a:avLst/>
          </a:prstGeom>
        </p:spPr>
        <p:txBody>
          <a:bodyPr vert="horz" wrap="square" lIns="0" tIns="0" rIns="0" bIns="0" rtlCol="0">
            <a:spAutoFit/>
          </a:bodyPr>
          <a:lstStyle/>
          <a:p>
            <a:pPr marL="12700">
              <a:lnSpc>
                <a:spcPts val="1545"/>
              </a:lnSpc>
            </a:pPr>
            <a:r>
              <a:rPr sz="1500" spc="65" dirty="0">
                <a:latin typeface="Calibri"/>
                <a:cs typeface="Calibri"/>
              </a:rPr>
              <a:t>G</a:t>
            </a:r>
            <a:r>
              <a:rPr sz="1500" spc="470" dirty="0">
                <a:latin typeface="Calibri"/>
                <a:cs typeface="Calibri"/>
              </a:rPr>
              <a:t> </a:t>
            </a:r>
            <a:r>
              <a:rPr sz="1500" spc="-25" dirty="0">
                <a:latin typeface="Calibri"/>
                <a:cs typeface="Calibri"/>
              </a:rPr>
              <a:t>NotebookLM</a:t>
            </a:r>
            <a:endParaRPr sz="1500">
              <a:latin typeface="Calibri"/>
              <a:cs typeface="Calibri"/>
            </a:endParaRPr>
          </a:p>
        </p:txBody>
      </p:sp>
      <p:sp>
        <p:nvSpPr>
          <p:cNvPr id="4" name="object 4"/>
          <p:cNvSpPr txBox="1"/>
          <p:nvPr/>
        </p:nvSpPr>
        <p:spPr>
          <a:xfrm>
            <a:off x="718771" y="5324475"/>
            <a:ext cx="4456430" cy="933450"/>
          </a:xfrm>
          <a:prstGeom prst="rect">
            <a:avLst/>
          </a:prstGeom>
        </p:spPr>
        <p:txBody>
          <a:bodyPr vert="horz" wrap="square" lIns="0" tIns="64135" rIns="0" bIns="0" rtlCol="0">
            <a:spAutoFit/>
          </a:bodyPr>
          <a:lstStyle/>
          <a:p>
            <a:pPr marL="12700" marR="5080" indent="1905">
              <a:lnSpc>
                <a:spcPts val="3400"/>
              </a:lnSpc>
              <a:spcBef>
                <a:spcPts val="505"/>
              </a:spcBef>
            </a:pPr>
            <a:r>
              <a:rPr sz="3100" spc="-20" dirty="0">
                <a:latin typeface="Calibri"/>
                <a:cs typeface="Calibri"/>
              </a:rPr>
              <a:t>Task</a:t>
            </a:r>
            <a:r>
              <a:rPr sz="3100" spc="-140" dirty="0">
                <a:latin typeface="Calibri"/>
                <a:cs typeface="Calibri"/>
              </a:rPr>
              <a:t> </a:t>
            </a:r>
            <a:r>
              <a:rPr sz="3100" dirty="0">
                <a:latin typeface="Calibri"/>
                <a:cs typeface="Calibri"/>
              </a:rPr>
              <a:t>1:</a:t>
            </a:r>
            <a:r>
              <a:rPr sz="3100" spc="-260" dirty="0">
                <a:latin typeface="Calibri"/>
                <a:cs typeface="Calibri"/>
              </a:rPr>
              <a:t> </a:t>
            </a:r>
            <a:r>
              <a:rPr sz="3100" spc="-110" dirty="0">
                <a:latin typeface="Calibri"/>
                <a:cs typeface="Calibri"/>
              </a:rPr>
              <a:t>Al</a:t>
            </a:r>
            <a:r>
              <a:rPr sz="3100" spc="-135" dirty="0">
                <a:latin typeface="Calibri"/>
                <a:cs typeface="Calibri"/>
              </a:rPr>
              <a:t> </a:t>
            </a:r>
            <a:r>
              <a:rPr sz="3100" spc="-114" dirty="0">
                <a:latin typeface="Calibri"/>
                <a:cs typeface="Calibri"/>
              </a:rPr>
              <a:t>Inference</a:t>
            </a:r>
            <a:r>
              <a:rPr sz="3100" spc="40" dirty="0">
                <a:latin typeface="Calibri"/>
                <a:cs typeface="Calibri"/>
              </a:rPr>
              <a:t> </a:t>
            </a:r>
            <a:r>
              <a:rPr sz="3100" spc="-85" dirty="0">
                <a:latin typeface="Calibri"/>
                <a:cs typeface="Calibri"/>
              </a:rPr>
              <a:t>-</a:t>
            </a:r>
            <a:r>
              <a:rPr sz="3100" spc="-240" dirty="0">
                <a:latin typeface="Calibri"/>
                <a:cs typeface="Calibri"/>
              </a:rPr>
              <a:t> </a:t>
            </a:r>
            <a:r>
              <a:rPr sz="3100" spc="-55" dirty="0">
                <a:latin typeface="Calibri"/>
                <a:cs typeface="Calibri"/>
              </a:rPr>
              <a:t>Running </a:t>
            </a:r>
            <a:r>
              <a:rPr sz="3100" spc="-65" dirty="0">
                <a:latin typeface="Calibri"/>
                <a:cs typeface="Calibri"/>
              </a:rPr>
              <a:t>a</a:t>
            </a:r>
            <a:r>
              <a:rPr sz="3100" spc="-135" dirty="0">
                <a:latin typeface="Calibri"/>
                <a:cs typeface="Calibri"/>
              </a:rPr>
              <a:t> </a:t>
            </a:r>
            <a:r>
              <a:rPr sz="3100" spc="-185" dirty="0">
                <a:latin typeface="Calibri"/>
                <a:cs typeface="Calibri"/>
              </a:rPr>
              <a:t>per</a:t>
            </a:r>
            <a:r>
              <a:rPr lang="en-US" sz="3100" spc="-185" dirty="0">
                <a:latin typeface="Calibri"/>
                <a:cs typeface="Calibri"/>
              </a:rPr>
              <a:t>s</a:t>
            </a:r>
            <a:r>
              <a:rPr sz="3100" spc="-185" dirty="0">
                <a:latin typeface="Calibri"/>
                <a:cs typeface="Calibri"/>
              </a:rPr>
              <a:t>on</a:t>
            </a:r>
            <a:r>
              <a:rPr sz="3100" spc="10" dirty="0">
                <a:latin typeface="Calibri"/>
                <a:cs typeface="Calibri"/>
              </a:rPr>
              <a:t> </a:t>
            </a:r>
            <a:r>
              <a:rPr sz="3100" spc="-110" dirty="0">
                <a:latin typeface="Calibri"/>
                <a:cs typeface="Calibri"/>
              </a:rPr>
              <a:t>detection</a:t>
            </a:r>
            <a:r>
              <a:rPr sz="3100" spc="25" dirty="0">
                <a:latin typeface="Calibri"/>
                <a:cs typeface="Calibri"/>
              </a:rPr>
              <a:t> </a:t>
            </a:r>
            <a:r>
              <a:rPr sz="3100" spc="-10" dirty="0">
                <a:latin typeface="Calibri"/>
                <a:cs typeface="Calibri"/>
              </a:rPr>
              <a:t>model.</a:t>
            </a:r>
            <a:endParaRPr sz="3100" dirty="0">
              <a:latin typeface="Calibri"/>
              <a:cs typeface="Calibri"/>
            </a:endParaRPr>
          </a:p>
        </p:txBody>
      </p:sp>
      <p:sp>
        <p:nvSpPr>
          <p:cNvPr id="5" name="object 5"/>
          <p:cNvSpPr txBox="1"/>
          <p:nvPr/>
        </p:nvSpPr>
        <p:spPr>
          <a:xfrm>
            <a:off x="7918246" y="4433005"/>
            <a:ext cx="1589405" cy="702945"/>
          </a:xfrm>
          <a:prstGeom prst="rect">
            <a:avLst/>
          </a:prstGeom>
        </p:spPr>
        <p:txBody>
          <a:bodyPr vert="horz" wrap="square" lIns="0" tIns="12065" rIns="0" bIns="0" rtlCol="0">
            <a:spAutoFit/>
          </a:bodyPr>
          <a:lstStyle/>
          <a:p>
            <a:pPr marL="12700">
              <a:lnSpc>
                <a:spcPct val="100000"/>
              </a:lnSpc>
              <a:spcBef>
                <a:spcPts val="95"/>
              </a:spcBef>
            </a:pPr>
            <a:r>
              <a:rPr sz="4450" spc="-350" dirty="0">
                <a:solidFill>
                  <a:srgbClr val="05365E"/>
                </a:solidFill>
                <a:latin typeface="Arial MT"/>
                <a:cs typeface="Arial MT"/>
              </a:rPr>
              <a:t>ESP32</a:t>
            </a:r>
            <a:endParaRPr sz="4450">
              <a:latin typeface="Arial MT"/>
              <a:cs typeface="Arial MT"/>
            </a:endParaRPr>
          </a:p>
        </p:txBody>
      </p:sp>
      <p:sp>
        <p:nvSpPr>
          <p:cNvPr id="6" name="object 6"/>
          <p:cNvSpPr txBox="1"/>
          <p:nvPr/>
        </p:nvSpPr>
        <p:spPr>
          <a:xfrm>
            <a:off x="12221426" y="5315655"/>
            <a:ext cx="4568190" cy="1376045"/>
          </a:xfrm>
          <a:prstGeom prst="rect">
            <a:avLst/>
          </a:prstGeom>
        </p:spPr>
        <p:txBody>
          <a:bodyPr vert="horz" wrap="square" lIns="0" tIns="73025" rIns="0" bIns="0" rtlCol="0">
            <a:spAutoFit/>
          </a:bodyPr>
          <a:lstStyle/>
          <a:p>
            <a:pPr marL="12700" marR="5080" indent="17780" algn="just">
              <a:lnSpc>
                <a:spcPts val="3400"/>
              </a:lnSpc>
              <a:spcBef>
                <a:spcPts val="575"/>
              </a:spcBef>
            </a:pPr>
            <a:r>
              <a:rPr sz="3200" spc="-80" dirty="0">
                <a:latin typeface="Calibri"/>
                <a:cs typeface="Calibri"/>
              </a:rPr>
              <a:t>Task</a:t>
            </a:r>
            <a:r>
              <a:rPr sz="3200" spc="-130" dirty="0">
                <a:latin typeface="Calibri"/>
                <a:cs typeface="Calibri"/>
              </a:rPr>
              <a:t> </a:t>
            </a:r>
            <a:r>
              <a:rPr sz="3200" spc="-15" dirty="0">
                <a:latin typeface="Calibri"/>
                <a:cs typeface="Calibri"/>
              </a:rPr>
              <a:t>2:</a:t>
            </a:r>
            <a:r>
              <a:rPr sz="3200" spc="-290" dirty="0">
                <a:latin typeface="Calibri"/>
                <a:cs typeface="Calibri"/>
              </a:rPr>
              <a:t> </a:t>
            </a:r>
            <a:r>
              <a:rPr sz="3200" spc="-150" dirty="0">
                <a:latin typeface="Calibri"/>
                <a:cs typeface="Calibri"/>
              </a:rPr>
              <a:t>Real-</a:t>
            </a:r>
            <a:r>
              <a:rPr sz="3200" spc="-170" dirty="0">
                <a:latin typeface="Calibri"/>
                <a:cs typeface="Calibri"/>
              </a:rPr>
              <a:t>time</a:t>
            </a:r>
            <a:r>
              <a:rPr sz="3200" spc="85" dirty="0">
                <a:latin typeface="Calibri"/>
                <a:cs typeface="Calibri"/>
              </a:rPr>
              <a:t> </a:t>
            </a:r>
            <a:r>
              <a:rPr sz="3200" spc="-170" dirty="0">
                <a:latin typeface="Calibri"/>
                <a:cs typeface="Calibri"/>
              </a:rPr>
              <a:t>Streaming</a:t>
            </a:r>
            <a:r>
              <a:rPr sz="3200" spc="80" dirty="0">
                <a:latin typeface="Calibri"/>
                <a:cs typeface="Calibri"/>
              </a:rPr>
              <a:t> </a:t>
            </a:r>
            <a:r>
              <a:rPr sz="3200" spc="-100" dirty="0">
                <a:latin typeface="Calibri"/>
                <a:cs typeface="Calibri"/>
              </a:rPr>
              <a:t>-</a:t>
            </a:r>
            <a:r>
              <a:rPr sz="3200" spc="-75" dirty="0">
                <a:latin typeface="Calibri"/>
                <a:cs typeface="Calibri"/>
              </a:rPr>
              <a:t> </a:t>
            </a:r>
            <a:r>
              <a:rPr sz="3200" spc="-125" dirty="0">
                <a:latin typeface="Calibri"/>
                <a:cs typeface="Calibri"/>
              </a:rPr>
              <a:t>Handling</a:t>
            </a:r>
            <a:r>
              <a:rPr sz="3200" spc="-5" dirty="0">
                <a:latin typeface="Calibri"/>
                <a:cs typeface="Calibri"/>
              </a:rPr>
              <a:t> </a:t>
            </a:r>
            <a:r>
              <a:rPr sz="3200" spc="-125" dirty="0">
                <a:latin typeface="Calibri"/>
                <a:cs typeface="Calibri"/>
              </a:rPr>
              <a:t>a</a:t>
            </a:r>
            <a:r>
              <a:rPr sz="3200" spc="-155" dirty="0">
                <a:latin typeface="Calibri"/>
                <a:cs typeface="Calibri"/>
              </a:rPr>
              <a:t> </a:t>
            </a:r>
            <a:r>
              <a:rPr sz="3200" spc="-190" dirty="0">
                <a:latin typeface="Calibri"/>
                <a:cs typeface="Calibri"/>
              </a:rPr>
              <a:t>two-</a:t>
            </a:r>
            <a:r>
              <a:rPr sz="3200" spc="-215" dirty="0">
                <a:latin typeface="Calibri"/>
                <a:cs typeface="Calibri"/>
              </a:rPr>
              <a:t>way</a:t>
            </a:r>
            <a:r>
              <a:rPr sz="3200" spc="50" dirty="0">
                <a:latin typeface="Calibri"/>
                <a:cs typeface="Calibri"/>
              </a:rPr>
              <a:t> </a:t>
            </a:r>
            <a:r>
              <a:rPr sz="3200" spc="-165" dirty="0">
                <a:latin typeface="Calibri"/>
                <a:cs typeface="Calibri"/>
              </a:rPr>
              <a:t>video</a:t>
            </a:r>
            <a:r>
              <a:rPr sz="3200" spc="-30" dirty="0">
                <a:latin typeface="Calibri"/>
                <a:cs typeface="Calibri"/>
              </a:rPr>
              <a:t> </a:t>
            </a:r>
            <a:r>
              <a:rPr sz="3200" spc="-170" dirty="0">
                <a:latin typeface="Calibri"/>
                <a:cs typeface="Calibri"/>
              </a:rPr>
              <a:t>and</a:t>
            </a:r>
            <a:r>
              <a:rPr sz="3200" spc="-80" dirty="0">
                <a:latin typeface="Calibri"/>
                <a:cs typeface="Calibri"/>
              </a:rPr>
              <a:t> </a:t>
            </a:r>
            <a:r>
              <a:rPr sz="3200" spc="-140" dirty="0">
                <a:latin typeface="Calibri"/>
                <a:cs typeface="Calibri"/>
              </a:rPr>
              <a:t>audio</a:t>
            </a:r>
            <a:r>
              <a:rPr sz="3200" spc="-55" dirty="0">
                <a:latin typeface="Calibri"/>
                <a:cs typeface="Calibri"/>
              </a:rPr>
              <a:t> </a:t>
            </a:r>
            <a:r>
              <a:rPr sz="3200" spc="-180" dirty="0">
                <a:latin typeface="Calibri"/>
                <a:cs typeface="Calibri"/>
              </a:rPr>
              <a:t>feed.</a:t>
            </a:r>
            <a:endParaRPr sz="3200">
              <a:latin typeface="Calibri"/>
              <a:cs typeface="Calibri"/>
            </a:endParaRPr>
          </a:p>
        </p:txBody>
      </p:sp>
      <p:sp>
        <p:nvSpPr>
          <p:cNvPr id="7" name="object 7"/>
          <p:cNvSpPr txBox="1"/>
          <p:nvPr/>
        </p:nvSpPr>
        <p:spPr>
          <a:xfrm>
            <a:off x="788100" y="7305675"/>
            <a:ext cx="15716250" cy="1813560"/>
          </a:xfrm>
          <a:prstGeom prst="rect">
            <a:avLst/>
          </a:prstGeom>
        </p:spPr>
        <p:txBody>
          <a:bodyPr vert="horz" wrap="square" lIns="0" tIns="15875" rIns="0" bIns="0" rtlCol="0">
            <a:spAutoFit/>
          </a:bodyPr>
          <a:lstStyle/>
          <a:p>
            <a:pPr marL="338455" indent="-325755">
              <a:lnSpc>
                <a:spcPts val="3585"/>
              </a:lnSpc>
              <a:spcBef>
                <a:spcPts val="125"/>
              </a:spcBef>
              <a:buChar char="•"/>
              <a:tabLst>
                <a:tab pos="338455" algn="l"/>
              </a:tabLst>
            </a:pPr>
            <a:r>
              <a:rPr sz="3100" spc="-120" dirty="0">
                <a:latin typeface="Calibri"/>
                <a:cs typeface="Calibri"/>
              </a:rPr>
              <a:t>The</a:t>
            </a:r>
            <a:r>
              <a:rPr sz="3100" spc="-100" dirty="0">
                <a:latin typeface="Calibri"/>
                <a:cs typeface="Calibri"/>
              </a:rPr>
              <a:t> </a:t>
            </a:r>
            <a:r>
              <a:rPr sz="3100" spc="-90" dirty="0">
                <a:latin typeface="Calibri"/>
                <a:cs typeface="Calibri"/>
              </a:rPr>
              <a:t>primary</a:t>
            </a:r>
            <a:r>
              <a:rPr sz="3100" spc="50" dirty="0">
                <a:latin typeface="Calibri"/>
                <a:cs typeface="Calibri"/>
              </a:rPr>
              <a:t> </a:t>
            </a:r>
            <a:r>
              <a:rPr sz="3100" spc="-90" dirty="0">
                <a:latin typeface="Calibri"/>
                <a:cs typeface="Calibri"/>
              </a:rPr>
              <a:t>challenge</a:t>
            </a:r>
            <a:r>
              <a:rPr sz="3100" spc="30" dirty="0">
                <a:latin typeface="Calibri"/>
                <a:cs typeface="Calibri"/>
              </a:rPr>
              <a:t> </a:t>
            </a:r>
            <a:r>
              <a:rPr sz="3100" spc="-40" dirty="0">
                <a:latin typeface="Calibri"/>
                <a:cs typeface="Calibri"/>
              </a:rPr>
              <a:t>lies</a:t>
            </a:r>
            <a:r>
              <a:rPr sz="3100" spc="-155" dirty="0">
                <a:latin typeface="Calibri"/>
                <a:cs typeface="Calibri"/>
              </a:rPr>
              <a:t> </a:t>
            </a:r>
            <a:r>
              <a:rPr sz="3100" spc="-40" dirty="0">
                <a:latin typeface="Calibri"/>
                <a:cs typeface="Calibri"/>
              </a:rPr>
              <a:t>in</a:t>
            </a:r>
            <a:r>
              <a:rPr sz="3100" spc="-140" dirty="0">
                <a:latin typeface="Calibri"/>
                <a:cs typeface="Calibri"/>
              </a:rPr>
              <a:t> </a:t>
            </a:r>
            <a:r>
              <a:rPr sz="3100" spc="-125" dirty="0">
                <a:latin typeface="Calibri"/>
                <a:cs typeface="Calibri"/>
              </a:rPr>
              <a:t>the</a:t>
            </a:r>
            <a:r>
              <a:rPr sz="3100" spc="-185" dirty="0">
                <a:latin typeface="Calibri"/>
                <a:cs typeface="Calibri"/>
              </a:rPr>
              <a:t> </a:t>
            </a:r>
            <a:r>
              <a:rPr sz="3100" spc="-135" dirty="0">
                <a:latin typeface="Calibri"/>
                <a:cs typeface="Calibri"/>
              </a:rPr>
              <a:t>hardware</a:t>
            </a:r>
            <a:r>
              <a:rPr sz="3100" spc="-60" dirty="0">
                <a:latin typeface="Calibri"/>
                <a:cs typeface="Calibri"/>
              </a:rPr>
              <a:t> </a:t>
            </a:r>
            <a:r>
              <a:rPr sz="3100" spc="-75" dirty="0">
                <a:latin typeface="Calibri"/>
                <a:cs typeface="Calibri"/>
              </a:rPr>
              <a:t>limitations</a:t>
            </a:r>
            <a:r>
              <a:rPr sz="3100" spc="60" dirty="0">
                <a:latin typeface="Calibri"/>
                <a:cs typeface="Calibri"/>
              </a:rPr>
              <a:t> </a:t>
            </a:r>
            <a:r>
              <a:rPr sz="3100" spc="-140" dirty="0">
                <a:latin typeface="Calibri"/>
                <a:cs typeface="Calibri"/>
              </a:rPr>
              <a:t>of </a:t>
            </a:r>
            <a:r>
              <a:rPr sz="3100" spc="-110" dirty="0">
                <a:latin typeface="Calibri"/>
                <a:cs typeface="Calibri"/>
              </a:rPr>
              <a:t>low-</a:t>
            </a:r>
            <a:r>
              <a:rPr sz="3100" spc="-75" dirty="0">
                <a:latin typeface="Calibri"/>
                <a:cs typeface="Calibri"/>
              </a:rPr>
              <a:t>cost</a:t>
            </a:r>
            <a:r>
              <a:rPr sz="3100" spc="-35" dirty="0">
                <a:latin typeface="Calibri"/>
                <a:cs typeface="Calibri"/>
              </a:rPr>
              <a:t> </a:t>
            </a:r>
            <a:r>
              <a:rPr sz="3100" spc="-90" dirty="0">
                <a:latin typeface="Calibri"/>
                <a:cs typeface="Calibri"/>
              </a:rPr>
              <a:t>microcontrollers</a:t>
            </a:r>
            <a:r>
              <a:rPr sz="3100" spc="-210" dirty="0">
                <a:latin typeface="Calibri"/>
                <a:cs typeface="Calibri"/>
              </a:rPr>
              <a:t> </a:t>
            </a:r>
            <a:r>
              <a:rPr sz="3100" spc="-60" dirty="0">
                <a:latin typeface="Calibri"/>
                <a:cs typeface="Calibri"/>
              </a:rPr>
              <a:t>like</a:t>
            </a:r>
            <a:r>
              <a:rPr sz="3100" spc="-114" dirty="0">
                <a:latin typeface="Calibri"/>
                <a:cs typeface="Calibri"/>
              </a:rPr>
              <a:t> </a:t>
            </a:r>
            <a:r>
              <a:rPr sz="3100" spc="-150" dirty="0">
                <a:latin typeface="Calibri"/>
                <a:cs typeface="Calibri"/>
              </a:rPr>
              <a:t>the</a:t>
            </a:r>
            <a:r>
              <a:rPr sz="3100" spc="-130" dirty="0">
                <a:latin typeface="Calibri"/>
                <a:cs typeface="Calibri"/>
              </a:rPr>
              <a:t> </a:t>
            </a:r>
            <a:r>
              <a:rPr sz="3100" spc="-10" dirty="0">
                <a:latin typeface="Calibri"/>
                <a:cs typeface="Calibri"/>
              </a:rPr>
              <a:t>ESP32.</a:t>
            </a:r>
            <a:endParaRPr sz="3100" dirty="0">
              <a:latin typeface="Calibri"/>
              <a:cs typeface="Calibri"/>
            </a:endParaRPr>
          </a:p>
          <a:p>
            <a:pPr marL="338455" indent="-325120">
              <a:lnSpc>
                <a:spcPts val="3395"/>
              </a:lnSpc>
              <a:buChar char="•"/>
              <a:tabLst>
                <a:tab pos="338455" algn="l"/>
              </a:tabLst>
            </a:pPr>
            <a:r>
              <a:rPr sz="3050" spc="-75" dirty="0">
                <a:latin typeface="Calibri"/>
                <a:cs typeface="Calibri"/>
              </a:rPr>
              <a:t>These</a:t>
            </a:r>
            <a:r>
              <a:rPr sz="3050" spc="-100" dirty="0">
                <a:latin typeface="Calibri"/>
                <a:cs typeface="Calibri"/>
              </a:rPr>
              <a:t> </a:t>
            </a:r>
            <a:r>
              <a:rPr sz="3050" spc="-65" dirty="0">
                <a:latin typeface="Calibri"/>
                <a:cs typeface="Calibri"/>
              </a:rPr>
              <a:t>devices</a:t>
            </a:r>
            <a:r>
              <a:rPr sz="3050" spc="-105" dirty="0">
                <a:latin typeface="Calibri"/>
                <a:cs typeface="Calibri"/>
              </a:rPr>
              <a:t> </a:t>
            </a:r>
            <a:r>
              <a:rPr sz="3050" dirty="0">
                <a:latin typeface="Calibri"/>
                <a:cs typeface="Calibri"/>
              </a:rPr>
              <a:t>lack</a:t>
            </a:r>
            <a:r>
              <a:rPr sz="3050" spc="-175" dirty="0">
                <a:latin typeface="Calibri"/>
                <a:cs typeface="Calibri"/>
              </a:rPr>
              <a:t> </a:t>
            </a:r>
            <a:r>
              <a:rPr sz="3050" spc="-95" dirty="0">
                <a:latin typeface="Calibri"/>
                <a:cs typeface="Calibri"/>
              </a:rPr>
              <a:t>the</a:t>
            </a:r>
            <a:r>
              <a:rPr sz="3050" spc="-170" dirty="0">
                <a:latin typeface="Calibri"/>
                <a:cs typeface="Calibri"/>
              </a:rPr>
              <a:t> </a:t>
            </a:r>
            <a:r>
              <a:rPr sz="3050" spc="-65" dirty="0">
                <a:latin typeface="Calibri"/>
                <a:cs typeface="Calibri"/>
              </a:rPr>
              <a:t>memory</a:t>
            </a:r>
            <a:r>
              <a:rPr sz="3050" spc="90" dirty="0">
                <a:latin typeface="Calibri"/>
                <a:cs typeface="Calibri"/>
              </a:rPr>
              <a:t> </a:t>
            </a:r>
            <a:r>
              <a:rPr sz="3050" spc="-50" dirty="0">
                <a:latin typeface="Calibri"/>
                <a:cs typeface="Calibri"/>
              </a:rPr>
              <a:t>and</a:t>
            </a:r>
            <a:r>
              <a:rPr sz="3050" spc="-70" dirty="0">
                <a:latin typeface="Calibri"/>
                <a:cs typeface="Calibri"/>
              </a:rPr>
              <a:t> </a:t>
            </a:r>
            <a:r>
              <a:rPr sz="3050" spc="-55" dirty="0">
                <a:latin typeface="Calibri"/>
                <a:cs typeface="Calibri"/>
              </a:rPr>
              <a:t>processing</a:t>
            </a:r>
            <a:r>
              <a:rPr sz="3050" spc="10" dirty="0">
                <a:latin typeface="Calibri"/>
                <a:cs typeface="Calibri"/>
              </a:rPr>
              <a:t> </a:t>
            </a:r>
            <a:r>
              <a:rPr sz="3050" spc="-114" dirty="0">
                <a:latin typeface="Calibri"/>
                <a:cs typeface="Calibri"/>
              </a:rPr>
              <a:t>power</a:t>
            </a:r>
            <a:r>
              <a:rPr sz="3050" spc="-55" dirty="0">
                <a:latin typeface="Calibri"/>
                <a:cs typeface="Calibri"/>
              </a:rPr>
              <a:t> </a:t>
            </a:r>
            <a:r>
              <a:rPr sz="3050" spc="-130" dirty="0">
                <a:latin typeface="Calibri"/>
                <a:cs typeface="Calibri"/>
              </a:rPr>
              <a:t>to</a:t>
            </a:r>
            <a:r>
              <a:rPr sz="3050" spc="-100" dirty="0">
                <a:latin typeface="Calibri"/>
                <a:cs typeface="Calibri"/>
              </a:rPr>
              <a:t> </a:t>
            </a:r>
            <a:r>
              <a:rPr sz="3050" spc="-90" dirty="0">
                <a:latin typeface="Calibri"/>
                <a:cs typeface="Calibri"/>
              </a:rPr>
              <a:t>perform</a:t>
            </a:r>
            <a:r>
              <a:rPr sz="3050" spc="25" dirty="0">
                <a:latin typeface="Calibri"/>
                <a:cs typeface="Calibri"/>
              </a:rPr>
              <a:t> </a:t>
            </a:r>
            <a:r>
              <a:rPr sz="3050" spc="-120" dirty="0">
                <a:latin typeface="Calibri"/>
                <a:cs typeface="Calibri"/>
              </a:rPr>
              <a:t>two</a:t>
            </a:r>
            <a:r>
              <a:rPr sz="3050" spc="-55" dirty="0">
                <a:latin typeface="Calibri"/>
                <a:cs typeface="Calibri"/>
              </a:rPr>
              <a:t> </a:t>
            </a:r>
            <a:r>
              <a:rPr sz="3050" spc="-80" dirty="0">
                <a:latin typeface="Calibri"/>
                <a:cs typeface="Calibri"/>
              </a:rPr>
              <a:t>resource-</a:t>
            </a:r>
            <a:r>
              <a:rPr sz="3050" spc="-75" dirty="0">
                <a:latin typeface="Calibri"/>
                <a:cs typeface="Calibri"/>
              </a:rPr>
              <a:t>intensive</a:t>
            </a:r>
            <a:r>
              <a:rPr sz="3050" spc="-95" dirty="0">
                <a:latin typeface="Calibri"/>
                <a:cs typeface="Calibri"/>
              </a:rPr>
              <a:t> </a:t>
            </a:r>
            <a:r>
              <a:rPr sz="3050" spc="-25" dirty="0">
                <a:latin typeface="Calibri"/>
                <a:cs typeface="Calibri"/>
              </a:rPr>
              <a:t>tasks</a:t>
            </a:r>
            <a:r>
              <a:rPr sz="3050" spc="-100" dirty="0">
                <a:latin typeface="Calibri"/>
                <a:cs typeface="Calibri"/>
              </a:rPr>
              <a:t> </a:t>
            </a:r>
            <a:r>
              <a:rPr sz="3050" spc="-70" dirty="0">
                <a:latin typeface="Calibri"/>
                <a:cs typeface="Calibri"/>
              </a:rPr>
              <a:t>at</a:t>
            </a:r>
            <a:r>
              <a:rPr sz="3050" spc="-175" dirty="0">
                <a:latin typeface="Calibri"/>
                <a:cs typeface="Calibri"/>
              </a:rPr>
              <a:t> </a:t>
            </a:r>
            <a:r>
              <a:rPr sz="3050" spc="-10" dirty="0">
                <a:latin typeface="Calibri"/>
                <a:cs typeface="Calibri"/>
              </a:rPr>
              <a:t>once.</a:t>
            </a:r>
            <a:endParaRPr sz="3050" dirty="0">
              <a:latin typeface="Calibri"/>
              <a:cs typeface="Calibri"/>
            </a:endParaRPr>
          </a:p>
          <a:p>
            <a:pPr marL="321945" indent="-308610">
              <a:lnSpc>
                <a:spcPts val="3350"/>
              </a:lnSpc>
              <a:buChar char="•"/>
              <a:tabLst>
                <a:tab pos="321945" algn="l"/>
              </a:tabLst>
            </a:pPr>
            <a:r>
              <a:rPr sz="3050" spc="-95" dirty="0">
                <a:latin typeface="Calibri"/>
                <a:cs typeface="Calibri"/>
              </a:rPr>
              <a:t>Attempting</a:t>
            </a:r>
            <a:r>
              <a:rPr sz="3050" spc="-80" dirty="0">
                <a:latin typeface="Calibri"/>
                <a:cs typeface="Calibri"/>
              </a:rPr>
              <a:t> </a:t>
            </a:r>
            <a:r>
              <a:rPr sz="3050" spc="-60" dirty="0">
                <a:latin typeface="Calibri"/>
                <a:cs typeface="Calibri"/>
              </a:rPr>
              <a:t>both</a:t>
            </a:r>
            <a:r>
              <a:rPr sz="3050" spc="-110" dirty="0">
                <a:latin typeface="Calibri"/>
                <a:cs typeface="Calibri"/>
              </a:rPr>
              <a:t> </a:t>
            </a:r>
            <a:r>
              <a:rPr sz="3050" spc="-50" dirty="0">
                <a:latin typeface="Calibri"/>
                <a:cs typeface="Calibri"/>
              </a:rPr>
              <a:t>simultaneously</a:t>
            </a:r>
            <a:r>
              <a:rPr sz="3050" spc="-85" dirty="0">
                <a:latin typeface="Calibri"/>
                <a:cs typeface="Calibri"/>
              </a:rPr>
              <a:t> </a:t>
            </a:r>
            <a:r>
              <a:rPr sz="3050" spc="-55" dirty="0">
                <a:latin typeface="Calibri"/>
                <a:cs typeface="Calibri"/>
              </a:rPr>
              <a:t>results</a:t>
            </a:r>
            <a:r>
              <a:rPr sz="3050" spc="-114" dirty="0">
                <a:latin typeface="Calibri"/>
                <a:cs typeface="Calibri"/>
              </a:rPr>
              <a:t> </a:t>
            </a:r>
            <a:r>
              <a:rPr sz="3050" spc="-55" dirty="0">
                <a:latin typeface="Calibri"/>
                <a:cs typeface="Calibri"/>
              </a:rPr>
              <a:t>in</a:t>
            </a:r>
            <a:r>
              <a:rPr sz="3050" spc="-120" dirty="0">
                <a:latin typeface="Calibri"/>
                <a:cs typeface="Calibri"/>
              </a:rPr>
              <a:t> </a:t>
            </a:r>
            <a:r>
              <a:rPr sz="3050" spc="-85" dirty="0">
                <a:latin typeface="Calibri"/>
                <a:cs typeface="Calibri"/>
              </a:rPr>
              <a:t>system </a:t>
            </a:r>
            <a:r>
              <a:rPr sz="3050" spc="-50" dirty="0">
                <a:latin typeface="Calibri"/>
                <a:cs typeface="Calibri"/>
              </a:rPr>
              <a:t>crashes</a:t>
            </a:r>
            <a:r>
              <a:rPr sz="3050" spc="-125" dirty="0">
                <a:latin typeface="Calibri"/>
                <a:cs typeface="Calibri"/>
              </a:rPr>
              <a:t> </a:t>
            </a:r>
            <a:r>
              <a:rPr sz="3050" spc="-35" dirty="0">
                <a:latin typeface="Calibri"/>
                <a:cs typeface="Calibri"/>
              </a:rPr>
              <a:t>or</a:t>
            </a:r>
            <a:r>
              <a:rPr sz="3050" spc="-200" dirty="0">
                <a:latin typeface="Calibri"/>
                <a:cs typeface="Calibri"/>
              </a:rPr>
              <a:t> </a:t>
            </a:r>
            <a:r>
              <a:rPr sz="3050" spc="-70" dirty="0">
                <a:latin typeface="Calibri"/>
                <a:cs typeface="Calibri"/>
              </a:rPr>
              <a:t>unacceptable</a:t>
            </a:r>
            <a:r>
              <a:rPr sz="3050" spc="110" dirty="0">
                <a:latin typeface="Calibri"/>
                <a:cs typeface="Calibri"/>
              </a:rPr>
              <a:t> </a:t>
            </a:r>
            <a:r>
              <a:rPr sz="3050" spc="-80" dirty="0">
                <a:latin typeface="Calibri"/>
                <a:cs typeface="Calibri"/>
              </a:rPr>
              <a:t>performance,</a:t>
            </a:r>
            <a:r>
              <a:rPr sz="3050" spc="-45" dirty="0">
                <a:latin typeface="Calibri"/>
                <a:cs typeface="Calibri"/>
              </a:rPr>
              <a:t> </a:t>
            </a:r>
            <a:r>
              <a:rPr sz="3050" spc="-65" dirty="0">
                <a:latin typeface="Calibri"/>
                <a:cs typeface="Calibri"/>
              </a:rPr>
              <a:t>creating</a:t>
            </a:r>
            <a:r>
              <a:rPr sz="3050" spc="-80" dirty="0">
                <a:latin typeface="Calibri"/>
                <a:cs typeface="Calibri"/>
              </a:rPr>
              <a:t> </a:t>
            </a:r>
            <a:r>
              <a:rPr sz="3050" spc="50" dirty="0">
                <a:latin typeface="Calibri"/>
                <a:cs typeface="Calibri"/>
              </a:rPr>
              <a:t>a</a:t>
            </a:r>
            <a:endParaRPr sz="3050" dirty="0">
              <a:latin typeface="Calibri"/>
              <a:cs typeface="Calibri"/>
            </a:endParaRPr>
          </a:p>
          <a:p>
            <a:pPr marL="334645">
              <a:lnSpc>
                <a:spcPts val="3720"/>
              </a:lnSpc>
            </a:pPr>
            <a:r>
              <a:rPr sz="3250" spc="-190" dirty="0">
                <a:latin typeface="Calibri"/>
                <a:cs typeface="Calibri"/>
              </a:rPr>
              <a:t>fundamental</a:t>
            </a:r>
            <a:r>
              <a:rPr sz="3250" spc="55" dirty="0">
                <a:latin typeface="Calibri"/>
                <a:cs typeface="Calibri"/>
              </a:rPr>
              <a:t> </a:t>
            </a:r>
            <a:r>
              <a:rPr sz="3250" spc="-150" dirty="0">
                <a:latin typeface="Calibri"/>
                <a:cs typeface="Calibri"/>
              </a:rPr>
              <a:t>roadblock</a:t>
            </a:r>
            <a:r>
              <a:rPr sz="3250" spc="-10" dirty="0">
                <a:latin typeface="Calibri"/>
                <a:cs typeface="Calibri"/>
              </a:rPr>
              <a:t> </a:t>
            </a:r>
            <a:r>
              <a:rPr sz="3250" spc="-204" dirty="0">
                <a:latin typeface="Calibri"/>
                <a:cs typeface="Calibri"/>
              </a:rPr>
              <a:t>to</a:t>
            </a:r>
            <a:r>
              <a:rPr sz="3250" spc="-150" dirty="0">
                <a:latin typeface="Calibri"/>
                <a:cs typeface="Calibri"/>
              </a:rPr>
              <a:t> </a:t>
            </a:r>
            <a:r>
              <a:rPr sz="3250" spc="-120" dirty="0">
                <a:latin typeface="Calibri"/>
                <a:cs typeface="Calibri"/>
              </a:rPr>
              <a:t>building</a:t>
            </a:r>
            <a:r>
              <a:rPr sz="3250" spc="85" dirty="0">
                <a:latin typeface="Calibri"/>
                <a:cs typeface="Calibri"/>
              </a:rPr>
              <a:t> </a:t>
            </a:r>
            <a:r>
              <a:rPr sz="3250" spc="-150" dirty="0">
                <a:latin typeface="Calibri"/>
                <a:cs typeface="Calibri"/>
              </a:rPr>
              <a:t>a</a:t>
            </a:r>
            <a:r>
              <a:rPr sz="3250" spc="-155" dirty="0">
                <a:latin typeface="Calibri"/>
                <a:cs typeface="Calibri"/>
              </a:rPr>
              <a:t> </a:t>
            </a:r>
            <a:r>
              <a:rPr sz="3250" spc="-185" dirty="0">
                <a:latin typeface="Calibri"/>
                <a:cs typeface="Calibri"/>
              </a:rPr>
              <a:t>low-</a:t>
            </a:r>
            <a:r>
              <a:rPr sz="3250" spc="-160" dirty="0">
                <a:latin typeface="Calibri"/>
                <a:cs typeface="Calibri"/>
              </a:rPr>
              <a:t>cost,</a:t>
            </a:r>
            <a:r>
              <a:rPr sz="3250" spc="-80" dirty="0">
                <a:latin typeface="Calibri"/>
                <a:cs typeface="Calibri"/>
              </a:rPr>
              <a:t> </a:t>
            </a:r>
            <a:r>
              <a:rPr sz="3250" spc="-150" dirty="0">
                <a:latin typeface="Calibri"/>
                <a:cs typeface="Calibri"/>
              </a:rPr>
              <a:t>full-</a:t>
            </a:r>
            <a:r>
              <a:rPr sz="3250" spc="-185" dirty="0">
                <a:latin typeface="Calibri"/>
                <a:cs typeface="Calibri"/>
              </a:rPr>
              <a:t>featured</a:t>
            </a:r>
            <a:r>
              <a:rPr sz="3250" spc="65" dirty="0">
                <a:latin typeface="Calibri"/>
                <a:cs typeface="Calibri"/>
              </a:rPr>
              <a:t> </a:t>
            </a:r>
            <a:r>
              <a:rPr sz="3250" spc="-10" dirty="0">
                <a:latin typeface="Calibri"/>
                <a:cs typeface="Calibri"/>
              </a:rPr>
              <a:t>device.</a:t>
            </a:r>
            <a:endParaRPr sz="3250" dirty="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755900" y="2717800"/>
            <a:ext cx="1435100" cy="1473200"/>
          </a:xfrm>
          <a:prstGeom prst="rect">
            <a:avLst/>
          </a:prstGeom>
        </p:spPr>
      </p:pic>
      <p:pic>
        <p:nvPicPr>
          <p:cNvPr id="3" name="object 3"/>
          <p:cNvPicPr/>
          <p:nvPr/>
        </p:nvPicPr>
        <p:blipFill>
          <a:blip r:embed="rId3" cstate="print"/>
          <a:stretch>
            <a:fillRect/>
          </a:stretch>
        </p:blipFill>
        <p:spPr>
          <a:xfrm>
            <a:off x="5994400" y="2413000"/>
            <a:ext cx="5486400" cy="4191000"/>
          </a:xfrm>
          <a:prstGeom prst="rect">
            <a:avLst/>
          </a:prstGeom>
        </p:spPr>
      </p:pic>
      <p:pic>
        <p:nvPicPr>
          <p:cNvPr id="4" name="object 4"/>
          <p:cNvPicPr/>
          <p:nvPr/>
        </p:nvPicPr>
        <p:blipFill>
          <a:blip r:embed="rId4" cstate="print"/>
          <a:stretch>
            <a:fillRect/>
          </a:stretch>
        </p:blipFill>
        <p:spPr>
          <a:xfrm>
            <a:off x="13258800" y="2730500"/>
            <a:ext cx="1435100" cy="1447800"/>
          </a:xfrm>
          <a:prstGeom prst="rect">
            <a:avLst/>
          </a:prstGeom>
        </p:spPr>
      </p:pic>
      <p:sp>
        <p:nvSpPr>
          <p:cNvPr id="5" name="object 5"/>
          <p:cNvSpPr txBox="1">
            <a:spLocks noGrp="1"/>
          </p:cNvSpPr>
          <p:nvPr>
            <p:ph type="title"/>
          </p:nvPr>
        </p:nvSpPr>
        <p:spPr>
          <a:prstGeom prst="rect">
            <a:avLst/>
          </a:prstGeom>
        </p:spPr>
        <p:txBody>
          <a:bodyPr vert="horz" wrap="square" lIns="0" tIns="143651" rIns="0" bIns="0" rtlCol="0">
            <a:spAutoFit/>
          </a:bodyPr>
          <a:lstStyle/>
          <a:p>
            <a:pPr marL="2590800" marR="5080" indent="101600">
              <a:lnSpc>
                <a:spcPts val="4800"/>
              </a:lnSpc>
              <a:spcBef>
                <a:spcPts val="770"/>
              </a:spcBef>
            </a:pPr>
            <a:r>
              <a:rPr sz="4500" spc="-175" dirty="0">
                <a:solidFill>
                  <a:srgbClr val="053864"/>
                </a:solidFill>
              </a:rPr>
              <a:t>Our</a:t>
            </a:r>
            <a:r>
              <a:rPr sz="4500" spc="-165" dirty="0">
                <a:solidFill>
                  <a:srgbClr val="053864"/>
                </a:solidFill>
              </a:rPr>
              <a:t> </a:t>
            </a:r>
            <a:r>
              <a:rPr sz="4500" spc="-65" dirty="0">
                <a:solidFill>
                  <a:srgbClr val="053F70"/>
                </a:solidFill>
              </a:rPr>
              <a:t>Breakthrough</a:t>
            </a:r>
            <a:r>
              <a:rPr sz="4500" spc="-250" dirty="0">
                <a:solidFill>
                  <a:srgbClr val="053F70"/>
                </a:solidFill>
              </a:rPr>
              <a:t> </a:t>
            </a:r>
            <a:r>
              <a:rPr sz="4500" dirty="0">
                <a:solidFill>
                  <a:srgbClr val="083864"/>
                </a:solidFill>
              </a:rPr>
              <a:t>Is</a:t>
            </a:r>
            <a:r>
              <a:rPr sz="4500" spc="-440" dirty="0">
                <a:solidFill>
                  <a:srgbClr val="083864"/>
                </a:solidFill>
              </a:rPr>
              <a:t> </a:t>
            </a:r>
            <a:r>
              <a:rPr sz="4500" spc="-125" dirty="0">
                <a:solidFill>
                  <a:srgbClr val="073B67"/>
                </a:solidFill>
              </a:rPr>
              <a:t>a</a:t>
            </a:r>
            <a:r>
              <a:rPr sz="4500" spc="-375" dirty="0">
                <a:solidFill>
                  <a:srgbClr val="073B67"/>
                </a:solidFill>
              </a:rPr>
              <a:t> </a:t>
            </a:r>
            <a:r>
              <a:rPr sz="4500" spc="-55" dirty="0">
                <a:solidFill>
                  <a:srgbClr val="03345D"/>
                </a:solidFill>
              </a:rPr>
              <a:t>State</a:t>
            </a:r>
            <a:r>
              <a:rPr sz="4500" spc="-409" dirty="0">
                <a:solidFill>
                  <a:srgbClr val="03345D"/>
                </a:solidFill>
              </a:rPr>
              <a:t> </a:t>
            </a:r>
            <a:r>
              <a:rPr sz="4500" spc="-50" dirty="0">
                <a:solidFill>
                  <a:srgbClr val="034174"/>
                </a:solidFill>
              </a:rPr>
              <a:t>Machine</a:t>
            </a:r>
            <a:r>
              <a:rPr sz="4500" spc="-140" dirty="0">
                <a:solidFill>
                  <a:srgbClr val="034174"/>
                </a:solidFill>
              </a:rPr>
              <a:t> </a:t>
            </a:r>
            <a:r>
              <a:rPr sz="4500" spc="-20" dirty="0">
                <a:solidFill>
                  <a:srgbClr val="053862"/>
                </a:solidFill>
              </a:rPr>
              <a:t>That </a:t>
            </a:r>
            <a:r>
              <a:rPr sz="4500" dirty="0">
                <a:solidFill>
                  <a:srgbClr val="083A64"/>
                </a:solidFill>
              </a:rPr>
              <a:t>Intelligently</a:t>
            </a:r>
            <a:r>
              <a:rPr sz="4500" spc="20" dirty="0">
                <a:solidFill>
                  <a:srgbClr val="083A64"/>
                </a:solidFill>
              </a:rPr>
              <a:t> </a:t>
            </a:r>
            <a:r>
              <a:rPr sz="4500" spc="-40" dirty="0">
                <a:solidFill>
                  <a:srgbClr val="07365E"/>
                </a:solidFill>
              </a:rPr>
              <a:t>Switches</a:t>
            </a:r>
            <a:r>
              <a:rPr sz="4500" spc="-135" dirty="0">
                <a:solidFill>
                  <a:srgbClr val="07365E"/>
                </a:solidFill>
              </a:rPr>
              <a:t> </a:t>
            </a:r>
            <a:r>
              <a:rPr sz="4500" spc="-120" dirty="0">
                <a:solidFill>
                  <a:srgbClr val="03345D"/>
                </a:solidFill>
              </a:rPr>
              <a:t>Device </a:t>
            </a:r>
            <a:r>
              <a:rPr sz="4500" spc="-25" dirty="0">
                <a:solidFill>
                  <a:srgbClr val="0C3F69"/>
                </a:solidFill>
              </a:rPr>
              <a:t>Functionality</a:t>
            </a:r>
            <a:endParaRPr sz="4500"/>
          </a:p>
        </p:txBody>
      </p:sp>
      <p:sp>
        <p:nvSpPr>
          <p:cNvPr id="6" name="object 6"/>
          <p:cNvSpPr txBox="1"/>
          <p:nvPr/>
        </p:nvSpPr>
        <p:spPr>
          <a:xfrm>
            <a:off x="2147685" y="4409016"/>
            <a:ext cx="2659380" cy="2232025"/>
          </a:xfrm>
          <a:prstGeom prst="rect">
            <a:avLst/>
          </a:prstGeom>
        </p:spPr>
        <p:txBody>
          <a:bodyPr vert="horz" wrap="square" lIns="0" tIns="16510" rIns="0" bIns="0" rtlCol="0">
            <a:spAutoFit/>
          </a:bodyPr>
          <a:lstStyle/>
          <a:p>
            <a:pPr marL="575310">
              <a:lnSpc>
                <a:spcPts val="3929"/>
              </a:lnSpc>
              <a:spcBef>
                <a:spcPts val="130"/>
              </a:spcBef>
            </a:pPr>
            <a:r>
              <a:rPr sz="3300" dirty="0">
                <a:solidFill>
                  <a:srgbClr val="0A3660"/>
                </a:solidFill>
                <a:latin typeface="Calibri"/>
                <a:cs typeface="Calibri"/>
              </a:rPr>
              <a:t>AI</a:t>
            </a:r>
            <a:r>
              <a:rPr sz="3300" spc="50" dirty="0">
                <a:solidFill>
                  <a:srgbClr val="0A3660"/>
                </a:solidFill>
                <a:latin typeface="Calibri"/>
                <a:cs typeface="Calibri"/>
              </a:rPr>
              <a:t> </a:t>
            </a:r>
            <a:r>
              <a:rPr sz="3300" spc="30" dirty="0">
                <a:solidFill>
                  <a:srgbClr val="083D69"/>
                </a:solidFill>
                <a:latin typeface="Calibri"/>
                <a:cs typeface="Calibri"/>
              </a:rPr>
              <a:t>Mode</a:t>
            </a:r>
            <a:endParaRPr sz="3300">
              <a:latin typeface="Calibri"/>
              <a:cs typeface="Calibri"/>
            </a:endParaRPr>
          </a:p>
          <a:p>
            <a:pPr marL="123825" algn="just">
              <a:lnSpc>
                <a:spcPts val="3810"/>
              </a:lnSpc>
            </a:pPr>
            <a:r>
              <a:rPr sz="3200" spc="-100" dirty="0">
                <a:solidFill>
                  <a:srgbClr val="111111"/>
                </a:solidFill>
                <a:latin typeface="Calibri"/>
                <a:cs typeface="Calibri"/>
              </a:rPr>
              <a:t>Sentry</a:t>
            </a:r>
            <a:r>
              <a:rPr sz="3200" spc="-45" dirty="0">
                <a:solidFill>
                  <a:srgbClr val="111111"/>
                </a:solidFill>
                <a:latin typeface="Calibri"/>
                <a:cs typeface="Calibri"/>
              </a:rPr>
              <a:t> </a:t>
            </a:r>
            <a:r>
              <a:rPr sz="3200" spc="-265" dirty="0">
                <a:solidFill>
                  <a:srgbClr val="212121"/>
                </a:solidFill>
                <a:latin typeface="Calibri"/>
                <a:cs typeface="Calibri"/>
              </a:rPr>
              <a:t>&amp; </a:t>
            </a:r>
            <a:r>
              <a:rPr sz="3200" spc="-10" dirty="0">
                <a:solidFill>
                  <a:srgbClr val="0F0F0F"/>
                </a:solidFill>
                <a:latin typeface="Calibri"/>
                <a:cs typeface="Calibri"/>
              </a:rPr>
              <a:t>Detect</a:t>
            </a:r>
            <a:endParaRPr sz="3200">
              <a:latin typeface="Calibri"/>
              <a:cs typeface="Calibri"/>
            </a:endParaRPr>
          </a:p>
          <a:p>
            <a:pPr marL="20320" marR="5080" indent="-8255" algn="just">
              <a:lnSpc>
                <a:spcPts val="2800"/>
              </a:lnSpc>
              <a:spcBef>
                <a:spcPts val="1220"/>
              </a:spcBef>
            </a:pPr>
            <a:r>
              <a:rPr sz="2550" spc="-85" dirty="0">
                <a:solidFill>
                  <a:srgbClr val="4B4B4B"/>
                </a:solidFill>
                <a:latin typeface="Calibri"/>
                <a:cs typeface="Calibri"/>
              </a:rPr>
              <a:t>System</a:t>
            </a:r>
            <a:r>
              <a:rPr sz="2550" spc="-70" dirty="0">
                <a:solidFill>
                  <a:srgbClr val="4B4B4B"/>
                </a:solidFill>
                <a:latin typeface="Calibri"/>
                <a:cs typeface="Calibri"/>
              </a:rPr>
              <a:t> </a:t>
            </a:r>
            <a:r>
              <a:rPr sz="2550" spc="-80" dirty="0">
                <a:solidFill>
                  <a:srgbClr val="525252"/>
                </a:solidFill>
                <a:latin typeface="Calibri"/>
                <a:cs typeface="Calibri"/>
              </a:rPr>
              <a:t>resources</a:t>
            </a:r>
            <a:r>
              <a:rPr sz="2550" spc="-25" dirty="0">
                <a:solidFill>
                  <a:srgbClr val="525252"/>
                </a:solidFill>
                <a:latin typeface="Calibri"/>
                <a:cs typeface="Calibri"/>
              </a:rPr>
              <a:t> </a:t>
            </a:r>
            <a:r>
              <a:rPr sz="2550" spc="-40" dirty="0">
                <a:solidFill>
                  <a:srgbClr val="505050"/>
                </a:solidFill>
                <a:latin typeface="Calibri"/>
                <a:cs typeface="Calibri"/>
              </a:rPr>
              <a:t>are </a:t>
            </a:r>
            <a:r>
              <a:rPr sz="2700" spc="-150" dirty="0">
                <a:solidFill>
                  <a:srgbClr val="505050"/>
                </a:solidFill>
                <a:latin typeface="Calibri"/>
                <a:cs typeface="Calibri"/>
              </a:rPr>
              <a:t>dedicated</a:t>
            </a:r>
            <a:r>
              <a:rPr sz="2700" spc="60" dirty="0">
                <a:solidFill>
                  <a:srgbClr val="505050"/>
                </a:solidFill>
                <a:latin typeface="Calibri"/>
                <a:cs typeface="Calibri"/>
              </a:rPr>
              <a:t> </a:t>
            </a:r>
            <a:r>
              <a:rPr sz="2700" spc="-360" dirty="0">
                <a:solidFill>
                  <a:srgbClr val="545454"/>
                </a:solidFill>
                <a:latin typeface="Calibri"/>
                <a:cs typeface="Calibri"/>
              </a:rPr>
              <a:t>to</a:t>
            </a:r>
            <a:r>
              <a:rPr sz="2700" spc="204" dirty="0">
                <a:solidFill>
                  <a:srgbClr val="545454"/>
                </a:solidFill>
                <a:latin typeface="Calibri"/>
                <a:cs typeface="Calibri"/>
              </a:rPr>
              <a:t> </a:t>
            </a:r>
            <a:r>
              <a:rPr sz="2700" spc="-75" dirty="0">
                <a:solidFill>
                  <a:srgbClr val="505050"/>
                </a:solidFill>
                <a:latin typeface="Calibri"/>
                <a:cs typeface="Calibri"/>
              </a:rPr>
              <a:t>running </a:t>
            </a:r>
            <a:r>
              <a:rPr sz="2700" spc="-170" dirty="0">
                <a:solidFill>
                  <a:srgbClr val="525252"/>
                </a:solidFill>
                <a:latin typeface="Calibri"/>
                <a:cs typeface="Calibri"/>
              </a:rPr>
              <a:t>the</a:t>
            </a:r>
            <a:r>
              <a:rPr sz="2700" spc="-50" dirty="0">
                <a:solidFill>
                  <a:srgbClr val="525252"/>
                </a:solidFill>
                <a:latin typeface="Calibri"/>
                <a:cs typeface="Calibri"/>
              </a:rPr>
              <a:t> </a:t>
            </a:r>
            <a:r>
              <a:rPr sz="2700" spc="-200" dirty="0">
                <a:solidFill>
                  <a:srgbClr val="494949"/>
                </a:solidFill>
                <a:latin typeface="Calibri"/>
                <a:cs typeface="Calibri"/>
              </a:rPr>
              <a:t>TinyML</a:t>
            </a:r>
            <a:r>
              <a:rPr sz="2700" spc="30" dirty="0">
                <a:solidFill>
                  <a:srgbClr val="494949"/>
                </a:solidFill>
                <a:latin typeface="Calibri"/>
                <a:cs typeface="Calibri"/>
              </a:rPr>
              <a:t> </a:t>
            </a:r>
            <a:r>
              <a:rPr sz="2700" spc="-10" dirty="0">
                <a:solidFill>
                  <a:srgbClr val="4B4B4B"/>
                </a:solidFill>
                <a:latin typeface="Calibri"/>
                <a:cs typeface="Calibri"/>
              </a:rPr>
              <a:t>model.</a:t>
            </a:r>
            <a:endParaRPr sz="2700">
              <a:latin typeface="Calibri"/>
              <a:cs typeface="Calibri"/>
            </a:endParaRPr>
          </a:p>
        </p:txBody>
      </p:sp>
      <p:sp>
        <p:nvSpPr>
          <p:cNvPr id="7" name="object 7"/>
          <p:cNvSpPr txBox="1"/>
          <p:nvPr/>
        </p:nvSpPr>
        <p:spPr>
          <a:xfrm>
            <a:off x="7963857" y="3169708"/>
            <a:ext cx="1440815" cy="692150"/>
          </a:xfrm>
          <a:prstGeom prst="rect">
            <a:avLst/>
          </a:prstGeom>
        </p:spPr>
        <p:txBody>
          <a:bodyPr vert="horz" wrap="square" lIns="0" tIns="49530" rIns="0" bIns="0" rtlCol="0">
            <a:spAutoFit/>
          </a:bodyPr>
          <a:lstStyle/>
          <a:p>
            <a:pPr marL="12700" marR="5080" indent="13970">
              <a:lnSpc>
                <a:spcPts val="2500"/>
              </a:lnSpc>
              <a:spcBef>
                <a:spcPts val="390"/>
              </a:spcBef>
            </a:pPr>
            <a:r>
              <a:rPr sz="2300" spc="-35" dirty="0">
                <a:latin typeface="Calibri"/>
                <a:cs typeface="Calibri"/>
              </a:rPr>
              <a:t>Switching</a:t>
            </a:r>
            <a:r>
              <a:rPr sz="2300" spc="-65" dirty="0">
                <a:latin typeface="Calibri"/>
                <a:cs typeface="Calibri"/>
              </a:rPr>
              <a:t> </a:t>
            </a:r>
            <a:r>
              <a:rPr sz="2300" spc="-25" dirty="0">
                <a:latin typeface="Calibri"/>
                <a:cs typeface="Calibri"/>
              </a:rPr>
              <a:t>in </a:t>
            </a:r>
            <a:r>
              <a:rPr sz="2300" spc="-50" dirty="0">
                <a:latin typeface="Calibri"/>
                <a:cs typeface="Calibri"/>
              </a:rPr>
              <a:t>Milliseconds</a:t>
            </a:r>
            <a:endParaRPr sz="2300">
              <a:latin typeface="Calibri"/>
              <a:cs typeface="Calibri"/>
            </a:endParaRPr>
          </a:p>
        </p:txBody>
      </p:sp>
      <p:sp>
        <p:nvSpPr>
          <p:cNvPr id="8" name="object 8"/>
          <p:cNvSpPr txBox="1"/>
          <p:nvPr/>
        </p:nvSpPr>
        <p:spPr>
          <a:xfrm>
            <a:off x="12407605" y="4409016"/>
            <a:ext cx="3125470" cy="2233930"/>
          </a:xfrm>
          <a:prstGeom prst="rect">
            <a:avLst/>
          </a:prstGeom>
        </p:spPr>
        <p:txBody>
          <a:bodyPr vert="horz" wrap="square" lIns="0" tIns="16510" rIns="0" bIns="0" rtlCol="0">
            <a:spAutoFit/>
          </a:bodyPr>
          <a:lstStyle/>
          <a:p>
            <a:pPr marR="1270" algn="ctr">
              <a:lnSpc>
                <a:spcPct val="100000"/>
              </a:lnSpc>
              <a:spcBef>
                <a:spcPts val="130"/>
              </a:spcBef>
            </a:pPr>
            <a:r>
              <a:rPr sz="3300" spc="70" dirty="0">
                <a:solidFill>
                  <a:srgbClr val="C67234"/>
                </a:solidFill>
                <a:latin typeface="Calibri"/>
                <a:cs typeface="Calibri"/>
              </a:rPr>
              <a:t>Intercom</a:t>
            </a:r>
            <a:r>
              <a:rPr sz="3300" spc="35" dirty="0">
                <a:solidFill>
                  <a:srgbClr val="C67234"/>
                </a:solidFill>
                <a:latin typeface="Calibri"/>
                <a:cs typeface="Calibri"/>
              </a:rPr>
              <a:t> </a:t>
            </a:r>
            <a:r>
              <a:rPr sz="3300" spc="-20" dirty="0">
                <a:solidFill>
                  <a:srgbClr val="D4671C"/>
                </a:solidFill>
                <a:latin typeface="Calibri"/>
                <a:cs typeface="Calibri"/>
              </a:rPr>
              <a:t>Mode</a:t>
            </a:r>
            <a:endParaRPr sz="3300">
              <a:latin typeface="Calibri"/>
              <a:cs typeface="Calibri"/>
            </a:endParaRPr>
          </a:p>
          <a:p>
            <a:pPr marL="635" algn="ctr">
              <a:lnSpc>
                <a:spcPct val="100000"/>
              </a:lnSpc>
              <a:spcBef>
                <a:spcPts val="90"/>
              </a:spcBef>
            </a:pPr>
            <a:r>
              <a:rPr sz="3050" spc="-80" dirty="0">
                <a:latin typeface="Calibri"/>
                <a:cs typeface="Calibri"/>
              </a:rPr>
              <a:t>Verify</a:t>
            </a:r>
            <a:r>
              <a:rPr sz="3050" spc="-60" dirty="0">
                <a:latin typeface="Calibri"/>
                <a:cs typeface="Calibri"/>
              </a:rPr>
              <a:t> </a:t>
            </a:r>
            <a:r>
              <a:rPr sz="3050" spc="-155" dirty="0">
                <a:solidFill>
                  <a:srgbClr val="1D1D1D"/>
                </a:solidFill>
                <a:latin typeface="Calibri"/>
                <a:cs typeface="Calibri"/>
              </a:rPr>
              <a:t>&amp;</a:t>
            </a:r>
            <a:r>
              <a:rPr sz="3050" spc="-195" dirty="0">
                <a:solidFill>
                  <a:srgbClr val="1D1D1D"/>
                </a:solidFill>
                <a:latin typeface="Calibri"/>
                <a:cs typeface="Calibri"/>
              </a:rPr>
              <a:t> </a:t>
            </a:r>
            <a:r>
              <a:rPr sz="3050" spc="-20" dirty="0">
                <a:solidFill>
                  <a:srgbClr val="151515"/>
                </a:solidFill>
                <a:latin typeface="Calibri"/>
                <a:cs typeface="Calibri"/>
              </a:rPr>
              <a:t>Talk</a:t>
            </a:r>
            <a:endParaRPr sz="3050">
              <a:latin typeface="Calibri"/>
              <a:cs typeface="Calibri"/>
            </a:endParaRPr>
          </a:p>
          <a:p>
            <a:pPr marL="19685" algn="ctr">
              <a:lnSpc>
                <a:spcPts val="2855"/>
              </a:lnSpc>
              <a:spcBef>
                <a:spcPts val="940"/>
              </a:spcBef>
            </a:pPr>
            <a:r>
              <a:rPr sz="2550" spc="-85" dirty="0">
                <a:solidFill>
                  <a:srgbClr val="525252"/>
                </a:solidFill>
                <a:latin typeface="Calibri"/>
                <a:cs typeface="Calibri"/>
              </a:rPr>
              <a:t>System</a:t>
            </a:r>
            <a:r>
              <a:rPr sz="2550" spc="-70" dirty="0">
                <a:solidFill>
                  <a:srgbClr val="525252"/>
                </a:solidFill>
                <a:latin typeface="Calibri"/>
                <a:cs typeface="Calibri"/>
              </a:rPr>
              <a:t> </a:t>
            </a:r>
            <a:r>
              <a:rPr sz="2550" spc="-85" dirty="0">
                <a:solidFill>
                  <a:srgbClr val="595959"/>
                </a:solidFill>
                <a:latin typeface="Calibri"/>
                <a:cs typeface="Calibri"/>
              </a:rPr>
              <a:t>resources</a:t>
            </a:r>
            <a:r>
              <a:rPr sz="2550" spc="20" dirty="0">
                <a:solidFill>
                  <a:srgbClr val="595959"/>
                </a:solidFill>
                <a:latin typeface="Calibri"/>
                <a:cs typeface="Calibri"/>
              </a:rPr>
              <a:t> </a:t>
            </a:r>
            <a:r>
              <a:rPr sz="2550" spc="-25" dirty="0">
                <a:solidFill>
                  <a:srgbClr val="565656"/>
                </a:solidFill>
                <a:latin typeface="Calibri"/>
                <a:cs typeface="Calibri"/>
              </a:rPr>
              <a:t>are</a:t>
            </a:r>
            <a:endParaRPr sz="2550">
              <a:latin typeface="Calibri"/>
              <a:cs typeface="Calibri"/>
            </a:endParaRPr>
          </a:p>
          <a:p>
            <a:pPr algn="ctr">
              <a:lnSpc>
                <a:spcPts val="2790"/>
              </a:lnSpc>
            </a:pPr>
            <a:r>
              <a:rPr sz="2700" spc="-35" dirty="0">
                <a:solidFill>
                  <a:srgbClr val="565656"/>
                </a:solidFill>
                <a:latin typeface="Calibri"/>
                <a:cs typeface="Calibri"/>
              </a:rPr>
              <a:t>re</a:t>
            </a:r>
            <a:r>
              <a:rPr sz="2700" dirty="0">
                <a:solidFill>
                  <a:srgbClr val="565656"/>
                </a:solidFill>
                <a:latin typeface="Calibri"/>
                <a:cs typeface="Calibri"/>
              </a:rPr>
              <a:t> </a:t>
            </a:r>
            <a:r>
              <a:rPr sz="2700" spc="-130" dirty="0">
                <a:solidFill>
                  <a:srgbClr val="525252"/>
                </a:solidFill>
                <a:latin typeface="Calibri"/>
                <a:cs typeface="Calibri"/>
              </a:rPr>
              <a:t>allocated</a:t>
            </a:r>
            <a:r>
              <a:rPr sz="2700" spc="15" dirty="0">
                <a:solidFill>
                  <a:srgbClr val="525252"/>
                </a:solidFill>
                <a:latin typeface="Calibri"/>
                <a:cs typeface="Calibri"/>
              </a:rPr>
              <a:t> </a:t>
            </a:r>
            <a:r>
              <a:rPr sz="2700" spc="-175" dirty="0">
                <a:solidFill>
                  <a:srgbClr val="565656"/>
                </a:solidFill>
                <a:latin typeface="Calibri"/>
                <a:cs typeface="Calibri"/>
              </a:rPr>
              <a:t>to</a:t>
            </a:r>
            <a:r>
              <a:rPr sz="2700" spc="-120" dirty="0">
                <a:solidFill>
                  <a:srgbClr val="565656"/>
                </a:solidFill>
                <a:latin typeface="Calibri"/>
                <a:cs typeface="Calibri"/>
              </a:rPr>
              <a:t> </a:t>
            </a:r>
            <a:r>
              <a:rPr sz="2700" spc="-155" dirty="0">
                <a:solidFill>
                  <a:srgbClr val="595959"/>
                </a:solidFill>
                <a:latin typeface="Calibri"/>
                <a:cs typeface="Calibri"/>
              </a:rPr>
              <a:t>video</a:t>
            </a:r>
            <a:r>
              <a:rPr sz="2700" spc="-105" dirty="0">
                <a:solidFill>
                  <a:srgbClr val="595959"/>
                </a:solidFill>
                <a:latin typeface="Calibri"/>
                <a:cs typeface="Calibri"/>
              </a:rPr>
              <a:t> </a:t>
            </a:r>
            <a:r>
              <a:rPr sz="2700" spc="-40" dirty="0">
                <a:solidFill>
                  <a:srgbClr val="545454"/>
                </a:solidFill>
                <a:latin typeface="Calibri"/>
                <a:cs typeface="Calibri"/>
              </a:rPr>
              <a:t>and</a:t>
            </a:r>
            <a:endParaRPr sz="2700">
              <a:latin typeface="Calibri"/>
              <a:cs typeface="Calibri"/>
            </a:endParaRPr>
          </a:p>
          <a:p>
            <a:pPr marR="8255" algn="ctr">
              <a:lnSpc>
                <a:spcPts val="3055"/>
              </a:lnSpc>
            </a:pPr>
            <a:r>
              <a:rPr sz="2750" spc="-175" dirty="0">
                <a:solidFill>
                  <a:srgbClr val="575757"/>
                </a:solidFill>
                <a:latin typeface="Calibri"/>
                <a:cs typeface="Calibri"/>
              </a:rPr>
              <a:t>audio</a:t>
            </a:r>
            <a:r>
              <a:rPr sz="2750" dirty="0">
                <a:solidFill>
                  <a:srgbClr val="575757"/>
                </a:solidFill>
                <a:latin typeface="Calibri"/>
                <a:cs typeface="Calibri"/>
              </a:rPr>
              <a:t> </a:t>
            </a:r>
            <a:r>
              <a:rPr sz="2750" spc="-80" dirty="0">
                <a:solidFill>
                  <a:srgbClr val="4F4F4F"/>
                </a:solidFill>
                <a:latin typeface="Calibri"/>
                <a:cs typeface="Calibri"/>
              </a:rPr>
              <a:t>streaming.</a:t>
            </a:r>
            <a:endParaRPr sz="2750">
              <a:latin typeface="Calibri"/>
              <a:cs typeface="Calibri"/>
            </a:endParaRPr>
          </a:p>
        </p:txBody>
      </p:sp>
      <p:sp>
        <p:nvSpPr>
          <p:cNvPr id="9" name="object 9"/>
          <p:cNvSpPr txBox="1"/>
          <p:nvPr/>
        </p:nvSpPr>
        <p:spPr>
          <a:xfrm>
            <a:off x="3324750" y="7256991"/>
            <a:ext cx="10716260" cy="1885950"/>
          </a:xfrm>
          <a:prstGeom prst="rect">
            <a:avLst/>
          </a:prstGeom>
        </p:spPr>
        <p:txBody>
          <a:bodyPr vert="horz" wrap="square" lIns="0" tIns="66675" rIns="0" bIns="0" rtlCol="0">
            <a:spAutoFit/>
          </a:bodyPr>
          <a:lstStyle/>
          <a:p>
            <a:pPr marL="443230" marR="436245" algn="ctr">
              <a:lnSpc>
                <a:spcPts val="2850"/>
              </a:lnSpc>
              <a:spcBef>
                <a:spcPts val="525"/>
              </a:spcBef>
            </a:pPr>
            <a:r>
              <a:rPr sz="2700" spc="-125" dirty="0">
                <a:latin typeface="Calibri"/>
                <a:cs typeface="Calibri"/>
              </a:rPr>
              <a:t>Instead</a:t>
            </a:r>
            <a:r>
              <a:rPr sz="2700" spc="-10" dirty="0">
                <a:latin typeface="Calibri"/>
                <a:cs typeface="Calibri"/>
              </a:rPr>
              <a:t> </a:t>
            </a:r>
            <a:r>
              <a:rPr sz="2700" spc="-65" dirty="0">
                <a:latin typeface="Calibri"/>
                <a:cs typeface="Calibri"/>
              </a:rPr>
              <a:t>of</a:t>
            </a:r>
            <a:r>
              <a:rPr sz="2700" spc="-165" dirty="0">
                <a:latin typeface="Calibri"/>
                <a:cs typeface="Calibri"/>
              </a:rPr>
              <a:t> </a:t>
            </a:r>
            <a:r>
              <a:rPr sz="2700" spc="-95" dirty="0">
                <a:latin typeface="Calibri"/>
                <a:cs typeface="Calibri"/>
              </a:rPr>
              <a:t>trying</a:t>
            </a:r>
            <a:r>
              <a:rPr sz="2700" spc="-75" dirty="0">
                <a:latin typeface="Calibri"/>
                <a:cs typeface="Calibri"/>
              </a:rPr>
              <a:t> </a:t>
            </a:r>
            <a:r>
              <a:rPr sz="2700" spc="-70" dirty="0">
                <a:latin typeface="Calibri"/>
                <a:cs typeface="Calibri"/>
              </a:rPr>
              <a:t>to</a:t>
            </a:r>
            <a:r>
              <a:rPr sz="2700" spc="-200" dirty="0">
                <a:latin typeface="Calibri"/>
                <a:cs typeface="Calibri"/>
              </a:rPr>
              <a:t> </a:t>
            </a:r>
            <a:r>
              <a:rPr sz="2700" spc="-95" dirty="0">
                <a:latin typeface="Calibri"/>
                <a:cs typeface="Calibri"/>
              </a:rPr>
              <a:t>do</a:t>
            </a:r>
            <a:r>
              <a:rPr sz="2700" spc="-180" dirty="0">
                <a:latin typeface="Calibri"/>
                <a:cs typeface="Calibri"/>
              </a:rPr>
              <a:t> </a:t>
            </a:r>
            <a:r>
              <a:rPr sz="2700" spc="-100" dirty="0">
                <a:latin typeface="Calibri"/>
                <a:cs typeface="Calibri"/>
              </a:rPr>
              <a:t>everything</a:t>
            </a:r>
            <a:r>
              <a:rPr sz="2700" spc="25" dirty="0">
                <a:latin typeface="Calibri"/>
                <a:cs typeface="Calibri"/>
              </a:rPr>
              <a:t> </a:t>
            </a:r>
            <a:r>
              <a:rPr sz="2700" spc="-85" dirty="0">
                <a:latin typeface="Calibri"/>
                <a:cs typeface="Calibri"/>
              </a:rPr>
              <a:t>at</a:t>
            </a:r>
            <a:r>
              <a:rPr sz="2700" spc="-250" dirty="0">
                <a:latin typeface="Calibri"/>
                <a:cs typeface="Calibri"/>
              </a:rPr>
              <a:t> </a:t>
            </a:r>
            <a:r>
              <a:rPr sz="2700" spc="-95" dirty="0">
                <a:latin typeface="Calibri"/>
                <a:cs typeface="Calibri"/>
              </a:rPr>
              <a:t>once,</a:t>
            </a:r>
            <a:r>
              <a:rPr sz="2700" spc="-190" dirty="0">
                <a:latin typeface="Calibri"/>
                <a:cs typeface="Calibri"/>
              </a:rPr>
              <a:t> </a:t>
            </a:r>
            <a:r>
              <a:rPr sz="2700" spc="-105" dirty="0">
                <a:latin typeface="Calibri"/>
                <a:cs typeface="Calibri"/>
              </a:rPr>
              <a:t>our</a:t>
            </a:r>
            <a:r>
              <a:rPr sz="2700" spc="-114" dirty="0">
                <a:latin typeface="Calibri"/>
                <a:cs typeface="Calibri"/>
              </a:rPr>
              <a:t> </a:t>
            </a:r>
            <a:r>
              <a:rPr sz="2700" spc="-135" dirty="0">
                <a:latin typeface="Calibri"/>
                <a:cs typeface="Calibri"/>
              </a:rPr>
              <a:t>firmware</a:t>
            </a:r>
            <a:r>
              <a:rPr sz="2700" spc="-35" dirty="0">
                <a:latin typeface="Calibri"/>
                <a:cs typeface="Calibri"/>
              </a:rPr>
              <a:t> </a:t>
            </a:r>
            <a:r>
              <a:rPr sz="2700" spc="-90" dirty="0">
                <a:latin typeface="Calibri"/>
                <a:cs typeface="Calibri"/>
              </a:rPr>
              <a:t>enables</a:t>
            </a:r>
            <a:r>
              <a:rPr sz="2700" spc="50" dirty="0">
                <a:latin typeface="Calibri"/>
                <a:cs typeface="Calibri"/>
              </a:rPr>
              <a:t> </a:t>
            </a:r>
            <a:r>
              <a:rPr sz="2700" spc="-145" dirty="0">
                <a:latin typeface="Calibri"/>
                <a:cs typeface="Calibri"/>
              </a:rPr>
              <a:t>the</a:t>
            </a:r>
            <a:r>
              <a:rPr sz="2700" spc="-150" dirty="0">
                <a:latin typeface="Calibri"/>
                <a:cs typeface="Calibri"/>
              </a:rPr>
              <a:t> </a:t>
            </a:r>
            <a:r>
              <a:rPr sz="2700" spc="-90" dirty="0">
                <a:latin typeface="Calibri"/>
                <a:cs typeface="Calibri"/>
              </a:rPr>
              <a:t>device</a:t>
            </a:r>
            <a:r>
              <a:rPr sz="2700" spc="-120" dirty="0">
                <a:latin typeface="Calibri"/>
                <a:cs typeface="Calibri"/>
              </a:rPr>
              <a:t> </a:t>
            </a:r>
            <a:r>
              <a:rPr sz="2700" spc="-25" dirty="0">
                <a:latin typeface="Calibri"/>
                <a:cs typeface="Calibri"/>
              </a:rPr>
              <a:t>to </a:t>
            </a:r>
            <a:r>
              <a:rPr sz="2700" spc="-135" dirty="0">
                <a:latin typeface="Calibri"/>
                <a:cs typeface="Calibri"/>
              </a:rPr>
              <a:t>operate</a:t>
            </a:r>
            <a:r>
              <a:rPr sz="2700" spc="-65" dirty="0">
                <a:latin typeface="Calibri"/>
                <a:cs typeface="Calibri"/>
              </a:rPr>
              <a:t> </a:t>
            </a:r>
            <a:r>
              <a:rPr sz="2700" spc="-10" dirty="0">
                <a:latin typeface="Calibri"/>
                <a:cs typeface="Calibri"/>
              </a:rPr>
              <a:t>in</a:t>
            </a:r>
            <a:r>
              <a:rPr sz="2700" spc="-204" dirty="0">
                <a:latin typeface="Calibri"/>
                <a:cs typeface="Calibri"/>
              </a:rPr>
              <a:t> </a:t>
            </a:r>
            <a:r>
              <a:rPr sz="2700" spc="-140" dirty="0">
                <a:latin typeface="Calibri"/>
                <a:cs typeface="Calibri"/>
              </a:rPr>
              <a:t>two</a:t>
            </a:r>
            <a:r>
              <a:rPr sz="2700" spc="-160" dirty="0">
                <a:latin typeface="Calibri"/>
                <a:cs typeface="Calibri"/>
              </a:rPr>
              <a:t> </a:t>
            </a:r>
            <a:r>
              <a:rPr sz="2700" spc="-80" dirty="0">
                <a:latin typeface="Calibri"/>
                <a:cs typeface="Calibri"/>
              </a:rPr>
              <a:t>distinct,</a:t>
            </a:r>
            <a:r>
              <a:rPr sz="2700" spc="-125" dirty="0">
                <a:latin typeface="Calibri"/>
                <a:cs typeface="Calibri"/>
              </a:rPr>
              <a:t> </a:t>
            </a:r>
            <a:r>
              <a:rPr sz="2700" spc="-90" dirty="0">
                <a:latin typeface="Calibri"/>
                <a:cs typeface="Calibri"/>
              </a:rPr>
              <a:t>mutually</a:t>
            </a:r>
            <a:r>
              <a:rPr sz="2700" spc="105" dirty="0">
                <a:latin typeface="Calibri"/>
                <a:cs typeface="Calibri"/>
              </a:rPr>
              <a:t> </a:t>
            </a:r>
            <a:r>
              <a:rPr sz="2700" spc="-100" dirty="0">
                <a:latin typeface="Calibri"/>
                <a:cs typeface="Calibri"/>
              </a:rPr>
              <a:t>exclusive</a:t>
            </a:r>
            <a:r>
              <a:rPr sz="2700" spc="-20" dirty="0">
                <a:latin typeface="Calibri"/>
                <a:cs typeface="Calibri"/>
              </a:rPr>
              <a:t> </a:t>
            </a:r>
            <a:r>
              <a:rPr sz="2700" spc="-10" dirty="0">
                <a:latin typeface="Calibri"/>
                <a:cs typeface="Calibri"/>
              </a:rPr>
              <a:t>modes.</a:t>
            </a:r>
            <a:endParaRPr sz="2700">
              <a:latin typeface="Calibri"/>
              <a:cs typeface="Calibri"/>
            </a:endParaRPr>
          </a:p>
          <a:p>
            <a:pPr algn="ctr">
              <a:lnSpc>
                <a:spcPts val="3185"/>
              </a:lnSpc>
              <a:spcBef>
                <a:spcPts val="2330"/>
              </a:spcBef>
            </a:pPr>
            <a:r>
              <a:rPr sz="2850" spc="-155" dirty="0">
                <a:latin typeface="Calibri"/>
                <a:cs typeface="Calibri"/>
              </a:rPr>
              <a:t>The</a:t>
            </a:r>
            <a:r>
              <a:rPr sz="2850" spc="-280" dirty="0">
                <a:latin typeface="Calibri"/>
                <a:cs typeface="Calibri"/>
              </a:rPr>
              <a:t> </a:t>
            </a:r>
            <a:r>
              <a:rPr sz="2850" spc="-190" dirty="0">
                <a:latin typeface="Calibri"/>
                <a:cs typeface="Calibri"/>
              </a:rPr>
              <a:t>system</a:t>
            </a:r>
            <a:r>
              <a:rPr sz="2850" spc="-70" dirty="0">
                <a:latin typeface="Calibri"/>
                <a:cs typeface="Calibri"/>
              </a:rPr>
              <a:t> </a:t>
            </a:r>
            <a:r>
              <a:rPr sz="2850" spc="-145" dirty="0">
                <a:latin typeface="Calibri"/>
                <a:cs typeface="Calibri"/>
              </a:rPr>
              <a:t>intelligently</a:t>
            </a:r>
            <a:r>
              <a:rPr sz="2850" spc="40" dirty="0">
                <a:latin typeface="Calibri"/>
                <a:cs typeface="Calibri"/>
              </a:rPr>
              <a:t> </a:t>
            </a:r>
            <a:r>
              <a:rPr sz="2850" spc="-180" dirty="0">
                <a:latin typeface="Calibri"/>
                <a:cs typeface="Calibri"/>
              </a:rPr>
              <a:t>swaps</a:t>
            </a:r>
            <a:r>
              <a:rPr sz="2850" spc="-120" dirty="0">
                <a:latin typeface="Calibri"/>
                <a:cs typeface="Calibri"/>
              </a:rPr>
              <a:t> </a:t>
            </a:r>
            <a:r>
              <a:rPr sz="2850" spc="-75" dirty="0">
                <a:latin typeface="Calibri"/>
                <a:cs typeface="Calibri"/>
              </a:rPr>
              <a:t>its</a:t>
            </a:r>
            <a:r>
              <a:rPr sz="2850" spc="-215" dirty="0">
                <a:latin typeface="Calibri"/>
                <a:cs typeface="Calibri"/>
              </a:rPr>
              <a:t> </a:t>
            </a:r>
            <a:r>
              <a:rPr sz="2850" spc="-195" dirty="0">
                <a:latin typeface="Calibri"/>
                <a:cs typeface="Calibri"/>
              </a:rPr>
              <a:t>function</a:t>
            </a:r>
            <a:r>
              <a:rPr sz="2850" spc="35" dirty="0">
                <a:latin typeface="Calibri"/>
                <a:cs typeface="Calibri"/>
              </a:rPr>
              <a:t> </a:t>
            </a:r>
            <a:r>
              <a:rPr sz="2850" spc="-190" dirty="0">
                <a:latin typeface="Calibri"/>
                <a:cs typeface="Calibri"/>
              </a:rPr>
              <a:t>based</a:t>
            </a:r>
            <a:r>
              <a:rPr sz="2850" spc="-75" dirty="0">
                <a:latin typeface="Calibri"/>
                <a:cs typeface="Calibri"/>
              </a:rPr>
              <a:t> </a:t>
            </a:r>
            <a:r>
              <a:rPr sz="2850" spc="-204" dirty="0">
                <a:latin typeface="Calibri"/>
                <a:cs typeface="Calibri"/>
              </a:rPr>
              <a:t>on</a:t>
            </a:r>
            <a:r>
              <a:rPr sz="2850" spc="-65" dirty="0">
                <a:latin typeface="Calibri"/>
                <a:cs typeface="Calibri"/>
              </a:rPr>
              <a:t> </a:t>
            </a:r>
            <a:r>
              <a:rPr sz="2850" spc="-165" dirty="0">
                <a:latin typeface="Calibri"/>
                <a:cs typeface="Calibri"/>
              </a:rPr>
              <a:t>the</a:t>
            </a:r>
            <a:r>
              <a:rPr sz="2850" spc="-260" dirty="0">
                <a:latin typeface="Calibri"/>
                <a:cs typeface="Calibri"/>
              </a:rPr>
              <a:t> </a:t>
            </a:r>
            <a:r>
              <a:rPr sz="2850" spc="-204" dirty="0">
                <a:latin typeface="Calibri"/>
                <a:cs typeface="Calibri"/>
              </a:rPr>
              <a:t>immediate</a:t>
            </a:r>
            <a:r>
              <a:rPr sz="2850" spc="35" dirty="0">
                <a:latin typeface="Calibri"/>
                <a:cs typeface="Calibri"/>
              </a:rPr>
              <a:t> </a:t>
            </a:r>
            <a:r>
              <a:rPr sz="2850" spc="-180" dirty="0">
                <a:latin typeface="Calibri"/>
                <a:cs typeface="Calibri"/>
              </a:rPr>
              <a:t>need,</a:t>
            </a:r>
            <a:r>
              <a:rPr sz="2850" spc="-165" dirty="0">
                <a:latin typeface="Calibri"/>
                <a:cs typeface="Calibri"/>
              </a:rPr>
              <a:t> </a:t>
            </a:r>
            <a:r>
              <a:rPr sz="2850" spc="-80" dirty="0">
                <a:latin typeface="Calibri"/>
                <a:cs typeface="Calibri"/>
              </a:rPr>
              <a:t>managing</a:t>
            </a:r>
            <a:endParaRPr sz="2850">
              <a:latin typeface="Calibri"/>
              <a:cs typeface="Calibri"/>
            </a:endParaRPr>
          </a:p>
          <a:p>
            <a:pPr algn="ctr">
              <a:lnSpc>
                <a:spcPts val="3005"/>
              </a:lnSpc>
            </a:pPr>
            <a:r>
              <a:rPr sz="2700" spc="-140" dirty="0">
                <a:latin typeface="Calibri"/>
                <a:cs typeface="Calibri"/>
              </a:rPr>
              <a:t>the</a:t>
            </a:r>
            <a:r>
              <a:rPr sz="2700" spc="-120" dirty="0">
                <a:latin typeface="Calibri"/>
                <a:cs typeface="Calibri"/>
              </a:rPr>
              <a:t> </a:t>
            </a:r>
            <a:r>
              <a:rPr sz="2700" spc="-105" dirty="0">
                <a:latin typeface="Calibri"/>
                <a:cs typeface="Calibri"/>
              </a:rPr>
              <a:t>limited</a:t>
            </a:r>
            <a:r>
              <a:rPr sz="2700" spc="5" dirty="0">
                <a:latin typeface="Calibri"/>
                <a:cs typeface="Calibri"/>
              </a:rPr>
              <a:t> </a:t>
            </a:r>
            <a:r>
              <a:rPr sz="2700" spc="-135" dirty="0">
                <a:latin typeface="Calibri"/>
                <a:cs typeface="Calibri"/>
              </a:rPr>
              <a:t>hardware</a:t>
            </a:r>
            <a:r>
              <a:rPr sz="2700" spc="70" dirty="0">
                <a:latin typeface="Calibri"/>
                <a:cs typeface="Calibri"/>
              </a:rPr>
              <a:t> </a:t>
            </a:r>
            <a:r>
              <a:rPr sz="2700" spc="-120" dirty="0">
                <a:latin typeface="Calibri"/>
                <a:cs typeface="Calibri"/>
              </a:rPr>
              <a:t>resources</a:t>
            </a:r>
            <a:r>
              <a:rPr sz="2700" spc="-40" dirty="0">
                <a:latin typeface="Calibri"/>
                <a:cs typeface="Calibri"/>
              </a:rPr>
              <a:t> </a:t>
            </a:r>
            <a:r>
              <a:rPr sz="2700" spc="-25" dirty="0">
                <a:latin typeface="Calibri"/>
                <a:cs typeface="Calibri"/>
              </a:rPr>
              <a:t>effectively.</a:t>
            </a:r>
            <a:endParaRPr sz="2700">
              <a:latin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54100" y="8242300"/>
            <a:ext cx="393700" cy="660400"/>
          </a:xfrm>
          <a:prstGeom prst="rect">
            <a:avLst/>
          </a:prstGeom>
        </p:spPr>
      </p:pic>
      <p:pic>
        <p:nvPicPr>
          <p:cNvPr id="3" name="object 3"/>
          <p:cNvPicPr/>
          <p:nvPr/>
        </p:nvPicPr>
        <p:blipFill>
          <a:blip r:embed="rId3" cstate="print"/>
          <a:stretch>
            <a:fillRect/>
          </a:stretch>
        </p:blipFill>
        <p:spPr>
          <a:xfrm>
            <a:off x="914400" y="7353300"/>
            <a:ext cx="673100" cy="571500"/>
          </a:xfrm>
          <a:prstGeom prst="rect">
            <a:avLst/>
          </a:prstGeom>
        </p:spPr>
      </p:pic>
      <p:pic>
        <p:nvPicPr>
          <p:cNvPr id="4" name="object 4"/>
          <p:cNvPicPr/>
          <p:nvPr/>
        </p:nvPicPr>
        <p:blipFill>
          <a:blip r:embed="rId4" cstate="print"/>
          <a:stretch>
            <a:fillRect/>
          </a:stretch>
        </p:blipFill>
        <p:spPr>
          <a:xfrm>
            <a:off x="914400" y="6375400"/>
            <a:ext cx="660400" cy="647700"/>
          </a:xfrm>
          <a:prstGeom prst="rect">
            <a:avLst/>
          </a:prstGeom>
        </p:spPr>
      </p:pic>
      <p:pic>
        <p:nvPicPr>
          <p:cNvPr id="5" name="object 5"/>
          <p:cNvPicPr/>
          <p:nvPr/>
        </p:nvPicPr>
        <p:blipFill>
          <a:blip r:embed="rId5" cstate="print"/>
          <a:stretch>
            <a:fillRect/>
          </a:stretch>
        </p:blipFill>
        <p:spPr>
          <a:xfrm>
            <a:off x="914400" y="5422900"/>
            <a:ext cx="673100" cy="685800"/>
          </a:xfrm>
          <a:prstGeom prst="rect">
            <a:avLst/>
          </a:prstGeom>
        </p:spPr>
      </p:pic>
      <p:pic>
        <p:nvPicPr>
          <p:cNvPr id="6" name="object 6"/>
          <p:cNvPicPr/>
          <p:nvPr/>
        </p:nvPicPr>
        <p:blipFill>
          <a:blip r:embed="rId6" cstate="print"/>
          <a:stretch>
            <a:fillRect/>
          </a:stretch>
        </p:blipFill>
        <p:spPr>
          <a:xfrm>
            <a:off x="11468100" y="3683000"/>
            <a:ext cx="4800600" cy="3416300"/>
          </a:xfrm>
          <a:prstGeom prst="rect">
            <a:avLst/>
          </a:prstGeom>
        </p:spPr>
      </p:pic>
      <p:pic>
        <p:nvPicPr>
          <p:cNvPr id="7" name="object 7"/>
          <p:cNvPicPr/>
          <p:nvPr/>
        </p:nvPicPr>
        <p:blipFill>
          <a:blip r:embed="rId7" cstate="print"/>
          <a:stretch>
            <a:fillRect/>
          </a:stretch>
        </p:blipFill>
        <p:spPr>
          <a:xfrm>
            <a:off x="10566400" y="990600"/>
            <a:ext cx="825500" cy="482600"/>
          </a:xfrm>
          <a:prstGeom prst="rect">
            <a:avLst/>
          </a:prstGeom>
        </p:spPr>
      </p:pic>
      <p:pic>
        <p:nvPicPr>
          <p:cNvPr id="8" name="object 8"/>
          <p:cNvPicPr/>
          <p:nvPr/>
        </p:nvPicPr>
        <p:blipFill>
          <a:blip r:embed="rId8" cstate="print"/>
          <a:stretch>
            <a:fillRect/>
          </a:stretch>
        </p:blipFill>
        <p:spPr>
          <a:xfrm>
            <a:off x="13804900" y="939800"/>
            <a:ext cx="1930400" cy="1181100"/>
          </a:xfrm>
          <a:prstGeom prst="rect">
            <a:avLst/>
          </a:prstGeom>
        </p:spPr>
      </p:pic>
      <p:grpSp>
        <p:nvGrpSpPr>
          <p:cNvPr id="9" name="object 9"/>
          <p:cNvGrpSpPr/>
          <p:nvPr/>
        </p:nvGrpSpPr>
        <p:grpSpPr>
          <a:xfrm>
            <a:off x="11595100" y="7518400"/>
            <a:ext cx="2032000" cy="622300"/>
            <a:chOff x="11595100" y="7518400"/>
            <a:chExt cx="2032000" cy="622300"/>
          </a:xfrm>
        </p:grpSpPr>
        <p:pic>
          <p:nvPicPr>
            <p:cNvPr id="10" name="object 10"/>
            <p:cNvPicPr/>
            <p:nvPr/>
          </p:nvPicPr>
          <p:blipFill>
            <a:blip r:embed="rId9" cstate="print"/>
            <a:stretch>
              <a:fillRect/>
            </a:stretch>
          </p:blipFill>
          <p:spPr>
            <a:xfrm>
              <a:off x="11595100" y="7518400"/>
              <a:ext cx="2032000" cy="482600"/>
            </a:xfrm>
            <a:prstGeom prst="rect">
              <a:avLst/>
            </a:prstGeom>
          </p:spPr>
        </p:pic>
        <p:pic>
          <p:nvPicPr>
            <p:cNvPr id="11" name="object 11"/>
            <p:cNvPicPr/>
            <p:nvPr/>
          </p:nvPicPr>
          <p:blipFill>
            <a:blip r:embed="rId10" cstate="print"/>
            <a:stretch>
              <a:fillRect/>
            </a:stretch>
          </p:blipFill>
          <p:spPr>
            <a:xfrm>
              <a:off x="12141200" y="8039100"/>
              <a:ext cx="1270000" cy="101600"/>
            </a:xfrm>
            <a:prstGeom prst="rect">
              <a:avLst/>
            </a:prstGeom>
          </p:spPr>
        </p:pic>
      </p:grpSp>
      <p:pic>
        <p:nvPicPr>
          <p:cNvPr id="12" name="object 12"/>
          <p:cNvPicPr/>
          <p:nvPr/>
        </p:nvPicPr>
        <p:blipFill>
          <a:blip r:embed="rId11" cstate="print"/>
          <a:stretch>
            <a:fillRect/>
          </a:stretch>
        </p:blipFill>
        <p:spPr>
          <a:xfrm>
            <a:off x="16370300" y="6019800"/>
            <a:ext cx="203200" cy="469900"/>
          </a:xfrm>
          <a:prstGeom prst="rect">
            <a:avLst/>
          </a:prstGeom>
        </p:spPr>
      </p:pic>
      <p:sp>
        <p:nvSpPr>
          <p:cNvPr id="13" name="object 13"/>
          <p:cNvSpPr txBox="1">
            <a:spLocks noGrp="1"/>
          </p:cNvSpPr>
          <p:nvPr>
            <p:ph type="title"/>
          </p:nvPr>
        </p:nvSpPr>
        <p:spPr>
          <a:xfrm>
            <a:off x="898483" y="775052"/>
            <a:ext cx="12251055" cy="1600835"/>
          </a:xfrm>
          <a:prstGeom prst="rect">
            <a:avLst/>
          </a:prstGeom>
        </p:spPr>
        <p:txBody>
          <a:bodyPr vert="horz" wrap="square" lIns="0" tIns="12065" rIns="0" bIns="0" rtlCol="0">
            <a:spAutoFit/>
          </a:bodyPr>
          <a:lstStyle/>
          <a:p>
            <a:pPr marL="12700">
              <a:lnSpc>
                <a:spcPts val="6260"/>
              </a:lnSpc>
              <a:spcBef>
                <a:spcPts val="95"/>
              </a:spcBef>
            </a:pPr>
            <a:r>
              <a:rPr sz="5350" spc="150" dirty="0">
                <a:solidFill>
                  <a:srgbClr val="033664"/>
                </a:solidFill>
              </a:rPr>
              <a:t>This</a:t>
            </a:r>
            <a:r>
              <a:rPr sz="5350" spc="-375" dirty="0">
                <a:solidFill>
                  <a:srgbClr val="033664"/>
                </a:solidFill>
              </a:rPr>
              <a:t> </a:t>
            </a:r>
            <a:r>
              <a:rPr sz="5350" spc="75" dirty="0">
                <a:solidFill>
                  <a:srgbClr val="013464"/>
                </a:solidFill>
              </a:rPr>
              <a:t>Logic</a:t>
            </a:r>
            <a:r>
              <a:rPr sz="5350" spc="-10" dirty="0">
                <a:solidFill>
                  <a:srgbClr val="013464"/>
                </a:solidFill>
              </a:rPr>
              <a:t> </a:t>
            </a:r>
            <a:r>
              <a:rPr sz="5350" dirty="0">
                <a:solidFill>
                  <a:srgbClr val="01386B"/>
                </a:solidFill>
              </a:rPr>
              <a:t>Enables</a:t>
            </a:r>
            <a:r>
              <a:rPr sz="5350" spc="5" dirty="0">
                <a:solidFill>
                  <a:srgbClr val="01386B"/>
                </a:solidFill>
              </a:rPr>
              <a:t> </a:t>
            </a:r>
            <a:r>
              <a:rPr sz="5350" spc="-100" dirty="0">
                <a:solidFill>
                  <a:srgbClr val="073360"/>
                </a:solidFill>
              </a:rPr>
              <a:t>“EagIeEye^.</a:t>
            </a:r>
            <a:endParaRPr sz="5350"/>
          </a:p>
          <a:p>
            <a:pPr marL="29209">
              <a:lnSpc>
                <a:spcPts val="6140"/>
              </a:lnSpc>
            </a:pPr>
            <a:r>
              <a:rPr sz="5250" spc="110" dirty="0">
                <a:solidFill>
                  <a:srgbClr val="013464"/>
                </a:solidFill>
              </a:rPr>
              <a:t>Affordable,</a:t>
            </a:r>
            <a:r>
              <a:rPr sz="5250" spc="235" dirty="0">
                <a:solidFill>
                  <a:srgbClr val="013464"/>
                </a:solidFill>
              </a:rPr>
              <a:t> </a:t>
            </a:r>
            <a:r>
              <a:rPr sz="5250" dirty="0">
                <a:solidFill>
                  <a:srgbClr val="033667"/>
                </a:solidFill>
              </a:rPr>
              <a:t>Full-Featured</a:t>
            </a:r>
            <a:r>
              <a:rPr sz="5250" spc="455" dirty="0">
                <a:solidFill>
                  <a:srgbClr val="033667"/>
                </a:solidFill>
              </a:rPr>
              <a:t> </a:t>
            </a:r>
            <a:r>
              <a:rPr sz="5250" spc="114" dirty="0">
                <a:solidFill>
                  <a:srgbClr val="053867"/>
                </a:solidFill>
              </a:rPr>
              <a:t>Security</a:t>
            </a:r>
            <a:r>
              <a:rPr sz="5250" spc="140" dirty="0">
                <a:solidFill>
                  <a:srgbClr val="053867"/>
                </a:solidFill>
              </a:rPr>
              <a:t> </a:t>
            </a:r>
            <a:r>
              <a:rPr sz="5250" spc="-20" dirty="0">
                <a:solidFill>
                  <a:srgbClr val="053867"/>
                </a:solidFill>
              </a:rPr>
              <a:t>Node</a:t>
            </a:r>
            <a:endParaRPr sz="5250"/>
          </a:p>
        </p:txBody>
      </p:sp>
      <p:sp>
        <p:nvSpPr>
          <p:cNvPr id="17" name="object 17"/>
          <p:cNvSpPr txBox="1"/>
          <p:nvPr/>
        </p:nvSpPr>
        <p:spPr>
          <a:xfrm>
            <a:off x="16108071" y="9468643"/>
            <a:ext cx="99060" cy="210820"/>
          </a:xfrm>
          <a:prstGeom prst="rect">
            <a:avLst/>
          </a:prstGeom>
        </p:spPr>
        <p:txBody>
          <a:bodyPr vert="horz" wrap="square" lIns="0" tIns="0" rIns="0" bIns="0" rtlCol="0">
            <a:spAutoFit/>
          </a:bodyPr>
          <a:lstStyle/>
          <a:p>
            <a:pPr marL="12700">
              <a:lnSpc>
                <a:spcPts val="1485"/>
              </a:lnSpc>
            </a:pPr>
            <a:r>
              <a:rPr sz="1450" spc="-390" dirty="0">
                <a:latin typeface="Calibri"/>
                <a:cs typeface="Calibri"/>
              </a:rPr>
              <a:t>G</a:t>
            </a:r>
            <a:endParaRPr sz="1450">
              <a:latin typeface="Calibri"/>
              <a:cs typeface="Calibri"/>
            </a:endParaRPr>
          </a:p>
        </p:txBody>
      </p:sp>
      <p:sp>
        <p:nvSpPr>
          <p:cNvPr id="18" name="object 18"/>
          <p:cNvSpPr txBox="1"/>
          <p:nvPr/>
        </p:nvSpPr>
        <p:spPr>
          <a:xfrm>
            <a:off x="16354742" y="9468643"/>
            <a:ext cx="988694" cy="210820"/>
          </a:xfrm>
          <a:prstGeom prst="rect">
            <a:avLst/>
          </a:prstGeom>
        </p:spPr>
        <p:txBody>
          <a:bodyPr vert="horz" wrap="square" lIns="0" tIns="0" rIns="0" bIns="0" rtlCol="0">
            <a:spAutoFit/>
          </a:bodyPr>
          <a:lstStyle/>
          <a:p>
            <a:pPr marL="12700">
              <a:lnSpc>
                <a:spcPts val="1485"/>
              </a:lnSpc>
            </a:pPr>
            <a:r>
              <a:rPr sz="1450" spc="-10" dirty="0">
                <a:latin typeface="Calibri"/>
                <a:cs typeface="Calibri"/>
              </a:rPr>
              <a:t>NotebookLM</a:t>
            </a:r>
            <a:endParaRPr sz="1450">
              <a:latin typeface="Calibri"/>
              <a:cs typeface="Calibri"/>
            </a:endParaRPr>
          </a:p>
        </p:txBody>
      </p:sp>
      <p:sp>
        <p:nvSpPr>
          <p:cNvPr id="14" name="object 14"/>
          <p:cNvSpPr txBox="1"/>
          <p:nvPr/>
        </p:nvSpPr>
        <p:spPr>
          <a:xfrm>
            <a:off x="873091" y="2810933"/>
            <a:ext cx="8250555" cy="1682750"/>
          </a:xfrm>
          <a:prstGeom prst="rect">
            <a:avLst/>
          </a:prstGeom>
        </p:spPr>
        <p:txBody>
          <a:bodyPr vert="horz" wrap="square" lIns="0" tIns="14604" rIns="0" bIns="0" rtlCol="0">
            <a:spAutoFit/>
          </a:bodyPr>
          <a:lstStyle/>
          <a:p>
            <a:pPr marL="12700" algn="just">
              <a:lnSpc>
                <a:spcPts val="3415"/>
              </a:lnSpc>
              <a:spcBef>
                <a:spcPts val="114"/>
              </a:spcBef>
            </a:pPr>
            <a:r>
              <a:rPr sz="2900" spc="-50" dirty="0">
                <a:latin typeface="Calibri"/>
                <a:cs typeface="Calibri"/>
              </a:rPr>
              <a:t>*”Primary</a:t>
            </a:r>
            <a:r>
              <a:rPr sz="2900" spc="-75" dirty="0">
                <a:latin typeface="Calibri"/>
                <a:cs typeface="Calibri"/>
              </a:rPr>
              <a:t> </a:t>
            </a:r>
            <a:r>
              <a:rPr sz="2900" spc="-10" dirty="0">
                <a:latin typeface="Calibri"/>
                <a:cs typeface="Calibri"/>
              </a:rPr>
              <a:t>Objective“*</a:t>
            </a:r>
            <a:endParaRPr sz="2900">
              <a:latin typeface="Calibri"/>
              <a:cs typeface="Calibri"/>
            </a:endParaRPr>
          </a:p>
          <a:p>
            <a:pPr marL="21590" marR="5080" indent="15875" algn="just">
              <a:lnSpc>
                <a:spcPct val="89200"/>
              </a:lnSpc>
              <a:spcBef>
                <a:spcPts val="305"/>
              </a:spcBef>
            </a:pPr>
            <a:r>
              <a:rPr sz="2850" spc="-204" dirty="0">
                <a:latin typeface="Calibri"/>
                <a:cs typeface="Calibri"/>
              </a:rPr>
              <a:t>To</a:t>
            </a:r>
            <a:r>
              <a:rPr sz="2850" spc="-45" dirty="0">
                <a:latin typeface="Calibri"/>
                <a:cs typeface="Calibri"/>
              </a:rPr>
              <a:t> </a:t>
            </a:r>
            <a:r>
              <a:rPr sz="2850" spc="-125" dirty="0">
                <a:latin typeface="Calibri"/>
                <a:cs typeface="Calibri"/>
              </a:rPr>
              <a:t>develop</a:t>
            </a:r>
            <a:r>
              <a:rPr sz="2850" spc="35" dirty="0">
                <a:latin typeface="Calibri"/>
                <a:cs typeface="Calibri"/>
              </a:rPr>
              <a:t> </a:t>
            </a:r>
            <a:r>
              <a:rPr sz="2850" spc="-70" dirty="0">
                <a:latin typeface="Calibri"/>
                <a:cs typeface="Calibri"/>
              </a:rPr>
              <a:t>a</a:t>
            </a:r>
            <a:r>
              <a:rPr sz="2850" spc="-225" dirty="0">
                <a:latin typeface="Calibri"/>
                <a:cs typeface="Calibri"/>
              </a:rPr>
              <a:t> </a:t>
            </a:r>
            <a:r>
              <a:rPr sz="2850" spc="-30" dirty="0">
                <a:latin typeface="Calibri"/>
                <a:cs typeface="Calibri"/>
              </a:rPr>
              <a:t>battery-</a:t>
            </a:r>
            <a:r>
              <a:rPr sz="2850" spc="-35" dirty="0">
                <a:latin typeface="Calibri"/>
                <a:cs typeface="Calibri"/>
              </a:rPr>
              <a:t>powered</a:t>
            </a:r>
            <a:r>
              <a:rPr sz="2850" spc="-229" dirty="0">
                <a:latin typeface="Calibri"/>
                <a:cs typeface="Calibri"/>
              </a:rPr>
              <a:t> </a:t>
            </a:r>
            <a:r>
              <a:rPr sz="2850" spc="-20" dirty="0">
                <a:latin typeface="Calibri"/>
                <a:cs typeface="Calibri"/>
              </a:rPr>
              <a:t>security</a:t>
            </a:r>
            <a:r>
              <a:rPr sz="2850" spc="-60" dirty="0">
                <a:latin typeface="Calibri"/>
                <a:cs typeface="Calibri"/>
              </a:rPr>
              <a:t> </a:t>
            </a:r>
            <a:r>
              <a:rPr sz="2850" spc="-95" dirty="0">
                <a:latin typeface="Calibri"/>
                <a:cs typeface="Calibri"/>
              </a:rPr>
              <a:t>node</a:t>
            </a:r>
            <a:r>
              <a:rPr sz="2850" spc="10" dirty="0">
                <a:latin typeface="Calibri"/>
                <a:cs typeface="Calibri"/>
              </a:rPr>
              <a:t> </a:t>
            </a:r>
            <a:r>
              <a:rPr sz="2850" spc="-114" dirty="0">
                <a:latin typeface="Calibri"/>
                <a:cs typeface="Calibri"/>
              </a:rPr>
              <a:t>that</a:t>
            </a:r>
            <a:r>
              <a:rPr sz="2850" spc="-155" dirty="0">
                <a:latin typeface="Calibri"/>
                <a:cs typeface="Calibri"/>
              </a:rPr>
              <a:t> </a:t>
            </a:r>
            <a:r>
              <a:rPr sz="2850" spc="-120" dirty="0">
                <a:latin typeface="Calibri"/>
                <a:cs typeface="Calibri"/>
              </a:rPr>
              <a:t>combines</a:t>
            </a:r>
            <a:r>
              <a:rPr sz="2850" spc="-60" dirty="0">
                <a:latin typeface="Calibri"/>
                <a:cs typeface="Calibri"/>
              </a:rPr>
              <a:t> </a:t>
            </a:r>
            <a:r>
              <a:rPr sz="2950" spc="-80" dirty="0">
                <a:latin typeface="Calibri"/>
                <a:cs typeface="Calibri"/>
              </a:rPr>
              <a:t>Edge</a:t>
            </a:r>
            <a:r>
              <a:rPr sz="2950" spc="-130" dirty="0">
                <a:latin typeface="Calibri"/>
                <a:cs typeface="Calibri"/>
              </a:rPr>
              <a:t> </a:t>
            </a:r>
            <a:r>
              <a:rPr sz="2950" spc="-114" dirty="0">
                <a:latin typeface="Calibri"/>
                <a:cs typeface="Calibri"/>
              </a:rPr>
              <a:t>AI</a:t>
            </a:r>
            <a:r>
              <a:rPr sz="2950" spc="-200" dirty="0">
                <a:latin typeface="Calibri"/>
                <a:cs typeface="Calibri"/>
              </a:rPr>
              <a:t> </a:t>
            </a:r>
            <a:r>
              <a:rPr sz="2950" spc="-90" dirty="0">
                <a:latin typeface="Calibri"/>
                <a:cs typeface="Calibri"/>
              </a:rPr>
              <a:t>Person</a:t>
            </a:r>
            <a:r>
              <a:rPr sz="2950" spc="55" dirty="0">
                <a:latin typeface="Calibri"/>
                <a:cs typeface="Calibri"/>
              </a:rPr>
              <a:t> </a:t>
            </a:r>
            <a:r>
              <a:rPr sz="2950" spc="-80" dirty="0">
                <a:latin typeface="Calibri"/>
                <a:cs typeface="Calibri"/>
              </a:rPr>
              <a:t>detection,</a:t>
            </a:r>
            <a:r>
              <a:rPr sz="2950" spc="-45" dirty="0">
                <a:latin typeface="Calibri"/>
                <a:cs typeface="Calibri"/>
              </a:rPr>
              <a:t> </a:t>
            </a:r>
            <a:r>
              <a:rPr sz="2950" spc="-100" dirty="0">
                <a:latin typeface="Calibri"/>
                <a:cs typeface="Calibri"/>
              </a:rPr>
              <a:t>secure</a:t>
            </a:r>
            <a:r>
              <a:rPr sz="2950" spc="-55" dirty="0">
                <a:latin typeface="Calibri"/>
                <a:cs typeface="Calibri"/>
              </a:rPr>
              <a:t> </a:t>
            </a:r>
            <a:r>
              <a:rPr sz="2950" spc="-90" dirty="0">
                <a:latin typeface="Calibri"/>
                <a:cs typeface="Calibri"/>
              </a:rPr>
              <a:t>Cloud</a:t>
            </a:r>
            <a:r>
              <a:rPr sz="2950" spc="-75" dirty="0">
                <a:latin typeface="Calibri"/>
                <a:cs typeface="Calibri"/>
              </a:rPr>
              <a:t> </a:t>
            </a:r>
            <a:r>
              <a:rPr sz="2950" spc="-85" dirty="0">
                <a:latin typeface="Calibri"/>
                <a:cs typeface="Calibri"/>
              </a:rPr>
              <a:t>Evidence</a:t>
            </a:r>
            <a:r>
              <a:rPr sz="2950" spc="-15" dirty="0">
                <a:latin typeface="Calibri"/>
                <a:cs typeface="Calibri"/>
              </a:rPr>
              <a:t> </a:t>
            </a:r>
            <a:r>
              <a:rPr sz="2950" spc="-105" dirty="0">
                <a:latin typeface="Calibri"/>
                <a:cs typeface="Calibri"/>
              </a:rPr>
              <a:t>Storage,</a:t>
            </a:r>
            <a:r>
              <a:rPr sz="2950" spc="-60" dirty="0">
                <a:latin typeface="Calibri"/>
                <a:cs typeface="Calibri"/>
              </a:rPr>
              <a:t> </a:t>
            </a:r>
            <a:r>
              <a:rPr sz="2900" spc="-155" dirty="0">
                <a:latin typeface="Calibri"/>
                <a:cs typeface="Calibri"/>
              </a:rPr>
              <a:t>and</a:t>
            </a:r>
            <a:r>
              <a:rPr sz="2900" spc="-60" dirty="0">
                <a:latin typeface="Calibri"/>
                <a:cs typeface="Calibri"/>
              </a:rPr>
              <a:t> </a:t>
            </a:r>
            <a:r>
              <a:rPr sz="2900" spc="-95" dirty="0">
                <a:latin typeface="Calibri"/>
                <a:cs typeface="Calibri"/>
              </a:rPr>
              <a:t>Two-</a:t>
            </a:r>
            <a:r>
              <a:rPr sz="2900" spc="-100" dirty="0">
                <a:latin typeface="Calibri"/>
                <a:cs typeface="Calibri"/>
              </a:rPr>
              <a:t>WayAudio</a:t>
            </a:r>
            <a:r>
              <a:rPr sz="2900" spc="10" dirty="0">
                <a:latin typeface="Calibri"/>
                <a:cs typeface="Calibri"/>
              </a:rPr>
              <a:t> </a:t>
            </a:r>
            <a:r>
              <a:rPr sz="2900" spc="-85" dirty="0">
                <a:latin typeface="Calibri"/>
                <a:cs typeface="Calibri"/>
              </a:rPr>
              <a:t>Intercom.</a:t>
            </a:r>
            <a:endParaRPr sz="2900">
              <a:latin typeface="Calibri"/>
              <a:cs typeface="Calibri"/>
            </a:endParaRPr>
          </a:p>
        </p:txBody>
      </p:sp>
      <p:sp>
        <p:nvSpPr>
          <p:cNvPr id="15" name="object 15"/>
          <p:cNvSpPr txBox="1"/>
          <p:nvPr/>
        </p:nvSpPr>
        <p:spPr>
          <a:xfrm>
            <a:off x="884031" y="4657019"/>
            <a:ext cx="8780780" cy="4313555"/>
          </a:xfrm>
          <a:prstGeom prst="rect">
            <a:avLst/>
          </a:prstGeom>
        </p:spPr>
        <p:txBody>
          <a:bodyPr vert="horz" wrap="square" lIns="0" tIns="118110" rIns="0" bIns="0" rtlCol="0">
            <a:spAutoFit/>
          </a:bodyPr>
          <a:lstStyle/>
          <a:p>
            <a:pPr marL="12700">
              <a:lnSpc>
                <a:spcPct val="100000"/>
              </a:lnSpc>
              <a:spcBef>
                <a:spcPts val="930"/>
              </a:spcBef>
            </a:pPr>
            <a:r>
              <a:rPr sz="2850" spc="-95" dirty="0">
                <a:latin typeface="Calibri"/>
                <a:cs typeface="Calibri"/>
              </a:rPr>
              <a:t>Key</a:t>
            </a:r>
            <a:r>
              <a:rPr sz="2850" spc="-55" dirty="0">
                <a:latin typeface="Calibri"/>
                <a:cs typeface="Calibri"/>
              </a:rPr>
              <a:t> </a:t>
            </a:r>
            <a:r>
              <a:rPr sz="2850" spc="-50" dirty="0">
                <a:latin typeface="Calibri"/>
                <a:cs typeface="Calibri"/>
              </a:rPr>
              <a:t>Deliverables:</a:t>
            </a:r>
            <a:endParaRPr sz="2850" dirty="0">
              <a:latin typeface="Calibri"/>
              <a:cs typeface="Calibri"/>
            </a:endParaRPr>
          </a:p>
          <a:p>
            <a:pPr marL="928369" marR="5080" indent="-1905">
              <a:lnSpc>
                <a:spcPts val="3100"/>
              </a:lnSpc>
              <a:spcBef>
                <a:spcPts val="1200"/>
              </a:spcBef>
            </a:pPr>
            <a:r>
              <a:rPr sz="2850" spc="-55" dirty="0">
                <a:latin typeface="Calibri"/>
                <a:cs typeface="Calibri"/>
              </a:rPr>
              <a:t>Hardware:</a:t>
            </a:r>
            <a:r>
              <a:rPr sz="2850" spc="-95" dirty="0">
                <a:latin typeface="Calibri"/>
                <a:cs typeface="Calibri"/>
              </a:rPr>
              <a:t> </a:t>
            </a:r>
            <a:r>
              <a:rPr sz="2850" spc="-220" dirty="0">
                <a:latin typeface="Calibri"/>
                <a:cs typeface="Calibri"/>
              </a:rPr>
              <a:t>A</a:t>
            </a:r>
            <a:r>
              <a:rPr sz="2850" spc="-160" dirty="0">
                <a:latin typeface="Calibri"/>
                <a:cs typeface="Calibri"/>
              </a:rPr>
              <a:t> </a:t>
            </a:r>
            <a:r>
              <a:rPr sz="2850" spc="-80" dirty="0">
                <a:latin typeface="Calibri"/>
                <a:cs typeface="Calibri"/>
              </a:rPr>
              <a:t>self-</a:t>
            </a:r>
            <a:r>
              <a:rPr sz="2850" spc="-100" dirty="0">
                <a:latin typeface="Calibri"/>
                <a:cs typeface="Calibri"/>
              </a:rPr>
              <a:t>contained</a:t>
            </a:r>
            <a:r>
              <a:rPr sz="2850" spc="-275" dirty="0">
                <a:latin typeface="Calibri"/>
                <a:cs typeface="Calibri"/>
              </a:rPr>
              <a:t> </a:t>
            </a:r>
            <a:r>
              <a:rPr sz="2850" spc="-105" dirty="0">
                <a:latin typeface="Calibri"/>
                <a:cs typeface="Calibri"/>
              </a:rPr>
              <a:t>unit</a:t>
            </a:r>
            <a:r>
              <a:rPr sz="2850" spc="-114" dirty="0">
                <a:latin typeface="Calibri"/>
                <a:cs typeface="Calibri"/>
              </a:rPr>
              <a:t> </a:t>
            </a:r>
            <a:r>
              <a:rPr sz="2850" spc="-75" dirty="0">
                <a:latin typeface="Calibri"/>
                <a:cs typeface="Calibri"/>
              </a:rPr>
              <a:t>using</a:t>
            </a:r>
            <a:r>
              <a:rPr sz="2850" spc="-30" dirty="0">
                <a:latin typeface="Calibri"/>
                <a:cs typeface="Calibri"/>
              </a:rPr>
              <a:t> </a:t>
            </a:r>
            <a:r>
              <a:rPr sz="2850" spc="-125" dirty="0">
                <a:latin typeface="Calibri"/>
                <a:cs typeface="Calibri"/>
              </a:rPr>
              <a:t>an</a:t>
            </a:r>
            <a:r>
              <a:rPr sz="2850" spc="-220" dirty="0">
                <a:latin typeface="Calibri"/>
                <a:cs typeface="Calibri"/>
              </a:rPr>
              <a:t> </a:t>
            </a:r>
            <a:r>
              <a:rPr sz="2850" spc="-170" dirty="0">
                <a:latin typeface="Calibri"/>
                <a:cs typeface="Calibri"/>
              </a:rPr>
              <a:t>ESP32-</a:t>
            </a:r>
            <a:r>
              <a:rPr sz="2850" spc="-165" dirty="0">
                <a:latin typeface="Calibri"/>
                <a:cs typeface="Calibri"/>
              </a:rPr>
              <a:t>CAM</a:t>
            </a:r>
            <a:r>
              <a:rPr sz="2850" spc="155" dirty="0">
                <a:latin typeface="Calibri"/>
                <a:cs typeface="Calibri"/>
              </a:rPr>
              <a:t> </a:t>
            </a:r>
            <a:r>
              <a:rPr sz="2850" spc="-40" dirty="0">
                <a:latin typeface="Calibri"/>
                <a:cs typeface="Calibri"/>
              </a:rPr>
              <a:t>with </a:t>
            </a:r>
            <a:r>
              <a:rPr sz="2850" spc="-70" dirty="0">
                <a:latin typeface="Calibri"/>
                <a:cs typeface="Calibri"/>
              </a:rPr>
              <a:t>a</a:t>
            </a:r>
            <a:r>
              <a:rPr sz="2850" spc="-125" dirty="0">
                <a:latin typeface="Calibri"/>
                <a:cs typeface="Calibri"/>
              </a:rPr>
              <a:t> </a:t>
            </a:r>
            <a:r>
              <a:rPr sz="2850" spc="-120" dirty="0">
                <a:latin typeface="Calibri"/>
                <a:cs typeface="Calibri"/>
              </a:rPr>
              <a:t>high-</a:t>
            </a:r>
            <a:r>
              <a:rPr sz="2850" spc="-70" dirty="0">
                <a:latin typeface="Calibri"/>
                <a:cs typeface="Calibri"/>
              </a:rPr>
              <a:t>quality</a:t>
            </a:r>
            <a:r>
              <a:rPr sz="2850" spc="70" dirty="0">
                <a:latin typeface="Calibri"/>
                <a:cs typeface="Calibri"/>
              </a:rPr>
              <a:t> </a:t>
            </a:r>
            <a:r>
              <a:rPr sz="2850" spc="-75" dirty="0">
                <a:latin typeface="Calibri"/>
                <a:cs typeface="Calibri"/>
              </a:rPr>
              <a:t>l2S</a:t>
            </a:r>
            <a:r>
              <a:rPr sz="2850" spc="-105" dirty="0">
                <a:latin typeface="Calibri"/>
                <a:cs typeface="Calibri"/>
              </a:rPr>
              <a:t> </a:t>
            </a:r>
            <a:r>
              <a:rPr lang="en-US" sz="2850" spc="-155" dirty="0">
                <a:latin typeface="Calibri"/>
                <a:cs typeface="Calibri"/>
              </a:rPr>
              <a:t>mi</a:t>
            </a:r>
            <a:r>
              <a:rPr sz="2850" spc="-155" dirty="0">
                <a:latin typeface="Calibri"/>
                <a:cs typeface="Calibri"/>
              </a:rPr>
              <a:t>crophone</a:t>
            </a:r>
            <a:r>
              <a:rPr sz="2850" spc="105" dirty="0">
                <a:latin typeface="Calibri"/>
                <a:cs typeface="Calibri"/>
              </a:rPr>
              <a:t> </a:t>
            </a:r>
            <a:r>
              <a:rPr sz="2850" spc="-125" dirty="0">
                <a:latin typeface="Calibri"/>
                <a:cs typeface="Calibri"/>
              </a:rPr>
              <a:t>and</a:t>
            </a:r>
            <a:r>
              <a:rPr sz="2850" spc="-65" dirty="0">
                <a:latin typeface="Calibri"/>
                <a:cs typeface="Calibri"/>
              </a:rPr>
              <a:t> </a:t>
            </a:r>
            <a:r>
              <a:rPr sz="2850" spc="-120" dirty="0">
                <a:latin typeface="Calibri"/>
                <a:cs typeface="Calibri"/>
              </a:rPr>
              <a:t>Speaker</a:t>
            </a:r>
            <a:r>
              <a:rPr sz="2850" spc="-75" dirty="0">
                <a:latin typeface="Calibri"/>
                <a:cs typeface="Calibri"/>
              </a:rPr>
              <a:t> </a:t>
            </a:r>
            <a:r>
              <a:rPr sz="2850" spc="-10" dirty="0">
                <a:latin typeface="Calibri"/>
                <a:cs typeface="Calibri"/>
              </a:rPr>
              <a:t>interface.</a:t>
            </a:r>
            <a:endParaRPr sz="2850" dirty="0">
              <a:latin typeface="Calibri"/>
              <a:cs typeface="Calibri"/>
            </a:endParaRPr>
          </a:p>
          <a:p>
            <a:pPr marL="928369" marR="1450340" indent="-2540">
              <a:lnSpc>
                <a:spcPts val="3100"/>
              </a:lnSpc>
              <a:spcBef>
                <a:spcPts val="1150"/>
              </a:spcBef>
            </a:pPr>
            <a:r>
              <a:rPr sz="2900" spc="-95" dirty="0">
                <a:latin typeface="Calibri"/>
                <a:cs typeface="Calibri"/>
              </a:rPr>
              <a:t>Edge</a:t>
            </a:r>
            <a:r>
              <a:rPr sz="2900" spc="-80" dirty="0">
                <a:latin typeface="Calibri"/>
                <a:cs typeface="Calibri"/>
              </a:rPr>
              <a:t> </a:t>
            </a:r>
            <a:r>
              <a:rPr sz="2900" spc="-85" dirty="0">
                <a:latin typeface="Calibri"/>
                <a:cs typeface="Calibri"/>
              </a:rPr>
              <a:t>AI:</a:t>
            </a:r>
            <a:r>
              <a:rPr sz="2900" spc="-229" dirty="0">
                <a:latin typeface="Calibri"/>
                <a:cs typeface="Calibri"/>
              </a:rPr>
              <a:t> </a:t>
            </a:r>
            <a:r>
              <a:rPr sz="2900" spc="-240" dirty="0">
                <a:latin typeface="Calibri"/>
                <a:cs typeface="Calibri"/>
              </a:rPr>
              <a:t>A</a:t>
            </a:r>
            <a:r>
              <a:rPr sz="2900" spc="-185" dirty="0">
                <a:latin typeface="Calibri"/>
                <a:cs typeface="Calibri"/>
              </a:rPr>
              <a:t> </a:t>
            </a:r>
            <a:r>
              <a:rPr sz="2900" spc="-130" dirty="0">
                <a:latin typeface="Calibri"/>
                <a:cs typeface="Calibri"/>
              </a:rPr>
              <a:t>quantized</a:t>
            </a:r>
            <a:r>
              <a:rPr sz="2900" spc="80" dirty="0">
                <a:latin typeface="Calibri"/>
                <a:cs typeface="Calibri"/>
              </a:rPr>
              <a:t> </a:t>
            </a:r>
            <a:r>
              <a:rPr sz="2900" spc="-195" dirty="0">
                <a:latin typeface="Calibri"/>
                <a:cs typeface="Calibri"/>
              </a:rPr>
              <a:t>TinyML</a:t>
            </a:r>
            <a:r>
              <a:rPr sz="2900" spc="30" dirty="0">
                <a:latin typeface="Calibri"/>
                <a:cs typeface="Calibri"/>
              </a:rPr>
              <a:t> </a:t>
            </a:r>
            <a:r>
              <a:rPr sz="2900" spc="-145" dirty="0">
                <a:latin typeface="Calibri"/>
                <a:cs typeface="Calibri"/>
              </a:rPr>
              <a:t>model</a:t>
            </a:r>
            <a:r>
              <a:rPr sz="2900" spc="-60" dirty="0">
                <a:latin typeface="Calibri"/>
                <a:cs typeface="Calibri"/>
              </a:rPr>
              <a:t> </a:t>
            </a:r>
            <a:r>
              <a:rPr sz="2900" spc="-180" dirty="0">
                <a:latin typeface="Calibri"/>
                <a:cs typeface="Calibri"/>
              </a:rPr>
              <a:t>(MobileNet) </a:t>
            </a:r>
            <a:r>
              <a:rPr sz="2900" spc="-125" dirty="0">
                <a:latin typeface="Calibri"/>
                <a:cs typeface="Calibri"/>
              </a:rPr>
              <a:t>optimised</a:t>
            </a:r>
            <a:r>
              <a:rPr sz="2900" spc="70" dirty="0">
                <a:latin typeface="Calibri"/>
                <a:cs typeface="Calibri"/>
              </a:rPr>
              <a:t> </a:t>
            </a:r>
            <a:r>
              <a:rPr sz="2900" spc="-180" dirty="0">
                <a:latin typeface="Calibri"/>
                <a:cs typeface="Calibri"/>
              </a:rPr>
              <a:t>for</a:t>
            </a:r>
            <a:r>
              <a:rPr sz="2900" spc="-160" dirty="0">
                <a:latin typeface="Calibri"/>
                <a:cs typeface="Calibri"/>
              </a:rPr>
              <a:t> </a:t>
            </a:r>
            <a:r>
              <a:rPr sz="2900" spc="-155" dirty="0">
                <a:latin typeface="Calibri"/>
                <a:cs typeface="Calibri"/>
              </a:rPr>
              <a:t>on-</a:t>
            </a:r>
            <a:r>
              <a:rPr sz="2900" spc="-140" dirty="0">
                <a:latin typeface="Calibri"/>
                <a:cs typeface="Calibri"/>
              </a:rPr>
              <a:t>device</a:t>
            </a:r>
            <a:r>
              <a:rPr sz="2900" spc="-15" dirty="0">
                <a:latin typeface="Calibri"/>
                <a:cs typeface="Calibri"/>
              </a:rPr>
              <a:t> </a:t>
            </a:r>
            <a:r>
              <a:rPr sz="2900" spc="-160" dirty="0">
                <a:latin typeface="Calibri"/>
                <a:cs typeface="Calibri"/>
              </a:rPr>
              <a:t>person</a:t>
            </a:r>
            <a:r>
              <a:rPr sz="2900" spc="-80" dirty="0">
                <a:latin typeface="Calibri"/>
                <a:cs typeface="Calibri"/>
              </a:rPr>
              <a:t> </a:t>
            </a:r>
            <a:r>
              <a:rPr sz="2900" spc="-35" dirty="0">
                <a:latin typeface="Calibri"/>
                <a:cs typeface="Calibri"/>
              </a:rPr>
              <a:t>detection.</a:t>
            </a:r>
            <a:endParaRPr sz="2900" dirty="0">
              <a:latin typeface="Calibri"/>
              <a:cs typeface="Calibri"/>
            </a:endParaRPr>
          </a:p>
          <a:p>
            <a:pPr marL="930275" marR="504825" indent="-3175">
              <a:lnSpc>
                <a:spcPts val="3100"/>
              </a:lnSpc>
              <a:spcBef>
                <a:spcPts val="1200"/>
              </a:spcBef>
            </a:pPr>
            <a:r>
              <a:rPr sz="2850" spc="-35" dirty="0">
                <a:latin typeface="Calibri"/>
                <a:cs typeface="Calibri"/>
              </a:rPr>
              <a:t>Cloud</a:t>
            </a:r>
            <a:r>
              <a:rPr sz="2850" spc="-140" dirty="0">
                <a:latin typeface="Calibri"/>
                <a:cs typeface="Calibri"/>
              </a:rPr>
              <a:t> </a:t>
            </a:r>
            <a:r>
              <a:rPr sz="2850" spc="-60" dirty="0">
                <a:latin typeface="Calibri"/>
                <a:cs typeface="Calibri"/>
              </a:rPr>
              <a:t>Backend:</a:t>
            </a:r>
            <a:r>
              <a:rPr sz="2850" spc="-100" dirty="0">
                <a:latin typeface="Calibri"/>
                <a:cs typeface="Calibri"/>
              </a:rPr>
              <a:t> Secure,</a:t>
            </a:r>
            <a:r>
              <a:rPr sz="2850" spc="-25" dirty="0">
                <a:latin typeface="Calibri"/>
                <a:cs typeface="Calibri"/>
              </a:rPr>
              <a:t> </a:t>
            </a:r>
            <a:r>
              <a:rPr sz="2850" spc="-135" dirty="0">
                <a:latin typeface="Calibri"/>
                <a:cs typeface="Calibri"/>
              </a:rPr>
              <a:t>event-</a:t>
            </a:r>
            <a:r>
              <a:rPr sz="2850" spc="-110" dirty="0">
                <a:latin typeface="Calibri"/>
                <a:cs typeface="Calibri"/>
              </a:rPr>
              <a:t>based</a:t>
            </a:r>
            <a:r>
              <a:rPr sz="2850" spc="30" dirty="0">
                <a:latin typeface="Calibri"/>
                <a:cs typeface="Calibri"/>
              </a:rPr>
              <a:t> </a:t>
            </a:r>
            <a:r>
              <a:rPr sz="2850" spc="-120" dirty="0">
                <a:latin typeface="Calibri"/>
                <a:cs typeface="Calibri"/>
              </a:rPr>
              <a:t>image</a:t>
            </a:r>
            <a:r>
              <a:rPr sz="2850" spc="-55" dirty="0">
                <a:latin typeface="Calibri"/>
                <a:cs typeface="Calibri"/>
              </a:rPr>
              <a:t> </a:t>
            </a:r>
            <a:r>
              <a:rPr sz="2850" spc="-125" dirty="0">
                <a:latin typeface="Calibri"/>
                <a:cs typeface="Calibri"/>
              </a:rPr>
              <a:t>storage</a:t>
            </a:r>
            <a:r>
              <a:rPr sz="2850" spc="20" dirty="0">
                <a:latin typeface="Calibri"/>
                <a:cs typeface="Calibri"/>
              </a:rPr>
              <a:t> </a:t>
            </a:r>
            <a:r>
              <a:rPr sz="2850" spc="-25" dirty="0">
                <a:latin typeface="Calibri"/>
                <a:cs typeface="Calibri"/>
              </a:rPr>
              <a:t>to </a:t>
            </a:r>
            <a:r>
              <a:rPr sz="2850" spc="-135" dirty="0">
                <a:latin typeface="Calibri"/>
                <a:cs typeface="Calibri"/>
              </a:rPr>
              <a:t>prevent</a:t>
            </a:r>
            <a:r>
              <a:rPr sz="2850" spc="25" dirty="0">
                <a:latin typeface="Calibri"/>
                <a:cs typeface="Calibri"/>
              </a:rPr>
              <a:t> </a:t>
            </a:r>
            <a:r>
              <a:rPr sz="2850" spc="-114" dirty="0">
                <a:latin typeface="Calibri"/>
                <a:cs typeface="Calibri"/>
              </a:rPr>
              <a:t>evidence</a:t>
            </a:r>
            <a:r>
              <a:rPr sz="2850" spc="-35" dirty="0">
                <a:latin typeface="Calibri"/>
                <a:cs typeface="Calibri"/>
              </a:rPr>
              <a:t> </a:t>
            </a:r>
            <a:r>
              <a:rPr sz="2850" spc="-20" dirty="0">
                <a:latin typeface="Calibri"/>
                <a:cs typeface="Calibri"/>
              </a:rPr>
              <a:t>loss.</a:t>
            </a:r>
            <a:endParaRPr sz="2850" dirty="0">
              <a:latin typeface="Calibri"/>
              <a:cs typeface="Calibri"/>
            </a:endParaRPr>
          </a:p>
          <a:p>
            <a:pPr marL="927735" marR="866140" indent="-1905">
              <a:lnSpc>
                <a:spcPts val="3100"/>
              </a:lnSpc>
              <a:spcBef>
                <a:spcPts val="1200"/>
              </a:spcBef>
            </a:pPr>
            <a:r>
              <a:rPr sz="2900" spc="-150" dirty="0">
                <a:latin typeface="Calibri"/>
                <a:cs typeface="Calibri"/>
              </a:rPr>
              <a:t>Mobile</a:t>
            </a:r>
            <a:r>
              <a:rPr sz="2900" spc="-65" dirty="0">
                <a:latin typeface="Calibri"/>
                <a:cs typeface="Calibri"/>
              </a:rPr>
              <a:t> </a:t>
            </a:r>
            <a:r>
              <a:rPr sz="2900" spc="-135" dirty="0">
                <a:latin typeface="Calibri"/>
                <a:cs typeface="Calibri"/>
              </a:rPr>
              <a:t>App:</a:t>
            </a:r>
            <a:r>
              <a:rPr sz="2900" spc="-80" dirty="0">
                <a:latin typeface="Calibri"/>
                <a:cs typeface="Calibri"/>
              </a:rPr>
              <a:t> </a:t>
            </a:r>
            <a:r>
              <a:rPr sz="2900" spc="-335" dirty="0">
                <a:latin typeface="Calibri"/>
                <a:cs typeface="Calibri"/>
              </a:rPr>
              <a:t>A</a:t>
            </a:r>
            <a:r>
              <a:rPr sz="2900" spc="-70" dirty="0">
                <a:latin typeface="Calibri"/>
                <a:cs typeface="Calibri"/>
              </a:rPr>
              <a:t> </a:t>
            </a:r>
            <a:r>
              <a:rPr sz="2900" spc="-185" dirty="0">
                <a:latin typeface="Calibri"/>
                <a:cs typeface="Calibri"/>
              </a:rPr>
              <a:t>custom</a:t>
            </a:r>
            <a:r>
              <a:rPr sz="2900" spc="5" dirty="0">
                <a:latin typeface="Calibri"/>
                <a:cs typeface="Calibri"/>
              </a:rPr>
              <a:t> </a:t>
            </a:r>
            <a:r>
              <a:rPr sz="2900" spc="-145" dirty="0">
                <a:latin typeface="Calibri"/>
                <a:cs typeface="Calibri"/>
              </a:rPr>
              <a:t>interface</a:t>
            </a:r>
            <a:r>
              <a:rPr sz="2900" spc="60" dirty="0">
                <a:latin typeface="Calibri"/>
                <a:cs typeface="Calibri"/>
              </a:rPr>
              <a:t> </a:t>
            </a:r>
            <a:r>
              <a:rPr sz="2900" spc="-180" dirty="0">
                <a:latin typeface="Calibri"/>
                <a:cs typeface="Calibri"/>
              </a:rPr>
              <a:t>for</a:t>
            </a:r>
            <a:r>
              <a:rPr sz="2900" spc="-140" dirty="0">
                <a:latin typeface="Calibri"/>
                <a:cs typeface="Calibri"/>
              </a:rPr>
              <a:t> </a:t>
            </a:r>
            <a:r>
              <a:rPr sz="2900" spc="-130" dirty="0">
                <a:latin typeface="Calibri"/>
                <a:cs typeface="Calibri"/>
              </a:rPr>
              <a:t>receiving</a:t>
            </a:r>
            <a:r>
              <a:rPr sz="2900" spc="65" dirty="0">
                <a:latin typeface="Calibri"/>
                <a:cs typeface="Calibri"/>
              </a:rPr>
              <a:t> </a:t>
            </a:r>
            <a:r>
              <a:rPr sz="2900" spc="-75" dirty="0">
                <a:latin typeface="Calibri"/>
                <a:cs typeface="Calibri"/>
              </a:rPr>
              <a:t>instant </a:t>
            </a:r>
            <a:r>
              <a:rPr sz="2900" spc="-114" dirty="0">
                <a:latin typeface="Calibri"/>
                <a:cs typeface="Calibri"/>
              </a:rPr>
              <a:t>alerts</a:t>
            </a:r>
            <a:r>
              <a:rPr sz="2900" dirty="0">
                <a:latin typeface="Calibri"/>
                <a:cs typeface="Calibri"/>
              </a:rPr>
              <a:t> </a:t>
            </a:r>
            <a:r>
              <a:rPr sz="2900" spc="-160" dirty="0">
                <a:latin typeface="Calibri"/>
                <a:cs typeface="Calibri"/>
              </a:rPr>
              <a:t>and</a:t>
            </a:r>
            <a:r>
              <a:rPr sz="2900" spc="-85" dirty="0">
                <a:latin typeface="Calibri"/>
                <a:cs typeface="Calibri"/>
              </a:rPr>
              <a:t> </a:t>
            </a:r>
            <a:r>
              <a:rPr sz="2900" spc="-90" dirty="0">
                <a:latin typeface="Calibri"/>
                <a:cs typeface="Calibri"/>
              </a:rPr>
              <a:t>initiating’Push-to-Talk’</a:t>
            </a:r>
            <a:r>
              <a:rPr sz="2900" spc="-270" dirty="0">
                <a:latin typeface="Calibri"/>
                <a:cs typeface="Calibri"/>
              </a:rPr>
              <a:t> </a:t>
            </a:r>
            <a:r>
              <a:rPr sz="2900" spc="-160" dirty="0">
                <a:latin typeface="Calibri"/>
                <a:cs typeface="Calibri"/>
              </a:rPr>
              <a:t>intercom</a:t>
            </a:r>
            <a:r>
              <a:rPr sz="2900" spc="114" dirty="0">
                <a:latin typeface="Calibri"/>
                <a:cs typeface="Calibri"/>
              </a:rPr>
              <a:t> </a:t>
            </a:r>
            <a:r>
              <a:rPr sz="2900" spc="-10" dirty="0">
                <a:latin typeface="Calibri"/>
                <a:cs typeface="Calibri"/>
              </a:rPr>
              <a:t>calls.</a:t>
            </a:r>
            <a:endParaRPr sz="2900" dirty="0">
              <a:latin typeface="Calibri"/>
              <a:cs typeface="Calibri"/>
            </a:endParaRPr>
          </a:p>
        </p:txBody>
      </p:sp>
      <p:sp>
        <p:nvSpPr>
          <p:cNvPr id="16" name="object 16"/>
          <p:cNvSpPr txBox="1"/>
          <p:nvPr/>
        </p:nvSpPr>
        <p:spPr>
          <a:xfrm>
            <a:off x="11346272" y="7026980"/>
            <a:ext cx="2428875" cy="484505"/>
          </a:xfrm>
          <a:prstGeom prst="rect">
            <a:avLst/>
          </a:prstGeom>
        </p:spPr>
        <p:txBody>
          <a:bodyPr vert="horz" wrap="square" lIns="0" tIns="15240" rIns="0" bIns="0" rtlCol="0">
            <a:spAutoFit/>
          </a:bodyPr>
          <a:lstStyle/>
          <a:p>
            <a:pPr marL="12700">
              <a:lnSpc>
                <a:spcPct val="100000"/>
              </a:lnSpc>
              <a:spcBef>
                <a:spcPts val="120"/>
              </a:spcBef>
            </a:pPr>
            <a:r>
              <a:rPr sz="1300" spc="165" dirty="0">
                <a:solidFill>
                  <a:srgbClr val="708C9E"/>
                </a:solidFill>
                <a:latin typeface="Arial MT"/>
                <a:cs typeface="Arial MT"/>
              </a:rPr>
              <a:t>›o:vo1ooooo1ooooo1ooo!</a:t>
            </a:r>
            <a:endParaRPr sz="1300">
              <a:latin typeface="Arial MT"/>
              <a:cs typeface="Arial MT"/>
            </a:endParaRPr>
          </a:p>
          <a:p>
            <a:pPr marL="24130">
              <a:lnSpc>
                <a:spcPct val="100000"/>
              </a:lnSpc>
              <a:spcBef>
                <a:spcPts val="890"/>
              </a:spcBef>
              <a:tabLst>
                <a:tab pos="327025" algn="l"/>
              </a:tabLst>
            </a:pPr>
            <a:r>
              <a:rPr sz="950" spc="55" dirty="0">
                <a:solidFill>
                  <a:srgbClr val="7C93A3"/>
                </a:solidFill>
                <a:latin typeface="Calibri"/>
                <a:cs typeface="Calibri"/>
              </a:rPr>
              <a:t>'</a:t>
            </a:r>
            <a:r>
              <a:rPr sz="950" spc="409" dirty="0">
                <a:solidFill>
                  <a:srgbClr val="7C93A3"/>
                </a:solidFill>
                <a:latin typeface="Calibri"/>
                <a:cs typeface="Calibri"/>
              </a:rPr>
              <a:t> </a:t>
            </a:r>
            <a:r>
              <a:rPr sz="950" spc="5" dirty="0">
                <a:solidFill>
                  <a:srgbClr val="75909E"/>
                </a:solidFill>
                <a:latin typeface="Calibri"/>
                <a:cs typeface="Calibri"/>
              </a:rPr>
              <a:t>'</a:t>
            </a:r>
            <a:r>
              <a:rPr sz="950" dirty="0">
                <a:solidFill>
                  <a:srgbClr val="75909E"/>
                </a:solidFill>
                <a:latin typeface="Calibri"/>
                <a:cs typeface="Calibri"/>
              </a:rPr>
              <a:t>	</a:t>
            </a:r>
            <a:r>
              <a:rPr sz="950" spc="-50" dirty="0">
                <a:solidFill>
                  <a:srgbClr val="577489"/>
                </a:solidFill>
                <a:latin typeface="Calibri"/>
                <a:cs typeface="Calibri"/>
              </a:rPr>
              <a:t>1</a:t>
            </a:r>
            <a:r>
              <a:rPr sz="950" spc="195" dirty="0">
                <a:solidFill>
                  <a:srgbClr val="577489"/>
                </a:solidFill>
                <a:latin typeface="Calibri"/>
                <a:cs typeface="Calibri"/>
              </a:rPr>
              <a:t> </a:t>
            </a:r>
            <a:r>
              <a:rPr sz="950" dirty="0">
                <a:solidFill>
                  <a:srgbClr val="6B899E"/>
                </a:solidFill>
                <a:latin typeface="Calibri"/>
                <a:cs typeface="Calibri"/>
              </a:rPr>
              <a:t>1</a:t>
            </a:r>
            <a:r>
              <a:rPr sz="950" spc="204" dirty="0">
                <a:solidFill>
                  <a:srgbClr val="6B899E"/>
                </a:solidFill>
                <a:latin typeface="Calibri"/>
                <a:cs typeface="Calibri"/>
              </a:rPr>
              <a:t> </a:t>
            </a:r>
            <a:r>
              <a:rPr sz="950" dirty="0">
                <a:solidFill>
                  <a:srgbClr val="7590A1"/>
                </a:solidFill>
                <a:latin typeface="Calibri"/>
                <a:cs typeface="Calibri"/>
              </a:rPr>
              <a:t>0</a:t>
            </a:r>
            <a:r>
              <a:rPr sz="950" spc="130" dirty="0">
                <a:solidFill>
                  <a:srgbClr val="7590A1"/>
                </a:solidFill>
                <a:latin typeface="Calibri"/>
                <a:cs typeface="Calibri"/>
              </a:rPr>
              <a:t> </a:t>
            </a:r>
            <a:r>
              <a:rPr sz="950" dirty="0">
                <a:solidFill>
                  <a:srgbClr val="708A9C"/>
                </a:solidFill>
                <a:latin typeface="Calibri"/>
                <a:cs typeface="Calibri"/>
              </a:rPr>
              <a:t>0</a:t>
            </a:r>
            <a:r>
              <a:rPr sz="950" spc="90" dirty="0">
                <a:solidFill>
                  <a:srgbClr val="708A9C"/>
                </a:solidFill>
                <a:latin typeface="Calibri"/>
                <a:cs typeface="Calibri"/>
              </a:rPr>
              <a:t> </a:t>
            </a:r>
            <a:r>
              <a:rPr sz="950" dirty="0">
                <a:solidFill>
                  <a:srgbClr val="608295"/>
                </a:solidFill>
                <a:latin typeface="Calibri"/>
                <a:cs typeface="Calibri"/>
              </a:rPr>
              <a:t>1</a:t>
            </a:r>
            <a:r>
              <a:rPr sz="950" spc="170" dirty="0">
                <a:solidFill>
                  <a:srgbClr val="608295"/>
                </a:solidFill>
                <a:latin typeface="Calibri"/>
                <a:cs typeface="Calibri"/>
              </a:rPr>
              <a:t> </a:t>
            </a:r>
            <a:r>
              <a:rPr sz="950" dirty="0">
                <a:solidFill>
                  <a:srgbClr val="7490A5"/>
                </a:solidFill>
                <a:latin typeface="Calibri"/>
                <a:cs typeface="Calibri"/>
              </a:rPr>
              <a:t>1</a:t>
            </a:r>
            <a:r>
              <a:rPr sz="950" spc="125" dirty="0">
                <a:solidFill>
                  <a:srgbClr val="7490A5"/>
                </a:solidFill>
                <a:latin typeface="Calibri"/>
                <a:cs typeface="Calibri"/>
              </a:rPr>
              <a:t> </a:t>
            </a:r>
            <a:r>
              <a:rPr sz="950" dirty="0">
                <a:solidFill>
                  <a:srgbClr val="7295A8"/>
                </a:solidFill>
                <a:latin typeface="Calibri"/>
                <a:cs typeface="Calibri"/>
              </a:rPr>
              <a:t>0</a:t>
            </a:r>
            <a:r>
              <a:rPr sz="950" spc="170" dirty="0">
                <a:solidFill>
                  <a:srgbClr val="7295A8"/>
                </a:solidFill>
                <a:latin typeface="Calibri"/>
                <a:cs typeface="Calibri"/>
              </a:rPr>
              <a:t> </a:t>
            </a:r>
            <a:r>
              <a:rPr sz="950" dirty="0">
                <a:solidFill>
                  <a:srgbClr val="5B7C90"/>
                </a:solidFill>
                <a:latin typeface="Calibri"/>
                <a:cs typeface="Calibri"/>
              </a:rPr>
              <a:t>0</a:t>
            </a:r>
            <a:r>
              <a:rPr sz="950" spc="130" dirty="0">
                <a:solidFill>
                  <a:srgbClr val="5B7C90"/>
                </a:solidFill>
                <a:latin typeface="Calibri"/>
                <a:cs typeface="Calibri"/>
              </a:rPr>
              <a:t> </a:t>
            </a:r>
            <a:r>
              <a:rPr sz="950" dirty="0">
                <a:solidFill>
                  <a:srgbClr val="67859A"/>
                </a:solidFill>
                <a:latin typeface="Calibri"/>
                <a:cs typeface="Calibri"/>
              </a:rPr>
              <a:t>1</a:t>
            </a:r>
            <a:r>
              <a:rPr sz="950" spc="204" dirty="0">
                <a:solidFill>
                  <a:srgbClr val="67859A"/>
                </a:solidFill>
                <a:latin typeface="Calibri"/>
                <a:cs typeface="Calibri"/>
              </a:rPr>
              <a:t> </a:t>
            </a:r>
            <a:r>
              <a:rPr sz="950" dirty="0">
                <a:solidFill>
                  <a:srgbClr val="59798E"/>
                </a:solidFill>
                <a:latin typeface="Calibri"/>
                <a:cs typeface="Calibri"/>
              </a:rPr>
              <a:t>0</a:t>
            </a:r>
            <a:r>
              <a:rPr sz="950" spc="50" dirty="0">
                <a:solidFill>
                  <a:srgbClr val="59798E"/>
                </a:solidFill>
                <a:latin typeface="Calibri"/>
                <a:cs typeface="Calibri"/>
              </a:rPr>
              <a:t> </a:t>
            </a:r>
            <a:r>
              <a:rPr sz="950" dirty="0">
                <a:solidFill>
                  <a:srgbClr val="6790AA"/>
                </a:solidFill>
                <a:latin typeface="Calibri"/>
                <a:cs typeface="Calibri"/>
              </a:rPr>
              <a:t>9</a:t>
            </a:r>
            <a:r>
              <a:rPr sz="950" spc="229" dirty="0">
                <a:solidFill>
                  <a:srgbClr val="6790AA"/>
                </a:solidFill>
                <a:latin typeface="Calibri"/>
                <a:cs typeface="Calibri"/>
              </a:rPr>
              <a:t> </a:t>
            </a:r>
            <a:r>
              <a:rPr sz="950" spc="-10" dirty="0">
                <a:solidFill>
                  <a:srgbClr val="446982"/>
                </a:solidFill>
                <a:latin typeface="Calibri"/>
                <a:cs typeface="Calibri"/>
              </a:rPr>
              <a:t>T</a:t>
            </a:r>
            <a:r>
              <a:rPr sz="950" spc="150" dirty="0">
                <a:solidFill>
                  <a:srgbClr val="446982"/>
                </a:solidFill>
                <a:latin typeface="Calibri"/>
                <a:cs typeface="Calibri"/>
              </a:rPr>
              <a:t> </a:t>
            </a:r>
            <a:r>
              <a:rPr sz="950" dirty="0">
                <a:solidFill>
                  <a:srgbClr val="497089"/>
                </a:solidFill>
                <a:latin typeface="Calibri"/>
                <a:cs typeface="Calibri"/>
              </a:rPr>
              <a:t>0</a:t>
            </a:r>
            <a:r>
              <a:rPr sz="950" spc="240" dirty="0">
                <a:solidFill>
                  <a:srgbClr val="497089"/>
                </a:solidFill>
                <a:latin typeface="Calibri"/>
                <a:cs typeface="Calibri"/>
              </a:rPr>
              <a:t> </a:t>
            </a:r>
            <a:r>
              <a:rPr sz="950" dirty="0">
                <a:solidFill>
                  <a:srgbClr val="6E97AF"/>
                </a:solidFill>
                <a:latin typeface="Calibri"/>
                <a:cs typeface="Calibri"/>
              </a:rPr>
              <a:t>9</a:t>
            </a:r>
            <a:r>
              <a:rPr sz="950" spc="340" dirty="0">
                <a:solidFill>
                  <a:srgbClr val="6E97AF"/>
                </a:solidFill>
                <a:latin typeface="Calibri"/>
                <a:cs typeface="Calibri"/>
              </a:rPr>
              <a:t> </a:t>
            </a:r>
            <a:r>
              <a:rPr sz="950" spc="-10" dirty="0">
                <a:solidFill>
                  <a:srgbClr val="6B90AA"/>
                </a:solidFill>
                <a:latin typeface="Calibri"/>
                <a:cs typeface="Calibri"/>
              </a:rPr>
              <a:t>T</a:t>
            </a:r>
            <a:r>
              <a:rPr sz="950" spc="150" dirty="0">
                <a:solidFill>
                  <a:srgbClr val="6B90AA"/>
                </a:solidFill>
                <a:latin typeface="Calibri"/>
                <a:cs typeface="Calibri"/>
              </a:rPr>
              <a:t> </a:t>
            </a:r>
            <a:r>
              <a:rPr sz="950" spc="-20" dirty="0">
                <a:solidFill>
                  <a:srgbClr val="648EA5"/>
                </a:solidFill>
                <a:latin typeface="Calibri"/>
                <a:cs typeface="Calibri"/>
              </a:rPr>
              <a:t>0</a:t>
            </a:r>
            <a:r>
              <a:rPr sz="950" spc="165" dirty="0">
                <a:solidFill>
                  <a:srgbClr val="648EA5"/>
                </a:solidFill>
                <a:latin typeface="Calibri"/>
                <a:cs typeface="Calibri"/>
              </a:rPr>
              <a:t> </a:t>
            </a:r>
            <a:r>
              <a:rPr sz="950" dirty="0">
                <a:solidFill>
                  <a:srgbClr val="6089A1"/>
                </a:solidFill>
                <a:latin typeface="Calibri"/>
                <a:cs typeface="Calibri"/>
              </a:rPr>
              <a:t>0</a:t>
            </a:r>
            <a:r>
              <a:rPr sz="950" spc="340" dirty="0">
                <a:solidFill>
                  <a:srgbClr val="6089A1"/>
                </a:solidFill>
                <a:latin typeface="Calibri"/>
                <a:cs typeface="Calibri"/>
              </a:rPr>
              <a:t> </a:t>
            </a:r>
            <a:r>
              <a:rPr sz="950" spc="-50" dirty="0">
                <a:solidFill>
                  <a:srgbClr val="426982"/>
                </a:solidFill>
                <a:latin typeface="Calibri"/>
                <a:cs typeface="Calibri"/>
              </a:rPr>
              <a:t>T</a:t>
            </a:r>
            <a:endParaRPr sz="95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31900" y="8623300"/>
            <a:ext cx="673100" cy="711200"/>
          </a:xfrm>
          <a:prstGeom prst="rect">
            <a:avLst/>
          </a:prstGeom>
        </p:spPr>
      </p:pic>
      <p:pic>
        <p:nvPicPr>
          <p:cNvPr id="3" name="object 3"/>
          <p:cNvPicPr/>
          <p:nvPr/>
        </p:nvPicPr>
        <p:blipFill>
          <a:blip r:embed="rId3" cstate="print"/>
          <a:stretch>
            <a:fillRect/>
          </a:stretch>
        </p:blipFill>
        <p:spPr>
          <a:xfrm>
            <a:off x="863600" y="6870700"/>
            <a:ext cx="15621000" cy="1435100"/>
          </a:xfrm>
          <a:prstGeom prst="rect">
            <a:avLst/>
          </a:prstGeom>
        </p:spPr>
      </p:pic>
      <p:pic>
        <p:nvPicPr>
          <p:cNvPr id="4" name="object 4"/>
          <p:cNvPicPr/>
          <p:nvPr/>
        </p:nvPicPr>
        <p:blipFill>
          <a:blip r:embed="rId4" cstate="print"/>
          <a:stretch>
            <a:fillRect/>
          </a:stretch>
        </p:blipFill>
        <p:spPr>
          <a:xfrm>
            <a:off x="1257300" y="5651500"/>
            <a:ext cx="622300" cy="774700"/>
          </a:xfrm>
          <a:prstGeom prst="rect">
            <a:avLst/>
          </a:prstGeom>
        </p:spPr>
      </p:pic>
      <p:pic>
        <p:nvPicPr>
          <p:cNvPr id="5" name="object 5"/>
          <p:cNvPicPr/>
          <p:nvPr/>
        </p:nvPicPr>
        <p:blipFill>
          <a:blip r:embed="rId5" cstate="print"/>
          <a:stretch>
            <a:fillRect/>
          </a:stretch>
        </p:blipFill>
        <p:spPr>
          <a:xfrm>
            <a:off x="1130300" y="4660900"/>
            <a:ext cx="876300" cy="723900"/>
          </a:xfrm>
          <a:prstGeom prst="rect">
            <a:avLst/>
          </a:prstGeom>
        </p:spPr>
      </p:pic>
      <p:pic>
        <p:nvPicPr>
          <p:cNvPr id="6" name="object 6"/>
          <p:cNvPicPr/>
          <p:nvPr/>
        </p:nvPicPr>
        <p:blipFill>
          <a:blip r:embed="rId6" cstate="print"/>
          <a:stretch>
            <a:fillRect/>
          </a:stretch>
        </p:blipFill>
        <p:spPr>
          <a:xfrm>
            <a:off x="1193800" y="3632200"/>
            <a:ext cx="762000" cy="762000"/>
          </a:xfrm>
          <a:prstGeom prst="rect">
            <a:avLst/>
          </a:prstGeom>
        </p:spPr>
      </p:pic>
      <p:pic>
        <p:nvPicPr>
          <p:cNvPr id="7" name="object 7"/>
          <p:cNvPicPr/>
          <p:nvPr/>
        </p:nvPicPr>
        <p:blipFill>
          <a:blip r:embed="rId7" cstate="print"/>
          <a:stretch>
            <a:fillRect/>
          </a:stretch>
        </p:blipFill>
        <p:spPr>
          <a:xfrm>
            <a:off x="8521699" y="6454776"/>
            <a:ext cx="431800" cy="444500"/>
          </a:xfrm>
          <a:prstGeom prst="rect">
            <a:avLst/>
          </a:prstGeom>
        </p:spPr>
      </p:pic>
      <p:pic>
        <p:nvPicPr>
          <p:cNvPr id="8" name="object 8"/>
          <p:cNvPicPr/>
          <p:nvPr/>
        </p:nvPicPr>
        <p:blipFill>
          <a:blip r:embed="rId8" cstate="print"/>
          <a:stretch>
            <a:fillRect/>
          </a:stretch>
        </p:blipFill>
        <p:spPr>
          <a:xfrm>
            <a:off x="1079500" y="2705100"/>
            <a:ext cx="977900" cy="571500"/>
          </a:xfrm>
          <a:prstGeom prst="rect">
            <a:avLst/>
          </a:prstGeom>
        </p:spPr>
      </p:pic>
      <p:pic>
        <p:nvPicPr>
          <p:cNvPr id="9" name="object 9"/>
          <p:cNvPicPr/>
          <p:nvPr/>
        </p:nvPicPr>
        <p:blipFill>
          <a:blip r:embed="rId9" cstate="print"/>
          <a:stretch>
            <a:fillRect/>
          </a:stretch>
        </p:blipFill>
        <p:spPr>
          <a:xfrm>
            <a:off x="1143000" y="1752600"/>
            <a:ext cx="850900" cy="457200"/>
          </a:xfrm>
          <a:prstGeom prst="rect">
            <a:avLst/>
          </a:prstGeom>
        </p:spPr>
      </p:pic>
      <p:sp>
        <p:nvSpPr>
          <p:cNvPr id="10" name="object 10"/>
          <p:cNvSpPr/>
          <p:nvPr/>
        </p:nvSpPr>
        <p:spPr>
          <a:xfrm>
            <a:off x="916516" y="6862233"/>
            <a:ext cx="0" cy="1312545"/>
          </a:xfrm>
          <a:custGeom>
            <a:avLst/>
            <a:gdLst/>
            <a:ahLst/>
            <a:cxnLst/>
            <a:rect l="l" t="t" r="r" b="b"/>
            <a:pathLst>
              <a:path h="1312545">
                <a:moveTo>
                  <a:pt x="0" y="1312333"/>
                </a:moveTo>
                <a:lnTo>
                  <a:pt x="0" y="0"/>
                </a:lnTo>
              </a:path>
            </a:pathLst>
          </a:custGeom>
          <a:ln w="21166">
            <a:solidFill>
              <a:srgbClr val="34546B"/>
            </a:solidFill>
          </a:ln>
        </p:spPr>
        <p:txBody>
          <a:bodyPr wrap="square" lIns="0" tIns="0" rIns="0" bIns="0" rtlCol="0"/>
          <a:lstStyle/>
          <a:p>
            <a:endParaRPr/>
          </a:p>
        </p:txBody>
      </p:sp>
      <p:grpSp>
        <p:nvGrpSpPr>
          <p:cNvPr id="11" name="object 11"/>
          <p:cNvGrpSpPr/>
          <p:nvPr/>
        </p:nvGrpSpPr>
        <p:grpSpPr>
          <a:xfrm>
            <a:off x="905933" y="6862233"/>
            <a:ext cx="15591790" cy="1490345"/>
            <a:chOff x="905933" y="6862233"/>
            <a:chExt cx="15591790" cy="1490345"/>
          </a:xfrm>
        </p:grpSpPr>
        <p:sp>
          <p:nvSpPr>
            <p:cNvPr id="12" name="object 12"/>
            <p:cNvSpPr/>
            <p:nvPr/>
          </p:nvSpPr>
          <p:spPr>
            <a:xfrm>
              <a:off x="16486712" y="6862233"/>
              <a:ext cx="0" cy="1490345"/>
            </a:xfrm>
            <a:custGeom>
              <a:avLst/>
              <a:gdLst/>
              <a:ahLst/>
              <a:cxnLst/>
              <a:rect l="l" t="t" r="r" b="b"/>
              <a:pathLst>
                <a:path h="1490345">
                  <a:moveTo>
                    <a:pt x="0" y="1490133"/>
                  </a:moveTo>
                  <a:lnTo>
                    <a:pt x="0" y="0"/>
                  </a:lnTo>
                </a:path>
              </a:pathLst>
            </a:custGeom>
            <a:ln w="21166">
              <a:solidFill>
                <a:srgbClr val="34546B"/>
              </a:solidFill>
            </a:ln>
          </p:spPr>
          <p:txBody>
            <a:bodyPr wrap="square" lIns="0" tIns="0" rIns="0" bIns="0" rtlCol="0"/>
            <a:lstStyle/>
            <a:p>
              <a:endParaRPr/>
            </a:p>
          </p:txBody>
        </p:sp>
        <p:sp>
          <p:nvSpPr>
            <p:cNvPr id="13" name="object 13"/>
            <p:cNvSpPr/>
            <p:nvPr/>
          </p:nvSpPr>
          <p:spPr>
            <a:xfrm>
              <a:off x="905933" y="6872816"/>
              <a:ext cx="15591790" cy="0"/>
            </a:xfrm>
            <a:custGeom>
              <a:avLst/>
              <a:gdLst/>
              <a:ahLst/>
              <a:cxnLst/>
              <a:rect l="l" t="t" r="r" b="b"/>
              <a:pathLst>
                <a:path w="15591790">
                  <a:moveTo>
                    <a:pt x="0" y="0"/>
                  </a:moveTo>
                  <a:lnTo>
                    <a:pt x="15591367" y="0"/>
                  </a:lnTo>
                </a:path>
              </a:pathLst>
            </a:custGeom>
            <a:ln w="21166">
              <a:solidFill>
                <a:srgbClr val="34546B"/>
              </a:solidFill>
            </a:ln>
          </p:spPr>
          <p:txBody>
            <a:bodyPr wrap="square" lIns="0" tIns="0" rIns="0" bIns="0" rtlCol="0"/>
            <a:lstStyle/>
            <a:p>
              <a:endParaRPr/>
            </a:p>
          </p:txBody>
        </p:sp>
        <p:sp>
          <p:nvSpPr>
            <p:cNvPr id="14" name="object 14"/>
            <p:cNvSpPr/>
            <p:nvPr/>
          </p:nvSpPr>
          <p:spPr>
            <a:xfrm>
              <a:off x="905933" y="8341783"/>
              <a:ext cx="15591790" cy="0"/>
            </a:xfrm>
            <a:custGeom>
              <a:avLst/>
              <a:gdLst/>
              <a:ahLst/>
              <a:cxnLst/>
              <a:rect l="l" t="t" r="r" b="b"/>
              <a:pathLst>
                <a:path w="15591790">
                  <a:moveTo>
                    <a:pt x="0" y="0"/>
                  </a:moveTo>
                  <a:lnTo>
                    <a:pt x="15591367" y="0"/>
                  </a:lnTo>
                </a:path>
              </a:pathLst>
            </a:custGeom>
            <a:ln w="21166">
              <a:solidFill>
                <a:srgbClr val="34546B"/>
              </a:solidFill>
            </a:ln>
          </p:spPr>
          <p:txBody>
            <a:bodyPr wrap="square" lIns="0" tIns="0" rIns="0" bIns="0" rtlCol="0"/>
            <a:lstStyle/>
            <a:p>
              <a:endParaRPr/>
            </a:p>
          </p:txBody>
        </p:sp>
      </p:grpSp>
      <p:sp>
        <p:nvSpPr>
          <p:cNvPr id="15" name="object 15"/>
          <p:cNvSpPr txBox="1">
            <a:spLocks noGrp="1"/>
          </p:cNvSpPr>
          <p:nvPr>
            <p:ph type="title"/>
          </p:nvPr>
        </p:nvSpPr>
        <p:spPr>
          <a:prstGeom prst="rect">
            <a:avLst/>
          </a:prstGeom>
        </p:spPr>
        <p:txBody>
          <a:bodyPr vert="horz" wrap="square" lIns="0" tIns="384033" rIns="0" bIns="0" rtlCol="0">
            <a:spAutoFit/>
          </a:bodyPr>
          <a:lstStyle/>
          <a:p>
            <a:pPr marL="210185">
              <a:lnSpc>
                <a:spcPct val="100000"/>
              </a:lnSpc>
              <a:spcBef>
                <a:spcPts val="110"/>
              </a:spcBef>
            </a:pPr>
            <a:r>
              <a:rPr sz="3600" spc="60" dirty="0">
                <a:solidFill>
                  <a:srgbClr val="012849"/>
                </a:solidFill>
              </a:rPr>
              <a:t>System</a:t>
            </a:r>
            <a:r>
              <a:rPr sz="3600" spc="90" dirty="0">
                <a:solidFill>
                  <a:srgbClr val="012849"/>
                </a:solidFill>
              </a:rPr>
              <a:t> </a:t>
            </a:r>
            <a:r>
              <a:rPr sz="3600" spc="100" dirty="0">
                <a:solidFill>
                  <a:srgbClr val="032F52"/>
                </a:solidFill>
              </a:rPr>
              <a:t>Architecture:</a:t>
            </a:r>
            <a:r>
              <a:rPr sz="3600" spc="170" dirty="0">
                <a:solidFill>
                  <a:srgbClr val="032F52"/>
                </a:solidFill>
              </a:rPr>
              <a:t> </a:t>
            </a:r>
            <a:r>
              <a:rPr sz="3600" dirty="0">
                <a:solidFill>
                  <a:srgbClr val="032D50"/>
                </a:solidFill>
              </a:rPr>
              <a:t>A</a:t>
            </a:r>
            <a:r>
              <a:rPr sz="3600" spc="-85" dirty="0">
                <a:solidFill>
                  <a:srgbClr val="032D50"/>
                </a:solidFill>
              </a:rPr>
              <a:t> </a:t>
            </a:r>
            <a:r>
              <a:rPr sz="3600" spc="80" dirty="0">
                <a:solidFill>
                  <a:srgbClr val="082F4F"/>
                </a:solidFill>
              </a:rPr>
              <a:t>Step-</a:t>
            </a:r>
            <a:r>
              <a:rPr sz="3600" spc="75" dirty="0">
                <a:solidFill>
                  <a:srgbClr val="082F4F"/>
                </a:solidFill>
              </a:rPr>
              <a:t>by-</a:t>
            </a:r>
            <a:r>
              <a:rPr sz="3600" spc="85" dirty="0">
                <a:solidFill>
                  <a:srgbClr val="082F4F"/>
                </a:solidFill>
              </a:rPr>
              <a:t>Step</a:t>
            </a:r>
            <a:r>
              <a:rPr sz="3600" spc="270" dirty="0">
                <a:solidFill>
                  <a:srgbClr val="082F4F"/>
                </a:solidFill>
              </a:rPr>
              <a:t> </a:t>
            </a:r>
            <a:r>
              <a:rPr sz="3600" dirty="0">
                <a:solidFill>
                  <a:srgbClr val="0A3454"/>
                </a:solidFill>
              </a:rPr>
              <a:t>Flow</a:t>
            </a:r>
            <a:r>
              <a:rPr sz="3600" spc="10" dirty="0">
                <a:solidFill>
                  <a:srgbClr val="0A3454"/>
                </a:solidFill>
              </a:rPr>
              <a:t> </a:t>
            </a:r>
            <a:r>
              <a:rPr sz="3600" spc="125" dirty="0">
                <a:solidFill>
                  <a:srgbClr val="082D4B"/>
                </a:solidFill>
              </a:rPr>
              <a:t>from</a:t>
            </a:r>
            <a:r>
              <a:rPr sz="3600" spc="-155" dirty="0">
                <a:solidFill>
                  <a:srgbClr val="082D4B"/>
                </a:solidFill>
              </a:rPr>
              <a:t> </a:t>
            </a:r>
            <a:r>
              <a:rPr sz="3600" spc="110" dirty="0">
                <a:solidFill>
                  <a:srgbClr val="0A314D"/>
                </a:solidFill>
              </a:rPr>
              <a:t>Detection</a:t>
            </a:r>
            <a:r>
              <a:rPr sz="3600" spc="-85" dirty="0">
                <a:solidFill>
                  <a:srgbClr val="0A314D"/>
                </a:solidFill>
              </a:rPr>
              <a:t> </a:t>
            </a:r>
            <a:r>
              <a:rPr sz="3600" spc="100" dirty="0">
                <a:solidFill>
                  <a:srgbClr val="083456"/>
                </a:solidFill>
              </a:rPr>
              <a:t>to</a:t>
            </a:r>
            <a:r>
              <a:rPr sz="3600" spc="-15" dirty="0">
                <a:solidFill>
                  <a:srgbClr val="083456"/>
                </a:solidFill>
              </a:rPr>
              <a:t> </a:t>
            </a:r>
            <a:r>
              <a:rPr sz="3600" spc="55" dirty="0">
                <a:solidFill>
                  <a:srgbClr val="052A48"/>
                </a:solidFill>
              </a:rPr>
              <a:t>Deterrence</a:t>
            </a:r>
            <a:endParaRPr sz="3600"/>
          </a:p>
        </p:txBody>
      </p:sp>
      <p:sp>
        <p:nvSpPr>
          <p:cNvPr id="16" name="object 16"/>
          <p:cNvSpPr txBox="1"/>
          <p:nvPr/>
        </p:nvSpPr>
        <p:spPr>
          <a:xfrm>
            <a:off x="2718446" y="1732491"/>
            <a:ext cx="2155190" cy="438150"/>
          </a:xfrm>
          <a:prstGeom prst="rect">
            <a:avLst/>
          </a:prstGeom>
        </p:spPr>
        <p:txBody>
          <a:bodyPr vert="horz" wrap="square" lIns="0" tIns="13335" rIns="0" bIns="0" rtlCol="0">
            <a:spAutoFit/>
          </a:bodyPr>
          <a:lstStyle/>
          <a:p>
            <a:pPr marL="12700">
              <a:lnSpc>
                <a:spcPct val="100000"/>
              </a:lnSpc>
              <a:spcBef>
                <a:spcPts val="105"/>
              </a:spcBef>
            </a:pPr>
            <a:r>
              <a:rPr sz="2700" spc="-55" dirty="0">
                <a:solidFill>
                  <a:srgbClr val="052136"/>
                </a:solidFill>
                <a:latin typeface="Arial MT"/>
                <a:cs typeface="Arial MT"/>
              </a:rPr>
              <a:t>1.</a:t>
            </a:r>
            <a:r>
              <a:rPr sz="2700" spc="-335" dirty="0">
                <a:solidFill>
                  <a:srgbClr val="052136"/>
                </a:solidFill>
                <a:latin typeface="Arial MT"/>
                <a:cs typeface="Arial MT"/>
              </a:rPr>
              <a:t> </a:t>
            </a:r>
            <a:r>
              <a:rPr sz="2700" dirty="0">
                <a:solidFill>
                  <a:srgbClr val="0C2F49"/>
                </a:solidFill>
                <a:latin typeface="Arial MT"/>
                <a:cs typeface="Arial MT"/>
              </a:rPr>
              <a:t>Deep</a:t>
            </a:r>
            <a:r>
              <a:rPr sz="2700" spc="-40" dirty="0">
                <a:solidFill>
                  <a:srgbClr val="0C2F49"/>
                </a:solidFill>
                <a:latin typeface="Arial MT"/>
                <a:cs typeface="Arial MT"/>
              </a:rPr>
              <a:t> </a:t>
            </a:r>
            <a:r>
              <a:rPr sz="2700" spc="-10" dirty="0">
                <a:solidFill>
                  <a:srgbClr val="05243D"/>
                </a:solidFill>
                <a:latin typeface="Arial MT"/>
                <a:cs typeface="Arial MT"/>
              </a:rPr>
              <a:t>Sleep</a:t>
            </a:r>
            <a:endParaRPr sz="2700">
              <a:latin typeface="Arial MT"/>
              <a:cs typeface="Arial MT"/>
            </a:endParaRPr>
          </a:p>
        </p:txBody>
      </p:sp>
      <p:sp>
        <p:nvSpPr>
          <p:cNvPr id="17" name="object 17"/>
          <p:cNvSpPr txBox="1"/>
          <p:nvPr/>
        </p:nvSpPr>
        <p:spPr>
          <a:xfrm>
            <a:off x="2745710" y="2748491"/>
            <a:ext cx="2104390" cy="438150"/>
          </a:xfrm>
          <a:prstGeom prst="rect">
            <a:avLst/>
          </a:prstGeom>
        </p:spPr>
        <p:txBody>
          <a:bodyPr vert="horz" wrap="square" lIns="0" tIns="13335" rIns="0" bIns="0" rtlCol="0">
            <a:spAutoFit/>
          </a:bodyPr>
          <a:lstStyle/>
          <a:p>
            <a:pPr marL="12700">
              <a:lnSpc>
                <a:spcPct val="100000"/>
              </a:lnSpc>
              <a:spcBef>
                <a:spcPts val="105"/>
              </a:spcBef>
            </a:pPr>
            <a:r>
              <a:rPr sz="2700" spc="65" dirty="0">
                <a:solidFill>
                  <a:srgbClr val="262626"/>
                </a:solidFill>
                <a:latin typeface="Arial MT"/>
                <a:cs typeface="Arial MT"/>
              </a:rPr>
              <a:t>2.</a:t>
            </a:r>
            <a:r>
              <a:rPr sz="2700" spc="-275" dirty="0">
                <a:solidFill>
                  <a:srgbClr val="262626"/>
                </a:solidFill>
                <a:latin typeface="Arial MT"/>
                <a:cs typeface="Arial MT"/>
              </a:rPr>
              <a:t> </a:t>
            </a:r>
            <a:r>
              <a:rPr sz="2700" spc="-180" dirty="0">
                <a:solidFill>
                  <a:srgbClr val="0C263D"/>
                </a:solidFill>
                <a:latin typeface="Arial MT"/>
                <a:cs typeface="Arial MT"/>
              </a:rPr>
              <a:t>PIR</a:t>
            </a:r>
            <a:r>
              <a:rPr sz="2700" spc="10" dirty="0">
                <a:solidFill>
                  <a:srgbClr val="0C263D"/>
                </a:solidFill>
                <a:latin typeface="Arial MT"/>
                <a:cs typeface="Arial MT"/>
              </a:rPr>
              <a:t> </a:t>
            </a:r>
            <a:r>
              <a:rPr sz="2700" spc="-10" dirty="0">
                <a:solidFill>
                  <a:srgbClr val="0A263B"/>
                </a:solidFill>
                <a:latin typeface="Arial MT"/>
                <a:cs typeface="Arial MT"/>
              </a:rPr>
              <a:t>Trigger</a:t>
            </a:r>
            <a:endParaRPr sz="2700">
              <a:latin typeface="Arial MT"/>
              <a:cs typeface="Arial MT"/>
            </a:endParaRPr>
          </a:p>
        </p:txBody>
      </p:sp>
      <p:sp>
        <p:nvSpPr>
          <p:cNvPr id="18" name="object 18"/>
          <p:cNvSpPr txBox="1"/>
          <p:nvPr/>
        </p:nvSpPr>
        <p:spPr>
          <a:xfrm>
            <a:off x="6365878" y="1773766"/>
            <a:ext cx="4048122" cy="332142"/>
          </a:xfrm>
          <a:prstGeom prst="rect">
            <a:avLst/>
          </a:prstGeom>
        </p:spPr>
        <p:txBody>
          <a:bodyPr vert="horz" wrap="square" lIns="0" tIns="16510" rIns="0" bIns="0" rtlCol="0">
            <a:spAutoFit/>
          </a:bodyPr>
          <a:lstStyle/>
          <a:p>
            <a:pPr marL="12700">
              <a:lnSpc>
                <a:spcPct val="100000"/>
              </a:lnSpc>
              <a:spcBef>
                <a:spcPts val="130"/>
              </a:spcBef>
            </a:pPr>
            <a:r>
              <a:rPr lang="en-US" sz="2050" dirty="0">
                <a:latin typeface="Calibri"/>
                <a:cs typeface="Calibri"/>
              </a:rPr>
              <a:t>Device is in sleep utilizing low power</a:t>
            </a:r>
            <a:endParaRPr sz="2050" dirty="0">
              <a:latin typeface="Calibri"/>
              <a:cs typeface="Calibri"/>
            </a:endParaRPr>
          </a:p>
        </p:txBody>
      </p:sp>
      <p:sp>
        <p:nvSpPr>
          <p:cNvPr id="19" name="object 19"/>
          <p:cNvSpPr txBox="1"/>
          <p:nvPr/>
        </p:nvSpPr>
        <p:spPr>
          <a:xfrm>
            <a:off x="6365878" y="2789766"/>
            <a:ext cx="3743325" cy="342900"/>
          </a:xfrm>
          <a:prstGeom prst="rect">
            <a:avLst/>
          </a:prstGeom>
        </p:spPr>
        <p:txBody>
          <a:bodyPr vert="horz" wrap="square" lIns="0" tIns="16510" rIns="0" bIns="0" rtlCol="0">
            <a:spAutoFit/>
          </a:bodyPr>
          <a:lstStyle/>
          <a:p>
            <a:pPr marL="12700">
              <a:lnSpc>
                <a:spcPct val="100000"/>
              </a:lnSpc>
              <a:spcBef>
                <a:spcPts val="130"/>
              </a:spcBef>
            </a:pPr>
            <a:r>
              <a:rPr sz="2050" spc="-145" dirty="0">
                <a:solidFill>
                  <a:srgbClr val="161616"/>
                </a:solidFill>
                <a:latin typeface="Calibri"/>
                <a:cs typeface="Calibri"/>
              </a:rPr>
              <a:t>Motion</a:t>
            </a:r>
            <a:r>
              <a:rPr sz="2050" spc="45" dirty="0">
                <a:solidFill>
                  <a:srgbClr val="161616"/>
                </a:solidFill>
                <a:latin typeface="Calibri"/>
                <a:cs typeface="Calibri"/>
              </a:rPr>
              <a:t> </a:t>
            </a:r>
            <a:r>
              <a:rPr sz="2050" dirty="0">
                <a:solidFill>
                  <a:srgbClr val="111111"/>
                </a:solidFill>
                <a:latin typeface="Calibri"/>
                <a:cs typeface="Calibri"/>
              </a:rPr>
              <a:t>is</a:t>
            </a:r>
            <a:r>
              <a:rPr sz="2050" spc="-35" dirty="0">
                <a:solidFill>
                  <a:srgbClr val="111111"/>
                </a:solidFill>
                <a:latin typeface="Calibri"/>
                <a:cs typeface="Calibri"/>
              </a:rPr>
              <a:t> </a:t>
            </a:r>
            <a:r>
              <a:rPr sz="2050" spc="-90" dirty="0">
                <a:solidFill>
                  <a:srgbClr val="0E0E0E"/>
                </a:solidFill>
                <a:latin typeface="Calibri"/>
                <a:cs typeface="Calibri"/>
              </a:rPr>
              <a:t>detected,</a:t>
            </a:r>
            <a:r>
              <a:rPr sz="2050" spc="50" dirty="0">
                <a:solidFill>
                  <a:srgbClr val="0E0E0E"/>
                </a:solidFill>
                <a:latin typeface="Calibri"/>
                <a:cs typeface="Calibri"/>
              </a:rPr>
              <a:t> </a:t>
            </a:r>
            <a:r>
              <a:rPr sz="2050" spc="-80" dirty="0">
                <a:solidFill>
                  <a:srgbClr val="111111"/>
                </a:solidFill>
                <a:latin typeface="Calibri"/>
                <a:cs typeface="Calibri"/>
              </a:rPr>
              <a:t>waking</a:t>
            </a:r>
            <a:r>
              <a:rPr sz="2050" spc="-45" dirty="0">
                <a:solidFill>
                  <a:srgbClr val="111111"/>
                </a:solidFill>
                <a:latin typeface="Calibri"/>
                <a:cs typeface="Calibri"/>
              </a:rPr>
              <a:t> </a:t>
            </a:r>
            <a:r>
              <a:rPr sz="2050" spc="-85" dirty="0">
                <a:solidFill>
                  <a:srgbClr val="1F1F1F"/>
                </a:solidFill>
                <a:latin typeface="Calibri"/>
                <a:cs typeface="Calibri"/>
              </a:rPr>
              <a:t>the </a:t>
            </a:r>
            <a:r>
              <a:rPr sz="2050" spc="-35" dirty="0">
                <a:latin typeface="Calibri"/>
                <a:cs typeface="Calibri"/>
              </a:rPr>
              <a:t>ESP32.</a:t>
            </a:r>
            <a:endParaRPr sz="2050">
              <a:latin typeface="Calibri"/>
              <a:cs typeface="Calibri"/>
            </a:endParaRPr>
          </a:p>
        </p:txBody>
      </p:sp>
      <p:sp>
        <p:nvSpPr>
          <p:cNvPr id="20" name="object 20"/>
          <p:cNvSpPr txBox="1"/>
          <p:nvPr/>
        </p:nvSpPr>
        <p:spPr>
          <a:xfrm>
            <a:off x="2741705" y="3794477"/>
            <a:ext cx="2691765" cy="364490"/>
          </a:xfrm>
          <a:prstGeom prst="rect">
            <a:avLst/>
          </a:prstGeom>
        </p:spPr>
        <p:txBody>
          <a:bodyPr vert="horz" wrap="square" lIns="0" tIns="15240" rIns="0" bIns="0" rtlCol="0">
            <a:spAutoFit/>
          </a:bodyPr>
          <a:lstStyle/>
          <a:p>
            <a:pPr marL="12700">
              <a:lnSpc>
                <a:spcPct val="100000"/>
              </a:lnSpc>
              <a:spcBef>
                <a:spcPts val="120"/>
              </a:spcBef>
              <a:tabLst>
                <a:tab pos="383540" algn="l"/>
              </a:tabLst>
            </a:pPr>
            <a:r>
              <a:rPr sz="2200" spc="-25" dirty="0">
                <a:solidFill>
                  <a:srgbClr val="082D4D"/>
                </a:solidFill>
                <a:latin typeface="Calibri"/>
                <a:cs typeface="Calibri"/>
              </a:rPr>
              <a:t>3.</a:t>
            </a:r>
            <a:r>
              <a:rPr sz="2200" dirty="0">
                <a:solidFill>
                  <a:srgbClr val="082D4D"/>
                </a:solidFill>
                <a:latin typeface="Calibri"/>
                <a:cs typeface="Calibri"/>
              </a:rPr>
              <a:t>	</a:t>
            </a:r>
            <a:r>
              <a:rPr sz="2200" spc="505" dirty="0">
                <a:solidFill>
                  <a:srgbClr val="072A4B"/>
                </a:solidFill>
                <a:latin typeface="Calibri"/>
                <a:cs typeface="Calibri"/>
              </a:rPr>
              <a:t>Edge</a:t>
            </a:r>
            <a:r>
              <a:rPr sz="2200" spc="30" dirty="0">
                <a:solidFill>
                  <a:srgbClr val="072A4B"/>
                </a:solidFill>
                <a:latin typeface="Calibri"/>
                <a:cs typeface="Calibri"/>
              </a:rPr>
              <a:t> </a:t>
            </a:r>
            <a:r>
              <a:rPr sz="2200" spc="425" dirty="0">
                <a:solidFill>
                  <a:srgbClr val="032649"/>
                </a:solidFill>
                <a:latin typeface="Calibri"/>
                <a:cs typeface="Calibri"/>
              </a:rPr>
              <a:t>AI</a:t>
            </a:r>
            <a:r>
              <a:rPr sz="2200" spc="50" dirty="0">
                <a:solidFill>
                  <a:srgbClr val="032649"/>
                </a:solidFill>
                <a:latin typeface="Calibri"/>
                <a:cs typeface="Calibri"/>
              </a:rPr>
              <a:t> </a:t>
            </a:r>
            <a:r>
              <a:rPr sz="2200" spc="484" dirty="0">
                <a:solidFill>
                  <a:srgbClr val="03213F"/>
                </a:solidFill>
                <a:latin typeface="Calibri"/>
                <a:cs typeface="Calibri"/>
              </a:rPr>
              <a:t>Check</a:t>
            </a:r>
            <a:endParaRPr sz="2200">
              <a:latin typeface="Calibri"/>
              <a:cs typeface="Calibri"/>
            </a:endParaRPr>
          </a:p>
        </p:txBody>
      </p:sp>
      <p:sp>
        <p:nvSpPr>
          <p:cNvPr id="21" name="object 21"/>
          <p:cNvSpPr txBox="1"/>
          <p:nvPr/>
        </p:nvSpPr>
        <p:spPr>
          <a:xfrm>
            <a:off x="6373332" y="3794477"/>
            <a:ext cx="6997065" cy="364490"/>
          </a:xfrm>
          <a:prstGeom prst="rect">
            <a:avLst/>
          </a:prstGeom>
        </p:spPr>
        <p:txBody>
          <a:bodyPr vert="horz" wrap="square" lIns="0" tIns="15240" rIns="0" bIns="0" rtlCol="0">
            <a:spAutoFit/>
          </a:bodyPr>
          <a:lstStyle/>
          <a:p>
            <a:pPr marL="12700">
              <a:lnSpc>
                <a:spcPct val="100000"/>
              </a:lnSpc>
              <a:spcBef>
                <a:spcPts val="120"/>
              </a:spcBef>
            </a:pPr>
            <a:r>
              <a:rPr sz="2200" spc="-175" dirty="0">
                <a:solidFill>
                  <a:srgbClr val="2D2D2D"/>
                </a:solidFill>
                <a:latin typeface="Calibri"/>
                <a:cs typeface="Calibri"/>
              </a:rPr>
              <a:t>The</a:t>
            </a:r>
            <a:r>
              <a:rPr sz="2200" spc="-125" dirty="0">
                <a:solidFill>
                  <a:srgbClr val="2D2D2D"/>
                </a:solidFill>
                <a:latin typeface="Calibri"/>
                <a:cs typeface="Calibri"/>
              </a:rPr>
              <a:t> </a:t>
            </a:r>
            <a:r>
              <a:rPr sz="2200" spc="-160" dirty="0">
                <a:solidFill>
                  <a:srgbClr val="111111"/>
                </a:solidFill>
                <a:latin typeface="Calibri"/>
                <a:cs typeface="Calibri"/>
              </a:rPr>
              <a:t>on-</a:t>
            </a:r>
            <a:r>
              <a:rPr sz="2200" spc="-150" dirty="0">
                <a:solidFill>
                  <a:srgbClr val="111111"/>
                </a:solidFill>
                <a:latin typeface="Calibri"/>
                <a:cs typeface="Calibri"/>
              </a:rPr>
              <a:t>board</a:t>
            </a:r>
            <a:r>
              <a:rPr sz="2200" spc="105" dirty="0">
                <a:solidFill>
                  <a:srgbClr val="111111"/>
                </a:solidFill>
                <a:latin typeface="Calibri"/>
                <a:cs typeface="Calibri"/>
              </a:rPr>
              <a:t> </a:t>
            </a:r>
            <a:r>
              <a:rPr sz="2200" spc="-235" dirty="0" err="1">
                <a:solidFill>
                  <a:srgbClr val="070707"/>
                </a:solidFill>
                <a:latin typeface="Calibri"/>
                <a:cs typeface="Calibri"/>
              </a:rPr>
              <a:t>Mobi</a:t>
            </a:r>
            <a:r>
              <a:rPr lang="en-US" sz="2200" spc="-235" dirty="0" err="1">
                <a:solidFill>
                  <a:srgbClr val="070707"/>
                </a:solidFill>
                <a:latin typeface="Calibri"/>
                <a:cs typeface="Calibri"/>
              </a:rPr>
              <a:t>l</a:t>
            </a:r>
            <a:r>
              <a:rPr sz="2200" spc="-235" dirty="0" err="1">
                <a:solidFill>
                  <a:srgbClr val="070707"/>
                </a:solidFill>
                <a:latin typeface="Calibri"/>
                <a:cs typeface="Calibri"/>
              </a:rPr>
              <a:t>eNet</a:t>
            </a:r>
            <a:r>
              <a:rPr sz="2200" spc="145" dirty="0">
                <a:solidFill>
                  <a:srgbClr val="070707"/>
                </a:solidFill>
                <a:latin typeface="Calibri"/>
                <a:cs typeface="Calibri"/>
              </a:rPr>
              <a:t> </a:t>
            </a:r>
            <a:r>
              <a:rPr sz="2200" spc="-180" dirty="0">
                <a:solidFill>
                  <a:srgbClr val="111111"/>
                </a:solidFill>
                <a:latin typeface="Calibri"/>
                <a:cs typeface="Calibri"/>
              </a:rPr>
              <a:t>model</a:t>
            </a:r>
            <a:r>
              <a:rPr sz="2200" spc="-55" dirty="0">
                <a:solidFill>
                  <a:srgbClr val="111111"/>
                </a:solidFill>
                <a:latin typeface="Calibri"/>
                <a:cs typeface="Calibri"/>
              </a:rPr>
              <a:t> </a:t>
            </a:r>
            <a:r>
              <a:rPr sz="2200" spc="-130" dirty="0">
                <a:solidFill>
                  <a:srgbClr val="151515"/>
                </a:solidFill>
                <a:latin typeface="Calibri"/>
                <a:cs typeface="Calibri"/>
              </a:rPr>
              <a:t>runs</a:t>
            </a:r>
            <a:r>
              <a:rPr sz="2200" spc="-120" dirty="0">
                <a:solidFill>
                  <a:srgbClr val="151515"/>
                </a:solidFill>
                <a:latin typeface="Calibri"/>
                <a:cs typeface="Calibri"/>
              </a:rPr>
              <a:t> </a:t>
            </a:r>
            <a:r>
              <a:rPr sz="2200" spc="-180" dirty="0">
                <a:solidFill>
                  <a:srgbClr val="1A1A1A"/>
                </a:solidFill>
                <a:latin typeface="Calibri"/>
                <a:cs typeface="Calibri"/>
              </a:rPr>
              <a:t>to</a:t>
            </a:r>
            <a:r>
              <a:rPr sz="2200" spc="-60" dirty="0">
                <a:solidFill>
                  <a:srgbClr val="1A1A1A"/>
                </a:solidFill>
                <a:latin typeface="Calibri"/>
                <a:cs typeface="Calibri"/>
              </a:rPr>
              <a:t> </a:t>
            </a:r>
            <a:r>
              <a:rPr sz="2200" spc="-145" dirty="0">
                <a:solidFill>
                  <a:srgbClr val="111111"/>
                </a:solidFill>
                <a:latin typeface="Calibri"/>
                <a:cs typeface="Calibri"/>
              </a:rPr>
              <a:t>verify</a:t>
            </a:r>
            <a:r>
              <a:rPr sz="2200" spc="-55" dirty="0">
                <a:solidFill>
                  <a:srgbClr val="111111"/>
                </a:solidFill>
                <a:latin typeface="Calibri"/>
                <a:cs typeface="Calibri"/>
              </a:rPr>
              <a:t> </a:t>
            </a:r>
            <a:r>
              <a:rPr sz="2200" spc="-114" dirty="0">
                <a:solidFill>
                  <a:srgbClr val="1A1A1A"/>
                </a:solidFill>
                <a:latin typeface="Calibri"/>
                <a:cs typeface="Calibri"/>
              </a:rPr>
              <a:t>if</a:t>
            </a:r>
            <a:r>
              <a:rPr sz="2200" spc="-55" dirty="0">
                <a:solidFill>
                  <a:srgbClr val="1A1A1A"/>
                </a:solidFill>
                <a:latin typeface="Calibri"/>
                <a:cs typeface="Calibri"/>
              </a:rPr>
              <a:t> </a:t>
            </a:r>
            <a:r>
              <a:rPr sz="2200" spc="-160" dirty="0">
                <a:solidFill>
                  <a:srgbClr val="3F3F3F"/>
                </a:solidFill>
                <a:latin typeface="Calibri"/>
                <a:cs typeface="Calibri"/>
              </a:rPr>
              <a:t>the</a:t>
            </a:r>
            <a:r>
              <a:rPr sz="2200" spc="-85" dirty="0">
                <a:solidFill>
                  <a:srgbClr val="3F3F3F"/>
                </a:solidFill>
                <a:latin typeface="Calibri"/>
                <a:cs typeface="Calibri"/>
              </a:rPr>
              <a:t> </a:t>
            </a:r>
            <a:r>
              <a:rPr sz="2200" spc="-185" dirty="0">
                <a:solidFill>
                  <a:srgbClr val="0C0C0C"/>
                </a:solidFill>
                <a:latin typeface="Calibri"/>
                <a:cs typeface="Calibri"/>
              </a:rPr>
              <a:t>motion</a:t>
            </a:r>
            <a:r>
              <a:rPr sz="2200" spc="110" dirty="0">
                <a:solidFill>
                  <a:srgbClr val="0C0C0C"/>
                </a:solidFill>
                <a:latin typeface="Calibri"/>
                <a:cs typeface="Calibri"/>
              </a:rPr>
              <a:t> </a:t>
            </a:r>
            <a:r>
              <a:rPr sz="2200" spc="-100" dirty="0">
                <a:solidFill>
                  <a:srgbClr val="9CACBA"/>
                </a:solidFill>
                <a:latin typeface="Calibri"/>
                <a:cs typeface="Calibri"/>
              </a:rPr>
              <a:t>is</a:t>
            </a:r>
            <a:r>
              <a:rPr sz="2200" spc="-10" dirty="0">
                <a:solidFill>
                  <a:srgbClr val="9CACBA"/>
                </a:solidFill>
                <a:latin typeface="Calibri"/>
                <a:cs typeface="Calibri"/>
              </a:rPr>
              <a:t> </a:t>
            </a:r>
            <a:r>
              <a:rPr sz="2200" spc="-155" dirty="0">
                <a:solidFill>
                  <a:srgbClr val="505D69"/>
                </a:solidFill>
                <a:latin typeface="Calibri"/>
                <a:cs typeface="Calibri"/>
              </a:rPr>
              <a:t>a</a:t>
            </a:r>
            <a:r>
              <a:rPr sz="2200" spc="-145" dirty="0">
                <a:solidFill>
                  <a:srgbClr val="505D69"/>
                </a:solidFill>
                <a:latin typeface="Calibri"/>
                <a:cs typeface="Calibri"/>
              </a:rPr>
              <a:t> </a:t>
            </a:r>
            <a:r>
              <a:rPr sz="2200" spc="-80" dirty="0">
                <a:solidFill>
                  <a:srgbClr val="161616"/>
                </a:solidFill>
                <a:latin typeface="Calibri"/>
                <a:cs typeface="Calibri"/>
              </a:rPr>
              <a:t>'Person'.</a:t>
            </a:r>
            <a:endParaRPr sz="2200" dirty="0">
              <a:latin typeface="Calibri"/>
              <a:cs typeface="Calibri"/>
            </a:endParaRPr>
          </a:p>
        </p:txBody>
      </p:sp>
      <p:sp>
        <p:nvSpPr>
          <p:cNvPr id="22" name="object 22"/>
          <p:cNvSpPr txBox="1"/>
          <p:nvPr/>
        </p:nvSpPr>
        <p:spPr>
          <a:xfrm>
            <a:off x="2747218" y="4754033"/>
            <a:ext cx="2369185" cy="469900"/>
          </a:xfrm>
          <a:prstGeom prst="rect">
            <a:avLst/>
          </a:prstGeom>
        </p:spPr>
        <p:txBody>
          <a:bodyPr vert="horz" wrap="square" lIns="0" tIns="14604" rIns="0" bIns="0" rtlCol="0">
            <a:spAutoFit/>
          </a:bodyPr>
          <a:lstStyle/>
          <a:p>
            <a:pPr marL="12700">
              <a:lnSpc>
                <a:spcPct val="100000"/>
              </a:lnSpc>
              <a:spcBef>
                <a:spcPts val="114"/>
              </a:spcBef>
              <a:tabLst>
                <a:tab pos="389255" algn="l"/>
              </a:tabLst>
            </a:pPr>
            <a:r>
              <a:rPr sz="2900" spc="-25" dirty="0">
                <a:solidFill>
                  <a:srgbClr val="082A4B"/>
                </a:solidFill>
                <a:latin typeface="Calibri"/>
                <a:cs typeface="Calibri"/>
              </a:rPr>
              <a:t>4.</a:t>
            </a:r>
            <a:r>
              <a:rPr sz="2900" dirty="0">
                <a:solidFill>
                  <a:srgbClr val="082A4B"/>
                </a:solidFill>
                <a:latin typeface="Calibri"/>
                <a:cs typeface="Calibri"/>
              </a:rPr>
              <a:t>	</a:t>
            </a:r>
            <a:r>
              <a:rPr sz="2900" spc="114" dirty="0">
                <a:solidFill>
                  <a:srgbClr val="072441"/>
                </a:solidFill>
                <a:latin typeface="Calibri"/>
                <a:cs typeface="Calibri"/>
              </a:rPr>
              <a:t>Secure</a:t>
            </a:r>
            <a:r>
              <a:rPr sz="2900" spc="-45" dirty="0">
                <a:solidFill>
                  <a:srgbClr val="072441"/>
                </a:solidFill>
                <a:latin typeface="Calibri"/>
                <a:cs typeface="Calibri"/>
              </a:rPr>
              <a:t> </a:t>
            </a:r>
            <a:r>
              <a:rPr sz="2900" spc="50" dirty="0">
                <a:solidFill>
                  <a:srgbClr val="052844"/>
                </a:solidFill>
                <a:latin typeface="Calibri"/>
                <a:cs typeface="Calibri"/>
              </a:rPr>
              <a:t>Alert</a:t>
            </a:r>
            <a:endParaRPr sz="2900">
              <a:latin typeface="Calibri"/>
              <a:cs typeface="Calibri"/>
            </a:endParaRPr>
          </a:p>
        </p:txBody>
      </p:sp>
      <p:sp>
        <p:nvSpPr>
          <p:cNvPr id="23" name="object 23"/>
          <p:cNvSpPr txBox="1"/>
          <p:nvPr/>
        </p:nvSpPr>
        <p:spPr>
          <a:xfrm>
            <a:off x="6358218" y="4694766"/>
            <a:ext cx="9262110" cy="596900"/>
          </a:xfrm>
          <a:prstGeom prst="rect">
            <a:avLst/>
          </a:prstGeom>
        </p:spPr>
        <p:txBody>
          <a:bodyPr vert="horz" wrap="square" lIns="0" tIns="73660" rIns="0" bIns="0" rtlCol="0">
            <a:spAutoFit/>
          </a:bodyPr>
          <a:lstStyle/>
          <a:p>
            <a:pPr marL="12700" marR="5080" indent="7620">
              <a:lnSpc>
                <a:spcPts val="2000"/>
              </a:lnSpc>
              <a:spcBef>
                <a:spcPts val="580"/>
              </a:spcBef>
            </a:pPr>
            <a:r>
              <a:rPr sz="2050" spc="-75" dirty="0">
                <a:latin typeface="Calibri"/>
                <a:cs typeface="Calibri"/>
              </a:rPr>
              <a:t>If</a:t>
            </a:r>
            <a:r>
              <a:rPr sz="2050" spc="-105" dirty="0">
                <a:latin typeface="Calibri"/>
                <a:cs typeface="Calibri"/>
              </a:rPr>
              <a:t> </a:t>
            </a:r>
            <a:r>
              <a:rPr sz="2050" spc="-90" dirty="0">
                <a:latin typeface="Calibri"/>
                <a:cs typeface="Calibri"/>
              </a:rPr>
              <a:t>a</a:t>
            </a:r>
            <a:r>
              <a:rPr sz="2050" spc="-35" dirty="0">
                <a:latin typeface="Calibri"/>
                <a:cs typeface="Calibri"/>
              </a:rPr>
              <a:t> </a:t>
            </a:r>
            <a:r>
              <a:rPr sz="2050" spc="-95" dirty="0">
                <a:latin typeface="Calibri"/>
                <a:cs typeface="Calibri"/>
              </a:rPr>
              <a:t>person</a:t>
            </a:r>
            <a:r>
              <a:rPr sz="2050" spc="-25" dirty="0">
                <a:latin typeface="Calibri"/>
                <a:cs typeface="Calibri"/>
              </a:rPr>
              <a:t> </a:t>
            </a:r>
            <a:r>
              <a:rPr sz="2050" dirty="0">
                <a:latin typeface="Calibri"/>
                <a:cs typeface="Calibri"/>
              </a:rPr>
              <a:t>is</a:t>
            </a:r>
            <a:r>
              <a:rPr sz="2050" spc="-130" dirty="0">
                <a:latin typeface="Calibri"/>
                <a:cs typeface="Calibri"/>
              </a:rPr>
              <a:t> </a:t>
            </a:r>
            <a:r>
              <a:rPr sz="2050" spc="-80" dirty="0">
                <a:latin typeface="Calibri"/>
                <a:cs typeface="Calibri"/>
              </a:rPr>
              <a:t>confirmed,</a:t>
            </a:r>
            <a:r>
              <a:rPr sz="2050" spc="-30" dirty="0">
                <a:latin typeface="Calibri"/>
                <a:cs typeface="Calibri"/>
              </a:rPr>
              <a:t> </a:t>
            </a:r>
            <a:r>
              <a:rPr sz="2050" spc="-50" dirty="0">
                <a:latin typeface="Calibri"/>
                <a:cs typeface="Calibri"/>
              </a:rPr>
              <a:t>an</a:t>
            </a:r>
            <a:r>
              <a:rPr sz="2050" spc="-100" dirty="0">
                <a:latin typeface="Calibri"/>
                <a:cs typeface="Calibri"/>
              </a:rPr>
              <a:t> </a:t>
            </a:r>
            <a:r>
              <a:rPr sz="2050" spc="-70" dirty="0">
                <a:latin typeface="Calibri"/>
                <a:cs typeface="Calibri"/>
              </a:rPr>
              <a:t>image</a:t>
            </a:r>
            <a:r>
              <a:rPr sz="2050" spc="-45" dirty="0">
                <a:latin typeface="Calibri"/>
                <a:cs typeface="Calibri"/>
              </a:rPr>
              <a:t> </a:t>
            </a:r>
            <a:r>
              <a:rPr sz="2050" spc="-35" dirty="0">
                <a:latin typeface="Calibri"/>
                <a:cs typeface="Calibri"/>
              </a:rPr>
              <a:t>is</a:t>
            </a:r>
            <a:r>
              <a:rPr sz="2050" spc="-80" dirty="0">
                <a:latin typeface="Calibri"/>
                <a:cs typeface="Calibri"/>
              </a:rPr>
              <a:t> immediately</a:t>
            </a:r>
            <a:r>
              <a:rPr sz="2050" spc="-35" dirty="0">
                <a:latin typeface="Calibri"/>
                <a:cs typeface="Calibri"/>
              </a:rPr>
              <a:t> </a:t>
            </a:r>
            <a:r>
              <a:rPr sz="2050" spc="-55" dirty="0">
                <a:latin typeface="Calibri"/>
                <a:cs typeface="Calibri"/>
              </a:rPr>
              <a:t>uploaded</a:t>
            </a:r>
            <a:r>
              <a:rPr sz="2050" spc="-20" dirty="0">
                <a:latin typeface="Calibri"/>
                <a:cs typeface="Calibri"/>
              </a:rPr>
              <a:t> </a:t>
            </a:r>
            <a:r>
              <a:rPr sz="2050" spc="-160" dirty="0">
                <a:latin typeface="Calibri"/>
                <a:cs typeface="Calibri"/>
              </a:rPr>
              <a:t>to</a:t>
            </a:r>
            <a:r>
              <a:rPr sz="2050" spc="-5" dirty="0">
                <a:latin typeface="Calibri"/>
                <a:cs typeface="Calibri"/>
              </a:rPr>
              <a:t> </a:t>
            </a:r>
            <a:r>
              <a:rPr sz="2050" spc="-45" dirty="0">
                <a:latin typeface="Calibri"/>
                <a:cs typeface="Calibri"/>
              </a:rPr>
              <a:t>Cloud</a:t>
            </a:r>
            <a:r>
              <a:rPr sz="2050" spc="85" dirty="0">
                <a:latin typeface="Calibri"/>
                <a:cs typeface="Calibri"/>
              </a:rPr>
              <a:t> </a:t>
            </a:r>
            <a:r>
              <a:rPr sz="2050" spc="-95" dirty="0">
                <a:latin typeface="Calibri"/>
                <a:cs typeface="Calibri"/>
              </a:rPr>
              <a:t>Storage</a:t>
            </a:r>
            <a:r>
              <a:rPr sz="2050" spc="60" dirty="0">
                <a:latin typeface="Calibri"/>
                <a:cs typeface="Calibri"/>
              </a:rPr>
              <a:t> </a:t>
            </a:r>
            <a:r>
              <a:rPr sz="2050" spc="-100" dirty="0">
                <a:latin typeface="Calibri"/>
                <a:cs typeface="Calibri"/>
              </a:rPr>
              <a:t>and</a:t>
            </a:r>
            <a:r>
              <a:rPr sz="2050" spc="-35" dirty="0">
                <a:latin typeface="Calibri"/>
                <a:cs typeface="Calibri"/>
              </a:rPr>
              <a:t> </a:t>
            </a:r>
            <a:r>
              <a:rPr sz="2050" spc="-90" dirty="0">
                <a:latin typeface="Calibri"/>
                <a:cs typeface="Calibri"/>
              </a:rPr>
              <a:t>a</a:t>
            </a:r>
            <a:r>
              <a:rPr sz="2050" spc="-35" dirty="0">
                <a:latin typeface="Calibri"/>
                <a:cs typeface="Calibri"/>
              </a:rPr>
              <a:t> notification </a:t>
            </a:r>
            <a:r>
              <a:rPr sz="2050" dirty="0">
                <a:latin typeface="Calibri"/>
                <a:cs typeface="Calibri"/>
              </a:rPr>
              <a:t>is</a:t>
            </a:r>
            <a:r>
              <a:rPr sz="2050" spc="-120" dirty="0">
                <a:latin typeface="Calibri"/>
                <a:cs typeface="Calibri"/>
              </a:rPr>
              <a:t> </a:t>
            </a:r>
            <a:r>
              <a:rPr sz="2050" spc="-75" dirty="0">
                <a:solidFill>
                  <a:srgbClr val="111111"/>
                </a:solidFill>
                <a:latin typeface="Calibri"/>
                <a:cs typeface="Calibri"/>
              </a:rPr>
              <a:t>sent</a:t>
            </a:r>
            <a:r>
              <a:rPr sz="2050" spc="20" dirty="0">
                <a:solidFill>
                  <a:srgbClr val="111111"/>
                </a:solidFill>
                <a:latin typeface="Calibri"/>
                <a:cs typeface="Calibri"/>
              </a:rPr>
              <a:t> </a:t>
            </a:r>
            <a:r>
              <a:rPr sz="2050" spc="-100" dirty="0">
                <a:solidFill>
                  <a:srgbClr val="1C1C1C"/>
                </a:solidFill>
                <a:latin typeface="Calibri"/>
                <a:cs typeface="Calibri"/>
              </a:rPr>
              <a:t>to</a:t>
            </a:r>
            <a:r>
              <a:rPr sz="2050" spc="-40" dirty="0">
                <a:solidFill>
                  <a:srgbClr val="1C1C1C"/>
                </a:solidFill>
                <a:latin typeface="Calibri"/>
                <a:cs typeface="Calibri"/>
              </a:rPr>
              <a:t> </a:t>
            </a:r>
            <a:r>
              <a:rPr sz="2050" spc="-85" dirty="0">
                <a:solidFill>
                  <a:srgbClr val="181818"/>
                </a:solidFill>
                <a:latin typeface="Calibri"/>
                <a:cs typeface="Calibri"/>
              </a:rPr>
              <a:t>the</a:t>
            </a:r>
            <a:r>
              <a:rPr sz="2050" spc="-160" dirty="0">
                <a:solidFill>
                  <a:srgbClr val="181818"/>
                </a:solidFill>
                <a:latin typeface="Calibri"/>
                <a:cs typeface="Calibri"/>
              </a:rPr>
              <a:t> </a:t>
            </a:r>
            <a:r>
              <a:rPr sz="2050" spc="-65" dirty="0">
                <a:solidFill>
                  <a:srgbClr val="0C0C0C"/>
                </a:solidFill>
                <a:latin typeface="Calibri"/>
                <a:cs typeface="Calibri"/>
              </a:rPr>
              <a:t>mobile</a:t>
            </a:r>
            <a:r>
              <a:rPr sz="2050" spc="-30" dirty="0">
                <a:solidFill>
                  <a:srgbClr val="0C0C0C"/>
                </a:solidFill>
                <a:latin typeface="Calibri"/>
                <a:cs typeface="Calibri"/>
              </a:rPr>
              <a:t> </a:t>
            </a:r>
            <a:r>
              <a:rPr sz="2050" spc="-20" dirty="0">
                <a:latin typeface="Calibri"/>
                <a:cs typeface="Calibri"/>
              </a:rPr>
              <a:t>app.</a:t>
            </a:r>
            <a:endParaRPr sz="2050" dirty="0">
              <a:latin typeface="Calibri"/>
              <a:cs typeface="Calibri"/>
            </a:endParaRPr>
          </a:p>
        </p:txBody>
      </p:sp>
      <p:sp>
        <p:nvSpPr>
          <p:cNvPr id="24" name="object 24"/>
          <p:cNvSpPr txBox="1"/>
          <p:nvPr/>
        </p:nvSpPr>
        <p:spPr>
          <a:xfrm>
            <a:off x="2755553" y="5850466"/>
            <a:ext cx="2763520" cy="342900"/>
          </a:xfrm>
          <a:prstGeom prst="rect">
            <a:avLst/>
          </a:prstGeom>
        </p:spPr>
        <p:txBody>
          <a:bodyPr vert="horz" wrap="square" lIns="0" tIns="16510" rIns="0" bIns="0" rtlCol="0">
            <a:spAutoFit/>
          </a:bodyPr>
          <a:lstStyle/>
          <a:p>
            <a:pPr marL="12700">
              <a:lnSpc>
                <a:spcPct val="100000"/>
              </a:lnSpc>
              <a:spcBef>
                <a:spcPts val="130"/>
              </a:spcBef>
              <a:tabLst>
                <a:tab pos="371475" algn="l"/>
              </a:tabLst>
            </a:pPr>
            <a:r>
              <a:rPr sz="2050" spc="-25" dirty="0">
                <a:solidFill>
                  <a:srgbClr val="1D1D1D"/>
                </a:solidFill>
                <a:latin typeface="Calibri"/>
                <a:cs typeface="Calibri"/>
              </a:rPr>
              <a:t>5.</a:t>
            </a:r>
            <a:r>
              <a:rPr sz="2050" dirty="0">
                <a:solidFill>
                  <a:srgbClr val="1D1D1D"/>
                </a:solidFill>
                <a:latin typeface="Calibri"/>
                <a:cs typeface="Calibri"/>
              </a:rPr>
              <a:t>	</a:t>
            </a:r>
            <a:r>
              <a:rPr sz="2050" spc="484" dirty="0">
                <a:solidFill>
                  <a:srgbClr val="282828"/>
                </a:solidFill>
                <a:latin typeface="Calibri"/>
                <a:cs typeface="Calibri"/>
              </a:rPr>
              <a:t>User</a:t>
            </a:r>
            <a:r>
              <a:rPr sz="2050" spc="110" dirty="0">
                <a:solidFill>
                  <a:srgbClr val="282828"/>
                </a:solidFill>
                <a:latin typeface="Calibri"/>
                <a:cs typeface="Calibri"/>
              </a:rPr>
              <a:t> </a:t>
            </a:r>
            <a:r>
              <a:rPr sz="2050" spc="520" dirty="0">
                <a:solidFill>
                  <a:srgbClr val="1A1A1A"/>
                </a:solidFill>
                <a:latin typeface="Calibri"/>
                <a:cs typeface="Calibri"/>
              </a:rPr>
              <a:t>Response</a:t>
            </a:r>
            <a:endParaRPr sz="2050">
              <a:latin typeface="Calibri"/>
              <a:cs typeface="Calibri"/>
            </a:endParaRPr>
          </a:p>
        </p:txBody>
      </p:sp>
      <p:sp>
        <p:nvSpPr>
          <p:cNvPr id="25" name="object 25"/>
          <p:cNvSpPr txBox="1"/>
          <p:nvPr/>
        </p:nvSpPr>
        <p:spPr>
          <a:xfrm>
            <a:off x="6360760" y="5850466"/>
            <a:ext cx="4252595" cy="342900"/>
          </a:xfrm>
          <a:prstGeom prst="rect">
            <a:avLst/>
          </a:prstGeom>
        </p:spPr>
        <p:txBody>
          <a:bodyPr vert="horz" wrap="square" lIns="0" tIns="16510" rIns="0" bIns="0" rtlCol="0">
            <a:spAutoFit/>
          </a:bodyPr>
          <a:lstStyle/>
          <a:p>
            <a:pPr marL="12700">
              <a:lnSpc>
                <a:spcPct val="100000"/>
              </a:lnSpc>
              <a:spcBef>
                <a:spcPts val="130"/>
              </a:spcBef>
            </a:pPr>
            <a:r>
              <a:rPr sz="2050" spc="-60" dirty="0">
                <a:solidFill>
                  <a:srgbClr val="3A2311"/>
                </a:solidFill>
                <a:latin typeface="Calibri"/>
                <a:cs typeface="Calibri"/>
              </a:rPr>
              <a:t>The</a:t>
            </a:r>
            <a:r>
              <a:rPr sz="2050" spc="-55" dirty="0">
                <a:solidFill>
                  <a:srgbClr val="3A2311"/>
                </a:solidFill>
                <a:latin typeface="Calibri"/>
                <a:cs typeface="Calibri"/>
              </a:rPr>
              <a:t> </a:t>
            </a:r>
            <a:r>
              <a:rPr sz="2050" spc="-90" dirty="0">
                <a:solidFill>
                  <a:srgbClr val="877767"/>
                </a:solidFill>
                <a:latin typeface="Calibri"/>
                <a:cs typeface="Calibri"/>
              </a:rPr>
              <a:t>user</a:t>
            </a:r>
            <a:r>
              <a:rPr sz="2050" spc="-50" dirty="0">
                <a:solidFill>
                  <a:srgbClr val="877767"/>
                </a:solidFill>
                <a:latin typeface="Calibri"/>
                <a:cs typeface="Calibri"/>
              </a:rPr>
              <a:t> </a:t>
            </a:r>
            <a:r>
              <a:rPr sz="2050" spc="-65" dirty="0">
                <a:solidFill>
                  <a:srgbClr val="8E7764"/>
                </a:solidFill>
                <a:latin typeface="Calibri"/>
                <a:cs typeface="Calibri"/>
              </a:rPr>
              <a:t>taps</a:t>
            </a:r>
            <a:r>
              <a:rPr sz="2050" spc="-130" dirty="0">
                <a:solidFill>
                  <a:srgbClr val="8E7764"/>
                </a:solidFill>
                <a:latin typeface="Calibri"/>
                <a:cs typeface="Calibri"/>
              </a:rPr>
              <a:t> </a:t>
            </a:r>
            <a:r>
              <a:rPr sz="2050" spc="-55" dirty="0">
                <a:solidFill>
                  <a:srgbClr val="4B311D"/>
                </a:solidFill>
                <a:latin typeface="Calibri"/>
                <a:cs typeface="Calibri"/>
              </a:rPr>
              <a:t>'Talk'</a:t>
            </a:r>
            <a:r>
              <a:rPr sz="2050" spc="10" dirty="0">
                <a:solidFill>
                  <a:srgbClr val="4B311D"/>
                </a:solidFill>
                <a:latin typeface="Calibri"/>
                <a:cs typeface="Calibri"/>
              </a:rPr>
              <a:t> </a:t>
            </a:r>
            <a:r>
              <a:rPr sz="2050" spc="-65" dirty="0">
                <a:solidFill>
                  <a:srgbClr val="756454"/>
                </a:solidFill>
                <a:latin typeface="Calibri"/>
                <a:cs typeface="Calibri"/>
              </a:rPr>
              <a:t>on</a:t>
            </a:r>
            <a:r>
              <a:rPr sz="2050" spc="20" dirty="0">
                <a:solidFill>
                  <a:srgbClr val="756454"/>
                </a:solidFill>
                <a:latin typeface="Calibri"/>
                <a:cs typeface="Calibri"/>
              </a:rPr>
              <a:t> </a:t>
            </a:r>
            <a:r>
              <a:rPr sz="2050" spc="-120" dirty="0">
                <a:solidFill>
                  <a:srgbClr val="9A8779"/>
                </a:solidFill>
                <a:latin typeface="Calibri"/>
                <a:cs typeface="Calibri"/>
              </a:rPr>
              <a:t>the</a:t>
            </a:r>
            <a:r>
              <a:rPr sz="2050" spc="-90" dirty="0">
                <a:solidFill>
                  <a:srgbClr val="9A8779"/>
                </a:solidFill>
                <a:latin typeface="Calibri"/>
                <a:cs typeface="Calibri"/>
              </a:rPr>
              <a:t> </a:t>
            </a:r>
            <a:r>
              <a:rPr sz="2050" spc="-45" dirty="0">
                <a:solidFill>
                  <a:srgbClr val="998777"/>
                </a:solidFill>
                <a:latin typeface="Calibri"/>
                <a:cs typeface="Calibri"/>
              </a:rPr>
              <a:t>app</a:t>
            </a:r>
            <a:r>
              <a:rPr sz="2050" spc="-60" dirty="0">
                <a:solidFill>
                  <a:srgbClr val="998777"/>
                </a:solidFill>
                <a:latin typeface="Calibri"/>
                <a:cs typeface="Calibri"/>
              </a:rPr>
              <a:t> </a:t>
            </a:r>
            <a:r>
              <a:rPr sz="2050" spc="-50" dirty="0">
                <a:solidFill>
                  <a:srgbClr val="131313"/>
                </a:solidFill>
                <a:latin typeface="Calibri"/>
                <a:cs typeface="Calibri"/>
              </a:rPr>
              <a:t>notification.</a:t>
            </a:r>
            <a:endParaRPr sz="2050" dirty="0">
              <a:latin typeface="Calibri"/>
              <a:cs typeface="Calibri"/>
            </a:endParaRPr>
          </a:p>
        </p:txBody>
      </p:sp>
      <p:sp>
        <p:nvSpPr>
          <p:cNvPr id="26" name="object 26"/>
          <p:cNvSpPr txBox="1"/>
          <p:nvPr/>
        </p:nvSpPr>
        <p:spPr>
          <a:xfrm>
            <a:off x="2750628" y="7333191"/>
            <a:ext cx="3077210" cy="438150"/>
          </a:xfrm>
          <a:prstGeom prst="rect">
            <a:avLst/>
          </a:prstGeom>
        </p:spPr>
        <p:txBody>
          <a:bodyPr vert="horz" wrap="square" lIns="0" tIns="13335" rIns="0" bIns="0" rtlCol="0">
            <a:spAutoFit/>
          </a:bodyPr>
          <a:lstStyle/>
          <a:p>
            <a:pPr>
              <a:lnSpc>
                <a:spcPct val="100000"/>
              </a:lnSpc>
              <a:spcBef>
                <a:spcPts val="105"/>
              </a:spcBef>
              <a:tabLst>
                <a:tab pos="383540" algn="l"/>
                <a:tab pos="1059815" algn="l"/>
              </a:tabLst>
            </a:pPr>
            <a:r>
              <a:rPr sz="2700" spc="-25" dirty="0">
                <a:solidFill>
                  <a:srgbClr val="052A49"/>
                </a:solidFill>
                <a:latin typeface="Calibri"/>
                <a:cs typeface="Calibri"/>
              </a:rPr>
              <a:t>6.</a:t>
            </a:r>
            <a:r>
              <a:rPr sz="2700" dirty="0">
                <a:solidFill>
                  <a:srgbClr val="052A49"/>
                </a:solidFill>
                <a:latin typeface="Calibri"/>
                <a:cs typeface="Calibri"/>
              </a:rPr>
              <a:t>	</a:t>
            </a:r>
            <a:r>
              <a:rPr sz="2700" spc="-25" dirty="0">
                <a:solidFill>
                  <a:srgbClr val="0E2B46"/>
                </a:solidFill>
                <a:latin typeface="Calibri"/>
                <a:cs typeface="Calibri"/>
              </a:rPr>
              <a:t>The</a:t>
            </a:r>
            <a:r>
              <a:rPr sz="2700" dirty="0">
                <a:solidFill>
                  <a:srgbClr val="0E2B46"/>
                </a:solidFill>
                <a:latin typeface="Calibri"/>
                <a:cs typeface="Calibri"/>
              </a:rPr>
              <a:t>	</a:t>
            </a:r>
            <a:r>
              <a:rPr sz="2700" spc="165" dirty="0">
                <a:solidFill>
                  <a:srgbClr val="072138"/>
                </a:solidFill>
                <a:latin typeface="Calibri"/>
                <a:cs typeface="Calibri"/>
              </a:rPr>
              <a:t>State</a:t>
            </a:r>
            <a:r>
              <a:rPr sz="2700" spc="35" dirty="0">
                <a:solidFill>
                  <a:srgbClr val="072138"/>
                </a:solidFill>
                <a:latin typeface="Calibri"/>
                <a:cs typeface="Calibri"/>
              </a:rPr>
              <a:t> </a:t>
            </a:r>
            <a:r>
              <a:rPr sz="2700" spc="200" dirty="0">
                <a:solidFill>
                  <a:srgbClr val="0F2A44"/>
                </a:solidFill>
                <a:latin typeface="Calibri"/>
                <a:cs typeface="Calibri"/>
              </a:rPr>
              <a:t>Switch</a:t>
            </a:r>
            <a:endParaRPr sz="2700">
              <a:latin typeface="Calibri"/>
              <a:cs typeface="Calibri"/>
            </a:endParaRPr>
          </a:p>
        </p:txBody>
      </p:sp>
      <p:sp>
        <p:nvSpPr>
          <p:cNvPr id="27" name="object 27"/>
          <p:cNvSpPr txBox="1"/>
          <p:nvPr/>
        </p:nvSpPr>
        <p:spPr>
          <a:xfrm>
            <a:off x="6367016" y="7344127"/>
            <a:ext cx="5981065" cy="656590"/>
          </a:xfrm>
          <a:prstGeom prst="rect">
            <a:avLst/>
          </a:prstGeom>
        </p:spPr>
        <p:txBody>
          <a:bodyPr vert="horz" wrap="square" lIns="0" tIns="60960" rIns="0" bIns="0" rtlCol="0">
            <a:spAutoFit/>
          </a:bodyPr>
          <a:lstStyle/>
          <a:p>
            <a:pPr marR="5080" indent="10795">
              <a:lnSpc>
                <a:spcPts val="2300"/>
              </a:lnSpc>
              <a:spcBef>
                <a:spcPts val="480"/>
              </a:spcBef>
            </a:pPr>
            <a:r>
              <a:rPr sz="2200" spc="245" dirty="0">
                <a:solidFill>
                  <a:srgbClr val="0F243B"/>
                </a:solidFill>
                <a:latin typeface="Calibri"/>
                <a:cs typeface="Calibri"/>
              </a:rPr>
              <a:t>STOPS</a:t>
            </a:r>
            <a:r>
              <a:rPr sz="2200" spc="145" dirty="0">
                <a:solidFill>
                  <a:srgbClr val="0F243B"/>
                </a:solidFill>
                <a:latin typeface="Calibri"/>
                <a:cs typeface="Calibri"/>
              </a:rPr>
              <a:t> </a:t>
            </a:r>
            <a:r>
              <a:rPr sz="2200" spc="200" dirty="0">
                <a:solidFill>
                  <a:srgbClr val="0A2844"/>
                </a:solidFill>
                <a:latin typeface="Calibri"/>
                <a:cs typeface="Calibri"/>
              </a:rPr>
              <a:t>Al</a:t>
            </a:r>
            <a:r>
              <a:rPr sz="2200" spc="-10" dirty="0">
                <a:solidFill>
                  <a:srgbClr val="0A2844"/>
                </a:solidFill>
                <a:latin typeface="Calibri"/>
                <a:cs typeface="Calibri"/>
              </a:rPr>
              <a:t> </a:t>
            </a:r>
            <a:r>
              <a:rPr sz="2200" spc="140" dirty="0">
                <a:latin typeface="Calibri"/>
                <a:cs typeface="Calibri"/>
              </a:rPr>
              <a:t>processes</a:t>
            </a:r>
            <a:r>
              <a:rPr sz="2200" spc="270" dirty="0">
                <a:latin typeface="Calibri"/>
                <a:cs typeface="Calibri"/>
              </a:rPr>
              <a:t> </a:t>
            </a:r>
            <a:r>
              <a:rPr sz="2200" spc="114" dirty="0">
                <a:latin typeface="Calibri"/>
                <a:cs typeface="Calibri"/>
              </a:rPr>
              <a:t>and</a:t>
            </a:r>
            <a:r>
              <a:rPr sz="2200" spc="90" dirty="0">
                <a:latin typeface="Calibri"/>
                <a:cs typeface="Calibri"/>
              </a:rPr>
              <a:t> </a:t>
            </a:r>
            <a:r>
              <a:rPr sz="2200" spc="250" dirty="0">
                <a:solidFill>
                  <a:srgbClr val="11263B"/>
                </a:solidFill>
                <a:latin typeface="Calibri"/>
                <a:cs typeface="Calibri"/>
              </a:rPr>
              <a:t>STARTS</a:t>
            </a:r>
            <a:r>
              <a:rPr sz="2200" spc="75" dirty="0">
                <a:solidFill>
                  <a:srgbClr val="11263B"/>
                </a:solidFill>
                <a:latin typeface="Calibri"/>
                <a:cs typeface="Calibri"/>
              </a:rPr>
              <a:t> </a:t>
            </a:r>
            <a:r>
              <a:rPr sz="2200" spc="175" dirty="0">
                <a:solidFill>
                  <a:srgbClr val="081C34"/>
                </a:solidFill>
                <a:latin typeface="Calibri"/>
                <a:cs typeface="Calibri"/>
              </a:rPr>
              <a:t>STREAMING </a:t>
            </a:r>
            <a:r>
              <a:rPr sz="2200" spc="80" dirty="0">
                <a:latin typeface="Calibri"/>
                <a:cs typeface="Calibri"/>
              </a:rPr>
              <a:t>live</a:t>
            </a:r>
            <a:r>
              <a:rPr sz="2200" spc="195" dirty="0">
                <a:latin typeface="Calibri"/>
                <a:cs typeface="Calibri"/>
              </a:rPr>
              <a:t> </a:t>
            </a:r>
            <a:r>
              <a:rPr sz="2200" spc="80" dirty="0">
                <a:latin typeface="Calibri"/>
                <a:cs typeface="Calibri"/>
              </a:rPr>
              <a:t>video</a:t>
            </a:r>
            <a:r>
              <a:rPr sz="2200" spc="250" dirty="0">
                <a:latin typeface="Calibri"/>
                <a:cs typeface="Calibri"/>
              </a:rPr>
              <a:t> </a:t>
            </a:r>
            <a:r>
              <a:rPr sz="2200" spc="135" dirty="0">
                <a:latin typeface="Calibri"/>
                <a:cs typeface="Calibri"/>
              </a:rPr>
              <a:t>(MJPEG)</a:t>
            </a:r>
            <a:r>
              <a:rPr sz="2200" spc="265" dirty="0">
                <a:latin typeface="Calibri"/>
                <a:cs typeface="Calibri"/>
              </a:rPr>
              <a:t> </a:t>
            </a:r>
            <a:r>
              <a:rPr sz="2200" spc="114" dirty="0">
                <a:latin typeface="Calibri"/>
                <a:cs typeface="Calibri"/>
              </a:rPr>
              <a:t>and</a:t>
            </a:r>
            <a:r>
              <a:rPr sz="2200" spc="75" dirty="0">
                <a:latin typeface="Calibri"/>
                <a:cs typeface="Calibri"/>
              </a:rPr>
              <a:t> </a:t>
            </a:r>
            <a:r>
              <a:rPr sz="2200" spc="95" dirty="0">
                <a:latin typeface="Calibri"/>
                <a:cs typeface="Calibri"/>
              </a:rPr>
              <a:t>audio</a:t>
            </a:r>
            <a:r>
              <a:rPr sz="2200" spc="229" dirty="0">
                <a:latin typeface="Calibri"/>
                <a:cs typeface="Calibri"/>
              </a:rPr>
              <a:t> </a:t>
            </a:r>
            <a:r>
              <a:rPr sz="2200" spc="90" dirty="0">
                <a:latin typeface="Calibri"/>
                <a:cs typeface="Calibri"/>
              </a:rPr>
              <a:t>(UDP).</a:t>
            </a:r>
            <a:endParaRPr sz="2200">
              <a:latin typeface="Calibri"/>
              <a:cs typeface="Calibri"/>
            </a:endParaRPr>
          </a:p>
        </p:txBody>
      </p:sp>
      <p:sp>
        <p:nvSpPr>
          <p:cNvPr id="28" name="object 28"/>
          <p:cNvSpPr txBox="1"/>
          <p:nvPr/>
        </p:nvSpPr>
        <p:spPr>
          <a:xfrm>
            <a:off x="2743535" y="8786635"/>
            <a:ext cx="2932430" cy="332740"/>
          </a:xfrm>
          <a:prstGeom prst="rect">
            <a:avLst/>
          </a:prstGeom>
        </p:spPr>
        <p:txBody>
          <a:bodyPr vert="horz" wrap="square" lIns="0" tIns="13970" rIns="0" bIns="0" rtlCol="0">
            <a:spAutoFit/>
          </a:bodyPr>
          <a:lstStyle/>
          <a:p>
            <a:pPr marL="12700">
              <a:lnSpc>
                <a:spcPct val="100000"/>
              </a:lnSpc>
              <a:spcBef>
                <a:spcPts val="110"/>
              </a:spcBef>
            </a:pPr>
            <a:r>
              <a:rPr sz="2000" spc="80" dirty="0">
                <a:solidFill>
                  <a:srgbClr val="0A2338"/>
                </a:solidFill>
                <a:latin typeface="Calibri"/>
                <a:cs typeface="Calibri"/>
              </a:rPr>
              <a:t>7.</a:t>
            </a:r>
            <a:r>
              <a:rPr sz="2000" spc="400" dirty="0">
                <a:solidFill>
                  <a:srgbClr val="0A2338"/>
                </a:solidFill>
                <a:latin typeface="Calibri"/>
                <a:cs typeface="Calibri"/>
              </a:rPr>
              <a:t> </a:t>
            </a:r>
            <a:r>
              <a:rPr sz="2000" spc="475" dirty="0">
                <a:solidFill>
                  <a:srgbClr val="0A263D"/>
                </a:solidFill>
                <a:latin typeface="Calibri"/>
                <a:cs typeface="Calibri"/>
              </a:rPr>
              <a:t>Return</a:t>
            </a:r>
            <a:r>
              <a:rPr sz="2000" spc="105" dirty="0">
                <a:solidFill>
                  <a:srgbClr val="0A263D"/>
                </a:solidFill>
                <a:latin typeface="Calibri"/>
                <a:cs typeface="Calibri"/>
              </a:rPr>
              <a:t> </a:t>
            </a:r>
            <a:r>
              <a:rPr sz="2000" spc="450" dirty="0">
                <a:solidFill>
                  <a:srgbClr val="05263D"/>
                </a:solidFill>
                <a:latin typeface="Calibri"/>
                <a:cs typeface="Calibri"/>
              </a:rPr>
              <a:t>to</a:t>
            </a:r>
            <a:r>
              <a:rPr sz="2000" spc="75" dirty="0">
                <a:solidFill>
                  <a:srgbClr val="05263D"/>
                </a:solidFill>
                <a:latin typeface="Calibri"/>
                <a:cs typeface="Calibri"/>
              </a:rPr>
              <a:t> </a:t>
            </a:r>
            <a:r>
              <a:rPr sz="2000" spc="465" dirty="0">
                <a:solidFill>
                  <a:srgbClr val="0F2D46"/>
                </a:solidFill>
                <a:latin typeface="Calibri"/>
                <a:cs typeface="Calibri"/>
              </a:rPr>
              <a:t>Sentry</a:t>
            </a:r>
            <a:endParaRPr sz="2000">
              <a:latin typeface="Calibri"/>
              <a:cs typeface="Calibri"/>
            </a:endParaRPr>
          </a:p>
        </p:txBody>
      </p:sp>
      <p:sp>
        <p:nvSpPr>
          <p:cNvPr id="29" name="object 29"/>
          <p:cNvSpPr txBox="1"/>
          <p:nvPr/>
        </p:nvSpPr>
        <p:spPr>
          <a:xfrm>
            <a:off x="6418563" y="8786635"/>
            <a:ext cx="8180070" cy="332740"/>
          </a:xfrm>
          <a:prstGeom prst="rect">
            <a:avLst/>
          </a:prstGeom>
        </p:spPr>
        <p:txBody>
          <a:bodyPr vert="horz" wrap="square" lIns="0" tIns="13970" rIns="0" bIns="0" rtlCol="0">
            <a:spAutoFit/>
          </a:bodyPr>
          <a:lstStyle/>
          <a:p>
            <a:pPr marL="12700">
              <a:lnSpc>
                <a:spcPct val="100000"/>
              </a:lnSpc>
              <a:spcBef>
                <a:spcPts val="110"/>
              </a:spcBef>
            </a:pPr>
            <a:r>
              <a:rPr sz="2000" spc="-140" dirty="0">
                <a:latin typeface="Calibri"/>
                <a:cs typeface="Calibri"/>
              </a:rPr>
              <a:t>When</a:t>
            </a:r>
            <a:r>
              <a:rPr sz="2000" spc="5" dirty="0">
                <a:latin typeface="Calibri"/>
                <a:cs typeface="Calibri"/>
              </a:rPr>
              <a:t> </a:t>
            </a:r>
            <a:r>
              <a:rPr sz="2000" spc="-50" dirty="0">
                <a:latin typeface="Calibri"/>
                <a:cs typeface="Calibri"/>
              </a:rPr>
              <a:t>the</a:t>
            </a:r>
            <a:r>
              <a:rPr sz="2000" spc="-65" dirty="0">
                <a:latin typeface="Calibri"/>
                <a:cs typeface="Calibri"/>
              </a:rPr>
              <a:t> </a:t>
            </a:r>
            <a:r>
              <a:rPr sz="2000" spc="-70" dirty="0">
                <a:latin typeface="Calibri"/>
                <a:cs typeface="Calibri"/>
              </a:rPr>
              <a:t>user</a:t>
            </a:r>
            <a:r>
              <a:rPr sz="2000" spc="-55" dirty="0">
                <a:latin typeface="Calibri"/>
                <a:cs typeface="Calibri"/>
              </a:rPr>
              <a:t> </a:t>
            </a:r>
            <a:r>
              <a:rPr sz="2000" spc="-20" dirty="0">
                <a:latin typeface="Calibri"/>
                <a:cs typeface="Calibri"/>
              </a:rPr>
              <a:t>hangs</a:t>
            </a:r>
            <a:r>
              <a:rPr sz="2000" spc="-90" dirty="0">
                <a:latin typeface="Calibri"/>
                <a:cs typeface="Calibri"/>
              </a:rPr>
              <a:t> </a:t>
            </a:r>
            <a:r>
              <a:rPr sz="2000" spc="-35" dirty="0">
                <a:latin typeface="Calibri"/>
                <a:cs typeface="Calibri"/>
              </a:rPr>
              <a:t>up,</a:t>
            </a:r>
            <a:r>
              <a:rPr sz="2000" spc="-80" dirty="0">
                <a:latin typeface="Calibri"/>
                <a:cs typeface="Calibri"/>
              </a:rPr>
              <a:t> </a:t>
            </a:r>
            <a:r>
              <a:rPr sz="2000" spc="-65" dirty="0">
                <a:latin typeface="Calibri"/>
                <a:cs typeface="Calibri"/>
              </a:rPr>
              <a:t>the</a:t>
            </a:r>
            <a:r>
              <a:rPr sz="2000" spc="-85" dirty="0">
                <a:latin typeface="Calibri"/>
                <a:cs typeface="Calibri"/>
              </a:rPr>
              <a:t> </a:t>
            </a:r>
            <a:r>
              <a:rPr sz="2000" spc="-50" dirty="0">
                <a:latin typeface="Calibri"/>
                <a:cs typeface="Calibri"/>
              </a:rPr>
              <a:t>device </a:t>
            </a:r>
            <a:r>
              <a:rPr sz="2000" spc="-65" dirty="0">
                <a:solidFill>
                  <a:srgbClr val="0A0A0A"/>
                </a:solidFill>
                <a:latin typeface="Calibri"/>
                <a:cs typeface="Calibri"/>
              </a:rPr>
              <a:t>returns</a:t>
            </a:r>
            <a:r>
              <a:rPr sz="2000" spc="35" dirty="0">
                <a:solidFill>
                  <a:srgbClr val="0A0A0A"/>
                </a:solidFill>
                <a:latin typeface="Calibri"/>
                <a:cs typeface="Calibri"/>
              </a:rPr>
              <a:t> </a:t>
            </a:r>
            <a:r>
              <a:rPr sz="2000" spc="-90" dirty="0">
                <a:solidFill>
                  <a:srgbClr val="1F1F1F"/>
                </a:solidFill>
                <a:latin typeface="Calibri"/>
                <a:cs typeface="Calibri"/>
              </a:rPr>
              <a:t>to</a:t>
            </a:r>
            <a:r>
              <a:rPr sz="2000" spc="-70" dirty="0">
                <a:solidFill>
                  <a:srgbClr val="1F1F1F"/>
                </a:solidFill>
                <a:latin typeface="Calibri"/>
                <a:cs typeface="Calibri"/>
              </a:rPr>
              <a:t> </a:t>
            </a:r>
            <a:r>
              <a:rPr sz="2000" spc="-55" dirty="0">
                <a:latin typeface="Calibri"/>
                <a:cs typeface="Calibri"/>
              </a:rPr>
              <a:t>Deep </a:t>
            </a:r>
            <a:r>
              <a:rPr sz="2000" spc="-30" dirty="0">
                <a:latin typeface="Calibri"/>
                <a:cs typeface="Calibri"/>
              </a:rPr>
              <a:t>Sleep,</a:t>
            </a:r>
            <a:r>
              <a:rPr sz="2000" spc="-85" dirty="0">
                <a:latin typeface="Calibri"/>
                <a:cs typeface="Calibri"/>
              </a:rPr>
              <a:t> </a:t>
            </a:r>
            <a:r>
              <a:rPr sz="2000" spc="-30" dirty="0">
                <a:latin typeface="Calibri"/>
                <a:cs typeface="Calibri"/>
              </a:rPr>
              <a:t>awaiting</a:t>
            </a:r>
            <a:r>
              <a:rPr sz="2000" spc="60" dirty="0">
                <a:latin typeface="Calibri"/>
                <a:cs typeface="Calibri"/>
              </a:rPr>
              <a:t> </a:t>
            </a:r>
            <a:r>
              <a:rPr sz="2000" spc="-95" dirty="0">
                <a:latin typeface="Calibri"/>
                <a:cs typeface="Calibri"/>
              </a:rPr>
              <a:t>the</a:t>
            </a:r>
            <a:r>
              <a:rPr sz="2000" spc="-30" dirty="0">
                <a:latin typeface="Calibri"/>
                <a:cs typeface="Calibri"/>
              </a:rPr>
              <a:t> </a:t>
            </a:r>
            <a:r>
              <a:rPr sz="2000" spc="-40" dirty="0">
                <a:latin typeface="Calibri"/>
                <a:cs typeface="Calibri"/>
              </a:rPr>
              <a:t>next</a:t>
            </a:r>
            <a:r>
              <a:rPr sz="2000" spc="-35" dirty="0">
                <a:latin typeface="Calibri"/>
                <a:cs typeface="Calibri"/>
              </a:rPr>
              <a:t> </a:t>
            </a:r>
            <a:r>
              <a:rPr sz="2000" spc="-10" dirty="0">
                <a:latin typeface="Calibri"/>
                <a:cs typeface="Calibri"/>
              </a:rPr>
              <a:t>event.</a:t>
            </a:r>
            <a:endParaRPr sz="2000">
              <a:latin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2770010473"/>
              </p:ext>
            </p:extLst>
          </p:nvPr>
        </p:nvGraphicFramePr>
        <p:xfrm>
          <a:off x="675216" y="1727200"/>
          <a:ext cx="16105505" cy="7365364"/>
        </p:xfrm>
        <a:graphic>
          <a:graphicData uri="http://schemas.openxmlformats.org/drawingml/2006/table">
            <a:tbl>
              <a:tblPr firstRow="1" bandRow="1">
                <a:tableStyleId>{2D5ABB26-0587-4C30-8999-92F81FD0307C}</a:tableStyleId>
              </a:tblPr>
              <a:tblGrid>
                <a:gridCol w="5335905">
                  <a:extLst>
                    <a:ext uri="{9D8B030D-6E8A-4147-A177-3AD203B41FA5}">
                      <a16:colId xmlns:a16="http://schemas.microsoft.com/office/drawing/2014/main" val="20000"/>
                    </a:ext>
                  </a:extLst>
                </a:gridCol>
                <a:gridCol w="5397500">
                  <a:extLst>
                    <a:ext uri="{9D8B030D-6E8A-4147-A177-3AD203B41FA5}">
                      <a16:colId xmlns:a16="http://schemas.microsoft.com/office/drawing/2014/main" val="20001"/>
                    </a:ext>
                  </a:extLst>
                </a:gridCol>
                <a:gridCol w="5372100">
                  <a:extLst>
                    <a:ext uri="{9D8B030D-6E8A-4147-A177-3AD203B41FA5}">
                      <a16:colId xmlns:a16="http://schemas.microsoft.com/office/drawing/2014/main" val="20002"/>
                    </a:ext>
                  </a:extLst>
                </a:gridCol>
              </a:tblGrid>
              <a:tr h="1244600">
                <a:tc>
                  <a:txBody>
                    <a:bodyPr/>
                    <a:lstStyle/>
                    <a:p>
                      <a:pPr marL="152400" marR="1226820" indent="-20955">
                        <a:lnSpc>
                          <a:spcPts val="3650"/>
                        </a:lnSpc>
                        <a:spcBef>
                          <a:spcPts val="1245"/>
                        </a:spcBef>
                      </a:pPr>
                      <a:r>
                        <a:rPr sz="3250" dirty="0">
                          <a:solidFill>
                            <a:srgbClr val="2A2A2A"/>
                          </a:solidFill>
                          <a:latin typeface="Arial MT"/>
                          <a:cs typeface="Arial MT"/>
                        </a:rPr>
                        <a:t>Commercial</a:t>
                      </a:r>
                      <a:r>
                        <a:rPr sz="3250" spc="250" dirty="0">
                          <a:solidFill>
                            <a:srgbClr val="2A2A2A"/>
                          </a:solidFill>
                          <a:latin typeface="Arial MT"/>
                          <a:cs typeface="Arial MT"/>
                        </a:rPr>
                        <a:t> </a:t>
                      </a:r>
                      <a:r>
                        <a:rPr sz="3250" spc="-10" dirty="0">
                          <a:solidFill>
                            <a:srgbClr val="2A2A2A"/>
                          </a:solidFill>
                          <a:latin typeface="Arial MT"/>
                          <a:cs typeface="Arial MT"/>
                        </a:rPr>
                        <a:t>Systems </a:t>
                      </a:r>
                      <a:r>
                        <a:rPr sz="3250" dirty="0">
                          <a:solidFill>
                            <a:srgbClr val="2D2D2D"/>
                          </a:solidFill>
                          <a:latin typeface="Arial MT"/>
                          <a:cs typeface="Arial MT"/>
                        </a:rPr>
                        <a:t>(e.g.,</a:t>
                      </a:r>
                      <a:r>
                        <a:rPr sz="3250" spc="-195" dirty="0">
                          <a:solidFill>
                            <a:srgbClr val="2D2D2D"/>
                          </a:solidFill>
                          <a:latin typeface="Arial MT"/>
                          <a:cs typeface="Arial MT"/>
                        </a:rPr>
                        <a:t> </a:t>
                      </a:r>
                      <a:r>
                        <a:rPr sz="3250" spc="-40" dirty="0">
                          <a:solidFill>
                            <a:srgbClr val="2A2A2A"/>
                          </a:solidFill>
                          <a:latin typeface="Arial MT"/>
                          <a:cs typeface="Arial MT"/>
                        </a:rPr>
                        <a:t>Ring,</a:t>
                      </a:r>
                      <a:r>
                        <a:rPr sz="3250" spc="-254" dirty="0">
                          <a:solidFill>
                            <a:srgbClr val="2A2A2A"/>
                          </a:solidFill>
                          <a:latin typeface="Arial MT"/>
                          <a:cs typeface="Arial MT"/>
                        </a:rPr>
                        <a:t> </a:t>
                      </a:r>
                      <a:r>
                        <a:rPr sz="3250" spc="-10" dirty="0">
                          <a:solidFill>
                            <a:srgbClr val="2D2D2D"/>
                          </a:solidFill>
                          <a:latin typeface="Arial MT"/>
                          <a:cs typeface="Arial MT"/>
                        </a:rPr>
                        <a:t>Nest)</a:t>
                      </a:r>
                      <a:endParaRPr sz="3250">
                        <a:latin typeface="Arial MT"/>
                        <a:cs typeface="Arial MT"/>
                      </a:endParaRPr>
                    </a:p>
                  </a:txBody>
                  <a:tcPr marL="0" marR="0" marT="158115" marB="0">
                    <a:lnR w="6350">
                      <a:solidFill>
                        <a:srgbClr val="7C7774"/>
                      </a:solidFill>
                      <a:prstDash val="solid"/>
                    </a:lnR>
                    <a:lnB w="6350">
                      <a:solidFill>
                        <a:srgbClr val="7C7774"/>
                      </a:solidFill>
                      <a:prstDash val="solid"/>
                    </a:lnB>
                  </a:tcPr>
                </a:tc>
                <a:tc>
                  <a:txBody>
                    <a:bodyPr/>
                    <a:lstStyle/>
                    <a:p>
                      <a:pPr marL="161290">
                        <a:lnSpc>
                          <a:spcPct val="100000"/>
                        </a:lnSpc>
                        <a:spcBef>
                          <a:spcPts val="2715"/>
                        </a:spcBef>
                      </a:pPr>
                      <a:r>
                        <a:rPr sz="3250" spc="160" dirty="0">
                          <a:solidFill>
                            <a:srgbClr val="2A2A2A"/>
                          </a:solidFill>
                          <a:latin typeface="Calibri"/>
                          <a:cs typeface="Calibri"/>
                        </a:rPr>
                        <a:t>Standard</a:t>
                      </a:r>
                      <a:r>
                        <a:rPr sz="3250" spc="210" dirty="0">
                          <a:solidFill>
                            <a:srgbClr val="2A2A2A"/>
                          </a:solidFill>
                          <a:latin typeface="Calibri"/>
                          <a:cs typeface="Calibri"/>
                        </a:rPr>
                        <a:t> </a:t>
                      </a:r>
                      <a:r>
                        <a:rPr sz="3250" spc="405" dirty="0">
                          <a:solidFill>
                            <a:srgbClr val="2A2A2A"/>
                          </a:solidFill>
                          <a:latin typeface="Calibri"/>
                          <a:cs typeface="Calibri"/>
                        </a:rPr>
                        <a:t>CCTV</a:t>
                      </a:r>
                      <a:endParaRPr sz="3250">
                        <a:latin typeface="Calibri"/>
                        <a:cs typeface="Calibri"/>
                      </a:endParaRPr>
                    </a:p>
                  </a:txBody>
                  <a:tcPr marL="0" marR="0" marT="344805" marB="0">
                    <a:lnL w="6350">
                      <a:solidFill>
                        <a:srgbClr val="7C7774"/>
                      </a:solidFill>
                      <a:prstDash val="solid"/>
                    </a:lnL>
                    <a:lnR w="28575">
                      <a:solidFill>
                        <a:srgbClr val="234860"/>
                      </a:solidFill>
                      <a:prstDash val="solid"/>
                    </a:lnR>
                    <a:lnB w="6350">
                      <a:solidFill>
                        <a:srgbClr val="7C7774"/>
                      </a:solidFill>
                      <a:prstDash val="solid"/>
                    </a:lnB>
                  </a:tcPr>
                </a:tc>
                <a:tc>
                  <a:txBody>
                    <a:bodyPr/>
                    <a:lstStyle/>
                    <a:p>
                      <a:pPr marL="206375">
                        <a:lnSpc>
                          <a:spcPts val="3775"/>
                        </a:lnSpc>
                        <a:spcBef>
                          <a:spcPts val="915"/>
                        </a:spcBef>
                      </a:pPr>
                      <a:r>
                        <a:rPr sz="3250" spc="-10" dirty="0">
                          <a:solidFill>
                            <a:srgbClr val="2D2D2D"/>
                          </a:solidFill>
                          <a:latin typeface="Arial MT"/>
                          <a:cs typeface="Arial MT"/>
                        </a:rPr>
                        <a:t>EagleEye</a:t>
                      </a:r>
                      <a:endParaRPr sz="3250">
                        <a:latin typeface="Arial MT"/>
                        <a:cs typeface="Arial MT"/>
                      </a:endParaRPr>
                    </a:p>
                    <a:p>
                      <a:pPr marL="213995">
                        <a:lnSpc>
                          <a:spcPts val="3715"/>
                        </a:lnSpc>
                      </a:pPr>
                      <a:r>
                        <a:rPr sz="3200" dirty="0">
                          <a:solidFill>
                            <a:srgbClr val="2B2B2B"/>
                          </a:solidFill>
                          <a:latin typeface="Arial MT"/>
                          <a:cs typeface="Arial MT"/>
                        </a:rPr>
                        <a:t>(Our</a:t>
                      </a:r>
                      <a:r>
                        <a:rPr sz="3200" spc="50" dirty="0">
                          <a:solidFill>
                            <a:srgbClr val="2B2B2B"/>
                          </a:solidFill>
                          <a:latin typeface="Arial MT"/>
                          <a:cs typeface="Arial MT"/>
                        </a:rPr>
                        <a:t> </a:t>
                      </a:r>
                      <a:r>
                        <a:rPr sz="3200" spc="70" dirty="0">
                          <a:solidFill>
                            <a:srgbClr val="2A2A2A"/>
                          </a:solidFill>
                          <a:latin typeface="Arial MT"/>
                          <a:cs typeface="Arial MT"/>
                        </a:rPr>
                        <a:t>Contribution)</a:t>
                      </a:r>
                      <a:endParaRPr sz="3200">
                        <a:latin typeface="Arial MT"/>
                        <a:cs typeface="Arial MT"/>
                      </a:endParaRPr>
                    </a:p>
                  </a:txBody>
                  <a:tcPr marL="0" marR="0" marT="116205" marB="0">
                    <a:lnL w="28575">
                      <a:solidFill>
                        <a:srgbClr val="234860"/>
                      </a:solidFill>
                      <a:prstDash val="solid"/>
                    </a:lnL>
                    <a:lnR w="28575">
                      <a:solidFill>
                        <a:srgbClr val="234860"/>
                      </a:solidFill>
                      <a:prstDash val="solid"/>
                    </a:lnR>
                    <a:lnT w="28575">
                      <a:solidFill>
                        <a:srgbClr val="234860"/>
                      </a:solidFill>
                      <a:prstDash val="solid"/>
                    </a:lnT>
                  </a:tcPr>
                </a:tc>
                <a:extLst>
                  <a:ext uri="{0D108BD9-81ED-4DB2-BD59-A6C34878D82A}">
                    <a16:rowId xmlns:a16="http://schemas.microsoft.com/office/drawing/2014/main" val="10000"/>
                  </a:ext>
                </a:extLst>
              </a:tr>
              <a:tr h="3301365">
                <a:tc>
                  <a:txBody>
                    <a:bodyPr/>
                    <a:lstStyle/>
                    <a:p>
                      <a:pPr marL="130810">
                        <a:lnSpc>
                          <a:spcPts val="3510"/>
                        </a:lnSpc>
                      </a:pPr>
                      <a:r>
                        <a:rPr sz="3200" spc="-10" dirty="0">
                          <a:solidFill>
                            <a:srgbClr val="282828"/>
                          </a:solidFill>
                          <a:latin typeface="Calibri"/>
                          <a:cs typeface="Calibri"/>
                        </a:rPr>
                        <a:t>Pros:</a:t>
                      </a:r>
                      <a:endParaRPr sz="3200" dirty="0">
                        <a:latin typeface="Calibri"/>
                        <a:cs typeface="Calibri"/>
                      </a:endParaRPr>
                    </a:p>
                    <a:p>
                      <a:pPr marL="135890" marR="1049020" indent="-5080">
                        <a:lnSpc>
                          <a:spcPts val="3500"/>
                        </a:lnSpc>
                        <a:spcBef>
                          <a:spcPts val="155"/>
                        </a:spcBef>
                      </a:pPr>
                      <a:r>
                        <a:rPr sz="3100" spc="-60" dirty="0">
                          <a:latin typeface="Calibri"/>
                          <a:cs typeface="Calibri"/>
                        </a:rPr>
                        <a:t>Excellent</a:t>
                      </a:r>
                      <a:r>
                        <a:rPr sz="3100" spc="-50" dirty="0">
                          <a:latin typeface="Calibri"/>
                          <a:cs typeface="Calibri"/>
                        </a:rPr>
                        <a:t> </a:t>
                      </a:r>
                      <a:r>
                        <a:rPr sz="3100" spc="-114" dirty="0">
                          <a:latin typeface="Calibri"/>
                          <a:cs typeface="Calibri"/>
                        </a:rPr>
                        <a:t>features,</a:t>
                      </a:r>
                      <a:r>
                        <a:rPr sz="3100" spc="-60" dirty="0">
                          <a:latin typeface="Calibri"/>
                          <a:cs typeface="Calibri"/>
                        </a:rPr>
                        <a:t> </a:t>
                      </a:r>
                      <a:r>
                        <a:rPr sz="3100" spc="-50" dirty="0">
                          <a:latin typeface="Calibri"/>
                          <a:cs typeface="Calibri"/>
                        </a:rPr>
                        <a:t>polished </a:t>
                      </a:r>
                      <a:r>
                        <a:rPr sz="3100" spc="-70" dirty="0">
                          <a:latin typeface="Calibri"/>
                          <a:cs typeface="Calibri"/>
                        </a:rPr>
                        <a:t>user</a:t>
                      </a:r>
                      <a:r>
                        <a:rPr sz="3100" spc="-100" dirty="0">
                          <a:latin typeface="Calibri"/>
                          <a:cs typeface="Calibri"/>
                        </a:rPr>
                        <a:t> </a:t>
                      </a:r>
                      <a:r>
                        <a:rPr sz="3100" spc="-20" dirty="0">
                          <a:latin typeface="Calibri"/>
                          <a:cs typeface="Calibri"/>
                        </a:rPr>
                        <a:t>experience.</a:t>
                      </a:r>
                      <a:endParaRPr sz="3100" dirty="0">
                        <a:latin typeface="Calibri"/>
                        <a:cs typeface="Calibri"/>
                      </a:endParaRPr>
                    </a:p>
                    <a:p>
                      <a:pPr marL="133985">
                        <a:lnSpc>
                          <a:spcPts val="3495"/>
                        </a:lnSpc>
                        <a:spcBef>
                          <a:spcPts val="3250"/>
                        </a:spcBef>
                      </a:pPr>
                      <a:r>
                        <a:rPr sz="2950" spc="60" dirty="0">
                          <a:solidFill>
                            <a:srgbClr val="282828"/>
                          </a:solidFill>
                          <a:latin typeface="Calibri"/>
                          <a:cs typeface="Calibri"/>
                        </a:rPr>
                        <a:t>Cons:</a:t>
                      </a:r>
                      <a:endParaRPr sz="2950" dirty="0">
                        <a:latin typeface="Calibri"/>
                        <a:cs typeface="Calibri"/>
                      </a:endParaRPr>
                    </a:p>
                    <a:p>
                      <a:pPr marL="133985">
                        <a:lnSpc>
                          <a:spcPts val="3435"/>
                        </a:lnSpc>
                      </a:pPr>
                      <a:r>
                        <a:rPr sz="2900" dirty="0">
                          <a:solidFill>
                            <a:srgbClr val="894B46"/>
                          </a:solidFill>
                          <a:latin typeface="Calibri"/>
                          <a:cs typeface="Calibri"/>
                        </a:rPr>
                        <a:t>Expensive</a:t>
                      </a:r>
                      <a:r>
                        <a:rPr sz="2900" spc="-10" dirty="0">
                          <a:solidFill>
                            <a:srgbClr val="894B46"/>
                          </a:solidFill>
                          <a:latin typeface="Calibri"/>
                          <a:cs typeface="Calibri"/>
                        </a:rPr>
                        <a:t> </a:t>
                      </a:r>
                      <a:r>
                        <a:rPr sz="2900" dirty="0">
                          <a:solidFill>
                            <a:srgbClr val="754946"/>
                          </a:solidFill>
                          <a:latin typeface="Calibri"/>
                          <a:cs typeface="Calibri"/>
                        </a:rPr>
                        <a:t>hardware</a:t>
                      </a:r>
                      <a:r>
                        <a:rPr sz="2900" spc="80" dirty="0">
                          <a:solidFill>
                            <a:srgbClr val="754946"/>
                          </a:solidFill>
                          <a:latin typeface="Calibri"/>
                          <a:cs typeface="Calibri"/>
                        </a:rPr>
                        <a:t> </a:t>
                      </a:r>
                      <a:r>
                        <a:rPr sz="2900" spc="-10" dirty="0">
                          <a:solidFill>
                            <a:srgbClr val="82564F"/>
                          </a:solidFill>
                          <a:latin typeface="Calibri"/>
                          <a:cs typeface="Calibri"/>
                        </a:rPr>
                        <a:t>($</a:t>
                      </a:r>
                      <a:r>
                        <a:rPr sz="2900" spc="-10" dirty="0">
                          <a:solidFill>
                            <a:srgbClr val="773A34"/>
                          </a:solidFill>
                          <a:latin typeface="Calibri"/>
                          <a:cs typeface="Calibri"/>
                        </a:rPr>
                        <a:t>100+),</a:t>
                      </a:r>
                      <a:endParaRPr lang="en-US" sz="2900" spc="-10" dirty="0">
                        <a:solidFill>
                          <a:srgbClr val="773A34"/>
                        </a:solidFill>
                        <a:latin typeface="Calibri"/>
                        <a:cs typeface="Calibri"/>
                      </a:endParaRPr>
                    </a:p>
                    <a:p>
                      <a:pPr marL="133985">
                        <a:lnSpc>
                          <a:spcPts val="3435"/>
                        </a:lnSpc>
                      </a:pPr>
                      <a:r>
                        <a:rPr lang="en-US" sz="2900" spc="-10" dirty="0">
                          <a:solidFill>
                            <a:srgbClr val="773A34"/>
                          </a:solidFill>
                          <a:latin typeface="Calibri"/>
                          <a:cs typeface="Calibri"/>
                        </a:rPr>
                        <a:t>Energy </a:t>
                      </a:r>
                      <a:r>
                        <a:rPr lang="en-US" sz="2900" spc="-10" dirty="0" err="1">
                          <a:solidFill>
                            <a:srgbClr val="773A34"/>
                          </a:solidFill>
                          <a:latin typeface="Calibri"/>
                          <a:cs typeface="Calibri"/>
                        </a:rPr>
                        <a:t>ineffecient</a:t>
                      </a:r>
                      <a:endParaRPr sz="2900" dirty="0">
                        <a:latin typeface="Calibri"/>
                        <a:cs typeface="Calibri"/>
                      </a:endParaRPr>
                    </a:p>
                  </a:txBody>
                  <a:tcPr marL="0" marR="0" marT="147955" marB="0">
                    <a:lnR w="6350">
                      <a:solidFill>
                        <a:srgbClr val="7C7774"/>
                      </a:solidFill>
                      <a:prstDash val="solid"/>
                    </a:lnR>
                    <a:lnT w="6350">
                      <a:solidFill>
                        <a:srgbClr val="7C7774"/>
                      </a:solidFill>
                      <a:prstDash val="solid"/>
                    </a:lnT>
                  </a:tcPr>
                </a:tc>
                <a:tc>
                  <a:txBody>
                    <a:bodyPr/>
                    <a:lstStyle/>
                    <a:p>
                      <a:pPr marL="142240">
                        <a:lnSpc>
                          <a:spcPts val="3610"/>
                        </a:lnSpc>
                        <a:spcBef>
                          <a:spcPts val="3180"/>
                        </a:spcBef>
                      </a:pPr>
                      <a:r>
                        <a:rPr sz="3100" spc="-10" dirty="0">
                          <a:solidFill>
                            <a:srgbClr val="2A2A2A"/>
                          </a:solidFill>
                          <a:latin typeface="Calibri"/>
                          <a:cs typeface="Calibri"/>
                        </a:rPr>
                        <a:t>Pros:</a:t>
                      </a:r>
                      <a:endParaRPr sz="3100" dirty="0">
                        <a:latin typeface="Calibri"/>
                        <a:cs typeface="Calibri"/>
                      </a:endParaRPr>
                    </a:p>
                    <a:p>
                      <a:pPr marL="161290">
                        <a:lnSpc>
                          <a:spcPts val="3610"/>
                        </a:lnSpc>
                      </a:pPr>
                      <a:r>
                        <a:rPr sz="3100" spc="-55" dirty="0">
                          <a:latin typeface="Calibri"/>
                          <a:cs typeface="Calibri"/>
                        </a:rPr>
                        <a:t>Simple</a:t>
                      </a:r>
                      <a:r>
                        <a:rPr sz="3100" spc="-50" dirty="0">
                          <a:latin typeface="Calibri"/>
                          <a:cs typeface="Calibri"/>
                        </a:rPr>
                        <a:t> </a:t>
                      </a:r>
                      <a:r>
                        <a:rPr sz="3100" spc="-45" dirty="0">
                          <a:latin typeface="Calibri"/>
                          <a:cs typeface="Calibri"/>
                        </a:rPr>
                        <a:t>local</a:t>
                      </a:r>
                      <a:r>
                        <a:rPr sz="3100" spc="-220" dirty="0">
                          <a:latin typeface="Calibri"/>
                          <a:cs typeface="Calibri"/>
                        </a:rPr>
                        <a:t> </a:t>
                      </a:r>
                      <a:r>
                        <a:rPr sz="3100" spc="-10" dirty="0">
                          <a:latin typeface="Calibri"/>
                          <a:cs typeface="Calibri"/>
                        </a:rPr>
                        <a:t>recording.</a:t>
                      </a:r>
                      <a:endParaRPr sz="3100" dirty="0">
                        <a:latin typeface="Calibri"/>
                        <a:cs typeface="Calibri"/>
                      </a:endParaRPr>
                    </a:p>
                    <a:p>
                      <a:pPr marL="144780">
                        <a:lnSpc>
                          <a:spcPts val="3495"/>
                        </a:lnSpc>
                        <a:spcBef>
                          <a:spcPts val="3329"/>
                        </a:spcBef>
                      </a:pPr>
                      <a:r>
                        <a:rPr sz="2950" spc="60" dirty="0">
                          <a:solidFill>
                            <a:srgbClr val="2B2B2B"/>
                          </a:solidFill>
                          <a:latin typeface="Calibri"/>
                          <a:cs typeface="Calibri"/>
                        </a:rPr>
                        <a:t>Cons:</a:t>
                      </a:r>
                      <a:endParaRPr sz="2950" dirty="0">
                        <a:latin typeface="Calibri"/>
                        <a:cs typeface="Calibri"/>
                      </a:endParaRPr>
                    </a:p>
                    <a:p>
                      <a:pPr marL="156845">
                        <a:lnSpc>
                          <a:spcPts val="3435"/>
                        </a:lnSpc>
                      </a:pPr>
                      <a:r>
                        <a:rPr sz="2900" dirty="0">
                          <a:solidFill>
                            <a:srgbClr val="774B46"/>
                          </a:solidFill>
                          <a:latin typeface="Calibri"/>
                          <a:cs typeface="Calibri"/>
                        </a:rPr>
                        <a:t>Passive</a:t>
                      </a:r>
                      <a:r>
                        <a:rPr sz="2900" spc="100" dirty="0">
                          <a:solidFill>
                            <a:srgbClr val="774B46"/>
                          </a:solidFill>
                          <a:latin typeface="Calibri"/>
                          <a:cs typeface="Calibri"/>
                        </a:rPr>
                        <a:t> </a:t>
                      </a:r>
                      <a:r>
                        <a:rPr sz="2900" dirty="0">
                          <a:solidFill>
                            <a:srgbClr val="774B48"/>
                          </a:solidFill>
                          <a:latin typeface="Calibri"/>
                          <a:cs typeface="Calibri"/>
                        </a:rPr>
                        <a:t>monitoring</a:t>
                      </a:r>
                      <a:r>
                        <a:rPr sz="2900" spc="120" dirty="0">
                          <a:solidFill>
                            <a:srgbClr val="774B48"/>
                          </a:solidFill>
                          <a:latin typeface="Calibri"/>
                          <a:cs typeface="Calibri"/>
                        </a:rPr>
                        <a:t> </a:t>
                      </a:r>
                      <a:r>
                        <a:rPr sz="2900" dirty="0">
                          <a:solidFill>
                            <a:srgbClr val="936966"/>
                          </a:solidFill>
                          <a:latin typeface="Calibri"/>
                          <a:cs typeface="Calibri"/>
                        </a:rPr>
                        <a:t>only,</a:t>
                      </a:r>
                      <a:r>
                        <a:rPr sz="2900" spc="-15" dirty="0">
                          <a:solidFill>
                            <a:srgbClr val="936966"/>
                          </a:solidFill>
                          <a:latin typeface="Calibri"/>
                          <a:cs typeface="Calibri"/>
                        </a:rPr>
                        <a:t> </a:t>
                      </a:r>
                      <a:r>
                        <a:rPr sz="2900" spc="-25" dirty="0">
                          <a:solidFill>
                            <a:srgbClr val="855E5B"/>
                          </a:solidFill>
                          <a:latin typeface="Calibri"/>
                          <a:cs typeface="Calibri"/>
                        </a:rPr>
                        <a:t>no</a:t>
                      </a:r>
                      <a:endParaRPr sz="2900" dirty="0">
                        <a:latin typeface="Calibri"/>
                        <a:cs typeface="Calibri"/>
                      </a:endParaRPr>
                    </a:p>
                  </a:txBody>
                  <a:tcPr marL="0" marR="0" marT="147955" marB="0">
                    <a:lnL w="6350">
                      <a:solidFill>
                        <a:srgbClr val="7C7774"/>
                      </a:solidFill>
                      <a:prstDash val="solid"/>
                    </a:lnL>
                    <a:lnR w="28575">
                      <a:solidFill>
                        <a:srgbClr val="234860"/>
                      </a:solidFill>
                      <a:prstDash val="solid"/>
                    </a:lnR>
                    <a:lnT w="6350">
                      <a:solidFill>
                        <a:srgbClr val="7C7774"/>
                      </a:solidFill>
                      <a:prstDash val="solid"/>
                    </a:lnT>
                  </a:tcPr>
                </a:tc>
                <a:tc>
                  <a:txBody>
                    <a:bodyPr/>
                    <a:lstStyle/>
                    <a:p>
                      <a:pPr marL="201295" marR="636270" indent="8890">
                        <a:lnSpc>
                          <a:spcPct val="91100"/>
                        </a:lnSpc>
                        <a:spcBef>
                          <a:spcPts val="1405"/>
                        </a:spcBef>
                      </a:pPr>
                      <a:r>
                        <a:rPr sz="3200" spc="-75" dirty="0">
                          <a:latin typeface="Calibri"/>
                          <a:cs typeface="Calibri"/>
                        </a:rPr>
                        <a:t>The</a:t>
                      </a:r>
                      <a:r>
                        <a:rPr sz="3200" spc="-135" dirty="0">
                          <a:latin typeface="Calibri"/>
                          <a:cs typeface="Calibri"/>
                        </a:rPr>
                        <a:t> </a:t>
                      </a:r>
                      <a:r>
                        <a:rPr sz="3200" spc="-65" dirty="0">
                          <a:latin typeface="Calibri"/>
                          <a:cs typeface="Calibri"/>
                        </a:rPr>
                        <a:t>Research</a:t>
                      </a:r>
                      <a:r>
                        <a:rPr sz="3200" spc="-50" dirty="0">
                          <a:latin typeface="Calibri"/>
                          <a:cs typeface="Calibri"/>
                        </a:rPr>
                        <a:t> </a:t>
                      </a:r>
                      <a:r>
                        <a:rPr sz="3200" spc="-114" dirty="0">
                          <a:latin typeface="Calibri"/>
                          <a:cs typeface="Calibri"/>
                        </a:rPr>
                        <a:t>Gap</a:t>
                      </a:r>
                      <a:r>
                        <a:rPr sz="3200" spc="-125" dirty="0">
                          <a:latin typeface="Calibri"/>
                          <a:cs typeface="Calibri"/>
                        </a:rPr>
                        <a:t> </a:t>
                      </a:r>
                      <a:r>
                        <a:rPr sz="3200" spc="-340" dirty="0">
                          <a:latin typeface="Calibri"/>
                          <a:cs typeface="Calibri"/>
                        </a:rPr>
                        <a:t>We</a:t>
                      </a:r>
                      <a:r>
                        <a:rPr sz="3200" spc="-95" dirty="0">
                          <a:latin typeface="Calibri"/>
                          <a:cs typeface="Calibri"/>
                        </a:rPr>
                        <a:t> </a:t>
                      </a:r>
                      <a:r>
                        <a:rPr sz="3200" spc="45" dirty="0">
                          <a:latin typeface="Calibri"/>
                          <a:cs typeface="Calibri"/>
                        </a:rPr>
                        <a:t>Fill: </a:t>
                      </a:r>
                      <a:r>
                        <a:rPr sz="3200" spc="-380" dirty="0">
                          <a:latin typeface="Calibri"/>
                          <a:cs typeface="Calibri"/>
                        </a:rPr>
                        <a:t>We</a:t>
                      </a:r>
                      <a:r>
                        <a:rPr sz="3200" spc="-85" dirty="0">
                          <a:latin typeface="Calibri"/>
                          <a:cs typeface="Calibri"/>
                        </a:rPr>
                        <a:t> </a:t>
                      </a:r>
                      <a:r>
                        <a:rPr sz="3200" spc="-135" dirty="0">
                          <a:latin typeface="Calibri"/>
                          <a:cs typeface="Calibri"/>
                        </a:rPr>
                        <a:t>address</a:t>
                      </a:r>
                      <a:r>
                        <a:rPr sz="3200" dirty="0">
                          <a:latin typeface="Calibri"/>
                          <a:cs typeface="Calibri"/>
                        </a:rPr>
                        <a:t> </a:t>
                      </a:r>
                      <a:r>
                        <a:rPr sz="3200" spc="-170" dirty="0">
                          <a:latin typeface="Calibri"/>
                          <a:cs typeface="Calibri"/>
                        </a:rPr>
                        <a:t>the</a:t>
                      </a:r>
                      <a:r>
                        <a:rPr sz="3200" spc="-105" dirty="0">
                          <a:latin typeface="Calibri"/>
                          <a:cs typeface="Calibri"/>
                        </a:rPr>
                        <a:t> </a:t>
                      </a:r>
                      <a:r>
                        <a:rPr sz="3200" spc="-85" dirty="0">
                          <a:latin typeface="Calibri"/>
                          <a:cs typeface="Calibri"/>
                        </a:rPr>
                        <a:t>lack</a:t>
                      </a:r>
                      <a:r>
                        <a:rPr sz="3200" spc="-125" dirty="0">
                          <a:latin typeface="Calibri"/>
                          <a:cs typeface="Calibri"/>
                        </a:rPr>
                        <a:t> </a:t>
                      </a:r>
                      <a:r>
                        <a:rPr sz="3200" spc="-25" dirty="0">
                          <a:latin typeface="Calibri"/>
                          <a:cs typeface="Calibri"/>
                        </a:rPr>
                        <a:t>of </a:t>
                      </a:r>
                      <a:r>
                        <a:rPr sz="3100" spc="-90" dirty="0">
                          <a:latin typeface="Calibri"/>
                          <a:cs typeface="Calibri"/>
                        </a:rPr>
                        <a:t>resource-constrained</a:t>
                      </a:r>
                      <a:r>
                        <a:rPr sz="3100" spc="-55" dirty="0">
                          <a:latin typeface="Calibri"/>
                          <a:cs typeface="Calibri"/>
                        </a:rPr>
                        <a:t> </a:t>
                      </a:r>
                      <a:r>
                        <a:rPr sz="3100" spc="-35" dirty="0">
                          <a:latin typeface="Calibri"/>
                          <a:cs typeface="Calibri"/>
                        </a:rPr>
                        <a:t>systems </a:t>
                      </a:r>
                      <a:r>
                        <a:rPr sz="3200" spc="-160" dirty="0">
                          <a:latin typeface="Calibri"/>
                          <a:cs typeface="Calibri"/>
                        </a:rPr>
                        <a:t>that</a:t>
                      </a:r>
                      <a:r>
                        <a:rPr sz="3200" spc="-120" dirty="0">
                          <a:latin typeface="Calibri"/>
                          <a:cs typeface="Calibri"/>
                        </a:rPr>
                        <a:t> </a:t>
                      </a:r>
                      <a:r>
                        <a:rPr sz="3200" spc="-114" dirty="0">
                          <a:latin typeface="Calibri"/>
                          <a:cs typeface="Calibri"/>
                        </a:rPr>
                        <a:t>can</a:t>
                      </a:r>
                      <a:r>
                        <a:rPr sz="3200" spc="-75" dirty="0">
                          <a:latin typeface="Calibri"/>
                          <a:cs typeface="Calibri"/>
                        </a:rPr>
                        <a:t> </a:t>
                      </a:r>
                      <a:r>
                        <a:rPr sz="3200" spc="-105" dirty="0">
                          <a:latin typeface="Calibri"/>
                          <a:cs typeface="Calibri"/>
                        </a:rPr>
                        <a:t>intelligently</a:t>
                      </a:r>
                      <a:r>
                        <a:rPr sz="3200" spc="-20" dirty="0">
                          <a:latin typeface="Calibri"/>
                          <a:cs typeface="Calibri"/>
                        </a:rPr>
                        <a:t> </a:t>
                      </a:r>
                      <a:r>
                        <a:rPr sz="3200" spc="-10" dirty="0">
                          <a:latin typeface="Calibri"/>
                          <a:cs typeface="Calibri"/>
                        </a:rPr>
                        <a:t>switch </a:t>
                      </a:r>
                      <a:r>
                        <a:rPr sz="3100" spc="-140" dirty="0">
                          <a:latin typeface="Calibri"/>
                          <a:cs typeface="Calibri"/>
                        </a:rPr>
                        <a:t>between</a:t>
                      </a:r>
                      <a:r>
                        <a:rPr sz="3100" spc="-35" dirty="0">
                          <a:latin typeface="Calibri"/>
                          <a:cs typeface="Calibri"/>
                        </a:rPr>
                        <a:t> </a:t>
                      </a:r>
                      <a:r>
                        <a:rPr sz="3100" dirty="0">
                          <a:latin typeface="Calibri"/>
                          <a:cs typeface="Calibri"/>
                        </a:rPr>
                        <a:t>Inference</a:t>
                      </a:r>
                      <a:r>
                        <a:rPr sz="3100" spc="-105" dirty="0">
                          <a:latin typeface="Calibri"/>
                          <a:cs typeface="Calibri"/>
                        </a:rPr>
                        <a:t> </a:t>
                      </a:r>
                      <a:r>
                        <a:rPr sz="3100" spc="-20" dirty="0">
                          <a:latin typeface="Calibri"/>
                          <a:cs typeface="Calibri"/>
                        </a:rPr>
                        <a:t>(for</a:t>
                      </a:r>
                      <a:endParaRPr sz="3100" dirty="0">
                        <a:latin typeface="Calibri"/>
                        <a:cs typeface="Calibri"/>
                      </a:endParaRPr>
                    </a:p>
                    <a:p>
                      <a:pPr marL="210185" marR="292100" indent="-3175">
                        <a:lnSpc>
                          <a:spcPts val="3450"/>
                        </a:lnSpc>
                        <a:spcBef>
                          <a:spcPts val="120"/>
                        </a:spcBef>
                      </a:pPr>
                      <a:r>
                        <a:rPr sz="3200" spc="-130" dirty="0">
                          <a:latin typeface="Calibri"/>
                          <a:cs typeface="Calibri"/>
                        </a:rPr>
                        <a:t>detection)</a:t>
                      </a:r>
                      <a:r>
                        <a:rPr sz="3200" spc="-55" dirty="0">
                          <a:latin typeface="Calibri"/>
                          <a:cs typeface="Calibri"/>
                        </a:rPr>
                        <a:t> </a:t>
                      </a:r>
                      <a:r>
                        <a:rPr sz="3200" spc="-40" dirty="0">
                          <a:latin typeface="Calibri"/>
                          <a:cs typeface="Calibri"/>
                        </a:rPr>
                        <a:t>and</a:t>
                      </a:r>
                      <a:r>
                        <a:rPr sz="3200" spc="-140" dirty="0">
                          <a:latin typeface="Calibri"/>
                          <a:cs typeface="Calibri"/>
                        </a:rPr>
                        <a:t> </a:t>
                      </a:r>
                      <a:r>
                        <a:rPr sz="3200" spc="-50" dirty="0">
                          <a:latin typeface="Calibri"/>
                          <a:cs typeface="Calibri"/>
                        </a:rPr>
                        <a:t>Throughput</a:t>
                      </a:r>
                      <a:r>
                        <a:rPr sz="3200" spc="-45" dirty="0">
                          <a:latin typeface="Calibri"/>
                          <a:cs typeface="Calibri"/>
                        </a:rPr>
                        <a:t> </a:t>
                      </a:r>
                      <a:r>
                        <a:rPr sz="3200" spc="-70" dirty="0">
                          <a:latin typeface="Calibri"/>
                          <a:cs typeface="Calibri"/>
                        </a:rPr>
                        <a:t>(for </a:t>
                      </a:r>
                      <a:r>
                        <a:rPr sz="3200" spc="-65" dirty="0">
                          <a:latin typeface="Calibri"/>
                          <a:cs typeface="Calibri"/>
                        </a:rPr>
                        <a:t>streaming).</a:t>
                      </a:r>
                      <a:endParaRPr sz="3200" dirty="0">
                        <a:latin typeface="Calibri"/>
                        <a:cs typeface="Calibri"/>
                      </a:endParaRPr>
                    </a:p>
                  </a:txBody>
                  <a:tcPr marL="0" marR="0" marT="178435" marB="0">
                    <a:lnL w="28575">
                      <a:solidFill>
                        <a:srgbClr val="234860"/>
                      </a:solidFill>
                      <a:prstDash val="solid"/>
                    </a:lnL>
                    <a:lnR w="28575">
                      <a:solidFill>
                        <a:srgbClr val="234860"/>
                      </a:solidFill>
                      <a:prstDash val="solid"/>
                    </a:lnR>
                  </a:tcPr>
                </a:tc>
                <a:extLst>
                  <a:ext uri="{0D108BD9-81ED-4DB2-BD59-A6C34878D82A}">
                    <a16:rowId xmlns:a16="http://schemas.microsoft.com/office/drawing/2014/main" val="10001"/>
                  </a:ext>
                </a:extLst>
              </a:tr>
              <a:tr h="432434">
                <a:tc>
                  <a:txBody>
                    <a:bodyPr/>
                    <a:lstStyle/>
                    <a:p>
                      <a:pPr marL="135890">
                        <a:lnSpc>
                          <a:spcPts val="3080"/>
                        </a:lnSpc>
                      </a:pPr>
                      <a:r>
                        <a:rPr sz="3050" spc="-50" dirty="0">
                          <a:solidFill>
                            <a:srgbClr val="804441"/>
                          </a:solidFill>
                          <a:latin typeface="Calibri"/>
                          <a:cs typeface="Calibri"/>
                        </a:rPr>
                        <a:t>mandatory</a:t>
                      </a:r>
                      <a:r>
                        <a:rPr sz="3050" spc="-45" dirty="0">
                          <a:solidFill>
                            <a:srgbClr val="804441"/>
                          </a:solidFill>
                          <a:latin typeface="Calibri"/>
                          <a:cs typeface="Calibri"/>
                        </a:rPr>
                        <a:t> </a:t>
                      </a:r>
                      <a:r>
                        <a:rPr sz="3050" spc="-10" dirty="0">
                          <a:solidFill>
                            <a:srgbClr val="79423B"/>
                          </a:solidFill>
                          <a:latin typeface="Calibri"/>
                          <a:cs typeface="Calibri"/>
                        </a:rPr>
                        <a:t>cloud</a:t>
                      </a:r>
                      <a:r>
                        <a:rPr sz="3050" spc="-145" dirty="0">
                          <a:solidFill>
                            <a:srgbClr val="79423B"/>
                          </a:solidFill>
                          <a:latin typeface="Calibri"/>
                          <a:cs typeface="Calibri"/>
                        </a:rPr>
                        <a:t> </a:t>
                      </a:r>
                      <a:r>
                        <a:rPr sz="3050" spc="-10" dirty="0">
                          <a:solidFill>
                            <a:srgbClr val="8E5952"/>
                          </a:solidFill>
                          <a:latin typeface="Calibri"/>
                          <a:cs typeface="Calibri"/>
                        </a:rPr>
                        <a:t>subscriptions.</a:t>
                      </a:r>
                      <a:endParaRPr sz="3050" dirty="0">
                        <a:latin typeface="Calibri"/>
                        <a:cs typeface="Calibri"/>
                      </a:endParaRPr>
                    </a:p>
                  </a:txBody>
                  <a:tcPr marL="0" marR="0" marT="0" marB="0">
                    <a:lnR w="6350">
                      <a:solidFill>
                        <a:srgbClr val="7C7774"/>
                      </a:solidFill>
                      <a:prstDash val="solid"/>
                    </a:lnR>
                  </a:tcPr>
                </a:tc>
                <a:tc>
                  <a:txBody>
                    <a:bodyPr/>
                    <a:lstStyle/>
                    <a:p>
                      <a:pPr marL="159385">
                        <a:lnSpc>
                          <a:spcPts val="3080"/>
                        </a:lnSpc>
                      </a:pPr>
                      <a:r>
                        <a:rPr sz="3050" spc="-90" dirty="0">
                          <a:solidFill>
                            <a:srgbClr val="89625D"/>
                          </a:solidFill>
                          <a:latin typeface="Calibri"/>
                          <a:cs typeface="Calibri"/>
                        </a:rPr>
                        <a:t>real-</a:t>
                      </a:r>
                      <a:r>
                        <a:rPr sz="3050" spc="-60" dirty="0">
                          <a:solidFill>
                            <a:srgbClr val="89625D"/>
                          </a:solidFill>
                          <a:latin typeface="Calibri"/>
                          <a:cs typeface="Calibri"/>
                        </a:rPr>
                        <a:t>time</a:t>
                      </a:r>
                      <a:r>
                        <a:rPr sz="3050" spc="-80" dirty="0">
                          <a:solidFill>
                            <a:srgbClr val="89625D"/>
                          </a:solidFill>
                          <a:latin typeface="Calibri"/>
                          <a:cs typeface="Calibri"/>
                        </a:rPr>
                        <a:t> </a:t>
                      </a:r>
                      <a:r>
                        <a:rPr sz="3050" spc="-50" dirty="0">
                          <a:solidFill>
                            <a:srgbClr val="7B4948"/>
                          </a:solidFill>
                          <a:latin typeface="Calibri"/>
                          <a:cs typeface="Calibri"/>
                        </a:rPr>
                        <a:t>interaction, </a:t>
                      </a:r>
                      <a:r>
                        <a:rPr sz="3050" spc="-10" dirty="0">
                          <a:solidFill>
                            <a:srgbClr val="79423F"/>
                          </a:solidFill>
                          <a:latin typeface="Calibri"/>
                          <a:cs typeface="Calibri"/>
                        </a:rPr>
                        <a:t>vulnerable</a:t>
                      </a:r>
                      <a:endParaRPr sz="3050">
                        <a:latin typeface="Calibri"/>
                        <a:cs typeface="Calibri"/>
                      </a:endParaRPr>
                    </a:p>
                  </a:txBody>
                  <a:tcPr marL="0" marR="0" marT="0" marB="0">
                    <a:lnL w="6350">
                      <a:solidFill>
                        <a:srgbClr val="7C7774"/>
                      </a:solidFill>
                      <a:prstDash val="solid"/>
                    </a:lnL>
                    <a:lnR w="28575">
                      <a:solidFill>
                        <a:srgbClr val="234860"/>
                      </a:solidFill>
                      <a:prstDash val="solid"/>
                    </a:lnR>
                  </a:tcPr>
                </a:tc>
                <a:tc>
                  <a:txBody>
                    <a:bodyPr/>
                    <a:lstStyle/>
                    <a:p>
                      <a:pPr>
                        <a:lnSpc>
                          <a:spcPct val="100000"/>
                        </a:lnSpc>
                      </a:pPr>
                      <a:endParaRPr sz="2700" dirty="0">
                        <a:latin typeface="Times New Roman"/>
                        <a:cs typeface="Times New Roman"/>
                      </a:endParaRPr>
                    </a:p>
                  </a:txBody>
                  <a:tcPr marL="0" marR="0" marT="0" marB="0">
                    <a:lnL w="28575">
                      <a:solidFill>
                        <a:srgbClr val="234860"/>
                      </a:solidFill>
                      <a:prstDash val="solid"/>
                    </a:lnL>
                    <a:lnR w="28575">
                      <a:solidFill>
                        <a:srgbClr val="234860"/>
                      </a:solidFill>
                      <a:prstDash val="solid"/>
                    </a:lnR>
                  </a:tcPr>
                </a:tc>
                <a:extLst>
                  <a:ext uri="{0D108BD9-81ED-4DB2-BD59-A6C34878D82A}">
                    <a16:rowId xmlns:a16="http://schemas.microsoft.com/office/drawing/2014/main" val="10002"/>
                  </a:ext>
                </a:extLst>
              </a:tr>
              <a:tr h="2386965">
                <a:tc>
                  <a:txBody>
                    <a:bodyPr/>
                    <a:lstStyle/>
                    <a:p>
                      <a:pPr>
                        <a:lnSpc>
                          <a:spcPct val="100000"/>
                        </a:lnSpc>
                      </a:pPr>
                      <a:endParaRPr sz="3100">
                        <a:latin typeface="Times New Roman"/>
                        <a:cs typeface="Times New Roman"/>
                      </a:endParaRPr>
                    </a:p>
                  </a:txBody>
                  <a:tcPr marL="0" marR="0" marT="0" marB="0">
                    <a:lnR w="6350">
                      <a:solidFill>
                        <a:srgbClr val="7C7774"/>
                      </a:solidFill>
                      <a:prstDash val="solid"/>
                    </a:lnR>
                  </a:tcPr>
                </a:tc>
                <a:tc>
                  <a:txBody>
                    <a:bodyPr/>
                    <a:lstStyle/>
                    <a:p>
                      <a:pPr marL="156845">
                        <a:lnSpc>
                          <a:spcPts val="3155"/>
                        </a:lnSpc>
                      </a:pPr>
                      <a:r>
                        <a:rPr sz="2950" spc="-50" dirty="0">
                          <a:solidFill>
                            <a:srgbClr val="8E6962"/>
                          </a:solidFill>
                          <a:latin typeface="Calibri"/>
                          <a:cs typeface="Calibri"/>
                        </a:rPr>
                        <a:t>to</a:t>
                      </a:r>
                      <a:r>
                        <a:rPr sz="2950" spc="-120" dirty="0">
                          <a:solidFill>
                            <a:srgbClr val="8E6962"/>
                          </a:solidFill>
                          <a:latin typeface="Calibri"/>
                          <a:cs typeface="Calibri"/>
                        </a:rPr>
                        <a:t> </a:t>
                      </a:r>
                      <a:r>
                        <a:rPr sz="2950" dirty="0">
                          <a:solidFill>
                            <a:srgbClr val="8E6760"/>
                          </a:solidFill>
                          <a:latin typeface="Calibri"/>
                          <a:cs typeface="Calibri"/>
                        </a:rPr>
                        <a:t>evidence</a:t>
                      </a:r>
                      <a:r>
                        <a:rPr sz="2950" spc="-75" dirty="0">
                          <a:solidFill>
                            <a:srgbClr val="8E6760"/>
                          </a:solidFill>
                          <a:latin typeface="Calibri"/>
                          <a:cs typeface="Calibri"/>
                        </a:rPr>
                        <a:t> </a:t>
                      </a:r>
                      <a:r>
                        <a:rPr sz="2950" spc="-10" dirty="0">
                          <a:solidFill>
                            <a:srgbClr val="916B6B"/>
                          </a:solidFill>
                          <a:latin typeface="Calibri"/>
                          <a:cs typeface="Calibri"/>
                        </a:rPr>
                        <a:t>theft.</a:t>
                      </a:r>
                      <a:endParaRPr sz="2950" dirty="0">
                        <a:latin typeface="Calibri"/>
                        <a:cs typeface="Calibri"/>
                      </a:endParaRPr>
                    </a:p>
                  </a:txBody>
                  <a:tcPr marL="0" marR="0" marT="0" marB="0">
                    <a:lnL w="6350">
                      <a:solidFill>
                        <a:srgbClr val="7C7774"/>
                      </a:solidFill>
                      <a:prstDash val="solid"/>
                    </a:lnL>
                    <a:lnR w="28575">
                      <a:solidFill>
                        <a:srgbClr val="234860"/>
                      </a:solidFill>
                      <a:prstDash val="solid"/>
                    </a:lnR>
                  </a:tcPr>
                </a:tc>
                <a:tc>
                  <a:txBody>
                    <a:bodyPr/>
                    <a:lstStyle/>
                    <a:p>
                      <a:pPr marL="206375">
                        <a:lnSpc>
                          <a:spcPts val="3010"/>
                        </a:lnSpc>
                      </a:pPr>
                      <a:r>
                        <a:rPr sz="3200" spc="-95" dirty="0">
                          <a:latin typeface="Calibri"/>
                          <a:cs typeface="Calibri"/>
                        </a:rPr>
                        <a:t>Our</a:t>
                      </a:r>
                      <a:r>
                        <a:rPr sz="3200" spc="-245" dirty="0">
                          <a:latin typeface="Calibri"/>
                          <a:cs typeface="Calibri"/>
                        </a:rPr>
                        <a:t> </a:t>
                      </a:r>
                      <a:r>
                        <a:rPr sz="3200" spc="-75" dirty="0">
                          <a:latin typeface="Calibri"/>
                          <a:cs typeface="Calibri"/>
                        </a:rPr>
                        <a:t>Unique</a:t>
                      </a:r>
                      <a:r>
                        <a:rPr sz="3200" spc="-55" dirty="0">
                          <a:latin typeface="Calibri"/>
                          <a:cs typeface="Calibri"/>
                        </a:rPr>
                        <a:t> </a:t>
                      </a:r>
                      <a:r>
                        <a:rPr sz="3200" spc="-10" dirty="0">
                          <a:latin typeface="Calibri"/>
                          <a:cs typeface="Calibri"/>
                        </a:rPr>
                        <a:t>Value:</a:t>
                      </a:r>
                      <a:endParaRPr sz="3200" dirty="0">
                        <a:latin typeface="Calibri"/>
                        <a:cs typeface="Calibri"/>
                      </a:endParaRPr>
                    </a:p>
                    <a:p>
                      <a:pPr marL="195580" marR="189230" indent="10795">
                        <a:lnSpc>
                          <a:spcPct val="91700"/>
                        </a:lnSpc>
                        <a:spcBef>
                          <a:spcPts val="120"/>
                        </a:spcBef>
                      </a:pPr>
                      <a:r>
                        <a:rPr sz="3200" spc="-95" dirty="0">
                          <a:latin typeface="Calibri"/>
                          <a:cs typeface="Calibri"/>
                        </a:rPr>
                        <a:t>Our</a:t>
                      </a:r>
                      <a:r>
                        <a:rPr sz="3200" spc="-215" dirty="0">
                          <a:latin typeface="Calibri"/>
                          <a:cs typeface="Calibri"/>
                        </a:rPr>
                        <a:t> </a:t>
                      </a:r>
                      <a:r>
                        <a:rPr sz="3200" spc="-40" dirty="0">
                          <a:latin typeface="Calibri"/>
                          <a:cs typeface="Calibri"/>
                        </a:rPr>
                        <a:t>logic-</a:t>
                      </a:r>
                      <a:r>
                        <a:rPr sz="3200" dirty="0">
                          <a:latin typeface="Calibri"/>
                          <a:cs typeface="Calibri"/>
                        </a:rPr>
                        <a:t>driven</a:t>
                      </a:r>
                      <a:r>
                        <a:rPr sz="3200" spc="-90" dirty="0">
                          <a:latin typeface="Calibri"/>
                          <a:cs typeface="Calibri"/>
                        </a:rPr>
                        <a:t> </a:t>
                      </a:r>
                      <a:r>
                        <a:rPr sz="3200" spc="-10" dirty="0">
                          <a:latin typeface="Calibri"/>
                          <a:cs typeface="Calibri"/>
                        </a:rPr>
                        <a:t>firmware </a:t>
                      </a:r>
                      <a:r>
                        <a:rPr sz="3100" dirty="0">
                          <a:latin typeface="Calibri"/>
                          <a:cs typeface="Calibri"/>
                        </a:rPr>
                        <a:t>enables</a:t>
                      </a:r>
                      <a:r>
                        <a:rPr sz="3100" spc="-125" dirty="0">
                          <a:latin typeface="Calibri"/>
                          <a:cs typeface="Calibri"/>
                        </a:rPr>
                        <a:t> </a:t>
                      </a:r>
                      <a:r>
                        <a:rPr sz="3100" spc="-10" dirty="0">
                          <a:latin typeface="Calibri"/>
                          <a:cs typeface="Calibri"/>
                        </a:rPr>
                        <a:t>high-</a:t>
                      </a:r>
                      <a:r>
                        <a:rPr sz="3100" dirty="0">
                          <a:latin typeface="Calibri"/>
                          <a:cs typeface="Calibri"/>
                        </a:rPr>
                        <a:t>end</a:t>
                      </a:r>
                      <a:r>
                        <a:rPr sz="3100" spc="-85" dirty="0">
                          <a:latin typeface="Calibri"/>
                          <a:cs typeface="Calibri"/>
                        </a:rPr>
                        <a:t> </a:t>
                      </a:r>
                      <a:r>
                        <a:rPr sz="3100" spc="-20" dirty="0">
                          <a:latin typeface="Calibri"/>
                          <a:cs typeface="Calibri"/>
                        </a:rPr>
                        <a:t>features</a:t>
                      </a:r>
                      <a:r>
                        <a:rPr sz="3100" spc="-30" dirty="0">
                          <a:latin typeface="Calibri"/>
                          <a:cs typeface="Calibri"/>
                        </a:rPr>
                        <a:t> </a:t>
                      </a:r>
                      <a:r>
                        <a:rPr sz="3100" spc="-25" dirty="0">
                          <a:latin typeface="Calibri"/>
                          <a:cs typeface="Calibri"/>
                        </a:rPr>
                        <a:t>on </a:t>
                      </a:r>
                      <a:r>
                        <a:rPr sz="3200" spc="-70" dirty="0">
                          <a:latin typeface="Calibri"/>
                          <a:cs typeface="Calibri"/>
                        </a:rPr>
                        <a:t>low-</a:t>
                      </a:r>
                      <a:r>
                        <a:rPr sz="3200" spc="-25" dirty="0">
                          <a:latin typeface="Calibri"/>
                          <a:cs typeface="Calibri"/>
                        </a:rPr>
                        <a:t>cost,</a:t>
                      </a:r>
                      <a:r>
                        <a:rPr sz="3200" spc="-95" dirty="0">
                          <a:latin typeface="Calibri"/>
                          <a:cs typeface="Calibri"/>
                        </a:rPr>
                        <a:t> </a:t>
                      </a:r>
                      <a:r>
                        <a:rPr sz="3200" spc="-100" dirty="0">
                          <a:latin typeface="Calibri"/>
                          <a:cs typeface="Calibri"/>
                        </a:rPr>
                        <a:t>low-</a:t>
                      </a:r>
                      <a:r>
                        <a:rPr sz="3200" spc="-75" dirty="0">
                          <a:latin typeface="Calibri"/>
                          <a:cs typeface="Calibri"/>
                        </a:rPr>
                        <a:t>power</a:t>
                      </a:r>
                      <a:r>
                        <a:rPr sz="3200" spc="-55" dirty="0">
                          <a:latin typeface="Calibri"/>
                          <a:cs typeface="Calibri"/>
                        </a:rPr>
                        <a:t> </a:t>
                      </a:r>
                      <a:r>
                        <a:rPr sz="3200" spc="-30" dirty="0">
                          <a:latin typeface="Calibri"/>
                          <a:cs typeface="Calibri"/>
                        </a:rPr>
                        <a:t>hardware, </a:t>
                      </a:r>
                      <a:r>
                        <a:rPr sz="3200" spc="-60" dirty="0">
                          <a:latin typeface="Calibri"/>
                          <a:cs typeface="Calibri"/>
                        </a:rPr>
                        <a:t>without</a:t>
                      </a:r>
                      <a:r>
                        <a:rPr sz="3200" spc="-125" dirty="0">
                          <a:latin typeface="Calibri"/>
                          <a:cs typeface="Calibri"/>
                        </a:rPr>
                        <a:t> </a:t>
                      </a:r>
                      <a:r>
                        <a:rPr sz="3200" spc="-55" dirty="0">
                          <a:latin typeface="Calibri"/>
                          <a:cs typeface="Calibri"/>
                        </a:rPr>
                        <a:t>mandatory </a:t>
                      </a:r>
                      <a:r>
                        <a:rPr sz="3200" spc="-10" dirty="0">
                          <a:latin typeface="Calibri"/>
                          <a:cs typeface="Calibri"/>
                        </a:rPr>
                        <a:t>fees.</a:t>
                      </a:r>
                      <a:endParaRPr sz="3200" dirty="0">
                        <a:latin typeface="Calibri"/>
                        <a:cs typeface="Calibri"/>
                      </a:endParaRPr>
                    </a:p>
                  </a:txBody>
                  <a:tcPr marL="0" marR="0" marT="0" marB="0">
                    <a:lnL w="28575">
                      <a:solidFill>
                        <a:srgbClr val="234860"/>
                      </a:solidFill>
                      <a:prstDash val="solid"/>
                    </a:lnL>
                    <a:lnR w="28575">
                      <a:solidFill>
                        <a:srgbClr val="234860"/>
                      </a:solidFill>
                      <a:prstDash val="solid"/>
                    </a:lnR>
                    <a:lnB w="28575">
                      <a:solidFill>
                        <a:srgbClr val="234860"/>
                      </a:solidFill>
                      <a:prstDash val="solid"/>
                    </a:lnB>
                  </a:tcPr>
                </a:tc>
                <a:extLst>
                  <a:ext uri="{0D108BD9-81ED-4DB2-BD59-A6C34878D82A}">
                    <a16:rowId xmlns:a16="http://schemas.microsoft.com/office/drawing/2014/main" val="10003"/>
                  </a:ext>
                </a:extLst>
              </a:tr>
            </a:tbl>
          </a:graphicData>
        </a:graphic>
      </p:graphicFrame>
      <p:sp>
        <p:nvSpPr>
          <p:cNvPr id="3" name="object 3"/>
          <p:cNvSpPr/>
          <p:nvPr/>
        </p:nvSpPr>
        <p:spPr>
          <a:xfrm>
            <a:off x="11493500" y="2982383"/>
            <a:ext cx="5274945" cy="0"/>
          </a:xfrm>
          <a:custGeom>
            <a:avLst/>
            <a:gdLst/>
            <a:ahLst/>
            <a:cxnLst/>
            <a:rect l="l" t="t" r="r" b="b"/>
            <a:pathLst>
              <a:path w="5274944">
                <a:moveTo>
                  <a:pt x="0" y="0"/>
                </a:moveTo>
                <a:lnTo>
                  <a:pt x="5274733" y="0"/>
                </a:lnTo>
              </a:path>
            </a:pathLst>
          </a:custGeom>
          <a:ln w="4233">
            <a:solidFill>
              <a:srgbClr val="747777"/>
            </a:solidFill>
          </a:ln>
        </p:spPr>
        <p:txBody>
          <a:bodyPr wrap="square" lIns="0" tIns="0" rIns="0" bIns="0" rtlCol="0"/>
          <a:lstStyle/>
          <a:p>
            <a:endParaRPr/>
          </a:p>
        </p:txBody>
      </p:sp>
      <p:sp>
        <p:nvSpPr>
          <p:cNvPr id="4" name="object 4"/>
          <p:cNvSpPr txBox="1">
            <a:spLocks noGrp="1"/>
          </p:cNvSpPr>
          <p:nvPr>
            <p:ph type="title"/>
          </p:nvPr>
        </p:nvSpPr>
        <p:spPr>
          <a:xfrm>
            <a:off x="722940" y="499533"/>
            <a:ext cx="15997555" cy="660400"/>
          </a:xfrm>
          <a:prstGeom prst="rect">
            <a:avLst/>
          </a:prstGeom>
        </p:spPr>
        <p:txBody>
          <a:bodyPr vert="horz" wrap="square" lIns="0" tIns="14604" rIns="0" bIns="0" rtlCol="0">
            <a:spAutoFit/>
          </a:bodyPr>
          <a:lstStyle/>
          <a:p>
            <a:pPr marL="12700">
              <a:lnSpc>
                <a:spcPct val="100000"/>
              </a:lnSpc>
              <a:spcBef>
                <a:spcPts val="114"/>
              </a:spcBef>
            </a:pPr>
            <a:r>
              <a:rPr sz="4150" spc="114" dirty="0">
                <a:solidFill>
                  <a:srgbClr val="053152"/>
                </a:solidFill>
              </a:rPr>
              <a:t>Carving</a:t>
            </a:r>
            <a:r>
              <a:rPr sz="4150" spc="25" dirty="0">
                <a:solidFill>
                  <a:srgbClr val="053152"/>
                </a:solidFill>
              </a:rPr>
              <a:t> </a:t>
            </a:r>
            <a:r>
              <a:rPr sz="4150" dirty="0">
                <a:solidFill>
                  <a:srgbClr val="0A385B"/>
                </a:solidFill>
              </a:rPr>
              <a:t>Our</a:t>
            </a:r>
            <a:r>
              <a:rPr sz="4150" spc="-90" dirty="0">
                <a:solidFill>
                  <a:srgbClr val="0A385B"/>
                </a:solidFill>
              </a:rPr>
              <a:t> </a:t>
            </a:r>
            <a:r>
              <a:rPr sz="4150" spc="90" dirty="0">
                <a:solidFill>
                  <a:srgbClr val="033867"/>
                </a:solidFill>
              </a:rPr>
              <a:t>Niche:</a:t>
            </a:r>
            <a:r>
              <a:rPr sz="4150" spc="-165" dirty="0">
                <a:solidFill>
                  <a:srgbClr val="033867"/>
                </a:solidFill>
              </a:rPr>
              <a:t> </a:t>
            </a:r>
            <a:r>
              <a:rPr sz="4150" spc="75" dirty="0">
                <a:solidFill>
                  <a:srgbClr val="0C3B64"/>
                </a:solidFill>
              </a:rPr>
              <a:t>How</a:t>
            </a:r>
            <a:r>
              <a:rPr sz="4150" spc="-40" dirty="0">
                <a:solidFill>
                  <a:srgbClr val="0C3B64"/>
                </a:solidFill>
              </a:rPr>
              <a:t> </a:t>
            </a:r>
            <a:r>
              <a:rPr sz="4150" dirty="0">
                <a:solidFill>
                  <a:srgbClr val="05365E"/>
                </a:solidFill>
              </a:rPr>
              <a:t>EagleEye</a:t>
            </a:r>
            <a:r>
              <a:rPr sz="4150" spc="-10" dirty="0">
                <a:solidFill>
                  <a:srgbClr val="05365E"/>
                </a:solidFill>
              </a:rPr>
              <a:t> </a:t>
            </a:r>
            <a:r>
              <a:rPr sz="4150" spc="170" dirty="0">
                <a:solidFill>
                  <a:srgbClr val="05345E"/>
                </a:solidFill>
              </a:rPr>
              <a:t>Differs</a:t>
            </a:r>
            <a:r>
              <a:rPr sz="4150" spc="-120" dirty="0">
                <a:solidFill>
                  <a:srgbClr val="05345E"/>
                </a:solidFill>
              </a:rPr>
              <a:t> </a:t>
            </a:r>
            <a:r>
              <a:rPr sz="4150" spc="185" dirty="0">
                <a:solidFill>
                  <a:srgbClr val="033459"/>
                </a:solidFill>
              </a:rPr>
              <a:t>from</a:t>
            </a:r>
            <a:r>
              <a:rPr sz="4150" spc="-235" dirty="0">
                <a:solidFill>
                  <a:srgbClr val="033459"/>
                </a:solidFill>
              </a:rPr>
              <a:t> </a:t>
            </a:r>
            <a:r>
              <a:rPr sz="4150" spc="140" dirty="0">
                <a:solidFill>
                  <a:srgbClr val="03345E"/>
                </a:solidFill>
              </a:rPr>
              <a:t>Existing</a:t>
            </a:r>
            <a:r>
              <a:rPr sz="4150" spc="-170" dirty="0">
                <a:solidFill>
                  <a:srgbClr val="03345E"/>
                </a:solidFill>
              </a:rPr>
              <a:t> </a:t>
            </a:r>
            <a:r>
              <a:rPr sz="4150" spc="120" dirty="0">
                <a:solidFill>
                  <a:srgbClr val="082F54"/>
                </a:solidFill>
              </a:rPr>
              <a:t>Solutions</a:t>
            </a:r>
            <a:endParaRPr sz="4150"/>
          </a:p>
        </p:txBody>
      </p:sp>
      <p:sp>
        <p:nvSpPr>
          <p:cNvPr id="5" name="object 5"/>
          <p:cNvSpPr txBox="1"/>
          <p:nvPr/>
        </p:nvSpPr>
        <p:spPr>
          <a:xfrm>
            <a:off x="16108071" y="9468643"/>
            <a:ext cx="99060" cy="210820"/>
          </a:xfrm>
          <a:prstGeom prst="rect">
            <a:avLst/>
          </a:prstGeom>
        </p:spPr>
        <p:txBody>
          <a:bodyPr vert="horz" wrap="square" lIns="0" tIns="0" rIns="0" bIns="0" rtlCol="0">
            <a:spAutoFit/>
          </a:bodyPr>
          <a:lstStyle/>
          <a:p>
            <a:pPr marL="12700">
              <a:lnSpc>
                <a:spcPts val="1485"/>
              </a:lnSpc>
            </a:pPr>
            <a:r>
              <a:rPr sz="1450" spc="-390" dirty="0">
                <a:latin typeface="Calibri"/>
                <a:cs typeface="Calibri"/>
              </a:rPr>
              <a:t>G</a:t>
            </a:r>
            <a:endParaRPr sz="1450">
              <a:latin typeface="Calibri"/>
              <a:cs typeface="Calibri"/>
            </a:endParaRPr>
          </a:p>
        </p:txBody>
      </p:sp>
      <p:sp>
        <p:nvSpPr>
          <p:cNvPr id="6" name="object 6"/>
          <p:cNvSpPr txBox="1"/>
          <p:nvPr/>
        </p:nvSpPr>
        <p:spPr>
          <a:xfrm>
            <a:off x="16354742" y="9468643"/>
            <a:ext cx="988694" cy="210820"/>
          </a:xfrm>
          <a:prstGeom prst="rect">
            <a:avLst/>
          </a:prstGeom>
        </p:spPr>
        <p:txBody>
          <a:bodyPr vert="horz" wrap="square" lIns="0" tIns="0" rIns="0" bIns="0" rtlCol="0">
            <a:spAutoFit/>
          </a:bodyPr>
          <a:lstStyle/>
          <a:p>
            <a:pPr marL="12700">
              <a:lnSpc>
                <a:spcPts val="1485"/>
              </a:lnSpc>
            </a:pPr>
            <a:r>
              <a:rPr sz="1450" spc="-10" dirty="0">
                <a:latin typeface="Calibri"/>
                <a:cs typeface="Calibri"/>
              </a:rPr>
              <a:t>NotebookLM</a:t>
            </a:r>
            <a:endParaRPr sz="145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24113" y="414161"/>
            <a:ext cx="13567410" cy="1513840"/>
          </a:xfrm>
          <a:prstGeom prst="rect">
            <a:avLst/>
          </a:prstGeom>
        </p:spPr>
        <p:txBody>
          <a:bodyPr vert="horz" wrap="square" lIns="0" tIns="100965" rIns="0" bIns="0" rtlCol="0">
            <a:spAutoFit/>
          </a:bodyPr>
          <a:lstStyle/>
          <a:p>
            <a:pPr marL="12700" marR="5080" indent="8255">
              <a:lnSpc>
                <a:spcPts val="5550"/>
              </a:lnSpc>
              <a:spcBef>
                <a:spcPts val="795"/>
              </a:spcBef>
            </a:pPr>
            <a:r>
              <a:rPr sz="5100" spc="-155" dirty="0">
                <a:solidFill>
                  <a:srgbClr val="073860"/>
                </a:solidFill>
              </a:rPr>
              <a:t>The</a:t>
            </a:r>
            <a:r>
              <a:rPr sz="5100" spc="-320" dirty="0">
                <a:solidFill>
                  <a:srgbClr val="073860"/>
                </a:solidFill>
              </a:rPr>
              <a:t> </a:t>
            </a:r>
            <a:r>
              <a:rPr sz="5100" spc="-90" dirty="0">
                <a:solidFill>
                  <a:srgbClr val="05345E"/>
                </a:solidFill>
              </a:rPr>
              <a:t>Hardware</a:t>
            </a:r>
            <a:r>
              <a:rPr sz="5100" spc="-265" dirty="0">
                <a:solidFill>
                  <a:srgbClr val="05345E"/>
                </a:solidFill>
              </a:rPr>
              <a:t> </a:t>
            </a:r>
            <a:r>
              <a:rPr sz="5100" spc="-60" dirty="0">
                <a:solidFill>
                  <a:srgbClr val="053860"/>
                </a:solidFill>
              </a:rPr>
              <a:t>Stack</a:t>
            </a:r>
            <a:r>
              <a:rPr sz="5100" spc="-365" dirty="0">
                <a:solidFill>
                  <a:srgbClr val="053860"/>
                </a:solidFill>
              </a:rPr>
              <a:t> </a:t>
            </a:r>
            <a:r>
              <a:rPr sz="5100" spc="75" dirty="0">
                <a:solidFill>
                  <a:srgbClr val="05335B"/>
                </a:solidFill>
              </a:rPr>
              <a:t>Is</a:t>
            </a:r>
            <a:r>
              <a:rPr sz="5100" spc="-445" dirty="0">
                <a:solidFill>
                  <a:srgbClr val="05335B"/>
                </a:solidFill>
              </a:rPr>
              <a:t> </a:t>
            </a:r>
            <a:r>
              <a:rPr sz="5100" spc="-20" dirty="0">
                <a:solidFill>
                  <a:srgbClr val="053B69"/>
                </a:solidFill>
              </a:rPr>
              <a:t>Optimised</a:t>
            </a:r>
            <a:r>
              <a:rPr sz="5100" spc="-120" dirty="0">
                <a:solidFill>
                  <a:srgbClr val="053B69"/>
                </a:solidFill>
              </a:rPr>
              <a:t> </a:t>
            </a:r>
            <a:r>
              <a:rPr sz="5100" spc="55" dirty="0">
                <a:solidFill>
                  <a:srgbClr val="083B66"/>
                </a:solidFill>
              </a:rPr>
              <a:t>for</a:t>
            </a:r>
            <a:r>
              <a:rPr sz="5100" spc="-355" dirty="0">
                <a:solidFill>
                  <a:srgbClr val="083B66"/>
                </a:solidFill>
              </a:rPr>
              <a:t> </a:t>
            </a:r>
            <a:r>
              <a:rPr sz="5100" spc="-105" dirty="0">
                <a:solidFill>
                  <a:srgbClr val="033B6B"/>
                </a:solidFill>
              </a:rPr>
              <a:t>Low</a:t>
            </a:r>
            <a:r>
              <a:rPr sz="5100" spc="-280" dirty="0">
                <a:solidFill>
                  <a:srgbClr val="033B6B"/>
                </a:solidFill>
              </a:rPr>
              <a:t> </a:t>
            </a:r>
            <a:r>
              <a:rPr sz="5100" spc="-10" dirty="0">
                <a:solidFill>
                  <a:srgbClr val="05345D"/>
                </a:solidFill>
              </a:rPr>
              <a:t>Power </a:t>
            </a:r>
            <a:r>
              <a:rPr sz="5100" spc="-70" dirty="0">
                <a:solidFill>
                  <a:srgbClr val="05365D"/>
                </a:solidFill>
              </a:rPr>
              <a:t>and</a:t>
            </a:r>
            <a:r>
              <a:rPr sz="5100" spc="-445" dirty="0">
                <a:solidFill>
                  <a:srgbClr val="05365D"/>
                </a:solidFill>
              </a:rPr>
              <a:t> </a:t>
            </a:r>
            <a:r>
              <a:rPr sz="5100" spc="-30" dirty="0">
                <a:solidFill>
                  <a:srgbClr val="05365D"/>
                </a:solidFill>
              </a:rPr>
              <a:t>High-</a:t>
            </a:r>
            <a:r>
              <a:rPr sz="5100" dirty="0">
                <a:solidFill>
                  <a:srgbClr val="05365D"/>
                </a:solidFill>
              </a:rPr>
              <a:t>Quality</a:t>
            </a:r>
            <a:r>
              <a:rPr sz="5100" spc="5" dirty="0">
                <a:solidFill>
                  <a:srgbClr val="05365D"/>
                </a:solidFill>
              </a:rPr>
              <a:t> </a:t>
            </a:r>
            <a:r>
              <a:rPr sz="5100" spc="-20" dirty="0">
                <a:solidFill>
                  <a:srgbClr val="013460"/>
                </a:solidFill>
              </a:rPr>
              <a:t>Audio</a:t>
            </a:r>
            <a:endParaRPr sz="5100"/>
          </a:p>
        </p:txBody>
      </p:sp>
      <p:sp>
        <p:nvSpPr>
          <p:cNvPr id="3" name="object 3"/>
          <p:cNvSpPr txBox="1"/>
          <p:nvPr/>
        </p:nvSpPr>
        <p:spPr>
          <a:xfrm>
            <a:off x="1412129" y="2791530"/>
            <a:ext cx="4758055" cy="2091689"/>
          </a:xfrm>
          <a:prstGeom prst="rect">
            <a:avLst/>
          </a:prstGeom>
        </p:spPr>
        <p:txBody>
          <a:bodyPr vert="horz" wrap="square" lIns="0" tIns="64769" rIns="0" bIns="0" rtlCol="0">
            <a:spAutoFit/>
          </a:bodyPr>
          <a:lstStyle/>
          <a:p>
            <a:pPr marL="2281555" marR="5080" indent="-177800">
              <a:lnSpc>
                <a:spcPts val="2700"/>
              </a:lnSpc>
              <a:spcBef>
                <a:spcPts val="509"/>
              </a:spcBef>
            </a:pPr>
            <a:r>
              <a:rPr sz="2550" dirty="0">
                <a:latin typeface="Calibri"/>
                <a:cs typeface="Calibri"/>
              </a:rPr>
              <a:t>Processing</a:t>
            </a:r>
            <a:r>
              <a:rPr sz="2550" spc="-55" dirty="0">
                <a:latin typeface="Calibri"/>
                <a:cs typeface="Calibri"/>
              </a:rPr>
              <a:t> </a:t>
            </a:r>
            <a:r>
              <a:rPr sz="2550" spc="-60" dirty="0">
                <a:solidFill>
                  <a:srgbClr val="131313"/>
                </a:solidFill>
                <a:latin typeface="Calibri"/>
                <a:cs typeface="Calibri"/>
              </a:rPr>
              <a:t>&amp;</a:t>
            </a:r>
            <a:r>
              <a:rPr sz="2550" spc="-155" dirty="0">
                <a:solidFill>
                  <a:srgbClr val="131313"/>
                </a:solidFill>
                <a:latin typeface="Calibri"/>
                <a:cs typeface="Calibri"/>
              </a:rPr>
              <a:t> </a:t>
            </a:r>
            <a:r>
              <a:rPr sz="2550" spc="-10" dirty="0">
                <a:latin typeface="Calibri"/>
                <a:cs typeface="Calibri"/>
              </a:rPr>
              <a:t>Vision: </a:t>
            </a:r>
            <a:r>
              <a:rPr sz="2550" spc="-105" dirty="0">
                <a:solidFill>
                  <a:srgbClr val="0E0E0E"/>
                </a:solidFill>
                <a:latin typeface="Calibri"/>
                <a:cs typeface="Calibri"/>
              </a:rPr>
              <a:t>ESP32-</a:t>
            </a:r>
            <a:r>
              <a:rPr sz="2550" spc="-55" dirty="0">
                <a:solidFill>
                  <a:srgbClr val="0E0E0E"/>
                </a:solidFill>
                <a:latin typeface="Calibri"/>
                <a:cs typeface="Calibri"/>
              </a:rPr>
              <a:t>CAM</a:t>
            </a:r>
            <a:r>
              <a:rPr sz="2550" spc="-5" dirty="0">
                <a:solidFill>
                  <a:srgbClr val="0E0E0E"/>
                </a:solidFill>
                <a:latin typeface="Calibri"/>
                <a:cs typeface="Calibri"/>
              </a:rPr>
              <a:t> </a:t>
            </a:r>
            <a:r>
              <a:rPr sz="2550" spc="-105" dirty="0">
                <a:solidFill>
                  <a:srgbClr val="151515"/>
                </a:solidFill>
                <a:latin typeface="Calibri"/>
                <a:cs typeface="Calibri"/>
              </a:rPr>
              <a:t>Module</a:t>
            </a:r>
            <a:endParaRPr sz="2550">
              <a:latin typeface="Calibri"/>
              <a:cs typeface="Calibri"/>
            </a:endParaRPr>
          </a:p>
          <a:p>
            <a:pPr>
              <a:lnSpc>
                <a:spcPct val="100000"/>
              </a:lnSpc>
              <a:spcBef>
                <a:spcPts val="1545"/>
              </a:spcBef>
            </a:pPr>
            <a:endParaRPr sz="2550">
              <a:latin typeface="Calibri"/>
              <a:cs typeface="Calibri"/>
            </a:endParaRPr>
          </a:p>
          <a:p>
            <a:pPr marL="12700">
              <a:lnSpc>
                <a:spcPts val="3020"/>
              </a:lnSpc>
            </a:pPr>
            <a:r>
              <a:rPr sz="2700" spc="-155" dirty="0">
                <a:latin typeface="Calibri"/>
                <a:cs typeface="Calibri"/>
              </a:rPr>
              <a:t>Wake-</a:t>
            </a:r>
            <a:r>
              <a:rPr sz="2700" spc="-50" dirty="0">
                <a:latin typeface="Calibri"/>
                <a:cs typeface="Calibri"/>
              </a:rPr>
              <a:t>up</a:t>
            </a:r>
            <a:r>
              <a:rPr sz="2700" spc="-65" dirty="0">
                <a:latin typeface="Calibri"/>
                <a:cs typeface="Calibri"/>
              </a:rPr>
              <a:t> </a:t>
            </a:r>
            <a:r>
              <a:rPr sz="2700" spc="-10" dirty="0">
                <a:latin typeface="Calibri"/>
                <a:cs typeface="Calibri"/>
              </a:rPr>
              <a:t>Trigger:</a:t>
            </a:r>
            <a:endParaRPr sz="2700">
              <a:latin typeface="Calibri"/>
              <a:cs typeface="Calibri"/>
            </a:endParaRPr>
          </a:p>
          <a:p>
            <a:pPr marL="897890">
              <a:lnSpc>
                <a:spcPts val="2780"/>
              </a:lnSpc>
            </a:pPr>
            <a:r>
              <a:rPr sz="2500" dirty="0">
                <a:solidFill>
                  <a:srgbClr val="111111"/>
                </a:solidFill>
                <a:latin typeface="Calibri"/>
                <a:cs typeface="Calibri"/>
              </a:rPr>
              <a:t>PIR</a:t>
            </a:r>
            <a:r>
              <a:rPr sz="2500" spc="70" dirty="0">
                <a:solidFill>
                  <a:srgbClr val="111111"/>
                </a:solidFill>
                <a:latin typeface="Calibri"/>
                <a:cs typeface="Calibri"/>
              </a:rPr>
              <a:t> </a:t>
            </a:r>
            <a:r>
              <a:rPr sz="2500" spc="-10" dirty="0">
                <a:solidFill>
                  <a:srgbClr val="111111"/>
                </a:solidFill>
                <a:latin typeface="Calibri"/>
                <a:cs typeface="Calibri"/>
              </a:rPr>
              <a:t>Sensor</a:t>
            </a:r>
            <a:endParaRPr sz="2500">
              <a:latin typeface="Calibri"/>
              <a:cs typeface="Calibri"/>
            </a:endParaRPr>
          </a:p>
        </p:txBody>
      </p:sp>
      <p:sp>
        <p:nvSpPr>
          <p:cNvPr id="4" name="object 4"/>
          <p:cNvSpPr txBox="1"/>
          <p:nvPr/>
        </p:nvSpPr>
        <p:spPr>
          <a:xfrm>
            <a:off x="5165412" y="7714191"/>
            <a:ext cx="3439160" cy="765175"/>
          </a:xfrm>
          <a:prstGeom prst="rect">
            <a:avLst/>
          </a:prstGeom>
        </p:spPr>
        <p:txBody>
          <a:bodyPr vert="horz" wrap="square" lIns="0" tIns="13335" rIns="0" bIns="0" rtlCol="0">
            <a:spAutoFit/>
          </a:bodyPr>
          <a:lstStyle/>
          <a:p>
            <a:pPr marL="12700">
              <a:lnSpc>
                <a:spcPts val="2995"/>
              </a:lnSpc>
              <a:spcBef>
                <a:spcPts val="105"/>
              </a:spcBef>
            </a:pPr>
            <a:r>
              <a:rPr sz="2700" spc="-25" dirty="0">
                <a:latin typeface="Calibri"/>
                <a:cs typeface="Calibri"/>
              </a:rPr>
              <a:t>High-FidelityAudio</a:t>
            </a:r>
            <a:r>
              <a:rPr sz="2700" spc="-45" dirty="0">
                <a:latin typeface="Calibri"/>
                <a:cs typeface="Calibri"/>
              </a:rPr>
              <a:t> </a:t>
            </a:r>
            <a:r>
              <a:rPr sz="2700" spc="-10" dirty="0">
                <a:latin typeface="Calibri"/>
                <a:cs typeface="Calibri"/>
              </a:rPr>
              <a:t>Input:</a:t>
            </a:r>
            <a:endParaRPr sz="2700">
              <a:latin typeface="Calibri"/>
              <a:cs typeface="Calibri"/>
            </a:endParaRPr>
          </a:p>
          <a:p>
            <a:pPr marL="280670">
              <a:lnSpc>
                <a:spcPts val="2815"/>
              </a:lnSpc>
            </a:pPr>
            <a:r>
              <a:rPr sz="2550" spc="-65" dirty="0">
                <a:solidFill>
                  <a:srgbClr val="131313"/>
                </a:solidFill>
                <a:latin typeface="Calibri"/>
                <a:cs typeface="Calibri"/>
              </a:rPr>
              <a:t>INNP441</a:t>
            </a:r>
            <a:r>
              <a:rPr sz="2550" spc="-15" dirty="0">
                <a:solidFill>
                  <a:srgbClr val="131313"/>
                </a:solidFill>
                <a:latin typeface="Calibri"/>
                <a:cs typeface="Calibri"/>
              </a:rPr>
              <a:t> </a:t>
            </a:r>
            <a:r>
              <a:rPr sz="2550" dirty="0">
                <a:solidFill>
                  <a:srgbClr val="111111"/>
                </a:solidFill>
                <a:latin typeface="Calibri"/>
                <a:cs typeface="Calibri"/>
              </a:rPr>
              <a:t>I2S</a:t>
            </a:r>
            <a:r>
              <a:rPr sz="2550" spc="-140" dirty="0">
                <a:solidFill>
                  <a:srgbClr val="111111"/>
                </a:solidFill>
                <a:latin typeface="Calibri"/>
                <a:cs typeface="Calibri"/>
              </a:rPr>
              <a:t> </a:t>
            </a:r>
            <a:r>
              <a:rPr sz="2550" spc="-70" dirty="0">
                <a:solidFill>
                  <a:srgbClr val="111111"/>
                </a:solidFill>
                <a:latin typeface="Calibri"/>
                <a:cs typeface="Calibri"/>
              </a:rPr>
              <a:t>Microphone</a:t>
            </a:r>
            <a:endParaRPr sz="2550">
              <a:latin typeface="Calibri"/>
              <a:cs typeface="Calibri"/>
            </a:endParaRPr>
          </a:p>
        </p:txBody>
      </p:sp>
      <p:sp>
        <p:nvSpPr>
          <p:cNvPr id="5" name="object 5"/>
          <p:cNvSpPr txBox="1"/>
          <p:nvPr/>
        </p:nvSpPr>
        <p:spPr>
          <a:xfrm>
            <a:off x="12429256" y="2435930"/>
            <a:ext cx="3160395" cy="1082040"/>
          </a:xfrm>
          <a:prstGeom prst="rect">
            <a:avLst/>
          </a:prstGeom>
        </p:spPr>
        <p:txBody>
          <a:bodyPr vert="horz" wrap="square" lIns="0" tIns="57150" rIns="0" bIns="0" rtlCol="0">
            <a:spAutoFit/>
          </a:bodyPr>
          <a:lstStyle/>
          <a:p>
            <a:pPr marL="12700" marR="5080" indent="13970">
              <a:lnSpc>
                <a:spcPct val="89100"/>
              </a:lnSpc>
              <a:spcBef>
                <a:spcPts val="450"/>
              </a:spcBef>
            </a:pPr>
            <a:r>
              <a:rPr sz="2550" spc="-10" dirty="0">
                <a:latin typeface="Calibri"/>
                <a:cs typeface="Calibri"/>
              </a:rPr>
              <a:t>Clear</a:t>
            </a:r>
            <a:r>
              <a:rPr sz="2550" spc="-140" dirty="0">
                <a:latin typeface="Calibri"/>
                <a:cs typeface="Calibri"/>
              </a:rPr>
              <a:t> </a:t>
            </a:r>
            <a:r>
              <a:rPr sz="2550" spc="-20" dirty="0">
                <a:latin typeface="Calibri"/>
                <a:cs typeface="Calibri"/>
              </a:rPr>
              <a:t>Audio</a:t>
            </a:r>
            <a:r>
              <a:rPr sz="2550" spc="-100" dirty="0">
                <a:latin typeface="Calibri"/>
                <a:cs typeface="Calibri"/>
              </a:rPr>
              <a:t> </a:t>
            </a:r>
            <a:r>
              <a:rPr sz="2550" spc="-10" dirty="0">
                <a:latin typeface="Calibri"/>
                <a:cs typeface="Calibri"/>
              </a:rPr>
              <a:t>Output: </a:t>
            </a:r>
            <a:r>
              <a:rPr sz="2400" spc="-60" dirty="0">
                <a:solidFill>
                  <a:srgbClr val="0A0A0A"/>
                </a:solidFill>
                <a:latin typeface="Calibri"/>
                <a:cs typeface="Calibri"/>
              </a:rPr>
              <a:t>MAX9835TA</a:t>
            </a:r>
            <a:r>
              <a:rPr sz="2400" spc="-55" dirty="0">
                <a:solidFill>
                  <a:srgbClr val="0A0A0A"/>
                </a:solidFill>
                <a:latin typeface="Calibri"/>
                <a:cs typeface="Calibri"/>
              </a:rPr>
              <a:t> </a:t>
            </a:r>
            <a:r>
              <a:rPr sz="2400" spc="70" dirty="0">
                <a:solidFill>
                  <a:srgbClr val="0C0C0C"/>
                </a:solidFill>
                <a:latin typeface="Calibri"/>
                <a:cs typeface="Calibri"/>
              </a:rPr>
              <a:t>I2S</a:t>
            </a:r>
            <a:r>
              <a:rPr sz="2400" spc="-150" dirty="0">
                <a:solidFill>
                  <a:srgbClr val="0C0C0C"/>
                </a:solidFill>
                <a:latin typeface="Calibri"/>
                <a:cs typeface="Calibri"/>
              </a:rPr>
              <a:t> </a:t>
            </a:r>
            <a:r>
              <a:rPr sz="2400" spc="-10" dirty="0">
                <a:solidFill>
                  <a:srgbClr val="131313"/>
                </a:solidFill>
                <a:latin typeface="Calibri"/>
                <a:cs typeface="Calibri"/>
              </a:rPr>
              <a:t>Amplifier </a:t>
            </a:r>
            <a:r>
              <a:rPr sz="2500" spc="-125" dirty="0">
                <a:solidFill>
                  <a:srgbClr val="181818"/>
                </a:solidFill>
                <a:latin typeface="Calibri"/>
                <a:cs typeface="Calibri"/>
              </a:rPr>
              <a:t>&amp;</a:t>
            </a:r>
            <a:r>
              <a:rPr sz="2500" spc="-140" dirty="0">
                <a:solidFill>
                  <a:srgbClr val="181818"/>
                </a:solidFill>
                <a:latin typeface="Calibri"/>
                <a:cs typeface="Calibri"/>
              </a:rPr>
              <a:t> </a:t>
            </a:r>
            <a:r>
              <a:rPr sz="2500" spc="-200" dirty="0">
                <a:solidFill>
                  <a:srgbClr val="1A1A1A"/>
                </a:solidFill>
                <a:latin typeface="Calibri"/>
                <a:cs typeface="Calibri"/>
              </a:rPr>
              <a:t>3W</a:t>
            </a:r>
            <a:r>
              <a:rPr sz="2500" spc="-25" dirty="0">
                <a:solidFill>
                  <a:srgbClr val="1A1A1A"/>
                </a:solidFill>
                <a:latin typeface="Calibri"/>
                <a:cs typeface="Calibri"/>
              </a:rPr>
              <a:t> </a:t>
            </a:r>
            <a:r>
              <a:rPr sz="2500" spc="-10" dirty="0">
                <a:solidFill>
                  <a:srgbClr val="111111"/>
                </a:solidFill>
                <a:latin typeface="Calibri"/>
                <a:cs typeface="Calibri"/>
              </a:rPr>
              <a:t>Speaker</a:t>
            </a:r>
            <a:endParaRPr sz="2500">
              <a:latin typeface="Calibri"/>
              <a:cs typeface="Calibri"/>
            </a:endParaRPr>
          </a:p>
        </p:txBody>
      </p:sp>
      <p:sp>
        <p:nvSpPr>
          <p:cNvPr id="6" name="object 6"/>
          <p:cNvSpPr txBox="1"/>
          <p:nvPr/>
        </p:nvSpPr>
        <p:spPr>
          <a:xfrm>
            <a:off x="12118346" y="5722761"/>
            <a:ext cx="4449445" cy="3212465"/>
          </a:xfrm>
          <a:prstGeom prst="rect">
            <a:avLst/>
          </a:prstGeom>
        </p:spPr>
        <p:txBody>
          <a:bodyPr vert="horz" wrap="square" lIns="0" tIns="17145" rIns="0" bIns="0" rtlCol="0">
            <a:spAutoFit/>
          </a:bodyPr>
          <a:lstStyle/>
          <a:p>
            <a:pPr marL="159385">
              <a:lnSpc>
                <a:spcPts val="2935"/>
              </a:lnSpc>
              <a:spcBef>
                <a:spcPts val="135"/>
              </a:spcBef>
            </a:pPr>
            <a:r>
              <a:rPr sz="2600" spc="-60" dirty="0">
                <a:solidFill>
                  <a:srgbClr val="070707"/>
                </a:solidFill>
                <a:latin typeface="Calibri"/>
                <a:cs typeface="Calibri"/>
              </a:rPr>
              <a:t>Power</a:t>
            </a:r>
            <a:r>
              <a:rPr sz="2600" spc="-125" dirty="0">
                <a:solidFill>
                  <a:srgbClr val="070707"/>
                </a:solidFill>
                <a:latin typeface="Calibri"/>
                <a:cs typeface="Calibri"/>
              </a:rPr>
              <a:t> </a:t>
            </a:r>
            <a:r>
              <a:rPr sz="2600" spc="-80" dirty="0">
                <a:solidFill>
                  <a:srgbClr val="0E0E0E"/>
                </a:solidFill>
                <a:latin typeface="Calibri"/>
                <a:cs typeface="Calibri"/>
              </a:rPr>
              <a:t>&amp;</a:t>
            </a:r>
            <a:r>
              <a:rPr sz="2600" spc="-175" dirty="0">
                <a:solidFill>
                  <a:srgbClr val="0E0E0E"/>
                </a:solidFill>
                <a:latin typeface="Calibri"/>
                <a:cs typeface="Calibri"/>
              </a:rPr>
              <a:t> </a:t>
            </a:r>
            <a:r>
              <a:rPr sz="2600" spc="-10" dirty="0">
                <a:latin typeface="Calibri"/>
                <a:cs typeface="Calibri"/>
              </a:rPr>
              <a:t>Programming:</a:t>
            </a:r>
            <a:endParaRPr sz="2600" dirty="0">
              <a:latin typeface="Calibri"/>
              <a:cs typeface="Calibri"/>
            </a:endParaRPr>
          </a:p>
          <a:p>
            <a:pPr marL="160655">
              <a:lnSpc>
                <a:spcPts val="2815"/>
              </a:lnSpc>
            </a:pPr>
            <a:r>
              <a:rPr sz="2500" spc="-55" dirty="0">
                <a:solidFill>
                  <a:srgbClr val="111111"/>
                </a:solidFill>
                <a:latin typeface="Calibri"/>
                <a:cs typeface="Calibri"/>
              </a:rPr>
              <a:t>Power</a:t>
            </a:r>
            <a:r>
              <a:rPr sz="2500" spc="-20" dirty="0">
                <a:solidFill>
                  <a:srgbClr val="111111"/>
                </a:solidFill>
                <a:latin typeface="Calibri"/>
                <a:cs typeface="Calibri"/>
              </a:rPr>
              <a:t> </a:t>
            </a:r>
            <a:r>
              <a:rPr sz="2500" spc="-20" dirty="0">
                <a:solidFill>
                  <a:srgbClr val="080808"/>
                </a:solidFill>
                <a:latin typeface="Calibri"/>
                <a:cs typeface="Calibri"/>
              </a:rPr>
              <a:t>Supply</a:t>
            </a:r>
            <a:r>
              <a:rPr sz="2500" spc="-110" dirty="0">
                <a:solidFill>
                  <a:srgbClr val="080808"/>
                </a:solidFill>
                <a:latin typeface="Calibri"/>
                <a:cs typeface="Calibri"/>
              </a:rPr>
              <a:t> </a:t>
            </a:r>
            <a:r>
              <a:rPr sz="2500" spc="-125" dirty="0">
                <a:solidFill>
                  <a:srgbClr val="131313"/>
                </a:solidFill>
                <a:latin typeface="Calibri"/>
                <a:cs typeface="Calibri"/>
              </a:rPr>
              <a:t>&amp;</a:t>
            </a:r>
            <a:r>
              <a:rPr sz="2500" spc="-130" dirty="0">
                <a:solidFill>
                  <a:srgbClr val="131313"/>
                </a:solidFill>
                <a:latin typeface="Calibri"/>
                <a:cs typeface="Calibri"/>
              </a:rPr>
              <a:t> </a:t>
            </a:r>
            <a:r>
              <a:rPr sz="2500" dirty="0">
                <a:solidFill>
                  <a:srgbClr val="0A0A0A"/>
                </a:solidFill>
                <a:latin typeface="Calibri"/>
                <a:cs typeface="Calibri"/>
              </a:rPr>
              <a:t>FTDI</a:t>
            </a:r>
            <a:r>
              <a:rPr sz="2500" spc="-110" dirty="0">
                <a:solidFill>
                  <a:srgbClr val="0A0A0A"/>
                </a:solidFill>
                <a:latin typeface="Calibri"/>
                <a:cs typeface="Calibri"/>
              </a:rPr>
              <a:t> </a:t>
            </a:r>
            <a:r>
              <a:rPr sz="2500" spc="-10" dirty="0">
                <a:solidFill>
                  <a:srgbClr val="0F0F0F"/>
                </a:solidFill>
                <a:latin typeface="Calibri"/>
                <a:cs typeface="Calibri"/>
              </a:rPr>
              <a:t>Module</a:t>
            </a:r>
            <a:endParaRPr sz="2500" dirty="0">
              <a:latin typeface="Calibri"/>
              <a:cs typeface="Calibri"/>
            </a:endParaRPr>
          </a:p>
          <a:p>
            <a:pPr>
              <a:lnSpc>
                <a:spcPct val="100000"/>
              </a:lnSpc>
              <a:spcBef>
                <a:spcPts val="2550"/>
              </a:spcBef>
            </a:pPr>
            <a:endParaRPr sz="2500" dirty="0">
              <a:latin typeface="Calibri"/>
              <a:cs typeface="Calibri"/>
            </a:endParaRPr>
          </a:p>
          <a:p>
            <a:pPr marL="12700">
              <a:lnSpc>
                <a:spcPct val="100000"/>
              </a:lnSpc>
            </a:pPr>
            <a:r>
              <a:rPr sz="3300" spc="90" dirty="0">
                <a:solidFill>
                  <a:srgbClr val="08365E"/>
                </a:solidFill>
                <a:latin typeface="Calibri"/>
                <a:cs typeface="Calibri"/>
              </a:rPr>
              <a:t>Key</a:t>
            </a:r>
            <a:r>
              <a:rPr sz="3300" spc="-180" dirty="0">
                <a:solidFill>
                  <a:srgbClr val="08365E"/>
                </a:solidFill>
                <a:latin typeface="Calibri"/>
                <a:cs typeface="Calibri"/>
              </a:rPr>
              <a:t> </a:t>
            </a:r>
            <a:r>
              <a:rPr sz="3300" spc="-10" dirty="0">
                <a:solidFill>
                  <a:srgbClr val="0F314D"/>
                </a:solidFill>
                <a:latin typeface="Calibri"/>
                <a:cs typeface="Calibri"/>
              </a:rPr>
              <a:t>Insight</a:t>
            </a:r>
            <a:endParaRPr sz="3300" dirty="0">
              <a:latin typeface="Calibri"/>
              <a:cs typeface="Calibri"/>
            </a:endParaRPr>
          </a:p>
          <a:p>
            <a:pPr marL="24765" marR="5080" indent="3810">
              <a:lnSpc>
                <a:spcPts val="2200"/>
              </a:lnSpc>
              <a:spcBef>
                <a:spcPts val="980"/>
              </a:spcBef>
            </a:pPr>
            <a:r>
              <a:rPr sz="2150" spc="-140" dirty="0">
                <a:latin typeface="Arial MT"/>
                <a:cs typeface="Arial MT"/>
              </a:rPr>
              <a:t>The</a:t>
            </a:r>
            <a:r>
              <a:rPr sz="2150" spc="-125" dirty="0">
                <a:latin typeface="Arial MT"/>
                <a:cs typeface="Arial MT"/>
              </a:rPr>
              <a:t> </a:t>
            </a:r>
            <a:r>
              <a:rPr sz="2150" spc="-140" dirty="0">
                <a:latin typeface="Arial MT"/>
                <a:cs typeface="Arial MT"/>
              </a:rPr>
              <a:t>use</a:t>
            </a:r>
            <a:r>
              <a:rPr sz="2150" spc="-55" dirty="0">
                <a:latin typeface="Arial MT"/>
                <a:cs typeface="Arial MT"/>
              </a:rPr>
              <a:t> </a:t>
            </a:r>
            <a:r>
              <a:rPr sz="2150" spc="-35" dirty="0">
                <a:latin typeface="Arial MT"/>
                <a:cs typeface="Arial MT"/>
              </a:rPr>
              <a:t>of</a:t>
            </a:r>
            <a:r>
              <a:rPr sz="2150" spc="-55" dirty="0">
                <a:latin typeface="Arial MT"/>
                <a:cs typeface="Arial MT"/>
              </a:rPr>
              <a:t> the</a:t>
            </a:r>
            <a:r>
              <a:rPr sz="2150" spc="-135" dirty="0">
                <a:latin typeface="Arial MT"/>
                <a:cs typeface="Arial MT"/>
              </a:rPr>
              <a:t> </a:t>
            </a:r>
            <a:r>
              <a:rPr sz="2150" spc="-195" dirty="0">
                <a:latin typeface="Arial MT"/>
                <a:cs typeface="Arial MT"/>
              </a:rPr>
              <a:t>I2</a:t>
            </a:r>
            <a:r>
              <a:rPr lang="en-US" sz="2150" spc="-195" dirty="0">
                <a:latin typeface="Arial MT"/>
                <a:cs typeface="Arial MT"/>
              </a:rPr>
              <a:t>c</a:t>
            </a:r>
            <a:r>
              <a:rPr sz="2150" spc="-45" dirty="0">
                <a:latin typeface="Arial MT"/>
                <a:cs typeface="Arial MT"/>
              </a:rPr>
              <a:t> </a:t>
            </a:r>
            <a:r>
              <a:rPr sz="2150" spc="-80" dirty="0">
                <a:latin typeface="Arial MT"/>
                <a:cs typeface="Arial MT"/>
              </a:rPr>
              <a:t>protocol</a:t>
            </a:r>
            <a:r>
              <a:rPr sz="2150" spc="-5" dirty="0">
                <a:latin typeface="Arial MT"/>
                <a:cs typeface="Arial MT"/>
              </a:rPr>
              <a:t> </a:t>
            </a:r>
            <a:r>
              <a:rPr sz="2150" spc="-70" dirty="0">
                <a:latin typeface="Arial MT"/>
                <a:cs typeface="Arial MT"/>
              </a:rPr>
              <a:t>for</a:t>
            </a:r>
            <a:r>
              <a:rPr sz="2150" spc="-95" dirty="0">
                <a:latin typeface="Arial MT"/>
                <a:cs typeface="Arial MT"/>
              </a:rPr>
              <a:t> </a:t>
            </a:r>
            <a:r>
              <a:rPr sz="2150" spc="-10" dirty="0">
                <a:latin typeface="Arial MT"/>
                <a:cs typeface="Arial MT"/>
              </a:rPr>
              <a:t>audio </a:t>
            </a:r>
            <a:r>
              <a:rPr sz="2050" spc="-60" dirty="0">
                <a:latin typeface="Arial MT"/>
                <a:cs typeface="Arial MT"/>
              </a:rPr>
              <a:t>ensures</a:t>
            </a:r>
            <a:r>
              <a:rPr sz="2050" spc="-95" dirty="0">
                <a:latin typeface="Arial MT"/>
                <a:cs typeface="Arial MT"/>
              </a:rPr>
              <a:t> </a:t>
            </a:r>
            <a:r>
              <a:rPr sz="2050" spc="-135" dirty="0">
                <a:latin typeface="Arial MT"/>
                <a:cs typeface="Arial MT"/>
              </a:rPr>
              <a:t>a</a:t>
            </a:r>
            <a:r>
              <a:rPr sz="2050" spc="-90" dirty="0">
                <a:latin typeface="Arial MT"/>
                <a:cs typeface="Arial MT"/>
              </a:rPr>
              <a:t> </a:t>
            </a:r>
            <a:r>
              <a:rPr sz="2050" spc="-30" dirty="0">
                <a:latin typeface="Arial MT"/>
                <a:cs typeface="Arial MT"/>
              </a:rPr>
              <a:t>dedicated,</a:t>
            </a:r>
            <a:r>
              <a:rPr sz="2050" spc="-114" dirty="0">
                <a:latin typeface="Arial MT"/>
                <a:cs typeface="Arial MT"/>
              </a:rPr>
              <a:t> </a:t>
            </a:r>
            <a:r>
              <a:rPr sz="2050" spc="-45" dirty="0">
                <a:latin typeface="Arial MT"/>
                <a:cs typeface="Arial MT"/>
              </a:rPr>
              <a:t>high-</a:t>
            </a:r>
            <a:r>
              <a:rPr sz="2050" dirty="0">
                <a:latin typeface="Arial MT"/>
                <a:cs typeface="Arial MT"/>
              </a:rPr>
              <a:t>quality</a:t>
            </a:r>
            <a:r>
              <a:rPr sz="2050" spc="30" dirty="0">
                <a:latin typeface="Arial MT"/>
                <a:cs typeface="Arial MT"/>
              </a:rPr>
              <a:t> </a:t>
            </a:r>
            <a:r>
              <a:rPr sz="2050" spc="-10" dirty="0">
                <a:latin typeface="Arial MT"/>
                <a:cs typeface="Arial MT"/>
              </a:rPr>
              <a:t>digital </a:t>
            </a:r>
            <a:r>
              <a:rPr sz="2150" spc="-100" dirty="0">
                <a:latin typeface="Arial MT"/>
                <a:cs typeface="Arial MT"/>
              </a:rPr>
              <a:t>connection</a:t>
            </a:r>
            <a:r>
              <a:rPr sz="2150" spc="-15" dirty="0">
                <a:latin typeface="Arial MT"/>
                <a:cs typeface="Arial MT"/>
              </a:rPr>
              <a:t> </a:t>
            </a:r>
            <a:r>
              <a:rPr sz="2150" spc="-55" dirty="0">
                <a:latin typeface="Arial MT"/>
                <a:cs typeface="Arial MT"/>
              </a:rPr>
              <a:t>for</a:t>
            </a:r>
            <a:r>
              <a:rPr sz="2150" spc="-100" dirty="0">
                <a:latin typeface="Arial MT"/>
                <a:cs typeface="Arial MT"/>
              </a:rPr>
              <a:t> </a:t>
            </a:r>
            <a:r>
              <a:rPr sz="2150" spc="-60" dirty="0">
                <a:latin typeface="Arial MT"/>
                <a:cs typeface="Arial MT"/>
              </a:rPr>
              <a:t>the</a:t>
            </a:r>
            <a:r>
              <a:rPr sz="2150" spc="-175" dirty="0">
                <a:latin typeface="Arial MT"/>
                <a:cs typeface="Arial MT"/>
              </a:rPr>
              <a:t> </a:t>
            </a:r>
            <a:r>
              <a:rPr sz="2150" spc="-70" dirty="0">
                <a:latin typeface="Arial MT"/>
                <a:cs typeface="Arial MT"/>
              </a:rPr>
              <a:t>intercom</a:t>
            </a:r>
            <a:r>
              <a:rPr sz="2150" spc="-25" dirty="0">
                <a:latin typeface="Arial MT"/>
                <a:cs typeface="Arial MT"/>
              </a:rPr>
              <a:t> </a:t>
            </a:r>
            <a:r>
              <a:rPr sz="2150" spc="-10" dirty="0">
                <a:latin typeface="Arial MT"/>
                <a:cs typeface="Arial MT"/>
              </a:rPr>
              <a:t>function, </a:t>
            </a:r>
            <a:r>
              <a:rPr sz="2000" spc="-40" dirty="0">
                <a:latin typeface="Arial MT"/>
                <a:cs typeface="Arial MT"/>
              </a:rPr>
              <a:t>separate</a:t>
            </a:r>
            <a:r>
              <a:rPr sz="2000" spc="-85" dirty="0">
                <a:latin typeface="Arial MT"/>
                <a:cs typeface="Arial MT"/>
              </a:rPr>
              <a:t> </a:t>
            </a:r>
            <a:r>
              <a:rPr sz="2000" dirty="0">
                <a:latin typeface="Arial MT"/>
                <a:cs typeface="Arial MT"/>
              </a:rPr>
              <a:t>from</a:t>
            </a:r>
            <a:r>
              <a:rPr sz="2000" spc="-45" dirty="0">
                <a:latin typeface="Arial MT"/>
                <a:cs typeface="Arial MT"/>
              </a:rPr>
              <a:t> </a:t>
            </a:r>
            <a:r>
              <a:rPr sz="2000" dirty="0">
                <a:latin typeface="Arial MT"/>
                <a:cs typeface="Arial MT"/>
              </a:rPr>
              <a:t>other</a:t>
            </a:r>
            <a:r>
              <a:rPr sz="2000" spc="60" dirty="0">
                <a:latin typeface="Arial MT"/>
                <a:cs typeface="Arial MT"/>
              </a:rPr>
              <a:t> </a:t>
            </a:r>
            <a:r>
              <a:rPr sz="2000" spc="-10" dirty="0">
                <a:latin typeface="Arial MT"/>
                <a:cs typeface="Arial MT"/>
              </a:rPr>
              <a:t>processes.</a:t>
            </a:r>
            <a:endParaRPr sz="2000" dirty="0">
              <a:latin typeface="Arial MT"/>
              <a:cs typeface="Arial M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77900" y="6858000"/>
            <a:ext cx="1803400" cy="1790700"/>
          </a:xfrm>
          <a:prstGeom prst="rect">
            <a:avLst/>
          </a:prstGeom>
        </p:spPr>
      </p:pic>
      <p:pic>
        <p:nvPicPr>
          <p:cNvPr id="3" name="object 3"/>
          <p:cNvPicPr/>
          <p:nvPr/>
        </p:nvPicPr>
        <p:blipFill>
          <a:blip r:embed="rId3" cstate="print"/>
          <a:stretch>
            <a:fillRect/>
          </a:stretch>
        </p:blipFill>
        <p:spPr>
          <a:xfrm>
            <a:off x="901700" y="1905000"/>
            <a:ext cx="1930400" cy="1930400"/>
          </a:xfrm>
          <a:prstGeom prst="rect">
            <a:avLst/>
          </a:prstGeom>
        </p:spPr>
      </p:pic>
      <p:sp>
        <p:nvSpPr>
          <p:cNvPr id="4" name="object 4"/>
          <p:cNvSpPr txBox="1">
            <a:spLocks noGrp="1"/>
          </p:cNvSpPr>
          <p:nvPr>
            <p:ph type="title"/>
          </p:nvPr>
        </p:nvSpPr>
        <p:spPr>
          <a:prstGeom prst="rect">
            <a:avLst/>
          </a:prstGeom>
        </p:spPr>
        <p:txBody>
          <a:bodyPr vert="horz" wrap="square" lIns="0" tIns="15875" rIns="0" bIns="0" rtlCol="0">
            <a:spAutoFit/>
          </a:bodyPr>
          <a:lstStyle/>
          <a:p>
            <a:pPr marL="12700">
              <a:lnSpc>
                <a:spcPts val="5160"/>
              </a:lnSpc>
              <a:spcBef>
                <a:spcPts val="125"/>
              </a:spcBef>
            </a:pPr>
            <a:r>
              <a:rPr spc="65" dirty="0">
                <a:solidFill>
                  <a:srgbClr val="033159"/>
                </a:solidFill>
              </a:rPr>
              <a:t>Broader</a:t>
            </a:r>
            <a:r>
              <a:rPr spc="85" dirty="0">
                <a:solidFill>
                  <a:srgbClr val="033159"/>
                </a:solidFill>
              </a:rPr>
              <a:t> </a:t>
            </a:r>
            <a:r>
              <a:rPr spc="175" dirty="0">
                <a:solidFill>
                  <a:srgbClr val="05335B"/>
                </a:solidFill>
              </a:rPr>
              <a:t>Impact:</a:t>
            </a:r>
            <a:r>
              <a:rPr spc="-120" dirty="0">
                <a:solidFill>
                  <a:srgbClr val="05335B"/>
                </a:solidFill>
              </a:rPr>
              <a:t> </a:t>
            </a:r>
            <a:r>
              <a:rPr spc="190" dirty="0"/>
              <a:t>Contributing</a:t>
            </a:r>
            <a:r>
              <a:rPr spc="105" dirty="0"/>
              <a:t> </a:t>
            </a:r>
            <a:r>
              <a:rPr spc="175" dirty="0">
                <a:solidFill>
                  <a:srgbClr val="07315B"/>
                </a:solidFill>
              </a:rPr>
              <a:t>to</a:t>
            </a:r>
            <a:r>
              <a:rPr spc="-30" dirty="0">
                <a:solidFill>
                  <a:srgbClr val="07315B"/>
                </a:solidFill>
              </a:rPr>
              <a:t> </a:t>
            </a:r>
            <a:r>
              <a:rPr spc="50" dirty="0">
                <a:solidFill>
                  <a:srgbClr val="053156"/>
                </a:solidFill>
              </a:rPr>
              <a:t>Safer,</a:t>
            </a:r>
            <a:r>
              <a:rPr spc="-235" dirty="0">
                <a:solidFill>
                  <a:srgbClr val="053156"/>
                </a:solidFill>
              </a:rPr>
              <a:t> </a:t>
            </a:r>
            <a:r>
              <a:rPr spc="145" dirty="0">
                <a:solidFill>
                  <a:srgbClr val="01345E"/>
                </a:solidFill>
              </a:rPr>
              <a:t>More</a:t>
            </a:r>
            <a:r>
              <a:rPr spc="-130" dirty="0">
                <a:solidFill>
                  <a:srgbClr val="01345E"/>
                </a:solidFill>
              </a:rPr>
              <a:t> </a:t>
            </a:r>
            <a:r>
              <a:rPr spc="105" dirty="0">
                <a:solidFill>
                  <a:srgbClr val="03315B"/>
                </a:solidFill>
              </a:rPr>
              <a:t>Sustainable</a:t>
            </a:r>
          </a:p>
          <a:p>
            <a:pPr marL="12700">
              <a:lnSpc>
                <a:spcPts val="5280"/>
              </a:lnSpc>
            </a:pPr>
            <a:r>
              <a:rPr sz="4450" spc="80" dirty="0">
                <a:solidFill>
                  <a:srgbClr val="053157"/>
                </a:solidFill>
              </a:rPr>
              <a:t>Communities</a:t>
            </a:r>
            <a:endParaRPr sz="4450"/>
          </a:p>
        </p:txBody>
      </p:sp>
      <p:sp>
        <p:nvSpPr>
          <p:cNvPr id="5" name="object 5"/>
          <p:cNvSpPr txBox="1"/>
          <p:nvPr/>
        </p:nvSpPr>
        <p:spPr>
          <a:xfrm>
            <a:off x="3388262" y="1854589"/>
            <a:ext cx="13114019" cy="7183120"/>
          </a:xfrm>
          <a:prstGeom prst="rect">
            <a:avLst/>
          </a:prstGeom>
        </p:spPr>
        <p:txBody>
          <a:bodyPr vert="horz" wrap="square" lIns="0" tIns="62865" rIns="0" bIns="0" rtlCol="0">
            <a:spAutoFit/>
          </a:bodyPr>
          <a:lstStyle/>
          <a:p>
            <a:pPr marL="19050">
              <a:lnSpc>
                <a:spcPct val="100000"/>
              </a:lnSpc>
              <a:spcBef>
                <a:spcPts val="495"/>
              </a:spcBef>
            </a:pPr>
            <a:r>
              <a:rPr sz="3400" spc="-110" dirty="0">
                <a:solidFill>
                  <a:srgbClr val="0C3454"/>
                </a:solidFill>
                <a:latin typeface="Arial MT"/>
                <a:cs typeface="Arial MT"/>
              </a:rPr>
              <a:t>UN</a:t>
            </a:r>
            <a:r>
              <a:rPr sz="3400" spc="-250" dirty="0">
                <a:solidFill>
                  <a:srgbClr val="0C3454"/>
                </a:solidFill>
                <a:latin typeface="Arial MT"/>
                <a:cs typeface="Arial MT"/>
              </a:rPr>
              <a:t> </a:t>
            </a:r>
            <a:r>
              <a:rPr sz="3400" spc="-229" dirty="0">
                <a:solidFill>
                  <a:srgbClr val="0A2D4B"/>
                </a:solidFill>
                <a:latin typeface="Arial MT"/>
                <a:cs typeface="Arial MT"/>
              </a:rPr>
              <a:t>SDG</a:t>
            </a:r>
            <a:r>
              <a:rPr sz="3400" spc="-140" dirty="0">
                <a:solidFill>
                  <a:srgbClr val="0A2D4B"/>
                </a:solidFill>
                <a:latin typeface="Arial MT"/>
                <a:cs typeface="Arial MT"/>
              </a:rPr>
              <a:t> </a:t>
            </a:r>
            <a:r>
              <a:rPr sz="3400" dirty="0">
                <a:solidFill>
                  <a:srgbClr val="082F56"/>
                </a:solidFill>
                <a:latin typeface="Arial MT"/>
                <a:cs typeface="Arial MT"/>
              </a:rPr>
              <a:t>9</a:t>
            </a:r>
            <a:r>
              <a:rPr sz="3400" spc="190" dirty="0">
                <a:solidFill>
                  <a:srgbClr val="082F56"/>
                </a:solidFill>
                <a:latin typeface="Arial MT"/>
                <a:cs typeface="Arial MT"/>
              </a:rPr>
              <a:t> </a:t>
            </a:r>
            <a:r>
              <a:rPr sz="3400" spc="80" dirty="0">
                <a:solidFill>
                  <a:srgbClr val="0A3457"/>
                </a:solidFill>
                <a:latin typeface="Arial MT"/>
                <a:cs typeface="Arial MT"/>
              </a:rPr>
              <a:t>(Industry,</a:t>
            </a:r>
            <a:r>
              <a:rPr sz="3400" spc="-225" dirty="0">
                <a:solidFill>
                  <a:srgbClr val="0A3457"/>
                </a:solidFill>
                <a:latin typeface="Arial MT"/>
                <a:cs typeface="Arial MT"/>
              </a:rPr>
              <a:t> </a:t>
            </a:r>
            <a:r>
              <a:rPr sz="3400" spc="70" dirty="0">
                <a:solidFill>
                  <a:srgbClr val="0A2D4D"/>
                </a:solidFill>
                <a:latin typeface="Arial MT"/>
                <a:cs typeface="Arial MT"/>
              </a:rPr>
              <a:t>Innovation,</a:t>
            </a:r>
            <a:r>
              <a:rPr sz="3400" spc="-120" dirty="0">
                <a:solidFill>
                  <a:srgbClr val="0A2D4D"/>
                </a:solidFill>
                <a:latin typeface="Arial MT"/>
                <a:cs typeface="Arial MT"/>
              </a:rPr>
              <a:t> </a:t>
            </a:r>
            <a:r>
              <a:rPr sz="3400" spc="70" dirty="0">
                <a:solidFill>
                  <a:srgbClr val="073357"/>
                </a:solidFill>
                <a:latin typeface="Arial MT"/>
                <a:cs typeface="Arial MT"/>
              </a:rPr>
              <a:t>and</a:t>
            </a:r>
            <a:r>
              <a:rPr sz="3400" spc="-345" dirty="0">
                <a:solidFill>
                  <a:srgbClr val="073357"/>
                </a:solidFill>
                <a:latin typeface="Arial MT"/>
                <a:cs typeface="Arial MT"/>
              </a:rPr>
              <a:t> </a:t>
            </a:r>
            <a:r>
              <a:rPr sz="3400" spc="110" dirty="0">
                <a:solidFill>
                  <a:srgbClr val="0C2F56"/>
                </a:solidFill>
                <a:latin typeface="Arial MT"/>
                <a:cs typeface="Arial MT"/>
              </a:rPr>
              <a:t>Infrastructure)</a:t>
            </a:r>
            <a:endParaRPr sz="3400" dirty="0">
              <a:latin typeface="Arial MT"/>
              <a:cs typeface="Arial MT"/>
            </a:endParaRPr>
          </a:p>
          <a:p>
            <a:pPr marL="20320" marR="5080" indent="1905">
              <a:lnSpc>
                <a:spcPts val="3900"/>
              </a:lnSpc>
              <a:spcBef>
                <a:spcPts val="600"/>
              </a:spcBef>
            </a:pPr>
            <a:r>
              <a:rPr sz="3300" spc="-425" dirty="0">
                <a:latin typeface="Arial MT"/>
                <a:cs typeface="Arial MT"/>
              </a:rPr>
              <a:t>We</a:t>
            </a:r>
            <a:r>
              <a:rPr sz="3300" spc="-250" dirty="0">
                <a:latin typeface="Arial MT"/>
                <a:cs typeface="Arial MT"/>
              </a:rPr>
              <a:t> </a:t>
            </a:r>
            <a:r>
              <a:rPr sz="3300" spc="-170" dirty="0">
                <a:latin typeface="Arial MT"/>
                <a:cs typeface="Arial MT"/>
              </a:rPr>
              <a:t>are</a:t>
            </a:r>
            <a:r>
              <a:rPr sz="3300" spc="-250" dirty="0">
                <a:latin typeface="Arial MT"/>
                <a:cs typeface="Arial MT"/>
              </a:rPr>
              <a:t> </a:t>
            </a:r>
            <a:r>
              <a:rPr sz="3300" spc="-100" dirty="0">
                <a:latin typeface="Arial MT"/>
                <a:cs typeface="Arial MT"/>
              </a:rPr>
              <a:t>democratising</a:t>
            </a:r>
            <a:r>
              <a:rPr sz="3300" spc="-130" dirty="0">
                <a:latin typeface="Arial MT"/>
                <a:cs typeface="Arial MT"/>
              </a:rPr>
              <a:t> </a:t>
            </a:r>
            <a:r>
              <a:rPr sz="3300" spc="-185" dirty="0">
                <a:latin typeface="Arial MT"/>
                <a:cs typeface="Arial MT"/>
              </a:rPr>
              <a:t>advanced</a:t>
            </a:r>
            <a:r>
              <a:rPr sz="3300" spc="-45" dirty="0">
                <a:latin typeface="Arial MT"/>
                <a:cs typeface="Arial MT"/>
              </a:rPr>
              <a:t> </a:t>
            </a:r>
            <a:r>
              <a:rPr sz="3300" spc="-105" dirty="0">
                <a:latin typeface="Arial MT"/>
                <a:cs typeface="Arial MT"/>
              </a:rPr>
              <a:t>security</a:t>
            </a:r>
            <a:r>
              <a:rPr sz="3300" spc="-120" dirty="0">
                <a:latin typeface="Arial MT"/>
                <a:cs typeface="Arial MT"/>
              </a:rPr>
              <a:t> </a:t>
            </a:r>
            <a:r>
              <a:rPr sz="3300" spc="-135" dirty="0">
                <a:latin typeface="Arial MT"/>
                <a:cs typeface="Arial MT"/>
              </a:rPr>
              <a:t>features</a:t>
            </a:r>
            <a:r>
              <a:rPr sz="3300" spc="-95" dirty="0">
                <a:latin typeface="Arial MT"/>
                <a:cs typeface="Arial MT"/>
              </a:rPr>
              <a:t> </a:t>
            </a:r>
            <a:r>
              <a:rPr sz="3300" spc="-240" dirty="0">
                <a:latin typeface="Arial MT"/>
                <a:cs typeface="Arial MT"/>
              </a:rPr>
              <a:t>(Al</a:t>
            </a:r>
            <a:r>
              <a:rPr sz="3300" spc="-185" dirty="0">
                <a:latin typeface="Arial MT"/>
                <a:cs typeface="Arial MT"/>
              </a:rPr>
              <a:t> </a:t>
            </a:r>
            <a:r>
              <a:rPr sz="3300" spc="-125" dirty="0">
                <a:latin typeface="Arial MT"/>
                <a:cs typeface="Arial MT"/>
              </a:rPr>
              <a:t>+</a:t>
            </a:r>
            <a:r>
              <a:rPr sz="3300" spc="-455" dirty="0">
                <a:latin typeface="Arial MT"/>
                <a:cs typeface="Arial MT"/>
              </a:rPr>
              <a:t> </a:t>
            </a:r>
            <a:r>
              <a:rPr sz="3300" spc="-85" dirty="0">
                <a:latin typeface="Arial MT"/>
                <a:cs typeface="Arial MT"/>
              </a:rPr>
              <a:t>Intercom)</a:t>
            </a:r>
            <a:r>
              <a:rPr sz="3300" spc="95" dirty="0">
                <a:latin typeface="Arial MT"/>
                <a:cs typeface="Arial MT"/>
              </a:rPr>
              <a:t> </a:t>
            </a:r>
            <a:r>
              <a:rPr sz="3300" spc="-180" dirty="0">
                <a:latin typeface="Arial MT"/>
                <a:cs typeface="Arial MT"/>
              </a:rPr>
              <a:t>by</a:t>
            </a:r>
            <a:r>
              <a:rPr sz="3300" spc="-190" dirty="0">
                <a:latin typeface="Arial MT"/>
                <a:cs typeface="Arial MT"/>
              </a:rPr>
              <a:t> </a:t>
            </a:r>
            <a:r>
              <a:rPr sz="3300" spc="-10" dirty="0">
                <a:latin typeface="Arial MT"/>
                <a:cs typeface="Arial MT"/>
              </a:rPr>
              <a:t>building </a:t>
            </a:r>
            <a:r>
              <a:rPr sz="3300" spc="-85" dirty="0">
                <a:latin typeface="Arial MT"/>
                <a:cs typeface="Arial MT"/>
              </a:rPr>
              <a:t>them</a:t>
            </a:r>
            <a:r>
              <a:rPr sz="3300" spc="-145" dirty="0">
                <a:latin typeface="Arial MT"/>
                <a:cs typeface="Arial MT"/>
              </a:rPr>
              <a:t> </a:t>
            </a:r>
            <a:r>
              <a:rPr sz="3300" spc="-110" dirty="0">
                <a:latin typeface="Arial MT"/>
                <a:cs typeface="Arial MT"/>
              </a:rPr>
              <a:t>upon</a:t>
            </a:r>
            <a:r>
              <a:rPr sz="3300" spc="-120" dirty="0">
                <a:latin typeface="Arial MT"/>
                <a:cs typeface="Arial MT"/>
              </a:rPr>
              <a:t> </a:t>
            </a:r>
            <a:r>
              <a:rPr sz="3300" spc="-105" dirty="0">
                <a:latin typeface="Arial MT"/>
                <a:cs typeface="Arial MT"/>
              </a:rPr>
              <a:t>highly</a:t>
            </a:r>
            <a:r>
              <a:rPr sz="3300" spc="-120" dirty="0">
                <a:latin typeface="Arial MT"/>
                <a:cs typeface="Arial MT"/>
              </a:rPr>
              <a:t> </a:t>
            </a:r>
            <a:r>
              <a:rPr sz="3300" spc="-85" dirty="0">
                <a:latin typeface="Arial MT"/>
                <a:cs typeface="Arial MT"/>
              </a:rPr>
              <a:t>affordable</a:t>
            </a:r>
            <a:r>
              <a:rPr sz="3300" dirty="0">
                <a:latin typeface="Arial MT"/>
                <a:cs typeface="Arial MT"/>
              </a:rPr>
              <a:t> </a:t>
            </a:r>
            <a:r>
              <a:rPr sz="3300" spc="-195" dirty="0">
                <a:latin typeface="Arial MT"/>
                <a:cs typeface="Arial MT"/>
              </a:rPr>
              <a:t>and</a:t>
            </a:r>
            <a:r>
              <a:rPr sz="3300" spc="-125" dirty="0">
                <a:latin typeface="Arial MT"/>
                <a:cs typeface="Arial MT"/>
              </a:rPr>
              <a:t> </a:t>
            </a:r>
            <a:r>
              <a:rPr sz="3300" spc="-195" dirty="0">
                <a:latin typeface="Arial MT"/>
                <a:cs typeface="Arial MT"/>
              </a:rPr>
              <a:t>accessible</a:t>
            </a:r>
            <a:r>
              <a:rPr sz="3300" spc="-35" dirty="0">
                <a:latin typeface="Arial MT"/>
                <a:cs typeface="Arial MT"/>
              </a:rPr>
              <a:t> </a:t>
            </a:r>
            <a:r>
              <a:rPr sz="3300" spc="-10" dirty="0">
                <a:latin typeface="Arial MT"/>
                <a:cs typeface="Arial MT"/>
              </a:rPr>
              <a:t>components.</a:t>
            </a:r>
            <a:endParaRPr sz="3300" dirty="0">
              <a:latin typeface="Arial MT"/>
              <a:cs typeface="Arial MT"/>
            </a:endParaRPr>
          </a:p>
          <a:p>
            <a:pPr>
              <a:lnSpc>
                <a:spcPct val="100000"/>
              </a:lnSpc>
              <a:spcBef>
                <a:spcPts val="1575"/>
              </a:spcBef>
            </a:pPr>
            <a:endParaRPr sz="3300" dirty="0">
              <a:latin typeface="Arial MT"/>
              <a:cs typeface="Arial MT"/>
            </a:endParaRPr>
          </a:p>
          <a:p>
            <a:pPr marL="18415">
              <a:lnSpc>
                <a:spcPct val="100000"/>
              </a:lnSpc>
            </a:pPr>
            <a:r>
              <a:rPr sz="3450" spc="-160" dirty="0">
                <a:solidFill>
                  <a:srgbClr val="082A49"/>
                </a:solidFill>
                <a:latin typeface="Arial MT"/>
                <a:cs typeface="Arial MT"/>
              </a:rPr>
              <a:t>UN</a:t>
            </a:r>
            <a:r>
              <a:rPr sz="3450" spc="-190" dirty="0">
                <a:solidFill>
                  <a:srgbClr val="082A49"/>
                </a:solidFill>
                <a:latin typeface="Arial MT"/>
                <a:cs typeface="Arial MT"/>
              </a:rPr>
              <a:t> </a:t>
            </a:r>
            <a:r>
              <a:rPr sz="3450" spc="-280" dirty="0">
                <a:solidFill>
                  <a:srgbClr val="082A49"/>
                </a:solidFill>
                <a:latin typeface="Arial MT"/>
                <a:cs typeface="Arial MT"/>
              </a:rPr>
              <a:t>SDG</a:t>
            </a:r>
            <a:r>
              <a:rPr sz="3450" spc="-200" dirty="0">
                <a:solidFill>
                  <a:srgbClr val="082A49"/>
                </a:solidFill>
                <a:latin typeface="Arial MT"/>
                <a:cs typeface="Arial MT"/>
              </a:rPr>
              <a:t> </a:t>
            </a:r>
            <a:r>
              <a:rPr sz="3450" spc="-145" dirty="0">
                <a:solidFill>
                  <a:srgbClr val="0C3459"/>
                </a:solidFill>
                <a:latin typeface="Arial MT"/>
                <a:cs typeface="Arial MT"/>
              </a:rPr>
              <a:t>11</a:t>
            </a:r>
            <a:r>
              <a:rPr sz="3450" spc="-325" dirty="0">
                <a:solidFill>
                  <a:srgbClr val="0C3459"/>
                </a:solidFill>
                <a:latin typeface="Arial MT"/>
                <a:cs typeface="Arial MT"/>
              </a:rPr>
              <a:t> </a:t>
            </a:r>
            <a:r>
              <a:rPr sz="3450" dirty="0">
                <a:solidFill>
                  <a:srgbClr val="083157"/>
                </a:solidFill>
                <a:latin typeface="Arial MT"/>
                <a:cs typeface="Arial MT"/>
              </a:rPr>
              <a:t>(Sustainable</a:t>
            </a:r>
            <a:r>
              <a:rPr sz="3450" spc="90" dirty="0">
                <a:solidFill>
                  <a:srgbClr val="083157"/>
                </a:solidFill>
                <a:latin typeface="Arial MT"/>
                <a:cs typeface="Arial MT"/>
              </a:rPr>
              <a:t> </a:t>
            </a:r>
            <a:r>
              <a:rPr sz="3450" dirty="0">
                <a:solidFill>
                  <a:srgbClr val="072A49"/>
                </a:solidFill>
                <a:latin typeface="Arial MT"/>
                <a:cs typeface="Arial MT"/>
              </a:rPr>
              <a:t>Cities</a:t>
            </a:r>
            <a:r>
              <a:rPr sz="3450" spc="40" dirty="0">
                <a:solidFill>
                  <a:srgbClr val="072A49"/>
                </a:solidFill>
                <a:latin typeface="Arial MT"/>
                <a:cs typeface="Arial MT"/>
              </a:rPr>
              <a:t> </a:t>
            </a:r>
            <a:r>
              <a:rPr sz="3450" dirty="0">
                <a:solidFill>
                  <a:srgbClr val="0C345B"/>
                </a:solidFill>
                <a:latin typeface="Arial MT"/>
                <a:cs typeface="Arial MT"/>
              </a:rPr>
              <a:t>and</a:t>
            </a:r>
            <a:r>
              <a:rPr sz="3450" spc="-80" dirty="0">
                <a:solidFill>
                  <a:srgbClr val="0C345B"/>
                </a:solidFill>
                <a:latin typeface="Arial MT"/>
                <a:cs typeface="Arial MT"/>
              </a:rPr>
              <a:t> </a:t>
            </a:r>
            <a:r>
              <a:rPr sz="3450" spc="-10" dirty="0">
                <a:solidFill>
                  <a:srgbClr val="032B4F"/>
                </a:solidFill>
                <a:latin typeface="Arial MT"/>
                <a:cs typeface="Arial MT"/>
              </a:rPr>
              <a:t>Communities)</a:t>
            </a:r>
            <a:endParaRPr sz="3450" dirty="0">
              <a:latin typeface="Arial MT"/>
              <a:cs typeface="Arial MT"/>
            </a:endParaRPr>
          </a:p>
          <a:p>
            <a:pPr marL="19050" marR="162560" indent="-1905">
              <a:lnSpc>
                <a:spcPts val="3950"/>
              </a:lnSpc>
              <a:spcBef>
                <a:spcPts val="500"/>
              </a:spcBef>
            </a:pPr>
            <a:r>
              <a:rPr sz="3650" spc="-215" dirty="0">
                <a:latin typeface="Calibri"/>
                <a:cs typeface="Calibri"/>
              </a:rPr>
              <a:t>Our</a:t>
            </a:r>
            <a:r>
              <a:rPr sz="3650" spc="-135" dirty="0">
                <a:latin typeface="Calibri"/>
                <a:cs typeface="Calibri"/>
              </a:rPr>
              <a:t> </a:t>
            </a:r>
            <a:r>
              <a:rPr sz="3650" spc="-200" dirty="0">
                <a:latin typeface="Calibri"/>
                <a:cs typeface="Calibri"/>
              </a:rPr>
              <a:t>system</a:t>
            </a:r>
            <a:r>
              <a:rPr sz="3650" spc="-30" dirty="0">
                <a:latin typeface="Calibri"/>
                <a:cs typeface="Calibri"/>
              </a:rPr>
              <a:t> </a:t>
            </a:r>
            <a:r>
              <a:rPr sz="3650" spc="-160" dirty="0">
                <a:latin typeface="Calibri"/>
                <a:cs typeface="Calibri"/>
              </a:rPr>
              <a:t>provides</a:t>
            </a:r>
            <a:r>
              <a:rPr sz="3650" spc="-45" dirty="0">
                <a:latin typeface="Calibri"/>
                <a:cs typeface="Calibri"/>
              </a:rPr>
              <a:t> </a:t>
            </a:r>
            <a:r>
              <a:rPr sz="3650" spc="-70" dirty="0">
                <a:latin typeface="Calibri"/>
                <a:cs typeface="Calibri"/>
              </a:rPr>
              <a:t>a</a:t>
            </a:r>
            <a:r>
              <a:rPr sz="3650" spc="-235" dirty="0">
                <a:latin typeface="Calibri"/>
                <a:cs typeface="Calibri"/>
              </a:rPr>
              <a:t> </a:t>
            </a:r>
            <a:r>
              <a:rPr sz="3650" spc="-175" dirty="0">
                <a:latin typeface="Calibri"/>
                <a:cs typeface="Calibri"/>
              </a:rPr>
              <a:t>low-</a:t>
            </a:r>
            <a:r>
              <a:rPr sz="3650" spc="-150" dirty="0">
                <a:latin typeface="Calibri"/>
                <a:cs typeface="Calibri"/>
              </a:rPr>
              <a:t>cost</a:t>
            </a:r>
            <a:r>
              <a:rPr sz="3650" spc="-50" dirty="0">
                <a:latin typeface="Calibri"/>
                <a:cs typeface="Calibri"/>
              </a:rPr>
              <a:t> </a:t>
            </a:r>
            <a:r>
              <a:rPr sz="3650" spc="-130" dirty="0">
                <a:latin typeface="Calibri"/>
                <a:cs typeface="Calibri"/>
              </a:rPr>
              <a:t>tool</a:t>
            </a:r>
            <a:r>
              <a:rPr sz="3650" spc="-215" dirty="0">
                <a:latin typeface="Calibri"/>
                <a:cs typeface="Calibri"/>
              </a:rPr>
              <a:t> </a:t>
            </a:r>
            <a:r>
              <a:rPr sz="3650" spc="-185" dirty="0">
                <a:latin typeface="Calibri"/>
                <a:cs typeface="Calibri"/>
              </a:rPr>
              <a:t>for</a:t>
            </a:r>
            <a:r>
              <a:rPr sz="3650" spc="-260" dirty="0">
                <a:latin typeface="Calibri"/>
                <a:cs typeface="Calibri"/>
              </a:rPr>
              <a:t> </a:t>
            </a:r>
            <a:r>
              <a:rPr sz="3650" spc="-135" dirty="0">
                <a:latin typeface="Calibri"/>
                <a:cs typeface="Calibri"/>
              </a:rPr>
              <a:t>reliable</a:t>
            </a:r>
            <a:r>
              <a:rPr sz="3650" spc="-5" dirty="0">
                <a:latin typeface="Calibri"/>
                <a:cs typeface="Calibri"/>
              </a:rPr>
              <a:t> </a:t>
            </a:r>
            <a:r>
              <a:rPr sz="3650" spc="-170" dirty="0">
                <a:latin typeface="Calibri"/>
                <a:cs typeface="Calibri"/>
              </a:rPr>
              <a:t>neighbourhood</a:t>
            </a:r>
            <a:r>
              <a:rPr sz="3650" spc="170" dirty="0">
                <a:latin typeface="Calibri"/>
                <a:cs typeface="Calibri"/>
              </a:rPr>
              <a:t> </a:t>
            </a:r>
            <a:r>
              <a:rPr sz="3650" spc="-75" dirty="0">
                <a:latin typeface="Calibri"/>
                <a:cs typeface="Calibri"/>
              </a:rPr>
              <a:t>monitoring, </a:t>
            </a:r>
            <a:r>
              <a:rPr sz="3650" spc="-155" dirty="0">
                <a:latin typeface="Calibri"/>
                <a:cs typeface="Calibri"/>
              </a:rPr>
              <a:t>enhancing</a:t>
            </a:r>
            <a:r>
              <a:rPr sz="3650" spc="-35" dirty="0">
                <a:latin typeface="Calibri"/>
                <a:cs typeface="Calibri"/>
              </a:rPr>
              <a:t> </a:t>
            </a:r>
            <a:r>
              <a:rPr sz="3650" spc="-180" dirty="0">
                <a:latin typeface="Calibri"/>
                <a:cs typeface="Calibri"/>
              </a:rPr>
              <a:t>community</a:t>
            </a:r>
            <a:r>
              <a:rPr sz="3650" spc="50" dirty="0">
                <a:latin typeface="Calibri"/>
                <a:cs typeface="Calibri"/>
              </a:rPr>
              <a:t> </a:t>
            </a:r>
            <a:r>
              <a:rPr sz="3650" spc="-10" dirty="0">
                <a:latin typeface="Calibri"/>
                <a:cs typeface="Calibri"/>
              </a:rPr>
              <a:t>safety.</a:t>
            </a:r>
            <a:endParaRPr sz="3650" dirty="0">
              <a:latin typeface="Calibri"/>
              <a:cs typeface="Calibri"/>
            </a:endParaRPr>
          </a:p>
          <a:p>
            <a:pPr>
              <a:lnSpc>
                <a:spcPct val="100000"/>
              </a:lnSpc>
              <a:spcBef>
                <a:spcPts val="505"/>
              </a:spcBef>
            </a:pPr>
            <a:endParaRPr sz="3650" dirty="0">
              <a:latin typeface="Calibri"/>
              <a:cs typeface="Calibri"/>
            </a:endParaRPr>
          </a:p>
          <a:p>
            <a:pPr marL="12700">
              <a:lnSpc>
                <a:spcPts val="4555"/>
              </a:lnSpc>
            </a:pPr>
            <a:r>
              <a:rPr sz="3800" dirty="0">
                <a:solidFill>
                  <a:srgbClr val="083456"/>
                </a:solidFill>
                <a:latin typeface="Calibri"/>
                <a:cs typeface="Calibri"/>
              </a:rPr>
              <a:t>Environmental</a:t>
            </a:r>
            <a:r>
              <a:rPr sz="3800" spc="330" dirty="0">
                <a:solidFill>
                  <a:srgbClr val="083456"/>
                </a:solidFill>
                <a:latin typeface="Calibri"/>
                <a:cs typeface="Calibri"/>
              </a:rPr>
              <a:t> </a:t>
            </a:r>
            <a:r>
              <a:rPr sz="3800" spc="-10" dirty="0">
                <a:solidFill>
                  <a:srgbClr val="0C3457"/>
                </a:solidFill>
                <a:latin typeface="Calibri"/>
                <a:cs typeface="Calibri"/>
              </a:rPr>
              <a:t>Impact</a:t>
            </a:r>
            <a:endParaRPr sz="3800" dirty="0">
              <a:latin typeface="Calibri"/>
              <a:cs typeface="Calibri"/>
            </a:endParaRPr>
          </a:p>
          <a:p>
            <a:pPr marL="20320" marR="106045" indent="-2540">
              <a:lnSpc>
                <a:spcPts val="3900"/>
              </a:lnSpc>
              <a:spcBef>
                <a:spcPts val="525"/>
              </a:spcBef>
            </a:pPr>
            <a:r>
              <a:rPr sz="3650" spc="-85" dirty="0">
                <a:latin typeface="Calibri"/>
                <a:cs typeface="Calibri"/>
              </a:rPr>
              <a:t>Our’Sensor</a:t>
            </a:r>
            <a:r>
              <a:rPr sz="3650" spc="-70" dirty="0">
                <a:latin typeface="Calibri"/>
                <a:cs typeface="Calibri"/>
              </a:rPr>
              <a:t> </a:t>
            </a:r>
            <a:r>
              <a:rPr sz="3650" spc="-135" dirty="0">
                <a:latin typeface="Calibri"/>
                <a:cs typeface="Calibri"/>
              </a:rPr>
              <a:t>Fusion’</a:t>
            </a:r>
            <a:r>
              <a:rPr sz="3650" spc="-35" dirty="0">
                <a:latin typeface="Calibri"/>
                <a:cs typeface="Calibri"/>
              </a:rPr>
              <a:t> </a:t>
            </a:r>
            <a:r>
              <a:rPr sz="3650" spc="-190" dirty="0">
                <a:latin typeface="Calibri"/>
                <a:cs typeface="Calibri"/>
              </a:rPr>
              <a:t>and</a:t>
            </a:r>
            <a:r>
              <a:rPr sz="3650" spc="-55" dirty="0">
                <a:latin typeface="Calibri"/>
                <a:cs typeface="Calibri"/>
              </a:rPr>
              <a:t> </a:t>
            </a:r>
            <a:r>
              <a:rPr sz="3650" spc="-180" dirty="0">
                <a:latin typeface="Calibri"/>
                <a:cs typeface="Calibri"/>
              </a:rPr>
              <a:t>State</a:t>
            </a:r>
            <a:r>
              <a:rPr sz="3650" spc="-100" dirty="0">
                <a:latin typeface="Calibri"/>
                <a:cs typeface="Calibri"/>
              </a:rPr>
              <a:t> </a:t>
            </a:r>
            <a:r>
              <a:rPr sz="3650" spc="-250" dirty="0">
                <a:latin typeface="Calibri"/>
                <a:cs typeface="Calibri"/>
              </a:rPr>
              <a:t>Machine</a:t>
            </a:r>
            <a:r>
              <a:rPr sz="3650" dirty="0">
                <a:latin typeface="Calibri"/>
                <a:cs typeface="Calibri"/>
              </a:rPr>
              <a:t> </a:t>
            </a:r>
            <a:r>
              <a:rPr sz="3650" spc="-125" dirty="0">
                <a:latin typeface="Calibri"/>
                <a:cs typeface="Calibri"/>
              </a:rPr>
              <a:t>design</a:t>
            </a:r>
            <a:r>
              <a:rPr sz="3650" spc="-55" dirty="0">
                <a:latin typeface="Calibri"/>
                <a:cs typeface="Calibri"/>
              </a:rPr>
              <a:t> </a:t>
            </a:r>
            <a:r>
              <a:rPr sz="3650" spc="-35" dirty="0">
                <a:latin typeface="Calibri"/>
                <a:cs typeface="Calibri"/>
              </a:rPr>
              <a:t>is</a:t>
            </a:r>
            <a:r>
              <a:rPr sz="3650" spc="-265" dirty="0">
                <a:latin typeface="Calibri"/>
                <a:cs typeface="Calibri"/>
              </a:rPr>
              <a:t> </a:t>
            </a:r>
            <a:r>
              <a:rPr sz="3650" spc="-160" dirty="0">
                <a:latin typeface="Calibri"/>
                <a:cs typeface="Calibri"/>
              </a:rPr>
              <a:t>inherently</a:t>
            </a:r>
            <a:r>
              <a:rPr sz="3650" spc="85" dirty="0">
                <a:latin typeface="Calibri"/>
                <a:cs typeface="Calibri"/>
              </a:rPr>
              <a:t> </a:t>
            </a:r>
            <a:r>
              <a:rPr sz="3650" spc="-160" dirty="0">
                <a:latin typeface="Calibri"/>
                <a:cs typeface="Calibri"/>
              </a:rPr>
              <a:t>energy-</a:t>
            </a:r>
            <a:r>
              <a:rPr sz="3650" spc="-20" dirty="0">
                <a:latin typeface="Calibri"/>
                <a:cs typeface="Calibri"/>
              </a:rPr>
              <a:t>efficient. </a:t>
            </a:r>
            <a:r>
              <a:rPr sz="3550" spc="-120" dirty="0">
                <a:latin typeface="Calibri"/>
                <a:cs typeface="Calibri"/>
              </a:rPr>
              <a:t>The </a:t>
            </a:r>
            <a:r>
              <a:rPr sz="3550" spc="-145" dirty="0">
                <a:latin typeface="Calibri"/>
                <a:cs typeface="Calibri"/>
              </a:rPr>
              <a:t>high-</a:t>
            </a:r>
            <a:r>
              <a:rPr sz="3550" spc="-140" dirty="0">
                <a:latin typeface="Calibri"/>
                <a:cs typeface="Calibri"/>
              </a:rPr>
              <a:t>power</a:t>
            </a:r>
            <a:r>
              <a:rPr sz="3550" spc="-60" dirty="0">
                <a:latin typeface="Calibri"/>
                <a:cs typeface="Calibri"/>
              </a:rPr>
              <a:t> </a:t>
            </a:r>
            <a:r>
              <a:rPr sz="3550" spc="-150" dirty="0">
                <a:latin typeface="Calibri"/>
                <a:cs typeface="Calibri"/>
              </a:rPr>
              <a:t>camera</a:t>
            </a:r>
            <a:r>
              <a:rPr sz="3550" spc="-75" dirty="0">
                <a:latin typeface="Calibri"/>
                <a:cs typeface="Calibri"/>
              </a:rPr>
              <a:t> </a:t>
            </a:r>
            <a:r>
              <a:rPr sz="3550" spc="-90" dirty="0">
                <a:latin typeface="Calibri"/>
                <a:cs typeface="Calibri"/>
              </a:rPr>
              <a:t>and</a:t>
            </a:r>
            <a:r>
              <a:rPr sz="3550" spc="-110" dirty="0">
                <a:latin typeface="Calibri"/>
                <a:cs typeface="Calibri"/>
              </a:rPr>
              <a:t> </a:t>
            </a:r>
            <a:r>
              <a:rPr sz="3550" spc="-120" dirty="0">
                <a:latin typeface="Calibri"/>
                <a:cs typeface="Calibri"/>
              </a:rPr>
              <a:t>streaming</a:t>
            </a:r>
            <a:r>
              <a:rPr sz="3550" spc="-35" dirty="0">
                <a:latin typeface="Calibri"/>
                <a:cs typeface="Calibri"/>
              </a:rPr>
              <a:t> </a:t>
            </a:r>
            <a:r>
              <a:rPr sz="3550" spc="-105" dirty="0">
                <a:latin typeface="Calibri"/>
                <a:cs typeface="Calibri"/>
              </a:rPr>
              <a:t>functions</a:t>
            </a:r>
            <a:r>
              <a:rPr sz="3550" spc="-55" dirty="0">
                <a:latin typeface="Calibri"/>
                <a:cs typeface="Calibri"/>
              </a:rPr>
              <a:t> </a:t>
            </a:r>
            <a:r>
              <a:rPr sz="3550" spc="-150" dirty="0">
                <a:latin typeface="Calibri"/>
                <a:cs typeface="Calibri"/>
              </a:rPr>
              <a:t>are</a:t>
            </a:r>
            <a:r>
              <a:rPr sz="3550" spc="-114" dirty="0">
                <a:latin typeface="Calibri"/>
                <a:cs typeface="Calibri"/>
              </a:rPr>
              <a:t> </a:t>
            </a:r>
            <a:r>
              <a:rPr sz="3550" dirty="0">
                <a:solidFill>
                  <a:srgbClr val="C4641F"/>
                </a:solidFill>
                <a:latin typeface="Calibri"/>
                <a:cs typeface="Calibri"/>
              </a:rPr>
              <a:t>only</a:t>
            </a:r>
            <a:r>
              <a:rPr sz="3550" spc="-40" dirty="0">
                <a:solidFill>
                  <a:srgbClr val="C4641F"/>
                </a:solidFill>
                <a:latin typeface="Calibri"/>
                <a:cs typeface="Calibri"/>
              </a:rPr>
              <a:t> </a:t>
            </a:r>
            <a:r>
              <a:rPr sz="3550" dirty="0">
                <a:solidFill>
                  <a:srgbClr val="C6641C"/>
                </a:solidFill>
                <a:latin typeface="Calibri"/>
                <a:cs typeface="Calibri"/>
              </a:rPr>
              <a:t>active</a:t>
            </a:r>
            <a:r>
              <a:rPr sz="3550" spc="-100" dirty="0">
                <a:solidFill>
                  <a:srgbClr val="C6641C"/>
                </a:solidFill>
                <a:latin typeface="Calibri"/>
                <a:cs typeface="Calibri"/>
              </a:rPr>
              <a:t> </a:t>
            </a:r>
            <a:r>
              <a:rPr sz="3550" spc="-10" dirty="0">
                <a:latin typeface="Calibri"/>
                <a:cs typeface="Calibri"/>
              </a:rPr>
              <a:t>during </a:t>
            </a:r>
            <a:r>
              <a:rPr sz="3600" spc="-130" dirty="0">
                <a:latin typeface="Calibri"/>
                <a:cs typeface="Calibri"/>
              </a:rPr>
              <a:t>verified</a:t>
            </a:r>
            <a:r>
              <a:rPr sz="3600" spc="-75" dirty="0">
                <a:latin typeface="Calibri"/>
                <a:cs typeface="Calibri"/>
              </a:rPr>
              <a:t> </a:t>
            </a:r>
            <a:r>
              <a:rPr sz="3600" spc="-175" dirty="0">
                <a:latin typeface="Calibri"/>
                <a:cs typeface="Calibri"/>
              </a:rPr>
              <a:t>human</a:t>
            </a:r>
            <a:r>
              <a:rPr sz="3600" spc="-30" dirty="0">
                <a:latin typeface="Calibri"/>
                <a:cs typeface="Calibri"/>
              </a:rPr>
              <a:t> </a:t>
            </a:r>
            <a:r>
              <a:rPr sz="3600" spc="-125" dirty="0">
                <a:latin typeface="Calibri"/>
                <a:cs typeface="Calibri"/>
              </a:rPr>
              <a:t>interactions,</a:t>
            </a:r>
            <a:r>
              <a:rPr sz="3600" spc="-35" dirty="0">
                <a:latin typeface="Calibri"/>
                <a:cs typeface="Calibri"/>
              </a:rPr>
              <a:t> </a:t>
            </a:r>
            <a:r>
              <a:rPr sz="3600" spc="-85" dirty="0">
                <a:latin typeface="Calibri"/>
                <a:cs typeface="Calibri"/>
              </a:rPr>
              <a:t>drastically</a:t>
            </a:r>
            <a:r>
              <a:rPr sz="3600" spc="100" dirty="0">
                <a:latin typeface="Calibri"/>
                <a:cs typeface="Calibri"/>
              </a:rPr>
              <a:t> </a:t>
            </a:r>
            <a:r>
              <a:rPr sz="3600" spc="-125" dirty="0">
                <a:latin typeface="Calibri"/>
                <a:cs typeface="Calibri"/>
              </a:rPr>
              <a:t>reducing</a:t>
            </a:r>
            <a:r>
              <a:rPr sz="3600" spc="-60" dirty="0">
                <a:latin typeface="Calibri"/>
                <a:cs typeface="Calibri"/>
              </a:rPr>
              <a:t> </a:t>
            </a:r>
            <a:r>
              <a:rPr sz="3600" spc="-125" dirty="0">
                <a:latin typeface="Calibri"/>
                <a:cs typeface="Calibri"/>
              </a:rPr>
              <a:t>overall</a:t>
            </a:r>
            <a:r>
              <a:rPr sz="3600" spc="-90" dirty="0">
                <a:latin typeface="Calibri"/>
                <a:cs typeface="Calibri"/>
              </a:rPr>
              <a:t> </a:t>
            </a:r>
            <a:r>
              <a:rPr sz="3600" spc="-10" dirty="0">
                <a:latin typeface="Calibri"/>
                <a:cs typeface="Calibri"/>
              </a:rPr>
              <a:t>energy </a:t>
            </a:r>
            <a:r>
              <a:rPr sz="3550" spc="-114" dirty="0">
                <a:latin typeface="Calibri"/>
                <a:cs typeface="Calibri"/>
              </a:rPr>
              <a:t>consumption</a:t>
            </a:r>
            <a:r>
              <a:rPr sz="3550" spc="-10" dirty="0">
                <a:latin typeface="Calibri"/>
                <a:cs typeface="Calibri"/>
              </a:rPr>
              <a:t> </a:t>
            </a:r>
            <a:r>
              <a:rPr sz="3550" spc="-135" dirty="0">
                <a:latin typeface="Calibri"/>
                <a:cs typeface="Calibri"/>
              </a:rPr>
              <a:t>compared</a:t>
            </a:r>
            <a:r>
              <a:rPr sz="3550" spc="10" dirty="0">
                <a:latin typeface="Calibri"/>
                <a:cs typeface="Calibri"/>
              </a:rPr>
              <a:t> </a:t>
            </a:r>
            <a:r>
              <a:rPr sz="3550" spc="-180" dirty="0">
                <a:latin typeface="Calibri"/>
                <a:cs typeface="Calibri"/>
              </a:rPr>
              <a:t>to</a:t>
            </a:r>
            <a:r>
              <a:rPr sz="3550" spc="-55" dirty="0">
                <a:latin typeface="Calibri"/>
                <a:cs typeface="Calibri"/>
              </a:rPr>
              <a:t> </a:t>
            </a:r>
            <a:r>
              <a:rPr sz="3550" spc="-120" dirty="0">
                <a:latin typeface="Calibri"/>
                <a:cs typeface="Calibri"/>
              </a:rPr>
              <a:t>always-</a:t>
            </a:r>
            <a:r>
              <a:rPr sz="3550" spc="-110" dirty="0">
                <a:latin typeface="Calibri"/>
                <a:cs typeface="Calibri"/>
              </a:rPr>
              <a:t>on</a:t>
            </a:r>
            <a:r>
              <a:rPr sz="3550" spc="-95" dirty="0">
                <a:latin typeface="Calibri"/>
                <a:cs typeface="Calibri"/>
              </a:rPr>
              <a:t> </a:t>
            </a:r>
            <a:r>
              <a:rPr sz="3550" spc="-10" dirty="0">
                <a:latin typeface="Calibri"/>
                <a:cs typeface="Calibri"/>
              </a:rPr>
              <a:t>systems.</a:t>
            </a:r>
            <a:endParaRPr sz="3550" dirty="0">
              <a:latin typeface="Calibri"/>
              <a:cs typeface="Calibri"/>
            </a:endParaRPr>
          </a:p>
        </p:txBody>
      </p:sp>
      <p:sp>
        <p:nvSpPr>
          <p:cNvPr id="6" name="object 6"/>
          <p:cNvSpPr txBox="1"/>
          <p:nvPr/>
        </p:nvSpPr>
        <p:spPr>
          <a:xfrm>
            <a:off x="16105975" y="9413522"/>
            <a:ext cx="1230630" cy="258445"/>
          </a:xfrm>
          <a:prstGeom prst="rect">
            <a:avLst/>
          </a:prstGeom>
        </p:spPr>
        <p:txBody>
          <a:bodyPr vert="horz" wrap="square" lIns="0" tIns="15875" rIns="0" bIns="0" rtlCol="0">
            <a:spAutoFit/>
          </a:bodyPr>
          <a:lstStyle/>
          <a:p>
            <a:pPr marL="12700">
              <a:lnSpc>
                <a:spcPct val="100000"/>
              </a:lnSpc>
              <a:spcBef>
                <a:spcPts val="125"/>
              </a:spcBef>
            </a:pPr>
            <a:r>
              <a:rPr sz="1500" dirty="0">
                <a:latin typeface="Arial MT"/>
                <a:cs typeface="Arial MT"/>
              </a:rPr>
              <a:t>G</a:t>
            </a:r>
            <a:r>
              <a:rPr sz="1500" spc="270" dirty="0">
                <a:latin typeface="Arial MT"/>
                <a:cs typeface="Arial MT"/>
              </a:rPr>
              <a:t> </a:t>
            </a:r>
            <a:r>
              <a:rPr sz="1500" spc="-90" dirty="0">
                <a:latin typeface="Arial MT"/>
                <a:cs typeface="Arial MT"/>
              </a:rPr>
              <a:t>NotebookLM</a:t>
            </a:r>
            <a:endParaRPr sz="1500">
              <a:latin typeface="Arial MT"/>
              <a:cs typeface="Arial M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755900" y="2806700"/>
            <a:ext cx="1968500" cy="1981200"/>
          </a:xfrm>
          <a:prstGeom prst="rect">
            <a:avLst/>
          </a:prstGeom>
        </p:spPr>
      </p:pic>
      <p:pic>
        <p:nvPicPr>
          <p:cNvPr id="3" name="object 3"/>
          <p:cNvPicPr/>
          <p:nvPr/>
        </p:nvPicPr>
        <p:blipFill>
          <a:blip r:embed="rId3" cstate="print"/>
          <a:stretch>
            <a:fillRect/>
          </a:stretch>
        </p:blipFill>
        <p:spPr>
          <a:xfrm>
            <a:off x="7747000" y="2895600"/>
            <a:ext cx="1981200" cy="1803400"/>
          </a:xfrm>
          <a:prstGeom prst="rect">
            <a:avLst/>
          </a:prstGeom>
        </p:spPr>
      </p:pic>
      <p:pic>
        <p:nvPicPr>
          <p:cNvPr id="4" name="object 4"/>
          <p:cNvPicPr/>
          <p:nvPr/>
        </p:nvPicPr>
        <p:blipFill>
          <a:blip r:embed="rId4" cstate="print"/>
          <a:stretch>
            <a:fillRect/>
          </a:stretch>
        </p:blipFill>
        <p:spPr>
          <a:xfrm>
            <a:off x="13182600" y="2806700"/>
            <a:ext cx="1092200" cy="1968500"/>
          </a:xfrm>
          <a:prstGeom prst="rect">
            <a:avLst/>
          </a:prstGeom>
        </p:spPr>
      </p:pic>
      <p:sp>
        <p:nvSpPr>
          <p:cNvPr id="5" name="object 5"/>
          <p:cNvSpPr txBox="1">
            <a:spLocks noGrp="1"/>
          </p:cNvSpPr>
          <p:nvPr>
            <p:ph type="title"/>
          </p:nvPr>
        </p:nvSpPr>
        <p:spPr>
          <a:xfrm>
            <a:off x="2964795" y="587022"/>
            <a:ext cx="11527790" cy="1547495"/>
          </a:xfrm>
          <a:prstGeom prst="rect">
            <a:avLst/>
          </a:prstGeom>
        </p:spPr>
        <p:txBody>
          <a:bodyPr vert="horz" wrap="square" lIns="0" tIns="108585" rIns="0" bIns="0" rtlCol="0">
            <a:spAutoFit/>
          </a:bodyPr>
          <a:lstStyle/>
          <a:p>
            <a:pPr marL="1598930" marR="5080" indent="-1586865">
              <a:lnSpc>
                <a:spcPts val="5650"/>
              </a:lnSpc>
              <a:spcBef>
                <a:spcPts val="855"/>
              </a:spcBef>
            </a:pPr>
            <a:r>
              <a:rPr sz="5250" spc="-190" dirty="0">
                <a:solidFill>
                  <a:srgbClr val="083A62"/>
                </a:solidFill>
              </a:rPr>
              <a:t>Our</a:t>
            </a:r>
            <a:r>
              <a:rPr sz="5250" spc="-175" dirty="0">
                <a:solidFill>
                  <a:srgbClr val="083A62"/>
                </a:solidFill>
              </a:rPr>
              <a:t> </a:t>
            </a:r>
            <a:r>
              <a:rPr sz="5250" spc="-340" dirty="0">
                <a:solidFill>
                  <a:srgbClr val="07345B"/>
                </a:solidFill>
              </a:rPr>
              <a:t>Team</a:t>
            </a:r>
            <a:r>
              <a:rPr sz="5250" spc="-290" dirty="0">
                <a:solidFill>
                  <a:srgbClr val="07345B"/>
                </a:solidFill>
              </a:rPr>
              <a:t> </a:t>
            </a:r>
            <a:r>
              <a:rPr sz="5250" spc="-155" dirty="0">
                <a:solidFill>
                  <a:srgbClr val="032F54"/>
                </a:solidFill>
              </a:rPr>
              <a:t>Possesses</a:t>
            </a:r>
            <a:r>
              <a:rPr sz="5250" spc="-85" dirty="0">
                <a:solidFill>
                  <a:srgbClr val="032F54"/>
                </a:solidFill>
              </a:rPr>
              <a:t> </a:t>
            </a:r>
            <a:r>
              <a:rPr sz="5250" spc="-210" dirty="0">
                <a:solidFill>
                  <a:srgbClr val="053359"/>
                </a:solidFill>
              </a:rPr>
              <a:t>a</a:t>
            </a:r>
            <a:r>
              <a:rPr sz="5250" spc="-385" dirty="0">
                <a:solidFill>
                  <a:srgbClr val="053359"/>
                </a:solidFill>
              </a:rPr>
              <a:t> </a:t>
            </a:r>
            <a:r>
              <a:rPr sz="5250" spc="-145" dirty="0">
                <a:solidFill>
                  <a:srgbClr val="053A62"/>
                </a:solidFill>
              </a:rPr>
              <a:t>Balanced</a:t>
            </a:r>
            <a:r>
              <a:rPr sz="5250" spc="-220" dirty="0">
                <a:solidFill>
                  <a:srgbClr val="053A62"/>
                </a:solidFill>
              </a:rPr>
              <a:t> </a:t>
            </a:r>
            <a:r>
              <a:rPr sz="5250" spc="-10" dirty="0">
                <a:solidFill>
                  <a:srgbClr val="013157"/>
                </a:solidFill>
              </a:rPr>
              <a:t>Skillset </a:t>
            </a:r>
            <a:r>
              <a:rPr sz="5250" spc="-55" dirty="0">
                <a:solidFill>
                  <a:srgbClr val="073459"/>
                </a:solidFill>
              </a:rPr>
              <a:t>Covering</a:t>
            </a:r>
            <a:r>
              <a:rPr sz="5250" spc="-315" dirty="0">
                <a:solidFill>
                  <a:srgbClr val="073459"/>
                </a:solidFill>
              </a:rPr>
              <a:t> </a:t>
            </a:r>
            <a:r>
              <a:rPr sz="5250" spc="-10" dirty="0">
                <a:solidFill>
                  <a:srgbClr val="01335B"/>
                </a:solidFill>
              </a:rPr>
              <a:t>All</a:t>
            </a:r>
            <a:r>
              <a:rPr sz="5250" spc="-540" dirty="0">
                <a:solidFill>
                  <a:srgbClr val="01335B"/>
                </a:solidFill>
              </a:rPr>
              <a:t> </a:t>
            </a:r>
            <a:r>
              <a:rPr sz="5250" spc="-40" dirty="0">
                <a:solidFill>
                  <a:srgbClr val="053156"/>
                </a:solidFill>
              </a:rPr>
              <a:t>Project</a:t>
            </a:r>
            <a:r>
              <a:rPr sz="5250" spc="-280" dirty="0">
                <a:solidFill>
                  <a:srgbClr val="053156"/>
                </a:solidFill>
              </a:rPr>
              <a:t> </a:t>
            </a:r>
            <a:r>
              <a:rPr sz="5250" spc="-10" dirty="0">
                <a:solidFill>
                  <a:srgbClr val="053152"/>
                </a:solidFill>
              </a:rPr>
              <a:t>Domains</a:t>
            </a:r>
            <a:endParaRPr sz="5250"/>
          </a:p>
        </p:txBody>
      </p:sp>
      <p:sp>
        <p:nvSpPr>
          <p:cNvPr id="6" name="object 6"/>
          <p:cNvSpPr txBox="1"/>
          <p:nvPr/>
        </p:nvSpPr>
        <p:spPr>
          <a:xfrm>
            <a:off x="1570895" y="5258152"/>
            <a:ext cx="4234180" cy="868044"/>
          </a:xfrm>
          <a:prstGeom prst="rect">
            <a:avLst/>
          </a:prstGeom>
        </p:spPr>
        <p:txBody>
          <a:bodyPr vert="horz" wrap="square" lIns="0" tIns="12065" rIns="0" bIns="0" rtlCol="0">
            <a:spAutoFit/>
          </a:bodyPr>
          <a:lstStyle/>
          <a:p>
            <a:pPr marL="29845">
              <a:lnSpc>
                <a:spcPts val="3285"/>
              </a:lnSpc>
              <a:spcBef>
                <a:spcPts val="95"/>
              </a:spcBef>
            </a:pPr>
            <a:r>
              <a:rPr lang="en-US" sz="2850" spc="60" dirty="0">
                <a:solidFill>
                  <a:srgbClr val="0A2D48"/>
                </a:solidFill>
                <a:latin typeface="Arial MT"/>
                <a:cs typeface="Arial MT"/>
              </a:rPr>
              <a:t>Haseeb Ahmed</a:t>
            </a:r>
            <a:r>
              <a:rPr sz="2850" spc="-10" dirty="0">
                <a:solidFill>
                  <a:srgbClr val="082F52"/>
                </a:solidFill>
                <a:latin typeface="Arial MT"/>
                <a:cs typeface="Arial MT"/>
              </a:rPr>
              <a:t>:</a:t>
            </a:r>
            <a:endParaRPr sz="2850" dirty="0">
              <a:latin typeface="Arial MT"/>
              <a:cs typeface="Arial MT"/>
            </a:endParaRPr>
          </a:p>
          <a:p>
            <a:pPr marL="12700">
              <a:lnSpc>
                <a:spcPts val="3345"/>
              </a:lnSpc>
            </a:pPr>
            <a:r>
              <a:rPr sz="2900" dirty="0">
                <a:solidFill>
                  <a:srgbClr val="0C314D"/>
                </a:solidFill>
                <a:latin typeface="Arial MT"/>
                <a:cs typeface="Arial MT"/>
              </a:rPr>
              <a:t>Embedded</a:t>
            </a:r>
            <a:r>
              <a:rPr sz="2900" spc="-65" dirty="0">
                <a:solidFill>
                  <a:srgbClr val="0C314D"/>
                </a:solidFill>
                <a:latin typeface="Arial MT"/>
                <a:cs typeface="Arial MT"/>
              </a:rPr>
              <a:t> </a:t>
            </a:r>
            <a:r>
              <a:rPr sz="2900" dirty="0">
                <a:solidFill>
                  <a:srgbClr val="082A49"/>
                </a:solidFill>
                <a:latin typeface="Arial MT"/>
                <a:cs typeface="Arial MT"/>
              </a:rPr>
              <a:t>Systems</a:t>
            </a:r>
            <a:r>
              <a:rPr sz="2900" spc="-160" dirty="0">
                <a:solidFill>
                  <a:srgbClr val="082A49"/>
                </a:solidFill>
                <a:latin typeface="Arial MT"/>
                <a:cs typeface="Arial MT"/>
              </a:rPr>
              <a:t> </a:t>
            </a:r>
            <a:r>
              <a:rPr sz="2900" spc="-20" dirty="0">
                <a:solidFill>
                  <a:srgbClr val="0C2F4D"/>
                </a:solidFill>
                <a:latin typeface="Arial MT"/>
                <a:cs typeface="Arial MT"/>
              </a:rPr>
              <a:t>Lead</a:t>
            </a:r>
            <a:endParaRPr sz="2900" dirty="0">
              <a:latin typeface="Arial MT"/>
              <a:cs typeface="Arial MT"/>
            </a:endParaRPr>
          </a:p>
        </p:txBody>
      </p:sp>
      <p:sp>
        <p:nvSpPr>
          <p:cNvPr id="7" name="object 7"/>
          <p:cNvSpPr txBox="1"/>
          <p:nvPr/>
        </p:nvSpPr>
        <p:spPr>
          <a:xfrm>
            <a:off x="6575384" y="5258152"/>
            <a:ext cx="4174490" cy="1281761"/>
          </a:xfrm>
          <a:prstGeom prst="rect">
            <a:avLst/>
          </a:prstGeom>
        </p:spPr>
        <p:txBody>
          <a:bodyPr vert="horz" wrap="square" lIns="0" tIns="12065" rIns="0" bIns="0" rtlCol="0">
            <a:spAutoFit/>
          </a:bodyPr>
          <a:lstStyle/>
          <a:p>
            <a:pPr marL="29209">
              <a:lnSpc>
                <a:spcPts val="3285"/>
              </a:lnSpc>
              <a:spcBef>
                <a:spcPts val="95"/>
              </a:spcBef>
            </a:pPr>
            <a:r>
              <a:rPr lang="en-US" sz="2850" dirty="0">
                <a:solidFill>
                  <a:srgbClr val="0A2F4D"/>
                </a:solidFill>
                <a:latin typeface="Arial MT"/>
                <a:cs typeface="Arial MT"/>
              </a:rPr>
              <a:t>Murtaza khalid and Huzaifa</a:t>
            </a:r>
            <a:r>
              <a:rPr sz="2850" dirty="0">
                <a:solidFill>
                  <a:srgbClr val="083356"/>
                </a:solidFill>
                <a:latin typeface="Arial MT"/>
                <a:cs typeface="Arial MT"/>
              </a:rPr>
              <a:t>:</a:t>
            </a:r>
            <a:r>
              <a:rPr sz="2850" spc="35" dirty="0">
                <a:solidFill>
                  <a:srgbClr val="083356"/>
                </a:solidFill>
                <a:latin typeface="Arial MT"/>
                <a:cs typeface="Arial MT"/>
              </a:rPr>
              <a:t> </a:t>
            </a:r>
            <a:r>
              <a:rPr sz="2850" spc="-10" dirty="0">
                <a:solidFill>
                  <a:srgbClr val="082B46"/>
                </a:solidFill>
                <a:latin typeface="Arial MT"/>
                <a:cs typeface="Arial MT"/>
              </a:rPr>
              <a:t>Cloud</a:t>
            </a:r>
            <a:endParaRPr sz="2850" dirty="0">
              <a:latin typeface="Arial MT"/>
              <a:cs typeface="Arial MT"/>
            </a:endParaRPr>
          </a:p>
          <a:p>
            <a:pPr marL="12700">
              <a:lnSpc>
                <a:spcPts val="3345"/>
              </a:lnSpc>
            </a:pPr>
            <a:r>
              <a:rPr sz="2900" spc="-105" dirty="0">
                <a:solidFill>
                  <a:srgbClr val="0A3156"/>
                </a:solidFill>
                <a:latin typeface="Arial MT"/>
                <a:cs typeface="Arial MT"/>
              </a:rPr>
              <a:t>&amp;</a:t>
            </a:r>
            <a:r>
              <a:rPr sz="2900" spc="-95" dirty="0">
                <a:solidFill>
                  <a:srgbClr val="0A3156"/>
                </a:solidFill>
                <a:latin typeface="Arial MT"/>
                <a:cs typeface="Arial MT"/>
              </a:rPr>
              <a:t> </a:t>
            </a:r>
            <a:r>
              <a:rPr sz="2900" dirty="0">
                <a:solidFill>
                  <a:srgbClr val="052F56"/>
                </a:solidFill>
                <a:latin typeface="Arial MT"/>
                <a:cs typeface="Arial MT"/>
              </a:rPr>
              <a:t>AI</a:t>
            </a:r>
            <a:r>
              <a:rPr sz="2900" spc="-310" dirty="0">
                <a:solidFill>
                  <a:srgbClr val="052F56"/>
                </a:solidFill>
                <a:latin typeface="Arial MT"/>
                <a:cs typeface="Arial MT"/>
              </a:rPr>
              <a:t> </a:t>
            </a:r>
            <a:r>
              <a:rPr sz="2900" spc="-20" dirty="0">
                <a:solidFill>
                  <a:srgbClr val="05284B"/>
                </a:solidFill>
                <a:latin typeface="Arial MT"/>
                <a:cs typeface="Arial MT"/>
              </a:rPr>
              <a:t>Lead</a:t>
            </a:r>
            <a:endParaRPr sz="2900" dirty="0">
              <a:latin typeface="Arial MT"/>
              <a:cs typeface="Arial MT"/>
            </a:endParaRPr>
          </a:p>
        </p:txBody>
      </p:sp>
      <p:sp>
        <p:nvSpPr>
          <p:cNvPr id="8" name="object 8"/>
          <p:cNvSpPr txBox="1"/>
          <p:nvPr/>
        </p:nvSpPr>
        <p:spPr>
          <a:xfrm>
            <a:off x="11537108" y="5258152"/>
            <a:ext cx="4330065" cy="3708643"/>
          </a:xfrm>
          <a:prstGeom prst="rect">
            <a:avLst/>
          </a:prstGeom>
        </p:spPr>
        <p:txBody>
          <a:bodyPr vert="horz" wrap="square" lIns="0" tIns="52069" rIns="0" bIns="0" rtlCol="0">
            <a:spAutoFit/>
          </a:bodyPr>
          <a:lstStyle/>
          <a:p>
            <a:pPr marL="12700" marR="132080" indent="20320">
              <a:lnSpc>
                <a:spcPct val="90800"/>
              </a:lnSpc>
              <a:spcBef>
                <a:spcPts val="409"/>
              </a:spcBef>
            </a:pPr>
            <a:r>
              <a:rPr lang="en-US" sz="2850" spc="60" dirty="0">
                <a:solidFill>
                  <a:srgbClr val="0F344F"/>
                </a:solidFill>
                <a:latin typeface="Arial MT"/>
                <a:cs typeface="Arial MT"/>
              </a:rPr>
              <a:t>Murtaza khalid and Huzaifa</a:t>
            </a:r>
            <a:r>
              <a:rPr sz="2850" spc="-10" dirty="0">
                <a:solidFill>
                  <a:srgbClr val="053457"/>
                </a:solidFill>
                <a:latin typeface="Arial MT"/>
                <a:cs typeface="Arial MT"/>
              </a:rPr>
              <a:t>: </a:t>
            </a:r>
            <a:r>
              <a:rPr sz="2900" spc="60" dirty="0">
                <a:solidFill>
                  <a:srgbClr val="0A3152"/>
                </a:solidFill>
                <a:latin typeface="Arial MT"/>
                <a:cs typeface="Arial MT"/>
              </a:rPr>
              <a:t>Application</a:t>
            </a:r>
            <a:r>
              <a:rPr sz="2900" spc="-215" dirty="0">
                <a:solidFill>
                  <a:srgbClr val="0A3152"/>
                </a:solidFill>
                <a:latin typeface="Arial MT"/>
                <a:cs typeface="Arial MT"/>
              </a:rPr>
              <a:t> </a:t>
            </a:r>
            <a:r>
              <a:rPr sz="2900" spc="-10" dirty="0">
                <a:solidFill>
                  <a:srgbClr val="082B4B"/>
                </a:solidFill>
                <a:latin typeface="Arial MT"/>
                <a:cs typeface="Arial MT"/>
              </a:rPr>
              <a:t>Development </a:t>
            </a:r>
            <a:r>
              <a:rPr sz="3050" spc="135" dirty="0">
                <a:solidFill>
                  <a:srgbClr val="0A2B48"/>
                </a:solidFill>
                <a:latin typeface="Calibri"/>
                <a:cs typeface="Calibri"/>
              </a:rPr>
              <a:t>Lead</a:t>
            </a:r>
            <a:endParaRPr sz="3050" dirty="0">
              <a:latin typeface="Calibri"/>
              <a:cs typeface="Calibri"/>
            </a:endParaRPr>
          </a:p>
          <a:p>
            <a:pPr marL="408940" indent="-270510">
              <a:lnSpc>
                <a:spcPts val="2840"/>
              </a:lnSpc>
              <a:buClr>
                <a:srgbClr val="2D2D2D"/>
              </a:buClr>
              <a:buChar char="•"/>
              <a:tabLst>
                <a:tab pos="408940" algn="l"/>
              </a:tabLst>
            </a:pPr>
            <a:r>
              <a:rPr sz="2750" dirty="0">
                <a:latin typeface="Calibri"/>
                <a:cs typeface="Calibri"/>
              </a:rPr>
              <a:t>Custom</a:t>
            </a:r>
            <a:r>
              <a:rPr sz="2750" spc="-75" dirty="0">
                <a:latin typeface="Calibri"/>
                <a:cs typeface="Calibri"/>
              </a:rPr>
              <a:t> </a:t>
            </a:r>
            <a:r>
              <a:rPr sz="2750" dirty="0">
                <a:latin typeface="Calibri"/>
                <a:cs typeface="Calibri"/>
              </a:rPr>
              <a:t>mobile</a:t>
            </a:r>
            <a:r>
              <a:rPr sz="2750" spc="-160" dirty="0">
                <a:latin typeface="Calibri"/>
                <a:cs typeface="Calibri"/>
              </a:rPr>
              <a:t> </a:t>
            </a:r>
            <a:r>
              <a:rPr sz="2750" spc="-25" dirty="0">
                <a:latin typeface="Calibri"/>
                <a:cs typeface="Calibri"/>
              </a:rPr>
              <a:t>app</a:t>
            </a:r>
            <a:endParaRPr sz="2750" dirty="0">
              <a:latin typeface="Calibri"/>
              <a:cs typeface="Calibri"/>
            </a:endParaRPr>
          </a:p>
          <a:p>
            <a:pPr marL="409575">
              <a:lnSpc>
                <a:spcPts val="3150"/>
              </a:lnSpc>
            </a:pPr>
            <a:r>
              <a:rPr sz="2750" spc="-10" dirty="0">
                <a:latin typeface="Calibri"/>
                <a:cs typeface="Calibri"/>
              </a:rPr>
              <a:t>development</a:t>
            </a:r>
            <a:r>
              <a:rPr sz="2750" spc="25" dirty="0">
                <a:latin typeface="Calibri"/>
                <a:cs typeface="Calibri"/>
              </a:rPr>
              <a:t> </a:t>
            </a:r>
            <a:r>
              <a:rPr sz="2750" spc="-25" dirty="0">
                <a:latin typeface="Calibri"/>
                <a:cs typeface="Calibri"/>
              </a:rPr>
              <a:t>(Flutter/React</a:t>
            </a:r>
            <a:endParaRPr sz="2750" dirty="0">
              <a:latin typeface="Calibri"/>
              <a:cs typeface="Calibri"/>
            </a:endParaRPr>
          </a:p>
          <a:p>
            <a:pPr marL="408305">
              <a:lnSpc>
                <a:spcPts val="3260"/>
              </a:lnSpc>
            </a:pPr>
            <a:r>
              <a:rPr sz="2850" spc="-10" dirty="0">
                <a:latin typeface="Calibri"/>
                <a:cs typeface="Calibri"/>
              </a:rPr>
              <a:t>Native)</a:t>
            </a:r>
            <a:endParaRPr sz="2850" dirty="0">
              <a:latin typeface="Calibri"/>
              <a:cs typeface="Calibri"/>
            </a:endParaRPr>
          </a:p>
          <a:p>
            <a:pPr marL="408940" indent="-270510">
              <a:lnSpc>
                <a:spcPts val="3140"/>
              </a:lnSpc>
              <a:buClr>
                <a:srgbClr val="2B2B2B"/>
              </a:buClr>
              <a:buChar char="•"/>
              <a:tabLst>
                <a:tab pos="408940" algn="l"/>
              </a:tabLst>
            </a:pPr>
            <a:r>
              <a:rPr sz="2750" spc="-10" dirty="0">
                <a:latin typeface="Calibri"/>
                <a:cs typeface="Calibri"/>
              </a:rPr>
              <a:t>Implementing</a:t>
            </a:r>
            <a:r>
              <a:rPr sz="2750" spc="-40" dirty="0">
                <a:latin typeface="Calibri"/>
                <a:cs typeface="Calibri"/>
              </a:rPr>
              <a:t> </a:t>
            </a:r>
            <a:r>
              <a:rPr sz="2750" spc="-35" dirty="0">
                <a:latin typeface="Calibri"/>
                <a:cs typeface="Calibri"/>
              </a:rPr>
              <a:t>'Push-</a:t>
            </a:r>
            <a:r>
              <a:rPr sz="2750" spc="-25" dirty="0">
                <a:latin typeface="Calibri"/>
                <a:cs typeface="Calibri"/>
              </a:rPr>
              <a:t>to-</a:t>
            </a:r>
            <a:endParaRPr sz="2750" dirty="0">
              <a:latin typeface="Calibri"/>
              <a:cs typeface="Calibri"/>
            </a:endParaRPr>
          </a:p>
          <a:p>
            <a:pPr marL="423545">
              <a:lnSpc>
                <a:spcPts val="3260"/>
              </a:lnSpc>
            </a:pPr>
            <a:r>
              <a:rPr sz="2850" spc="-30" dirty="0">
                <a:latin typeface="Calibri"/>
                <a:cs typeface="Calibri"/>
              </a:rPr>
              <a:t>Talk'</a:t>
            </a:r>
            <a:r>
              <a:rPr sz="2850" spc="-130" dirty="0">
                <a:latin typeface="Calibri"/>
                <a:cs typeface="Calibri"/>
              </a:rPr>
              <a:t> </a:t>
            </a:r>
            <a:r>
              <a:rPr sz="2850" spc="-10" dirty="0">
                <a:latin typeface="Calibri"/>
                <a:cs typeface="Calibri"/>
              </a:rPr>
              <a:t>logic</a:t>
            </a:r>
            <a:endParaRPr sz="2850" dirty="0">
              <a:latin typeface="Calibri"/>
              <a:cs typeface="Calibri"/>
            </a:endParaRPr>
          </a:p>
          <a:p>
            <a:pPr marL="407034" indent="-268605">
              <a:lnSpc>
                <a:spcPts val="3240"/>
              </a:lnSpc>
              <a:buClr>
                <a:srgbClr val="2F2F2F"/>
              </a:buClr>
              <a:buChar char="•"/>
              <a:tabLst>
                <a:tab pos="407034" algn="l"/>
              </a:tabLst>
            </a:pPr>
            <a:r>
              <a:rPr sz="2750" spc="-25" dirty="0">
                <a:latin typeface="Calibri"/>
                <a:cs typeface="Calibri"/>
              </a:rPr>
              <a:t>Video</a:t>
            </a:r>
            <a:r>
              <a:rPr sz="2750" spc="-130" dirty="0">
                <a:latin typeface="Calibri"/>
                <a:cs typeface="Calibri"/>
              </a:rPr>
              <a:t> </a:t>
            </a:r>
            <a:r>
              <a:rPr sz="2750" spc="-10" dirty="0">
                <a:latin typeface="Calibri"/>
                <a:cs typeface="Calibri"/>
              </a:rPr>
              <a:t>rendering</a:t>
            </a:r>
            <a:endParaRPr sz="2750" dirty="0">
              <a:latin typeface="Calibri"/>
              <a:cs typeface="Calibri"/>
            </a:endParaRPr>
          </a:p>
        </p:txBody>
      </p:sp>
      <p:sp>
        <p:nvSpPr>
          <p:cNvPr id="9" name="object 9"/>
          <p:cNvSpPr txBox="1"/>
          <p:nvPr/>
        </p:nvSpPr>
        <p:spPr>
          <a:xfrm>
            <a:off x="1692293" y="6443133"/>
            <a:ext cx="4135120" cy="1689100"/>
          </a:xfrm>
          <a:prstGeom prst="rect">
            <a:avLst/>
          </a:prstGeom>
        </p:spPr>
        <p:txBody>
          <a:bodyPr vert="horz" wrap="square" lIns="0" tIns="14604" rIns="0" bIns="0" rtlCol="0">
            <a:spAutoFit/>
          </a:bodyPr>
          <a:lstStyle/>
          <a:p>
            <a:pPr marL="299720" indent="-287020">
              <a:lnSpc>
                <a:spcPts val="3340"/>
              </a:lnSpc>
              <a:spcBef>
                <a:spcPts val="114"/>
              </a:spcBef>
              <a:buClr>
                <a:srgbClr val="2D2D2D"/>
              </a:buClr>
              <a:buChar char="•"/>
              <a:tabLst>
                <a:tab pos="299720" algn="l"/>
              </a:tabLst>
            </a:pPr>
            <a:r>
              <a:rPr sz="2900" spc="-120" dirty="0">
                <a:latin typeface="Calibri"/>
                <a:cs typeface="Calibri"/>
              </a:rPr>
              <a:t>State</a:t>
            </a:r>
            <a:r>
              <a:rPr sz="2900" spc="-60" dirty="0">
                <a:latin typeface="Calibri"/>
                <a:cs typeface="Calibri"/>
              </a:rPr>
              <a:t> </a:t>
            </a:r>
            <a:r>
              <a:rPr lang="en-US" sz="2900" spc="-120" dirty="0">
                <a:latin typeface="Calibri"/>
                <a:cs typeface="Calibri"/>
              </a:rPr>
              <a:t>m</a:t>
            </a:r>
            <a:r>
              <a:rPr sz="2900" spc="-120" dirty="0">
                <a:latin typeface="Calibri"/>
                <a:cs typeface="Calibri"/>
              </a:rPr>
              <a:t>achine</a:t>
            </a:r>
            <a:r>
              <a:rPr sz="2900" spc="5" dirty="0">
                <a:latin typeface="Calibri"/>
                <a:cs typeface="Calibri"/>
              </a:rPr>
              <a:t> </a:t>
            </a:r>
            <a:r>
              <a:rPr sz="2900" spc="-10" dirty="0">
                <a:latin typeface="Calibri"/>
                <a:cs typeface="Calibri"/>
              </a:rPr>
              <a:t>firmware</a:t>
            </a:r>
            <a:endParaRPr sz="2900" dirty="0">
              <a:latin typeface="Calibri"/>
              <a:cs typeface="Calibri"/>
            </a:endParaRPr>
          </a:p>
          <a:p>
            <a:pPr marL="290195" marR="5080" indent="-278130">
              <a:lnSpc>
                <a:spcPts val="3200"/>
              </a:lnSpc>
              <a:spcBef>
                <a:spcPts val="200"/>
              </a:spcBef>
              <a:buChar char="•"/>
              <a:tabLst>
                <a:tab pos="290195" algn="l"/>
                <a:tab pos="293370" algn="l"/>
              </a:tabLst>
            </a:pPr>
            <a:r>
              <a:rPr sz="2900" dirty="0">
                <a:solidFill>
                  <a:srgbClr val="333333"/>
                </a:solidFill>
                <a:latin typeface="Calibri"/>
                <a:cs typeface="Calibri"/>
              </a:rPr>
              <a:t>	</a:t>
            </a:r>
            <a:r>
              <a:rPr sz="2900" spc="-135" dirty="0">
                <a:latin typeface="Calibri"/>
                <a:cs typeface="Calibri"/>
              </a:rPr>
              <a:t>Audio</a:t>
            </a:r>
            <a:r>
              <a:rPr sz="2900" spc="-35" dirty="0">
                <a:latin typeface="Calibri"/>
                <a:cs typeface="Calibri"/>
              </a:rPr>
              <a:t> </a:t>
            </a:r>
            <a:r>
              <a:rPr sz="2900" spc="-120" dirty="0">
                <a:latin typeface="Calibri"/>
                <a:cs typeface="Calibri"/>
              </a:rPr>
              <a:t>hardware</a:t>
            </a:r>
            <a:r>
              <a:rPr sz="2900" spc="-10" dirty="0">
                <a:latin typeface="Calibri"/>
                <a:cs typeface="Calibri"/>
              </a:rPr>
              <a:t> </a:t>
            </a:r>
            <a:r>
              <a:rPr sz="2900" spc="-85" dirty="0">
                <a:latin typeface="Calibri"/>
                <a:cs typeface="Calibri"/>
              </a:rPr>
              <a:t>integration </a:t>
            </a:r>
            <a:r>
              <a:rPr sz="2900" spc="-10" dirty="0">
                <a:latin typeface="Calibri"/>
                <a:cs typeface="Calibri"/>
              </a:rPr>
              <a:t>(l2S)</a:t>
            </a:r>
            <a:endParaRPr sz="2900" dirty="0">
              <a:latin typeface="Calibri"/>
              <a:cs typeface="Calibri"/>
            </a:endParaRPr>
          </a:p>
          <a:p>
            <a:pPr marL="282575" indent="-269875">
              <a:lnSpc>
                <a:spcPts val="3140"/>
              </a:lnSpc>
              <a:buClr>
                <a:srgbClr val="2B2B2B"/>
              </a:buClr>
              <a:buChar char="•"/>
              <a:tabLst>
                <a:tab pos="282575" algn="l"/>
              </a:tabLst>
            </a:pPr>
            <a:r>
              <a:rPr sz="2900" spc="-90" dirty="0">
                <a:latin typeface="Calibri"/>
                <a:cs typeface="Calibri"/>
              </a:rPr>
              <a:t>Camera</a:t>
            </a:r>
            <a:r>
              <a:rPr sz="2900" spc="-35" dirty="0">
                <a:latin typeface="Calibri"/>
                <a:cs typeface="Calibri"/>
              </a:rPr>
              <a:t> </a:t>
            </a:r>
            <a:r>
              <a:rPr sz="2900" spc="-105" dirty="0">
                <a:latin typeface="Calibri"/>
                <a:cs typeface="Calibri"/>
              </a:rPr>
              <a:t>driver</a:t>
            </a:r>
            <a:r>
              <a:rPr sz="2900" spc="-65" dirty="0">
                <a:latin typeface="Calibri"/>
                <a:cs typeface="Calibri"/>
              </a:rPr>
              <a:t> optimisation</a:t>
            </a:r>
            <a:endParaRPr sz="2900" dirty="0">
              <a:latin typeface="Calibri"/>
              <a:cs typeface="Calibri"/>
            </a:endParaRPr>
          </a:p>
        </p:txBody>
      </p:sp>
      <p:sp>
        <p:nvSpPr>
          <p:cNvPr id="10" name="object 10"/>
          <p:cNvSpPr txBox="1"/>
          <p:nvPr/>
        </p:nvSpPr>
        <p:spPr>
          <a:xfrm>
            <a:off x="6696094" y="6443133"/>
            <a:ext cx="3712845" cy="2095500"/>
          </a:xfrm>
          <a:prstGeom prst="rect">
            <a:avLst/>
          </a:prstGeom>
        </p:spPr>
        <p:txBody>
          <a:bodyPr vert="horz" wrap="square" lIns="0" tIns="57785" rIns="0" bIns="0" rtlCol="0">
            <a:spAutoFit/>
          </a:bodyPr>
          <a:lstStyle/>
          <a:p>
            <a:pPr marL="284480" marR="104775" indent="-272415">
              <a:lnSpc>
                <a:spcPts val="3200"/>
              </a:lnSpc>
              <a:spcBef>
                <a:spcPts val="455"/>
              </a:spcBef>
              <a:buChar char="•"/>
              <a:tabLst>
                <a:tab pos="284480" algn="l"/>
                <a:tab pos="296545" algn="l"/>
              </a:tabLst>
            </a:pPr>
            <a:r>
              <a:rPr sz="2900" dirty="0">
                <a:solidFill>
                  <a:srgbClr val="2F2F2F"/>
                </a:solidFill>
                <a:latin typeface="Calibri"/>
                <a:cs typeface="Calibri"/>
              </a:rPr>
              <a:t>	</a:t>
            </a:r>
            <a:r>
              <a:rPr sz="2900" spc="-85" dirty="0">
                <a:latin typeface="Calibri"/>
                <a:cs typeface="Calibri"/>
              </a:rPr>
              <a:t>Training</a:t>
            </a:r>
            <a:r>
              <a:rPr sz="2900" spc="-35" dirty="0">
                <a:latin typeface="Calibri"/>
                <a:cs typeface="Calibri"/>
              </a:rPr>
              <a:t> </a:t>
            </a:r>
            <a:r>
              <a:rPr sz="2900" spc="-90" dirty="0">
                <a:latin typeface="Calibri"/>
                <a:cs typeface="Calibri"/>
              </a:rPr>
              <a:t>and</a:t>
            </a:r>
            <a:r>
              <a:rPr sz="2900" spc="-45" dirty="0">
                <a:latin typeface="Calibri"/>
                <a:cs typeface="Calibri"/>
              </a:rPr>
              <a:t> </a:t>
            </a:r>
            <a:r>
              <a:rPr sz="2900" spc="-65" dirty="0">
                <a:latin typeface="Calibri"/>
                <a:cs typeface="Calibri"/>
              </a:rPr>
              <a:t>quantizing </a:t>
            </a:r>
            <a:r>
              <a:rPr sz="2900" spc="-100" dirty="0">
                <a:latin typeface="Calibri"/>
                <a:cs typeface="Calibri"/>
              </a:rPr>
              <a:t>edge</a:t>
            </a:r>
            <a:r>
              <a:rPr sz="2900" spc="-65" dirty="0">
                <a:latin typeface="Calibri"/>
                <a:cs typeface="Calibri"/>
              </a:rPr>
              <a:t> </a:t>
            </a:r>
            <a:r>
              <a:rPr sz="2900" spc="-10" dirty="0">
                <a:latin typeface="Calibri"/>
                <a:cs typeface="Calibri"/>
              </a:rPr>
              <a:t>models</a:t>
            </a:r>
            <a:endParaRPr sz="2900">
              <a:latin typeface="Calibri"/>
              <a:cs typeface="Calibri"/>
            </a:endParaRPr>
          </a:p>
          <a:p>
            <a:pPr marL="286385" marR="5080" indent="-274320">
              <a:lnSpc>
                <a:spcPts val="3200"/>
              </a:lnSpc>
              <a:buChar char="•"/>
              <a:tabLst>
                <a:tab pos="286385" algn="l"/>
                <a:tab pos="299085" algn="l"/>
              </a:tabLst>
            </a:pPr>
            <a:r>
              <a:rPr sz="2900" dirty="0">
                <a:solidFill>
                  <a:srgbClr val="343434"/>
                </a:solidFill>
                <a:latin typeface="Calibri"/>
                <a:cs typeface="Calibri"/>
              </a:rPr>
              <a:t>	</a:t>
            </a:r>
            <a:r>
              <a:rPr sz="2900" spc="-80" dirty="0">
                <a:latin typeface="Calibri"/>
                <a:cs typeface="Calibri"/>
              </a:rPr>
              <a:t>Setting</a:t>
            </a:r>
            <a:r>
              <a:rPr sz="2900" spc="-65" dirty="0">
                <a:latin typeface="Calibri"/>
                <a:cs typeface="Calibri"/>
              </a:rPr>
              <a:t> </a:t>
            </a:r>
            <a:r>
              <a:rPr sz="2900" spc="-90" dirty="0">
                <a:latin typeface="Calibri"/>
                <a:cs typeface="Calibri"/>
              </a:rPr>
              <a:t>up</a:t>
            </a:r>
            <a:r>
              <a:rPr sz="2900" spc="-45" dirty="0">
                <a:latin typeface="Calibri"/>
                <a:cs typeface="Calibri"/>
              </a:rPr>
              <a:t> </a:t>
            </a:r>
            <a:r>
              <a:rPr sz="2900" spc="-70" dirty="0">
                <a:latin typeface="Calibri"/>
                <a:cs typeface="Calibri"/>
              </a:rPr>
              <a:t>cloud</a:t>
            </a:r>
            <a:r>
              <a:rPr sz="2900" spc="-110" dirty="0">
                <a:latin typeface="Calibri"/>
                <a:cs typeface="Calibri"/>
              </a:rPr>
              <a:t> </a:t>
            </a:r>
            <a:r>
              <a:rPr sz="2900" spc="-85" dirty="0">
                <a:latin typeface="Calibri"/>
                <a:cs typeface="Calibri"/>
              </a:rPr>
              <a:t>storage </a:t>
            </a:r>
            <a:r>
              <a:rPr sz="2900" spc="-10" dirty="0">
                <a:latin typeface="Calibri"/>
                <a:cs typeface="Calibri"/>
              </a:rPr>
              <a:t>buckets</a:t>
            </a:r>
            <a:endParaRPr sz="2900">
              <a:latin typeface="Calibri"/>
              <a:cs typeface="Calibri"/>
            </a:endParaRPr>
          </a:p>
          <a:p>
            <a:pPr marL="294640" indent="-281940">
              <a:lnSpc>
                <a:spcPts val="3140"/>
              </a:lnSpc>
              <a:buClr>
                <a:srgbClr val="2F2F2F"/>
              </a:buClr>
              <a:buChar char="•"/>
              <a:tabLst>
                <a:tab pos="294640" algn="l"/>
              </a:tabLst>
            </a:pPr>
            <a:r>
              <a:rPr sz="2900" spc="-114" dirty="0">
                <a:latin typeface="Calibri"/>
                <a:cs typeface="Calibri"/>
              </a:rPr>
              <a:t>Database</a:t>
            </a:r>
            <a:r>
              <a:rPr sz="2900" spc="-20" dirty="0">
                <a:latin typeface="Calibri"/>
                <a:cs typeface="Calibri"/>
              </a:rPr>
              <a:t> </a:t>
            </a:r>
            <a:r>
              <a:rPr sz="2900" spc="-10" dirty="0">
                <a:latin typeface="Calibri"/>
                <a:cs typeface="Calibri"/>
              </a:rPr>
              <a:t>management</a:t>
            </a:r>
            <a:endParaRPr sz="2900">
              <a:latin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50900" y="8775700"/>
            <a:ext cx="9499600" cy="88900"/>
          </a:xfrm>
          <a:prstGeom prst="rect">
            <a:avLst/>
          </a:prstGeom>
        </p:spPr>
      </p:pic>
      <p:sp>
        <p:nvSpPr>
          <p:cNvPr id="4" name="object 4"/>
          <p:cNvSpPr txBox="1">
            <a:spLocks noGrp="1"/>
          </p:cNvSpPr>
          <p:nvPr>
            <p:ph type="title"/>
          </p:nvPr>
        </p:nvSpPr>
        <p:spPr>
          <a:xfrm>
            <a:off x="847890" y="669572"/>
            <a:ext cx="11951970" cy="1591945"/>
          </a:xfrm>
          <a:prstGeom prst="rect">
            <a:avLst/>
          </a:prstGeom>
        </p:spPr>
        <p:txBody>
          <a:bodyPr vert="horz" wrap="square" lIns="0" tIns="67310" rIns="0" bIns="0" rtlCol="0">
            <a:spAutoFit/>
          </a:bodyPr>
          <a:lstStyle/>
          <a:p>
            <a:pPr marL="16510" marR="5080" indent="-4445">
              <a:lnSpc>
                <a:spcPts val="6000"/>
              </a:lnSpc>
              <a:spcBef>
                <a:spcPts val="530"/>
              </a:spcBef>
            </a:pPr>
            <a:r>
              <a:rPr sz="5250" spc="-40" dirty="0">
                <a:solidFill>
                  <a:srgbClr val="053860"/>
                </a:solidFill>
              </a:rPr>
              <a:t>The</a:t>
            </a:r>
            <a:r>
              <a:rPr sz="5250" spc="-345" dirty="0">
                <a:solidFill>
                  <a:srgbClr val="053860"/>
                </a:solidFill>
              </a:rPr>
              <a:t> </a:t>
            </a:r>
            <a:r>
              <a:rPr sz="5250" spc="-10" dirty="0">
                <a:solidFill>
                  <a:srgbClr val="053862"/>
                </a:solidFill>
              </a:rPr>
              <a:t>Total</a:t>
            </a:r>
            <a:r>
              <a:rPr sz="5250" spc="-350" dirty="0">
                <a:solidFill>
                  <a:srgbClr val="053862"/>
                </a:solidFill>
              </a:rPr>
              <a:t> </a:t>
            </a:r>
            <a:r>
              <a:rPr sz="5250" dirty="0">
                <a:solidFill>
                  <a:srgbClr val="01315B"/>
                </a:solidFill>
              </a:rPr>
              <a:t>Project</a:t>
            </a:r>
            <a:r>
              <a:rPr sz="5250" spc="-55" dirty="0">
                <a:solidFill>
                  <a:srgbClr val="01315B"/>
                </a:solidFill>
              </a:rPr>
              <a:t> </a:t>
            </a:r>
            <a:r>
              <a:rPr sz="5250" dirty="0">
                <a:solidFill>
                  <a:srgbClr val="083B67"/>
                </a:solidFill>
              </a:rPr>
              <a:t>Cost</a:t>
            </a:r>
            <a:r>
              <a:rPr sz="5250" spc="-204" dirty="0">
                <a:solidFill>
                  <a:srgbClr val="083B67"/>
                </a:solidFill>
              </a:rPr>
              <a:t> </a:t>
            </a:r>
            <a:r>
              <a:rPr sz="5250" spc="80" dirty="0">
                <a:solidFill>
                  <a:srgbClr val="07345B"/>
                </a:solidFill>
              </a:rPr>
              <a:t>Is</a:t>
            </a:r>
            <a:r>
              <a:rPr sz="5250" spc="-380" dirty="0">
                <a:solidFill>
                  <a:srgbClr val="07345B"/>
                </a:solidFill>
              </a:rPr>
              <a:t> </a:t>
            </a:r>
            <a:r>
              <a:rPr sz="5250" spc="-25" dirty="0">
                <a:solidFill>
                  <a:srgbClr val="033867"/>
                </a:solidFill>
              </a:rPr>
              <a:t>Well</a:t>
            </a:r>
            <a:r>
              <a:rPr sz="5250" spc="-300" dirty="0">
                <a:solidFill>
                  <a:srgbClr val="033867"/>
                </a:solidFill>
              </a:rPr>
              <a:t> </a:t>
            </a:r>
            <a:r>
              <a:rPr sz="5250" spc="114" dirty="0">
                <a:solidFill>
                  <a:srgbClr val="033460"/>
                </a:solidFill>
              </a:rPr>
              <a:t>Within</a:t>
            </a:r>
            <a:r>
              <a:rPr sz="5250" spc="-254" dirty="0">
                <a:solidFill>
                  <a:srgbClr val="033460"/>
                </a:solidFill>
              </a:rPr>
              <a:t> </a:t>
            </a:r>
            <a:r>
              <a:rPr sz="5250" spc="114" dirty="0">
                <a:solidFill>
                  <a:srgbClr val="033867"/>
                </a:solidFill>
              </a:rPr>
              <a:t>the </a:t>
            </a:r>
            <a:r>
              <a:rPr sz="5250" dirty="0">
                <a:solidFill>
                  <a:srgbClr val="01345E"/>
                </a:solidFill>
              </a:rPr>
              <a:t>Approved</a:t>
            </a:r>
            <a:r>
              <a:rPr sz="5250" spc="-80" dirty="0">
                <a:solidFill>
                  <a:srgbClr val="01345E"/>
                </a:solidFill>
              </a:rPr>
              <a:t> </a:t>
            </a:r>
            <a:r>
              <a:rPr sz="5250" spc="-10" dirty="0">
                <a:solidFill>
                  <a:srgbClr val="013157"/>
                </a:solidFill>
              </a:rPr>
              <a:t>Budget</a:t>
            </a:r>
            <a:endParaRPr sz="5250"/>
          </a:p>
        </p:txBody>
      </p:sp>
      <p:graphicFrame>
        <p:nvGraphicFramePr>
          <p:cNvPr id="5" name="object 5"/>
          <p:cNvGraphicFramePr>
            <a:graphicFrameLocks noGrp="1"/>
          </p:cNvGraphicFramePr>
          <p:nvPr/>
        </p:nvGraphicFramePr>
        <p:xfrm>
          <a:off x="1685296" y="2678906"/>
          <a:ext cx="8011159" cy="6059170"/>
        </p:xfrm>
        <a:graphic>
          <a:graphicData uri="http://schemas.openxmlformats.org/drawingml/2006/table">
            <a:tbl>
              <a:tblPr firstRow="1" bandRow="1">
                <a:tableStyleId>{2D5ABB26-0587-4C30-8999-92F81FD0307C}</a:tableStyleId>
              </a:tblPr>
              <a:tblGrid>
                <a:gridCol w="5351145">
                  <a:extLst>
                    <a:ext uri="{9D8B030D-6E8A-4147-A177-3AD203B41FA5}">
                      <a16:colId xmlns:a16="http://schemas.microsoft.com/office/drawing/2014/main" val="20000"/>
                    </a:ext>
                  </a:extLst>
                </a:gridCol>
                <a:gridCol w="2660014">
                  <a:extLst>
                    <a:ext uri="{9D8B030D-6E8A-4147-A177-3AD203B41FA5}">
                      <a16:colId xmlns:a16="http://schemas.microsoft.com/office/drawing/2014/main" val="20001"/>
                    </a:ext>
                  </a:extLst>
                </a:gridCol>
              </a:tblGrid>
              <a:tr h="542290">
                <a:tc>
                  <a:txBody>
                    <a:bodyPr/>
                    <a:lstStyle/>
                    <a:p>
                      <a:pPr marR="730250" algn="ctr">
                        <a:lnSpc>
                          <a:spcPts val="3345"/>
                        </a:lnSpc>
                      </a:pPr>
                      <a:r>
                        <a:rPr sz="3450" spc="-10" dirty="0">
                          <a:latin typeface="Calibri"/>
                          <a:cs typeface="Calibri"/>
                        </a:rPr>
                        <a:t>Component</a:t>
                      </a:r>
                      <a:endParaRPr sz="3450">
                        <a:latin typeface="Calibri"/>
                        <a:cs typeface="Calibri"/>
                      </a:endParaRPr>
                    </a:p>
                  </a:txBody>
                  <a:tcPr marL="0" marR="0" marT="0" marB="0"/>
                </a:tc>
                <a:tc>
                  <a:txBody>
                    <a:bodyPr/>
                    <a:lstStyle/>
                    <a:p>
                      <a:pPr marL="758825" algn="ctr">
                        <a:lnSpc>
                          <a:spcPts val="3365"/>
                        </a:lnSpc>
                      </a:pPr>
                      <a:r>
                        <a:rPr sz="3550" spc="-90" dirty="0">
                          <a:latin typeface="Calibri"/>
                          <a:cs typeface="Calibri"/>
                        </a:rPr>
                        <a:t>Cost</a:t>
                      </a:r>
                      <a:r>
                        <a:rPr sz="3550" spc="-105" dirty="0">
                          <a:latin typeface="Calibri"/>
                          <a:cs typeface="Calibri"/>
                        </a:rPr>
                        <a:t> </a:t>
                      </a:r>
                      <a:r>
                        <a:rPr sz="3550" spc="-20" dirty="0">
                          <a:latin typeface="Calibri"/>
                          <a:cs typeface="Calibri"/>
                        </a:rPr>
                        <a:t>(PKR)</a:t>
                      </a:r>
                      <a:endParaRPr sz="3550">
                        <a:latin typeface="Calibri"/>
                        <a:cs typeface="Calibri"/>
                      </a:endParaRPr>
                    </a:p>
                  </a:txBody>
                  <a:tcPr marL="0" marR="0" marT="0" marB="0"/>
                </a:tc>
                <a:extLst>
                  <a:ext uri="{0D108BD9-81ED-4DB2-BD59-A6C34878D82A}">
                    <a16:rowId xmlns:a16="http://schemas.microsoft.com/office/drawing/2014/main" val="10000"/>
                  </a:ext>
                </a:extLst>
              </a:tr>
              <a:tr h="619760">
                <a:tc>
                  <a:txBody>
                    <a:bodyPr/>
                    <a:lstStyle/>
                    <a:p>
                      <a:pPr marR="727075" algn="ctr">
                        <a:lnSpc>
                          <a:spcPts val="3965"/>
                        </a:lnSpc>
                      </a:pPr>
                      <a:r>
                        <a:rPr sz="3400" spc="-45" dirty="0">
                          <a:latin typeface="Calibri"/>
                          <a:cs typeface="Calibri"/>
                        </a:rPr>
                        <a:t>ESP32-</a:t>
                      </a:r>
                      <a:r>
                        <a:rPr sz="3400" dirty="0">
                          <a:latin typeface="Calibri"/>
                          <a:cs typeface="Calibri"/>
                        </a:rPr>
                        <a:t>CAT</a:t>
                      </a:r>
                      <a:r>
                        <a:rPr sz="3400" spc="250" dirty="0">
                          <a:latin typeface="Calibri"/>
                          <a:cs typeface="Calibri"/>
                        </a:rPr>
                        <a:t> </a:t>
                      </a:r>
                      <a:r>
                        <a:rPr sz="3400" spc="-50" dirty="0">
                          <a:latin typeface="Calibri"/>
                          <a:cs typeface="Calibri"/>
                        </a:rPr>
                        <a:t>Module</a:t>
                      </a:r>
                      <a:endParaRPr sz="3400">
                        <a:latin typeface="Calibri"/>
                        <a:cs typeface="Calibri"/>
                      </a:endParaRPr>
                    </a:p>
                  </a:txBody>
                  <a:tcPr marL="0" marR="0" marT="0" marB="0"/>
                </a:tc>
                <a:tc>
                  <a:txBody>
                    <a:bodyPr/>
                    <a:lstStyle/>
                    <a:p>
                      <a:pPr marL="752475" algn="ctr">
                        <a:lnSpc>
                          <a:spcPts val="3945"/>
                        </a:lnSpc>
                      </a:pPr>
                      <a:r>
                        <a:rPr sz="3300" spc="-10" dirty="0">
                          <a:latin typeface="Calibri"/>
                          <a:cs typeface="Calibri"/>
                        </a:rPr>
                        <a:t>1,500</a:t>
                      </a:r>
                      <a:endParaRPr sz="3300">
                        <a:latin typeface="Calibri"/>
                        <a:cs typeface="Calibri"/>
                      </a:endParaRPr>
                    </a:p>
                  </a:txBody>
                  <a:tcPr marL="0" marR="0" marT="0" marB="0"/>
                </a:tc>
                <a:extLst>
                  <a:ext uri="{0D108BD9-81ED-4DB2-BD59-A6C34878D82A}">
                    <a16:rowId xmlns:a16="http://schemas.microsoft.com/office/drawing/2014/main" val="10001"/>
                  </a:ext>
                </a:extLst>
              </a:tr>
              <a:tr h="620395">
                <a:tc>
                  <a:txBody>
                    <a:bodyPr/>
                    <a:lstStyle/>
                    <a:p>
                      <a:pPr marR="728980" algn="ctr">
                        <a:lnSpc>
                          <a:spcPct val="100000"/>
                        </a:lnSpc>
                      </a:pPr>
                      <a:r>
                        <a:rPr sz="3300" spc="-390" dirty="0">
                          <a:latin typeface="Calibri"/>
                          <a:cs typeface="Calibri"/>
                        </a:rPr>
                        <a:t>125</a:t>
                      </a:r>
                      <a:r>
                        <a:rPr sz="3300" spc="-45" dirty="0">
                          <a:latin typeface="Calibri"/>
                          <a:cs typeface="Calibri"/>
                        </a:rPr>
                        <a:t> </a:t>
                      </a:r>
                      <a:r>
                        <a:rPr sz="3300" spc="-110" dirty="0">
                          <a:latin typeface="Calibri"/>
                          <a:cs typeface="Calibri"/>
                        </a:rPr>
                        <a:t>Microphone</a:t>
                      </a:r>
                      <a:r>
                        <a:rPr sz="3300" spc="-15" dirty="0">
                          <a:latin typeface="Calibri"/>
                          <a:cs typeface="Calibri"/>
                        </a:rPr>
                        <a:t> </a:t>
                      </a:r>
                      <a:r>
                        <a:rPr sz="3300" spc="-35" dirty="0">
                          <a:latin typeface="Calibri"/>
                          <a:cs typeface="Calibri"/>
                        </a:rPr>
                        <a:t>(INMP441)</a:t>
                      </a:r>
                      <a:endParaRPr sz="3300">
                        <a:latin typeface="Calibri"/>
                        <a:cs typeface="Calibri"/>
                      </a:endParaRPr>
                    </a:p>
                  </a:txBody>
                  <a:tcPr marL="0" marR="0" marT="0" marB="0"/>
                </a:tc>
                <a:tc>
                  <a:txBody>
                    <a:bodyPr/>
                    <a:lstStyle/>
                    <a:p>
                      <a:pPr marL="755015" algn="ctr">
                        <a:lnSpc>
                          <a:spcPts val="3910"/>
                        </a:lnSpc>
                      </a:pPr>
                      <a:r>
                        <a:rPr sz="3300" spc="-25" dirty="0">
                          <a:latin typeface="Calibri"/>
                          <a:cs typeface="Calibri"/>
                        </a:rPr>
                        <a:t>400</a:t>
                      </a:r>
                      <a:endParaRPr sz="3300">
                        <a:latin typeface="Calibri"/>
                        <a:cs typeface="Calibri"/>
                      </a:endParaRPr>
                    </a:p>
                  </a:txBody>
                  <a:tcPr marL="0" marR="0" marT="0" marB="0"/>
                </a:tc>
                <a:extLst>
                  <a:ext uri="{0D108BD9-81ED-4DB2-BD59-A6C34878D82A}">
                    <a16:rowId xmlns:a16="http://schemas.microsoft.com/office/drawing/2014/main" val="10002"/>
                  </a:ext>
                </a:extLst>
              </a:tr>
              <a:tr h="624205">
                <a:tc>
                  <a:txBody>
                    <a:bodyPr/>
                    <a:lstStyle/>
                    <a:p>
                      <a:pPr marR="732790" algn="ctr">
                        <a:lnSpc>
                          <a:spcPct val="100000"/>
                        </a:lnSpc>
                        <a:spcBef>
                          <a:spcPts val="60"/>
                        </a:spcBef>
                      </a:pPr>
                      <a:r>
                        <a:rPr sz="3300" dirty="0">
                          <a:latin typeface="Calibri"/>
                          <a:cs typeface="Calibri"/>
                        </a:rPr>
                        <a:t>l2S</a:t>
                      </a:r>
                      <a:r>
                        <a:rPr sz="3300" spc="-190" dirty="0">
                          <a:latin typeface="Calibri"/>
                          <a:cs typeface="Calibri"/>
                        </a:rPr>
                        <a:t> </a:t>
                      </a:r>
                      <a:r>
                        <a:rPr sz="3300" spc="-65" dirty="0">
                          <a:latin typeface="Calibri"/>
                          <a:cs typeface="Calibri"/>
                        </a:rPr>
                        <a:t>Amplifier</a:t>
                      </a:r>
                      <a:r>
                        <a:rPr sz="3300" spc="-80" dirty="0">
                          <a:latin typeface="Calibri"/>
                          <a:cs typeface="Calibri"/>
                        </a:rPr>
                        <a:t> </a:t>
                      </a:r>
                      <a:r>
                        <a:rPr sz="3300" spc="-90" dirty="0">
                          <a:latin typeface="Calibri"/>
                          <a:cs typeface="Calibri"/>
                        </a:rPr>
                        <a:t>(MAX98357A)</a:t>
                      </a:r>
                      <a:endParaRPr sz="3300">
                        <a:latin typeface="Calibri"/>
                        <a:cs typeface="Calibri"/>
                      </a:endParaRPr>
                    </a:p>
                  </a:txBody>
                  <a:tcPr marL="0" marR="0" marT="7620" marB="0"/>
                </a:tc>
                <a:tc>
                  <a:txBody>
                    <a:bodyPr/>
                    <a:lstStyle/>
                    <a:p>
                      <a:pPr marL="753745" algn="ctr">
                        <a:lnSpc>
                          <a:spcPts val="4050"/>
                        </a:lnSpc>
                      </a:pPr>
                      <a:r>
                        <a:rPr sz="3450" spc="-25" dirty="0">
                          <a:latin typeface="Calibri"/>
                          <a:cs typeface="Calibri"/>
                        </a:rPr>
                        <a:t>350</a:t>
                      </a:r>
                      <a:endParaRPr sz="3450">
                        <a:latin typeface="Calibri"/>
                        <a:cs typeface="Calibri"/>
                      </a:endParaRPr>
                    </a:p>
                  </a:txBody>
                  <a:tcPr marL="0" marR="0" marT="0" marB="0"/>
                </a:tc>
                <a:extLst>
                  <a:ext uri="{0D108BD9-81ED-4DB2-BD59-A6C34878D82A}">
                    <a16:rowId xmlns:a16="http://schemas.microsoft.com/office/drawing/2014/main" val="10003"/>
                  </a:ext>
                </a:extLst>
              </a:tr>
              <a:tr h="629285">
                <a:tc>
                  <a:txBody>
                    <a:bodyPr/>
                    <a:lstStyle/>
                    <a:p>
                      <a:pPr marR="716915" algn="ctr">
                        <a:lnSpc>
                          <a:spcPct val="100000"/>
                        </a:lnSpc>
                        <a:spcBef>
                          <a:spcPts val="45"/>
                        </a:spcBef>
                      </a:pPr>
                      <a:r>
                        <a:rPr sz="3300" spc="-30" dirty="0">
                          <a:latin typeface="Calibri"/>
                          <a:cs typeface="Calibri"/>
                        </a:rPr>
                        <a:t>Speaker</a:t>
                      </a:r>
                      <a:r>
                        <a:rPr sz="3300" spc="-105" dirty="0">
                          <a:latin typeface="Calibri"/>
                          <a:cs typeface="Calibri"/>
                        </a:rPr>
                        <a:t> </a:t>
                      </a:r>
                      <a:r>
                        <a:rPr sz="3300" spc="-270" dirty="0">
                          <a:latin typeface="Calibri"/>
                          <a:cs typeface="Calibri"/>
                        </a:rPr>
                        <a:t>(3W</a:t>
                      </a:r>
                      <a:r>
                        <a:rPr sz="3300" spc="-80" dirty="0">
                          <a:latin typeface="Calibri"/>
                          <a:cs typeface="Calibri"/>
                        </a:rPr>
                        <a:t> </a:t>
                      </a:r>
                      <a:r>
                        <a:rPr sz="3300" spc="-10" dirty="0">
                          <a:latin typeface="Calibri"/>
                          <a:cs typeface="Calibri"/>
                        </a:rPr>
                        <a:t>4Ohm)</a:t>
                      </a:r>
                      <a:endParaRPr sz="3300">
                        <a:latin typeface="Calibri"/>
                        <a:cs typeface="Calibri"/>
                      </a:endParaRPr>
                    </a:p>
                  </a:txBody>
                  <a:tcPr marL="0" marR="0" marT="5715" marB="0"/>
                </a:tc>
                <a:tc>
                  <a:txBody>
                    <a:bodyPr/>
                    <a:lstStyle/>
                    <a:p>
                      <a:pPr marL="751840" algn="ctr">
                        <a:lnSpc>
                          <a:spcPts val="4054"/>
                        </a:lnSpc>
                      </a:pPr>
                      <a:r>
                        <a:rPr sz="3550" spc="-285" dirty="0">
                          <a:latin typeface="Calibri"/>
                          <a:cs typeface="Calibri"/>
                        </a:rPr>
                        <a:t>150</a:t>
                      </a:r>
                      <a:endParaRPr sz="3550">
                        <a:latin typeface="Calibri"/>
                        <a:cs typeface="Calibri"/>
                      </a:endParaRPr>
                    </a:p>
                  </a:txBody>
                  <a:tcPr marL="0" marR="0" marT="0" marB="0"/>
                </a:tc>
                <a:extLst>
                  <a:ext uri="{0D108BD9-81ED-4DB2-BD59-A6C34878D82A}">
                    <a16:rowId xmlns:a16="http://schemas.microsoft.com/office/drawing/2014/main" val="10004"/>
                  </a:ext>
                </a:extLst>
              </a:tr>
              <a:tr h="616585">
                <a:tc>
                  <a:txBody>
                    <a:bodyPr/>
                    <a:lstStyle/>
                    <a:p>
                      <a:pPr marR="709295" algn="ctr">
                        <a:lnSpc>
                          <a:spcPts val="4015"/>
                        </a:lnSpc>
                      </a:pPr>
                      <a:r>
                        <a:rPr sz="3400" spc="-50" dirty="0">
                          <a:latin typeface="Calibri"/>
                          <a:cs typeface="Calibri"/>
                        </a:rPr>
                        <a:t>Serial</a:t>
                      </a:r>
                      <a:r>
                        <a:rPr sz="3400" spc="-204" dirty="0">
                          <a:latin typeface="Calibri"/>
                          <a:cs typeface="Calibri"/>
                        </a:rPr>
                        <a:t> </a:t>
                      </a:r>
                      <a:r>
                        <a:rPr sz="3400" spc="-110" dirty="0">
                          <a:latin typeface="Calibri"/>
                          <a:cs typeface="Calibri"/>
                        </a:rPr>
                        <a:t>to</a:t>
                      </a:r>
                      <a:r>
                        <a:rPr sz="3400" spc="-125" dirty="0">
                          <a:latin typeface="Calibri"/>
                          <a:cs typeface="Calibri"/>
                        </a:rPr>
                        <a:t> </a:t>
                      </a:r>
                      <a:r>
                        <a:rPr sz="3400" spc="-45" dirty="0">
                          <a:latin typeface="Calibri"/>
                          <a:cs typeface="Calibri"/>
                        </a:rPr>
                        <a:t>USB</a:t>
                      </a:r>
                      <a:r>
                        <a:rPr sz="3400" spc="-80" dirty="0">
                          <a:latin typeface="Calibri"/>
                          <a:cs typeface="Calibri"/>
                        </a:rPr>
                        <a:t> </a:t>
                      </a:r>
                      <a:r>
                        <a:rPr sz="3400" spc="-10" dirty="0">
                          <a:latin typeface="Calibri"/>
                          <a:cs typeface="Calibri"/>
                        </a:rPr>
                        <a:t>(FTDI)</a:t>
                      </a:r>
                      <a:endParaRPr sz="3400">
                        <a:latin typeface="Calibri"/>
                        <a:cs typeface="Calibri"/>
                      </a:endParaRPr>
                    </a:p>
                  </a:txBody>
                  <a:tcPr marL="0" marR="0" marT="0" marB="0"/>
                </a:tc>
                <a:tc>
                  <a:txBody>
                    <a:bodyPr/>
                    <a:lstStyle/>
                    <a:p>
                      <a:pPr marL="753745" algn="ctr">
                        <a:lnSpc>
                          <a:spcPts val="4025"/>
                        </a:lnSpc>
                      </a:pPr>
                      <a:r>
                        <a:rPr sz="3450" spc="-25" dirty="0">
                          <a:latin typeface="Calibri"/>
                          <a:cs typeface="Calibri"/>
                        </a:rPr>
                        <a:t>300</a:t>
                      </a:r>
                      <a:endParaRPr sz="3450">
                        <a:latin typeface="Calibri"/>
                        <a:cs typeface="Calibri"/>
                      </a:endParaRPr>
                    </a:p>
                  </a:txBody>
                  <a:tcPr marL="0" marR="0" marT="0" marB="0"/>
                </a:tc>
                <a:extLst>
                  <a:ext uri="{0D108BD9-81ED-4DB2-BD59-A6C34878D82A}">
                    <a16:rowId xmlns:a16="http://schemas.microsoft.com/office/drawing/2014/main" val="10005"/>
                  </a:ext>
                </a:extLst>
              </a:tr>
              <a:tr h="619125">
                <a:tc>
                  <a:txBody>
                    <a:bodyPr/>
                    <a:lstStyle/>
                    <a:p>
                      <a:pPr marR="709295" algn="ctr">
                        <a:lnSpc>
                          <a:spcPts val="4085"/>
                        </a:lnSpc>
                      </a:pPr>
                      <a:r>
                        <a:rPr sz="3550" spc="-135" dirty="0">
                          <a:latin typeface="Calibri"/>
                          <a:cs typeface="Calibri"/>
                        </a:rPr>
                        <a:t>PIR</a:t>
                      </a:r>
                      <a:r>
                        <a:rPr sz="3550" spc="-125" dirty="0">
                          <a:latin typeface="Calibri"/>
                          <a:cs typeface="Calibri"/>
                        </a:rPr>
                        <a:t> </a:t>
                      </a:r>
                      <a:r>
                        <a:rPr sz="3550" spc="-10" dirty="0">
                          <a:latin typeface="Calibri"/>
                          <a:cs typeface="Calibri"/>
                        </a:rPr>
                        <a:t>Sensor</a:t>
                      </a:r>
                      <a:endParaRPr sz="3550">
                        <a:latin typeface="Calibri"/>
                        <a:cs typeface="Calibri"/>
                      </a:endParaRPr>
                    </a:p>
                  </a:txBody>
                  <a:tcPr marL="0" marR="0" marT="0" marB="0"/>
                </a:tc>
                <a:tc>
                  <a:txBody>
                    <a:bodyPr/>
                    <a:lstStyle/>
                    <a:p>
                      <a:pPr marL="754380" algn="ctr">
                        <a:lnSpc>
                          <a:spcPct val="100000"/>
                        </a:lnSpc>
                        <a:spcBef>
                          <a:spcPts val="325"/>
                        </a:spcBef>
                      </a:pPr>
                      <a:r>
                        <a:rPr sz="3050" spc="50" dirty="0">
                          <a:latin typeface="Times New Roman"/>
                          <a:cs typeface="Times New Roman"/>
                        </a:rPr>
                        <a:t>180</a:t>
                      </a:r>
                      <a:endParaRPr sz="3050">
                        <a:latin typeface="Times New Roman"/>
                        <a:cs typeface="Times New Roman"/>
                      </a:endParaRPr>
                    </a:p>
                  </a:txBody>
                  <a:tcPr marL="0" marR="0" marT="41275" marB="0"/>
                </a:tc>
                <a:extLst>
                  <a:ext uri="{0D108BD9-81ED-4DB2-BD59-A6C34878D82A}">
                    <a16:rowId xmlns:a16="http://schemas.microsoft.com/office/drawing/2014/main" val="10006"/>
                  </a:ext>
                </a:extLst>
              </a:tr>
              <a:tr h="619760">
                <a:tc>
                  <a:txBody>
                    <a:bodyPr/>
                    <a:lstStyle/>
                    <a:p>
                      <a:pPr marR="704850" algn="ctr">
                        <a:lnSpc>
                          <a:spcPct val="100000"/>
                        </a:lnSpc>
                      </a:pPr>
                      <a:r>
                        <a:rPr sz="3400" spc="-125" dirty="0">
                          <a:latin typeface="Calibri"/>
                          <a:cs typeface="Calibri"/>
                        </a:rPr>
                        <a:t>Power</a:t>
                      </a:r>
                      <a:r>
                        <a:rPr sz="3400" spc="-55" dirty="0">
                          <a:latin typeface="Calibri"/>
                          <a:cs typeface="Calibri"/>
                        </a:rPr>
                        <a:t> </a:t>
                      </a:r>
                      <a:r>
                        <a:rPr sz="3400" spc="-10" dirty="0">
                          <a:latin typeface="Calibri"/>
                          <a:cs typeface="Calibri"/>
                        </a:rPr>
                        <a:t>Supply</a:t>
                      </a:r>
                      <a:endParaRPr sz="3400">
                        <a:latin typeface="Calibri"/>
                        <a:cs typeface="Calibri"/>
                      </a:endParaRPr>
                    </a:p>
                  </a:txBody>
                  <a:tcPr marL="0" marR="0" marT="0" marB="0"/>
                </a:tc>
                <a:tc>
                  <a:txBody>
                    <a:bodyPr/>
                    <a:lstStyle/>
                    <a:p>
                      <a:pPr marL="765810" algn="ctr">
                        <a:lnSpc>
                          <a:spcPct val="100000"/>
                        </a:lnSpc>
                        <a:spcBef>
                          <a:spcPts val="300"/>
                        </a:spcBef>
                      </a:pPr>
                      <a:r>
                        <a:rPr sz="3100" spc="-25" dirty="0">
                          <a:latin typeface="Times New Roman"/>
                          <a:cs typeface="Times New Roman"/>
                        </a:rPr>
                        <a:t>300</a:t>
                      </a:r>
                      <a:endParaRPr sz="3100">
                        <a:latin typeface="Times New Roman"/>
                        <a:cs typeface="Times New Roman"/>
                      </a:endParaRPr>
                    </a:p>
                  </a:txBody>
                  <a:tcPr marL="0" marR="0" marT="38100" marB="0"/>
                </a:tc>
                <a:extLst>
                  <a:ext uri="{0D108BD9-81ED-4DB2-BD59-A6C34878D82A}">
                    <a16:rowId xmlns:a16="http://schemas.microsoft.com/office/drawing/2014/main" val="10007"/>
                  </a:ext>
                </a:extLst>
              </a:tr>
              <a:tr h="623570">
                <a:tc>
                  <a:txBody>
                    <a:bodyPr/>
                    <a:lstStyle/>
                    <a:p>
                      <a:pPr marR="751205" algn="ctr">
                        <a:lnSpc>
                          <a:spcPct val="100000"/>
                        </a:lnSpc>
                        <a:spcBef>
                          <a:spcPts val="114"/>
                        </a:spcBef>
                      </a:pPr>
                      <a:r>
                        <a:rPr sz="3300" spc="-75" dirty="0">
                          <a:latin typeface="Calibri"/>
                          <a:cs typeface="Calibri"/>
                        </a:rPr>
                        <a:t>Miscellaneous</a:t>
                      </a:r>
                      <a:r>
                        <a:rPr sz="3300" spc="10" dirty="0">
                          <a:latin typeface="Calibri"/>
                          <a:cs typeface="Calibri"/>
                        </a:rPr>
                        <a:t> </a:t>
                      </a:r>
                      <a:r>
                        <a:rPr sz="3300" spc="-10" dirty="0">
                          <a:latin typeface="Calibri"/>
                          <a:cs typeface="Calibri"/>
                        </a:rPr>
                        <a:t>(PCB/Casing)</a:t>
                      </a:r>
                      <a:endParaRPr sz="3300">
                        <a:latin typeface="Calibri"/>
                        <a:cs typeface="Calibri"/>
                      </a:endParaRPr>
                    </a:p>
                  </a:txBody>
                  <a:tcPr marL="0" marR="0" marT="14604" marB="0"/>
                </a:tc>
                <a:tc>
                  <a:txBody>
                    <a:bodyPr/>
                    <a:lstStyle/>
                    <a:p>
                      <a:pPr marL="766445" algn="ctr">
                        <a:lnSpc>
                          <a:spcPct val="100000"/>
                        </a:lnSpc>
                        <a:spcBef>
                          <a:spcPts val="315"/>
                        </a:spcBef>
                      </a:pPr>
                      <a:r>
                        <a:rPr sz="3100" spc="-25" dirty="0">
                          <a:latin typeface="Times New Roman"/>
                          <a:cs typeface="Times New Roman"/>
                        </a:rPr>
                        <a:t>400</a:t>
                      </a:r>
                      <a:endParaRPr sz="3100" dirty="0">
                        <a:latin typeface="Times New Roman"/>
                        <a:cs typeface="Times New Roman"/>
                      </a:endParaRPr>
                    </a:p>
                  </a:txBody>
                  <a:tcPr marL="0" marR="0" marT="40005" marB="0"/>
                </a:tc>
                <a:extLst>
                  <a:ext uri="{0D108BD9-81ED-4DB2-BD59-A6C34878D82A}">
                    <a16:rowId xmlns:a16="http://schemas.microsoft.com/office/drawing/2014/main" val="10008"/>
                  </a:ext>
                </a:extLst>
              </a:tr>
              <a:tr h="544195">
                <a:tc>
                  <a:txBody>
                    <a:bodyPr/>
                    <a:lstStyle/>
                    <a:p>
                      <a:pPr marR="706120" algn="ctr">
                        <a:lnSpc>
                          <a:spcPct val="100000"/>
                        </a:lnSpc>
                        <a:spcBef>
                          <a:spcPts val="155"/>
                        </a:spcBef>
                      </a:pPr>
                      <a:r>
                        <a:rPr sz="3300" spc="-10" dirty="0">
                          <a:latin typeface="Calibri"/>
                          <a:cs typeface="Calibri"/>
                        </a:rPr>
                        <a:t>TOTAL</a:t>
                      </a:r>
                      <a:r>
                        <a:rPr sz="3300" spc="-180" dirty="0">
                          <a:latin typeface="Calibri"/>
                          <a:cs typeface="Calibri"/>
                        </a:rPr>
                        <a:t> </a:t>
                      </a:r>
                      <a:r>
                        <a:rPr sz="3300" spc="-10" dirty="0">
                          <a:latin typeface="Calibri"/>
                          <a:cs typeface="Calibri"/>
                        </a:rPr>
                        <a:t>ESTIMATED</a:t>
                      </a:r>
                      <a:r>
                        <a:rPr sz="3300" spc="-150" dirty="0">
                          <a:latin typeface="Calibri"/>
                          <a:cs typeface="Calibri"/>
                        </a:rPr>
                        <a:t> </a:t>
                      </a:r>
                      <a:r>
                        <a:rPr sz="3300" spc="-20" dirty="0">
                          <a:latin typeface="Calibri"/>
                          <a:cs typeface="Calibri"/>
                        </a:rPr>
                        <a:t>COST</a:t>
                      </a:r>
                      <a:endParaRPr sz="3300">
                        <a:latin typeface="Calibri"/>
                        <a:cs typeface="Calibri"/>
                      </a:endParaRPr>
                    </a:p>
                  </a:txBody>
                  <a:tcPr marL="0" marR="0" marT="19685" marB="0"/>
                </a:tc>
                <a:tc>
                  <a:txBody>
                    <a:bodyPr/>
                    <a:lstStyle/>
                    <a:p>
                      <a:pPr marL="762635" algn="ctr">
                        <a:lnSpc>
                          <a:spcPct val="100000"/>
                        </a:lnSpc>
                        <a:spcBef>
                          <a:spcPts val="305"/>
                        </a:spcBef>
                      </a:pPr>
                      <a:r>
                        <a:rPr sz="3200" spc="60" dirty="0">
                          <a:latin typeface="Times New Roman"/>
                          <a:cs typeface="Times New Roman"/>
                        </a:rPr>
                        <a:t>3,580</a:t>
                      </a:r>
                      <a:endParaRPr sz="3200" dirty="0">
                        <a:latin typeface="Times New Roman"/>
                        <a:cs typeface="Times New Roman"/>
                      </a:endParaRPr>
                    </a:p>
                  </a:txBody>
                  <a:tcPr marL="0" marR="0" marT="38735" marB="0"/>
                </a:tc>
                <a:extLst>
                  <a:ext uri="{0D108BD9-81ED-4DB2-BD59-A6C34878D82A}">
                    <a16:rowId xmlns:a16="http://schemas.microsoft.com/office/drawing/2014/main" val="10009"/>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4000" y="7340600"/>
            <a:ext cx="1282700" cy="1701800"/>
          </a:xfrm>
          <a:prstGeom prst="rect">
            <a:avLst/>
          </a:prstGeom>
        </p:spPr>
      </p:pic>
      <p:pic>
        <p:nvPicPr>
          <p:cNvPr id="3" name="object 3"/>
          <p:cNvPicPr/>
          <p:nvPr/>
        </p:nvPicPr>
        <p:blipFill>
          <a:blip r:embed="rId3" cstate="print"/>
          <a:stretch>
            <a:fillRect/>
          </a:stretch>
        </p:blipFill>
        <p:spPr>
          <a:xfrm>
            <a:off x="1270000" y="5943600"/>
            <a:ext cx="1358900" cy="698500"/>
          </a:xfrm>
          <a:prstGeom prst="rect">
            <a:avLst/>
          </a:prstGeom>
        </p:spPr>
      </p:pic>
      <p:pic>
        <p:nvPicPr>
          <p:cNvPr id="4" name="object 4"/>
          <p:cNvPicPr/>
          <p:nvPr/>
        </p:nvPicPr>
        <p:blipFill>
          <a:blip r:embed="rId4" cstate="print"/>
          <a:stretch>
            <a:fillRect/>
          </a:stretch>
        </p:blipFill>
        <p:spPr>
          <a:xfrm>
            <a:off x="1308100" y="4089400"/>
            <a:ext cx="1460500" cy="1155700"/>
          </a:xfrm>
          <a:prstGeom prst="rect">
            <a:avLst/>
          </a:prstGeom>
        </p:spPr>
      </p:pic>
      <p:pic>
        <p:nvPicPr>
          <p:cNvPr id="5" name="object 5"/>
          <p:cNvPicPr/>
          <p:nvPr/>
        </p:nvPicPr>
        <p:blipFill>
          <a:blip r:embed="rId5" cstate="print"/>
          <a:stretch>
            <a:fillRect/>
          </a:stretch>
        </p:blipFill>
        <p:spPr>
          <a:xfrm>
            <a:off x="1320800" y="2336800"/>
            <a:ext cx="1244600" cy="1130300"/>
          </a:xfrm>
          <a:prstGeom prst="rect">
            <a:avLst/>
          </a:prstGeom>
        </p:spPr>
      </p:pic>
      <p:sp>
        <p:nvSpPr>
          <p:cNvPr id="6" name="object 6"/>
          <p:cNvSpPr txBox="1">
            <a:spLocks noGrp="1"/>
          </p:cNvSpPr>
          <p:nvPr>
            <p:ph type="title"/>
          </p:nvPr>
        </p:nvSpPr>
        <p:spPr>
          <a:xfrm>
            <a:off x="876101" y="462844"/>
            <a:ext cx="15600044" cy="1316990"/>
          </a:xfrm>
          <a:prstGeom prst="rect">
            <a:avLst/>
          </a:prstGeom>
        </p:spPr>
        <p:txBody>
          <a:bodyPr vert="horz" wrap="square" lIns="0" tIns="46355" rIns="0" bIns="0" rtlCol="0">
            <a:spAutoFit/>
          </a:bodyPr>
          <a:lstStyle/>
          <a:p>
            <a:pPr marL="31115" marR="5080" indent="-19050">
              <a:lnSpc>
                <a:spcPts val="5000"/>
              </a:lnSpc>
              <a:spcBef>
                <a:spcPts val="365"/>
              </a:spcBef>
            </a:pPr>
            <a:r>
              <a:rPr sz="4300" spc="155" dirty="0">
                <a:solidFill>
                  <a:srgbClr val="0A3A5D"/>
                </a:solidFill>
              </a:rPr>
              <a:t>In</a:t>
            </a:r>
            <a:r>
              <a:rPr sz="4300" spc="-295" dirty="0">
                <a:solidFill>
                  <a:srgbClr val="0A3A5D"/>
                </a:solidFill>
              </a:rPr>
              <a:t> </a:t>
            </a:r>
            <a:r>
              <a:rPr sz="4300" spc="90" dirty="0">
                <a:solidFill>
                  <a:srgbClr val="03345D"/>
                </a:solidFill>
              </a:rPr>
              <a:t>Summary:</a:t>
            </a:r>
            <a:r>
              <a:rPr sz="4300" spc="-20" dirty="0">
                <a:solidFill>
                  <a:srgbClr val="03345D"/>
                </a:solidFill>
              </a:rPr>
              <a:t> </a:t>
            </a:r>
            <a:r>
              <a:rPr sz="4300" dirty="0">
                <a:solidFill>
                  <a:srgbClr val="013460"/>
                </a:solidFill>
              </a:rPr>
              <a:t>We</a:t>
            </a:r>
            <a:r>
              <a:rPr sz="4300" spc="-15" dirty="0">
                <a:solidFill>
                  <a:srgbClr val="013460"/>
                </a:solidFill>
              </a:rPr>
              <a:t> </a:t>
            </a:r>
            <a:r>
              <a:rPr sz="4300" spc="85" dirty="0">
                <a:solidFill>
                  <a:srgbClr val="03345D"/>
                </a:solidFill>
              </a:rPr>
              <a:t>Are</a:t>
            </a:r>
            <a:r>
              <a:rPr sz="4300" spc="-190" dirty="0">
                <a:solidFill>
                  <a:srgbClr val="03345D"/>
                </a:solidFill>
              </a:rPr>
              <a:t> </a:t>
            </a:r>
            <a:r>
              <a:rPr sz="4300" spc="125" dirty="0">
                <a:solidFill>
                  <a:srgbClr val="0A3F6B"/>
                </a:solidFill>
              </a:rPr>
              <a:t>Delivering</a:t>
            </a:r>
            <a:r>
              <a:rPr sz="4300" spc="10" dirty="0">
                <a:solidFill>
                  <a:srgbClr val="0A3F6B"/>
                </a:solidFill>
              </a:rPr>
              <a:t> </a:t>
            </a:r>
            <a:r>
              <a:rPr sz="4300" spc="90" dirty="0">
                <a:solidFill>
                  <a:srgbClr val="083D69"/>
                </a:solidFill>
              </a:rPr>
              <a:t>an</a:t>
            </a:r>
            <a:r>
              <a:rPr sz="4300" spc="-320" dirty="0">
                <a:solidFill>
                  <a:srgbClr val="083D69"/>
                </a:solidFill>
              </a:rPr>
              <a:t> </a:t>
            </a:r>
            <a:r>
              <a:rPr sz="4300" spc="160" dirty="0">
                <a:solidFill>
                  <a:srgbClr val="033864"/>
                </a:solidFill>
              </a:rPr>
              <a:t>Intelligent</a:t>
            </a:r>
            <a:r>
              <a:rPr sz="4300" spc="190" dirty="0">
                <a:solidFill>
                  <a:srgbClr val="033864"/>
                </a:solidFill>
              </a:rPr>
              <a:t> </a:t>
            </a:r>
            <a:r>
              <a:rPr sz="4300" spc="114" dirty="0">
                <a:solidFill>
                  <a:srgbClr val="05345D"/>
                </a:solidFill>
              </a:rPr>
              <a:t>System</a:t>
            </a:r>
            <a:r>
              <a:rPr sz="4300" spc="20" dirty="0">
                <a:solidFill>
                  <a:srgbClr val="05345D"/>
                </a:solidFill>
              </a:rPr>
              <a:t> </a:t>
            </a:r>
            <a:r>
              <a:rPr sz="4300" spc="125" dirty="0">
                <a:solidFill>
                  <a:srgbClr val="05365E"/>
                </a:solidFill>
              </a:rPr>
              <a:t>Built</a:t>
            </a:r>
            <a:r>
              <a:rPr sz="4300" spc="60" dirty="0">
                <a:solidFill>
                  <a:srgbClr val="05365E"/>
                </a:solidFill>
              </a:rPr>
              <a:t> </a:t>
            </a:r>
            <a:r>
              <a:rPr sz="4300" spc="110" dirty="0">
                <a:solidFill>
                  <a:srgbClr val="053860"/>
                </a:solidFill>
              </a:rPr>
              <a:t>on </a:t>
            </a:r>
            <a:r>
              <a:rPr sz="4300" spc="-245" dirty="0">
                <a:solidFill>
                  <a:srgbClr val="0A3F6B"/>
                </a:solidFill>
              </a:rPr>
              <a:t>a</a:t>
            </a:r>
            <a:r>
              <a:rPr sz="4300" spc="-110" dirty="0">
                <a:solidFill>
                  <a:srgbClr val="0A3F6B"/>
                </a:solidFill>
              </a:rPr>
              <a:t> </a:t>
            </a:r>
            <a:r>
              <a:rPr sz="4300" dirty="0">
                <a:solidFill>
                  <a:srgbClr val="073860"/>
                </a:solidFill>
              </a:rPr>
              <a:t>Novel</a:t>
            </a:r>
            <a:r>
              <a:rPr sz="4300" spc="40" dirty="0">
                <a:solidFill>
                  <a:srgbClr val="073860"/>
                </a:solidFill>
              </a:rPr>
              <a:t> </a:t>
            </a:r>
            <a:r>
              <a:rPr sz="4300" spc="60" dirty="0">
                <a:solidFill>
                  <a:srgbClr val="053D6B"/>
                </a:solidFill>
              </a:rPr>
              <a:t>Approach</a:t>
            </a:r>
            <a:r>
              <a:rPr sz="4300" spc="165" dirty="0">
                <a:solidFill>
                  <a:srgbClr val="053D6B"/>
                </a:solidFill>
              </a:rPr>
              <a:t> </a:t>
            </a:r>
            <a:r>
              <a:rPr sz="4300" spc="50" dirty="0">
                <a:solidFill>
                  <a:srgbClr val="05345D"/>
                </a:solidFill>
              </a:rPr>
              <a:t>to</a:t>
            </a:r>
            <a:r>
              <a:rPr sz="4300" spc="-45" dirty="0">
                <a:solidFill>
                  <a:srgbClr val="05345D"/>
                </a:solidFill>
              </a:rPr>
              <a:t> </a:t>
            </a:r>
            <a:r>
              <a:rPr sz="4300" dirty="0">
                <a:solidFill>
                  <a:srgbClr val="073D64"/>
                </a:solidFill>
              </a:rPr>
              <a:t>Resource</a:t>
            </a:r>
            <a:r>
              <a:rPr sz="4300" spc="125" dirty="0">
                <a:solidFill>
                  <a:srgbClr val="073D64"/>
                </a:solidFill>
              </a:rPr>
              <a:t> </a:t>
            </a:r>
            <a:r>
              <a:rPr sz="4300" spc="-10" dirty="0">
                <a:solidFill>
                  <a:srgbClr val="033864"/>
                </a:solidFill>
              </a:rPr>
              <a:t>Management</a:t>
            </a:r>
            <a:endParaRPr sz="4300"/>
          </a:p>
        </p:txBody>
      </p:sp>
      <p:sp>
        <p:nvSpPr>
          <p:cNvPr id="11" name="object 11"/>
          <p:cNvSpPr txBox="1"/>
          <p:nvPr/>
        </p:nvSpPr>
        <p:spPr>
          <a:xfrm>
            <a:off x="16107677" y="9462029"/>
            <a:ext cx="1237615" cy="219710"/>
          </a:xfrm>
          <a:prstGeom prst="rect">
            <a:avLst/>
          </a:prstGeom>
        </p:spPr>
        <p:txBody>
          <a:bodyPr vert="horz" wrap="square" lIns="0" tIns="0" rIns="0" bIns="0" rtlCol="0">
            <a:spAutoFit/>
          </a:bodyPr>
          <a:lstStyle/>
          <a:p>
            <a:pPr marL="12700">
              <a:lnSpc>
                <a:spcPts val="1545"/>
              </a:lnSpc>
            </a:pPr>
            <a:r>
              <a:rPr sz="1500" dirty="0">
                <a:latin typeface="Calibri"/>
                <a:cs typeface="Calibri"/>
              </a:rPr>
              <a:t>G</a:t>
            </a:r>
            <a:r>
              <a:rPr sz="1500" spc="100" dirty="0">
                <a:latin typeface="Calibri"/>
                <a:cs typeface="Calibri"/>
              </a:rPr>
              <a:t>  </a:t>
            </a:r>
            <a:r>
              <a:rPr sz="1500" spc="-25" dirty="0">
                <a:latin typeface="Calibri"/>
                <a:cs typeface="Calibri"/>
              </a:rPr>
              <a:t>NotebookLM</a:t>
            </a:r>
            <a:endParaRPr sz="1500">
              <a:latin typeface="Calibri"/>
              <a:cs typeface="Calibri"/>
            </a:endParaRPr>
          </a:p>
        </p:txBody>
      </p:sp>
      <p:sp>
        <p:nvSpPr>
          <p:cNvPr id="7" name="object 7"/>
          <p:cNvSpPr txBox="1"/>
          <p:nvPr/>
        </p:nvSpPr>
        <p:spPr>
          <a:xfrm>
            <a:off x="1934745" y="4541661"/>
            <a:ext cx="323215" cy="237490"/>
          </a:xfrm>
          <a:prstGeom prst="rect">
            <a:avLst/>
          </a:prstGeom>
        </p:spPr>
        <p:txBody>
          <a:bodyPr vert="horz" wrap="square" lIns="0" tIns="17145" rIns="0" bIns="0" rtlCol="0">
            <a:spAutoFit/>
          </a:bodyPr>
          <a:lstStyle/>
          <a:p>
            <a:pPr marL="12700">
              <a:lnSpc>
                <a:spcPct val="100000"/>
              </a:lnSpc>
              <a:spcBef>
                <a:spcPts val="135"/>
              </a:spcBef>
            </a:pPr>
            <a:r>
              <a:rPr sz="1350" spc="-25" dirty="0">
                <a:solidFill>
                  <a:srgbClr val="2A2A2A"/>
                </a:solidFill>
                <a:latin typeface="Calibri"/>
                <a:cs typeface="Calibri"/>
              </a:rPr>
              <a:t>CRA</a:t>
            </a:r>
            <a:endParaRPr sz="1350">
              <a:latin typeface="Calibri"/>
              <a:cs typeface="Calibri"/>
            </a:endParaRPr>
          </a:p>
        </p:txBody>
      </p:sp>
      <p:sp>
        <p:nvSpPr>
          <p:cNvPr id="8" name="object 8"/>
          <p:cNvSpPr txBox="1"/>
          <p:nvPr/>
        </p:nvSpPr>
        <p:spPr>
          <a:xfrm>
            <a:off x="3349697" y="2605616"/>
            <a:ext cx="12861290" cy="1032334"/>
          </a:xfrm>
          <a:prstGeom prst="rect">
            <a:avLst/>
          </a:prstGeom>
        </p:spPr>
        <p:txBody>
          <a:bodyPr vert="horz" wrap="square" lIns="0" tIns="16510" rIns="0" bIns="0" rtlCol="0">
            <a:spAutoFit/>
          </a:bodyPr>
          <a:lstStyle/>
          <a:p>
            <a:pPr marL="12700">
              <a:lnSpc>
                <a:spcPct val="100000"/>
              </a:lnSpc>
              <a:spcBef>
                <a:spcPts val="130"/>
              </a:spcBef>
            </a:pPr>
            <a:r>
              <a:rPr sz="3300" spc="-60" dirty="0">
                <a:latin typeface="Calibri"/>
                <a:cs typeface="Calibri"/>
              </a:rPr>
              <a:t>The</a:t>
            </a:r>
            <a:r>
              <a:rPr sz="3300" spc="-185" dirty="0">
                <a:latin typeface="Calibri"/>
                <a:cs typeface="Calibri"/>
              </a:rPr>
              <a:t> </a:t>
            </a:r>
            <a:r>
              <a:rPr sz="3300" spc="-40" dirty="0">
                <a:latin typeface="Calibri"/>
                <a:cs typeface="Calibri"/>
              </a:rPr>
              <a:t>Prob</a:t>
            </a:r>
            <a:r>
              <a:rPr lang="en-US" sz="3300" spc="-40" dirty="0">
                <a:latin typeface="Calibri"/>
                <a:cs typeface="Calibri"/>
              </a:rPr>
              <a:t>l</a:t>
            </a:r>
            <a:r>
              <a:rPr sz="3300" spc="-40" dirty="0">
                <a:latin typeface="Calibri"/>
                <a:cs typeface="Calibri"/>
              </a:rPr>
              <a:t>em:</a:t>
            </a:r>
            <a:r>
              <a:rPr sz="3300" spc="-150" dirty="0">
                <a:latin typeface="Calibri"/>
                <a:cs typeface="Calibri"/>
              </a:rPr>
              <a:t> </a:t>
            </a:r>
            <a:r>
              <a:rPr sz="3300" spc="-270" dirty="0">
                <a:latin typeface="Calibri"/>
                <a:cs typeface="Calibri"/>
              </a:rPr>
              <a:t>A</a:t>
            </a:r>
            <a:r>
              <a:rPr sz="3300" spc="-35" dirty="0">
                <a:latin typeface="Calibri"/>
                <a:cs typeface="Calibri"/>
              </a:rPr>
              <a:t> </a:t>
            </a:r>
            <a:r>
              <a:rPr sz="3300" spc="-90" dirty="0">
                <a:latin typeface="Calibri"/>
                <a:cs typeface="Calibri"/>
              </a:rPr>
              <a:t>gap</a:t>
            </a:r>
            <a:r>
              <a:rPr sz="3300" spc="-135" dirty="0">
                <a:latin typeface="Calibri"/>
                <a:cs typeface="Calibri"/>
              </a:rPr>
              <a:t> </a:t>
            </a:r>
            <a:r>
              <a:rPr sz="3300" spc="-70" dirty="0">
                <a:latin typeface="Calibri"/>
                <a:cs typeface="Calibri"/>
              </a:rPr>
              <a:t>exists</a:t>
            </a:r>
            <a:r>
              <a:rPr sz="3300" spc="-75" dirty="0">
                <a:latin typeface="Calibri"/>
                <a:cs typeface="Calibri"/>
              </a:rPr>
              <a:t> </a:t>
            </a:r>
            <a:r>
              <a:rPr sz="3300" spc="-140" dirty="0">
                <a:latin typeface="Calibri"/>
                <a:cs typeface="Calibri"/>
              </a:rPr>
              <a:t>for</a:t>
            </a:r>
            <a:r>
              <a:rPr sz="3300" spc="-180" dirty="0">
                <a:latin typeface="Calibri"/>
                <a:cs typeface="Calibri"/>
              </a:rPr>
              <a:t> </a:t>
            </a:r>
            <a:r>
              <a:rPr sz="3300" spc="-70" dirty="0">
                <a:latin typeface="Calibri"/>
                <a:cs typeface="Calibri"/>
              </a:rPr>
              <a:t>a</a:t>
            </a:r>
            <a:r>
              <a:rPr lang="en-US" sz="3300" spc="-70" dirty="0">
                <a:latin typeface="Calibri"/>
                <a:cs typeface="Calibri"/>
              </a:rPr>
              <a:t> </a:t>
            </a:r>
            <a:r>
              <a:rPr sz="3300" spc="-70" dirty="0">
                <a:latin typeface="Calibri"/>
                <a:cs typeface="Calibri"/>
              </a:rPr>
              <a:t>Por</a:t>
            </a:r>
            <a:r>
              <a:rPr lang="en-US" sz="3300" spc="-70" dirty="0">
                <a:latin typeface="Calibri"/>
                <a:cs typeface="Calibri"/>
              </a:rPr>
              <a:t>t</a:t>
            </a:r>
            <a:r>
              <a:rPr sz="3300" spc="-70" dirty="0">
                <a:latin typeface="Calibri"/>
                <a:cs typeface="Calibri"/>
              </a:rPr>
              <a:t>able</a:t>
            </a:r>
            <a:r>
              <a:rPr sz="3300" spc="20" dirty="0">
                <a:latin typeface="Calibri"/>
                <a:cs typeface="Calibri"/>
              </a:rPr>
              <a:t> </a:t>
            </a:r>
            <a:r>
              <a:rPr sz="3300" spc="-90" dirty="0">
                <a:latin typeface="Calibri"/>
                <a:cs typeface="Calibri"/>
              </a:rPr>
              <a:t>security</a:t>
            </a:r>
            <a:r>
              <a:rPr sz="3300" spc="-15" dirty="0">
                <a:latin typeface="Calibri"/>
                <a:cs typeface="Calibri"/>
              </a:rPr>
              <a:t> </a:t>
            </a:r>
            <a:r>
              <a:rPr sz="3300" spc="-95" dirty="0">
                <a:latin typeface="Calibri"/>
                <a:cs typeface="Calibri"/>
              </a:rPr>
              <a:t>that </a:t>
            </a:r>
            <a:r>
              <a:rPr sz="3300" spc="-105" dirty="0">
                <a:latin typeface="Calibri"/>
                <a:cs typeface="Calibri"/>
              </a:rPr>
              <a:t>can</a:t>
            </a:r>
            <a:r>
              <a:rPr sz="3300" spc="-120" dirty="0">
                <a:latin typeface="Calibri"/>
                <a:cs typeface="Calibri"/>
              </a:rPr>
              <a:t> </a:t>
            </a:r>
            <a:r>
              <a:rPr sz="3300" spc="-125" dirty="0">
                <a:latin typeface="Calibri"/>
                <a:cs typeface="Calibri"/>
              </a:rPr>
              <a:t>both</a:t>
            </a:r>
            <a:r>
              <a:rPr sz="3300" spc="-50" dirty="0">
                <a:latin typeface="Calibri"/>
                <a:cs typeface="Calibri"/>
              </a:rPr>
              <a:t> </a:t>
            </a:r>
            <a:r>
              <a:rPr sz="3300" spc="-120" dirty="0">
                <a:latin typeface="Calibri"/>
                <a:cs typeface="Calibri"/>
              </a:rPr>
              <a:t>detect</a:t>
            </a:r>
            <a:r>
              <a:rPr sz="3300" spc="5" dirty="0">
                <a:latin typeface="Calibri"/>
                <a:cs typeface="Calibri"/>
              </a:rPr>
              <a:t> </a:t>
            </a:r>
            <a:r>
              <a:rPr sz="3300" spc="-95" dirty="0">
                <a:latin typeface="Calibri"/>
                <a:cs typeface="Calibri"/>
              </a:rPr>
              <a:t>and</a:t>
            </a:r>
            <a:r>
              <a:rPr sz="3300" spc="-70" dirty="0">
                <a:latin typeface="Calibri"/>
                <a:cs typeface="Calibri"/>
              </a:rPr>
              <a:t> </a:t>
            </a:r>
            <a:r>
              <a:rPr sz="3300" spc="-65" dirty="0">
                <a:latin typeface="Calibri"/>
                <a:cs typeface="Calibri"/>
              </a:rPr>
              <a:t>deter.</a:t>
            </a:r>
            <a:r>
              <a:rPr lang="en-US" sz="3300" spc="-65" dirty="0">
                <a:latin typeface="Calibri"/>
                <a:cs typeface="Calibri"/>
              </a:rPr>
              <a:t> Also cost effective ,low power consuming hybrid cloud solution </a:t>
            </a:r>
            <a:endParaRPr sz="3300" dirty="0">
              <a:latin typeface="Calibri"/>
              <a:cs typeface="Calibri"/>
            </a:endParaRPr>
          </a:p>
        </p:txBody>
      </p:sp>
      <p:sp>
        <p:nvSpPr>
          <p:cNvPr id="9" name="object 9"/>
          <p:cNvSpPr txBox="1"/>
          <p:nvPr/>
        </p:nvSpPr>
        <p:spPr>
          <a:xfrm>
            <a:off x="3335360" y="4086577"/>
            <a:ext cx="12049125" cy="1018540"/>
          </a:xfrm>
          <a:prstGeom prst="rect">
            <a:avLst/>
          </a:prstGeom>
        </p:spPr>
        <p:txBody>
          <a:bodyPr vert="horz" wrap="square" lIns="0" tIns="82550" rIns="0" bIns="0" rtlCol="0">
            <a:spAutoFit/>
          </a:bodyPr>
          <a:lstStyle/>
          <a:p>
            <a:pPr marL="12700" marR="5080" indent="13970">
              <a:lnSpc>
                <a:spcPts val="3650"/>
              </a:lnSpc>
              <a:spcBef>
                <a:spcPts val="650"/>
              </a:spcBef>
            </a:pPr>
            <a:r>
              <a:rPr sz="3450" spc="-130" dirty="0">
                <a:latin typeface="Calibri"/>
                <a:cs typeface="Calibri"/>
              </a:rPr>
              <a:t>The</a:t>
            </a:r>
            <a:r>
              <a:rPr sz="3450" spc="-200" dirty="0">
                <a:latin typeface="Calibri"/>
                <a:cs typeface="Calibri"/>
              </a:rPr>
              <a:t> </a:t>
            </a:r>
            <a:r>
              <a:rPr sz="3450" spc="-40" dirty="0">
                <a:latin typeface="Calibri"/>
                <a:cs typeface="Calibri"/>
              </a:rPr>
              <a:t>Barrier:</a:t>
            </a:r>
            <a:r>
              <a:rPr sz="3450" spc="-55" dirty="0">
                <a:latin typeface="Calibri"/>
                <a:cs typeface="Calibri"/>
              </a:rPr>
              <a:t> </a:t>
            </a:r>
            <a:r>
              <a:rPr sz="3450" spc="-200" dirty="0">
                <a:latin typeface="Calibri"/>
                <a:cs typeface="Calibri"/>
              </a:rPr>
              <a:t>Low-</a:t>
            </a:r>
            <a:r>
              <a:rPr sz="3450" spc="-160" dirty="0">
                <a:latin typeface="Calibri"/>
                <a:cs typeface="Calibri"/>
              </a:rPr>
              <a:t>cost</a:t>
            </a:r>
            <a:r>
              <a:rPr sz="3450" spc="40" dirty="0">
                <a:latin typeface="Calibri"/>
                <a:cs typeface="Calibri"/>
              </a:rPr>
              <a:t> </a:t>
            </a:r>
            <a:r>
              <a:rPr sz="3450" spc="-215" dirty="0">
                <a:latin typeface="Calibri"/>
                <a:cs typeface="Calibri"/>
              </a:rPr>
              <a:t>hardware</a:t>
            </a:r>
            <a:r>
              <a:rPr sz="3450" spc="-5" dirty="0">
                <a:latin typeface="Calibri"/>
                <a:cs typeface="Calibri"/>
              </a:rPr>
              <a:t> </a:t>
            </a:r>
            <a:r>
              <a:rPr sz="3450" spc="-175" dirty="0">
                <a:latin typeface="Calibri"/>
                <a:cs typeface="Calibri"/>
              </a:rPr>
              <a:t>cannot</a:t>
            </a:r>
            <a:r>
              <a:rPr sz="3450" spc="-20" dirty="0">
                <a:latin typeface="Calibri"/>
                <a:cs typeface="Calibri"/>
              </a:rPr>
              <a:t> </a:t>
            </a:r>
            <a:r>
              <a:rPr sz="3450" spc="-145" dirty="0">
                <a:latin typeface="Calibri"/>
                <a:cs typeface="Calibri"/>
              </a:rPr>
              <a:t>simultaneously </a:t>
            </a:r>
            <a:r>
              <a:rPr sz="3450" spc="-225" dirty="0">
                <a:latin typeface="Calibri"/>
                <a:cs typeface="Calibri"/>
              </a:rPr>
              <a:t>perform</a:t>
            </a:r>
            <a:r>
              <a:rPr sz="3450" spc="45" dirty="0">
                <a:latin typeface="Calibri"/>
                <a:cs typeface="Calibri"/>
              </a:rPr>
              <a:t> </a:t>
            </a:r>
            <a:r>
              <a:rPr sz="3450" spc="-225" dirty="0">
                <a:latin typeface="Calibri"/>
                <a:cs typeface="Calibri"/>
              </a:rPr>
              <a:t>AI</a:t>
            </a:r>
            <a:r>
              <a:rPr sz="3450" spc="-100" dirty="0">
                <a:latin typeface="Calibri"/>
                <a:cs typeface="Calibri"/>
              </a:rPr>
              <a:t> </a:t>
            </a:r>
            <a:r>
              <a:rPr sz="3450" spc="-185" dirty="0">
                <a:latin typeface="Calibri"/>
                <a:cs typeface="Calibri"/>
              </a:rPr>
              <a:t>and</a:t>
            </a:r>
            <a:r>
              <a:rPr sz="3450" spc="-35" dirty="0">
                <a:latin typeface="Calibri"/>
                <a:cs typeface="Calibri"/>
              </a:rPr>
              <a:t> </a:t>
            </a:r>
            <a:r>
              <a:rPr sz="3450" spc="-20" dirty="0">
                <a:latin typeface="Calibri"/>
                <a:cs typeface="Calibri"/>
              </a:rPr>
              <a:t>live </a:t>
            </a:r>
            <a:r>
              <a:rPr sz="3450" spc="-85" dirty="0">
                <a:latin typeface="Calibri"/>
                <a:cs typeface="Calibri"/>
              </a:rPr>
              <a:t>streaming.</a:t>
            </a:r>
            <a:endParaRPr sz="3450" dirty="0">
              <a:latin typeface="Calibri"/>
              <a:cs typeface="Calibri"/>
            </a:endParaRPr>
          </a:p>
        </p:txBody>
      </p:sp>
      <p:sp>
        <p:nvSpPr>
          <p:cNvPr id="10" name="object 10"/>
          <p:cNvSpPr txBox="1"/>
          <p:nvPr/>
        </p:nvSpPr>
        <p:spPr>
          <a:xfrm>
            <a:off x="3332335" y="5742516"/>
            <a:ext cx="12801600" cy="2584041"/>
          </a:xfrm>
          <a:prstGeom prst="rect">
            <a:avLst/>
          </a:prstGeom>
        </p:spPr>
        <p:txBody>
          <a:bodyPr vert="horz" wrap="square" lIns="0" tIns="69850" rIns="0" bIns="0" rtlCol="0">
            <a:spAutoFit/>
          </a:bodyPr>
          <a:lstStyle/>
          <a:p>
            <a:pPr marL="13970" marR="5080" indent="-1905">
              <a:lnSpc>
                <a:spcPts val="3600"/>
              </a:lnSpc>
              <a:spcBef>
                <a:spcPts val="550"/>
              </a:spcBef>
            </a:pPr>
            <a:r>
              <a:rPr sz="3300" spc="-40" dirty="0">
                <a:latin typeface="Calibri"/>
                <a:cs typeface="Calibri"/>
              </a:rPr>
              <a:t>Our</a:t>
            </a:r>
            <a:r>
              <a:rPr sz="3300" spc="-180" dirty="0">
                <a:latin typeface="Calibri"/>
                <a:cs typeface="Calibri"/>
              </a:rPr>
              <a:t> </a:t>
            </a:r>
            <a:r>
              <a:rPr sz="3300" dirty="0">
                <a:latin typeface="Calibri"/>
                <a:cs typeface="Calibri"/>
              </a:rPr>
              <a:t>Innovation:</a:t>
            </a:r>
            <a:r>
              <a:rPr sz="3300" spc="-190" dirty="0">
                <a:latin typeface="Calibri"/>
                <a:cs typeface="Calibri"/>
              </a:rPr>
              <a:t> </a:t>
            </a:r>
            <a:r>
              <a:rPr sz="3300" spc="-270" dirty="0">
                <a:latin typeface="Calibri"/>
                <a:cs typeface="Calibri"/>
              </a:rPr>
              <a:t>A</a:t>
            </a:r>
            <a:r>
              <a:rPr sz="3300" spc="-100" dirty="0">
                <a:latin typeface="Calibri"/>
                <a:cs typeface="Calibri"/>
              </a:rPr>
              <a:t> </a:t>
            </a:r>
            <a:r>
              <a:rPr sz="3300" spc="-95" dirty="0">
                <a:latin typeface="Calibri"/>
                <a:cs typeface="Calibri"/>
              </a:rPr>
              <a:t>logic-</a:t>
            </a:r>
            <a:r>
              <a:rPr sz="3300" spc="-55" dirty="0">
                <a:latin typeface="Calibri"/>
                <a:cs typeface="Calibri"/>
              </a:rPr>
              <a:t>driven</a:t>
            </a:r>
            <a:r>
              <a:rPr sz="3300" spc="-30" dirty="0">
                <a:latin typeface="Calibri"/>
                <a:cs typeface="Calibri"/>
              </a:rPr>
              <a:t> </a:t>
            </a:r>
            <a:r>
              <a:rPr sz="3300" spc="-95" dirty="0">
                <a:latin typeface="Calibri"/>
                <a:cs typeface="Calibri"/>
              </a:rPr>
              <a:t>State</a:t>
            </a:r>
            <a:r>
              <a:rPr sz="3300" spc="-135" dirty="0">
                <a:latin typeface="Calibri"/>
                <a:cs typeface="Calibri"/>
              </a:rPr>
              <a:t> </a:t>
            </a:r>
            <a:r>
              <a:rPr sz="3300" spc="-175" dirty="0">
                <a:latin typeface="Calibri"/>
                <a:cs typeface="Calibri"/>
              </a:rPr>
              <a:t>Machine</a:t>
            </a:r>
            <a:r>
              <a:rPr sz="3300" spc="-15" dirty="0">
                <a:latin typeface="Calibri"/>
                <a:cs typeface="Calibri"/>
              </a:rPr>
              <a:t> </a:t>
            </a:r>
            <a:r>
              <a:rPr sz="3300" spc="-80" dirty="0">
                <a:latin typeface="Calibri"/>
                <a:cs typeface="Calibri"/>
              </a:rPr>
              <a:t>that</a:t>
            </a:r>
            <a:r>
              <a:rPr sz="3300" spc="-150" dirty="0">
                <a:latin typeface="Calibri"/>
                <a:cs typeface="Calibri"/>
              </a:rPr>
              <a:t> </a:t>
            </a:r>
            <a:r>
              <a:rPr sz="3300" spc="-75" dirty="0">
                <a:latin typeface="Calibri"/>
                <a:cs typeface="Calibri"/>
              </a:rPr>
              <a:t>intelligently</a:t>
            </a:r>
            <a:r>
              <a:rPr sz="3300" spc="15" dirty="0">
                <a:latin typeface="Calibri"/>
                <a:cs typeface="Calibri"/>
              </a:rPr>
              <a:t> </a:t>
            </a:r>
            <a:r>
              <a:rPr sz="3300" spc="-55" dirty="0">
                <a:latin typeface="Calibri"/>
                <a:cs typeface="Calibri"/>
              </a:rPr>
              <a:t>allocates</a:t>
            </a:r>
            <a:r>
              <a:rPr sz="3300" spc="-60" dirty="0">
                <a:latin typeface="Calibri"/>
                <a:cs typeface="Calibri"/>
              </a:rPr>
              <a:t> </a:t>
            </a:r>
            <a:r>
              <a:rPr sz="3300" spc="-10" dirty="0">
                <a:latin typeface="Calibri"/>
                <a:cs typeface="Calibri"/>
              </a:rPr>
              <a:t>system resources</a:t>
            </a:r>
            <a:r>
              <a:rPr lang="en-US" sz="3300" spc="-10" dirty="0">
                <a:latin typeface="Calibri"/>
                <a:cs typeface="Calibri"/>
              </a:rPr>
              <a:t> and solve traditional resource heavy security systems</a:t>
            </a:r>
            <a:r>
              <a:rPr sz="3300" spc="-10" dirty="0">
                <a:latin typeface="Calibri"/>
                <a:cs typeface="Calibri"/>
              </a:rPr>
              <a:t>.</a:t>
            </a:r>
            <a:endParaRPr sz="3300" dirty="0">
              <a:latin typeface="Calibri"/>
              <a:cs typeface="Calibri"/>
            </a:endParaRPr>
          </a:p>
          <a:p>
            <a:pPr>
              <a:lnSpc>
                <a:spcPct val="100000"/>
              </a:lnSpc>
              <a:spcBef>
                <a:spcPts val="1100"/>
              </a:spcBef>
            </a:pPr>
            <a:endParaRPr sz="3300" dirty="0">
              <a:latin typeface="Calibri"/>
              <a:cs typeface="Calibri"/>
            </a:endParaRPr>
          </a:p>
          <a:p>
            <a:pPr marL="12700" marR="403860" indent="3810" algn="just">
              <a:lnSpc>
                <a:spcPct val="87800"/>
              </a:lnSpc>
            </a:pPr>
            <a:r>
              <a:rPr sz="3400" spc="-100" dirty="0">
                <a:latin typeface="Calibri"/>
                <a:cs typeface="Calibri"/>
              </a:rPr>
              <a:t>The</a:t>
            </a:r>
            <a:r>
              <a:rPr sz="3400" spc="-95" dirty="0">
                <a:latin typeface="Calibri"/>
                <a:cs typeface="Calibri"/>
              </a:rPr>
              <a:t> </a:t>
            </a:r>
            <a:r>
              <a:rPr sz="3400" dirty="0">
                <a:latin typeface="Calibri"/>
                <a:cs typeface="Calibri"/>
              </a:rPr>
              <a:t>Result:</a:t>
            </a:r>
            <a:r>
              <a:rPr sz="3400" spc="-190" dirty="0">
                <a:latin typeface="Calibri"/>
                <a:cs typeface="Calibri"/>
              </a:rPr>
              <a:t> </a:t>
            </a:r>
            <a:r>
              <a:rPr sz="3400" spc="-195" dirty="0">
                <a:latin typeface="Calibri"/>
                <a:cs typeface="Calibri"/>
              </a:rPr>
              <a:t>The</a:t>
            </a:r>
            <a:r>
              <a:rPr sz="3400" spc="5" dirty="0">
                <a:latin typeface="Calibri"/>
                <a:cs typeface="Calibri"/>
              </a:rPr>
              <a:t> </a:t>
            </a:r>
            <a:r>
              <a:rPr sz="3400" spc="-105" dirty="0">
                <a:latin typeface="Calibri"/>
                <a:cs typeface="Calibri"/>
              </a:rPr>
              <a:t>EagleEye</a:t>
            </a:r>
            <a:r>
              <a:rPr sz="3400" spc="-85" dirty="0">
                <a:latin typeface="Calibri"/>
                <a:cs typeface="Calibri"/>
              </a:rPr>
              <a:t> </a:t>
            </a:r>
            <a:r>
              <a:rPr sz="3400" spc="-160" dirty="0">
                <a:latin typeface="Calibri"/>
                <a:cs typeface="Calibri"/>
              </a:rPr>
              <a:t>system,</a:t>
            </a:r>
            <a:r>
              <a:rPr sz="3400" spc="-30" dirty="0">
                <a:latin typeface="Calibri"/>
                <a:cs typeface="Calibri"/>
              </a:rPr>
              <a:t> </a:t>
            </a:r>
            <a:r>
              <a:rPr sz="3400" spc="-110" dirty="0">
                <a:latin typeface="Calibri"/>
                <a:cs typeface="Calibri"/>
              </a:rPr>
              <a:t>delivering</a:t>
            </a:r>
            <a:r>
              <a:rPr sz="3400" spc="-80" dirty="0">
                <a:latin typeface="Calibri"/>
                <a:cs typeface="Calibri"/>
              </a:rPr>
              <a:t> </a:t>
            </a:r>
            <a:r>
              <a:rPr sz="3400" spc="-95" dirty="0">
                <a:latin typeface="Calibri"/>
                <a:cs typeface="Calibri"/>
              </a:rPr>
              <a:t>features</a:t>
            </a:r>
            <a:r>
              <a:rPr sz="3400" spc="35" dirty="0">
                <a:latin typeface="Calibri"/>
                <a:cs typeface="Calibri"/>
              </a:rPr>
              <a:t> </a:t>
            </a:r>
            <a:r>
              <a:rPr sz="3400" spc="-120" dirty="0">
                <a:latin typeface="Calibri"/>
                <a:cs typeface="Calibri"/>
              </a:rPr>
              <a:t>previously</a:t>
            </a:r>
            <a:r>
              <a:rPr sz="3400" spc="25" dirty="0">
                <a:latin typeface="Calibri"/>
                <a:cs typeface="Calibri"/>
              </a:rPr>
              <a:t> </a:t>
            </a:r>
            <a:r>
              <a:rPr sz="3400" spc="-150" dirty="0">
                <a:latin typeface="Calibri"/>
                <a:cs typeface="Calibri"/>
              </a:rPr>
              <a:t>reserved</a:t>
            </a:r>
            <a:r>
              <a:rPr sz="3400" spc="65" dirty="0">
                <a:latin typeface="Calibri"/>
                <a:cs typeface="Calibri"/>
              </a:rPr>
              <a:t> </a:t>
            </a:r>
            <a:r>
              <a:rPr sz="3400" spc="-25" dirty="0">
                <a:latin typeface="Calibri"/>
                <a:cs typeface="Calibri"/>
              </a:rPr>
              <a:t>for </a:t>
            </a:r>
            <a:r>
              <a:rPr sz="3450" spc="-175" dirty="0">
                <a:latin typeface="Calibri"/>
                <a:cs typeface="Calibri"/>
              </a:rPr>
              <a:t>expensive</a:t>
            </a:r>
            <a:r>
              <a:rPr sz="3450" spc="-30" dirty="0">
                <a:latin typeface="Calibri"/>
                <a:cs typeface="Calibri"/>
              </a:rPr>
              <a:t> </a:t>
            </a:r>
            <a:r>
              <a:rPr sz="3450" spc="-220" dirty="0">
                <a:latin typeface="Calibri"/>
                <a:cs typeface="Calibri"/>
              </a:rPr>
              <a:t>hardware</a:t>
            </a:r>
            <a:r>
              <a:rPr sz="3450" spc="-180" dirty="0">
                <a:latin typeface="Calibri"/>
                <a:cs typeface="Calibri"/>
              </a:rPr>
              <a:t>,</a:t>
            </a:r>
            <a:r>
              <a:rPr sz="3450" spc="125" dirty="0">
                <a:latin typeface="Calibri"/>
                <a:cs typeface="Calibri"/>
              </a:rPr>
              <a:t> </a:t>
            </a:r>
            <a:r>
              <a:rPr sz="3450" spc="-145" dirty="0">
                <a:latin typeface="Calibri"/>
                <a:cs typeface="Calibri"/>
              </a:rPr>
              <a:t>providing</a:t>
            </a:r>
            <a:r>
              <a:rPr sz="3450" spc="165" dirty="0">
                <a:latin typeface="Calibri"/>
                <a:cs typeface="Calibri"/>
              </a:rPr>
              <a:t> </a:t>
            </a:r>
            <a:r>
              <a:rPr sz="3450" spc="-380" dirty="0">
                <a:latin typeface="Calibri"/>
                <a:cs typeface="Calibri"/>
              </a:rPr>
              <a:t>an</a:t>
            </a:r>
            <a:r>
              <a:rPr sz="3450" spc="185" dirty="0">
                <a:latin typeface="Calibri"/>
                <a:cs typeface="Calibri"/>
              </a:rPr>
              <a:t> </a:t>
            </a:r>
            <a:r>
              <a:rPr sz="3450" spc="-180" dirty="0">
                <a:latin typeface="Calibri"/>
                <a:cs typeface="Calibri"/>
              </a:rPr>
              <a:t>effective</a:t>
            </a:r>
            <a:r>
              <a:rPr sz="3450" spc="135" dirty="0">
                <a:latin typeface="Calibri"/>
                <a:cs typeface="Calibri"/>
              </a:rPr>
              <a:t> </a:t>
            </a:r>
            <a:r>
              <a:rPr sz="3450" spc="-210" dirty="0">
                <a:latin typeface="Calibri"/>
                <a:cs typeface="Calibri"/>
              </a:rPr>
              <a:t>and</a:t>
            </a:r>
            <a:r>
              <a:rPr sz="3450" spc="30" dirty="0">
                <a:latin typeface="Calibri"/>
                <a:cs typeface="Calibri"/>
              </a:rPr>
              <a:t> </a:t>
            </a:r>
            <a:r>
              <a:rPr sz="3450" spc="-70" dirty="0">
                <a:latin typeface="Calibri"/>
                <a:cs typeface="Calibri"/>
              </a:rPr>
              <a:t>accessible </a:t>
            </a:r>
            <a:r>
              <a:rPr sz="3550" spc="-200" dirty="0">
                <a:latin typeface="Calibri"/>
                <a:cs typeface="Calibri"/>
              </a:rPr>
              <a:t>security</a:t>
            </a:r>
            <a:r>
              <a:rPr sz="3550" spc="5" dirty="0">
                <a:latin typeface="Calibri"/>
                <a:cs typeface="Calibri"/>
              </a:rPr>
              <a:t> </a:t>
            </a:r>
            <a:r>
              <a:rPr sz="3550" spc="-65" dirty="0">
                <a:latin typeface="Calibri"/>
                <a:cs typeface="Calibri"/>
              </a:rPr>
              <a:t>solution.</a:t>
            </a:r>
            <a:endParaRPr sz="3550" dirty="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16107677" y="9462029"/>
            <a:ext cx="1237615" cy="219710"/>
          </a:xfrm>
          <a:prstGeom prst="rect">
            <a:avLst/>
          </a:prstGeom>
        </p:spPr>
        <p:txBody>
          <a:bodyPr vert="horz" wrap="square" lIns="0" tIns="0" rIns="0" bIns="0" rtlCol="0">
            <a:spAutoFit/>
          </a:bodyPr>
          <a:lstStyle/>
          <a:p>
            <a:pPr marL="12700">
              <a:lnSpc>
                <a:spcPts val="1545"/>
              </a:lnSpc>
            </a:pPr>
            <a:r>
              <a:rPr sz="1500" dirty="0">
                <a:latin typeface="Calibri"/>
                <a:cs typeface="Calibri"/>
              </a:rPr>
              <a:t>G</a:t>
            </a:r>
            <a:r>
              <a:rPr sz="1500" spc="100" dirty="0">
                <a:latin typeface="Calibri"/>
                <a:cs typeface="Calibri"/>
              </a:rPr>
              <a:t>  </a:t>
            </a:r>
            <a:r>
              <a:rPr sz="1500" spc="-25" dirty="0">
                <a:latin typeface="Calibri"/>
                <a:cs typeface="Calibri"/>
              </a:rPr>
              <a:t>NotebookLM</a:t>
            </a:r>
            <a:endParaRPr sz="1500">
              <a:latin typeface="Calibri"/>
              <a:cs typeface="Calibri"/>
            </a:endParaRPr>
          </a:p>
        </p:txBody>
      </p:sp>
      <p:sp>
        <p:nvSpPr>
          <p:cNvPr id="2" name="object 2"/>
          <p:cNvSpPr txBox="1">
            <a:spLocks noGrp="1"/>
          </p:cNvSpPr>
          <p:nvPr>
            <p:ph type="title"/>
          </p:nvPr>
        </p:nvSpPr>
        <p:spPr>
          <a:xfrm>
            <a:off x="1274460" y="690033"/>
            <a:ext cx="4530090" cy="1231900"/>
          </a:xfrm>
          <a:prstGeom prst="rect">
            <a:avLst/>
          </a:prstGeom>
        </p:spPr>
        <p:txBody>
          <a:bodyPr vert="horz" wrap="square" lIns="0" tIns="14604" rIns="0" bIns="0" rtlCol="0">
            <a:spAutoFit/>
          </a:bodyPr>
          <a:lstStyle/>
          <a:p>
            <a:pPr marL="12700">
              <a:lnSpc>
                <a:spcPct val="100000"/>
              </a:lnSpc>
              <a:spcBef>
                <a:spcPts val="114"/>
              </a:spcBef>
            </a:pPr>
            <a:r>
              <a:rPr sz="7900" spc="-30" dirty="0">
                <a:solidFill>
                  <a:srgbClr val="033B70"/>
                </a:solidFill>
                <a:latin typeface="Calibri"/>
                <a:cs typeface="Calibri"/>
              </a:rPr>
              <a:t>References</a:t>
            </a:r>
            <a:endParaRPr sz="7900">
              <a:latin typeface="Calibri"/>
              <a:cs typeface="Calibri"/>
            </a:endParaRPr>
          </a:p>
        </p:txBody>
      </p:sp>
      <p:sp>
        <p:nvSpPr>
          <p:cNvPr id="3" name="object 3"/>
          <p:cNvSpPr txBox="1"/>
          <p:nvPr/>
        </p:nvSpPr>
        <p:spPr>
          <a:xfrm>
            <a:off x="1298239" y="2553405"/>
            <a:ext cx="14729460" cy="5494655"/>
          </a:xfrm>
          <a:prstGeom prst="rect">
            <a:avLst/>
          </a:prstGeom>
        </p:spPr>
        <p:txBody>
          <a:bodyPr vert="horz" wrap="square" lIns="0" tIns="12065" rIns="0" bIns="0" rtlCol="0">
            <a:spAutoFit/>
          </a:bodyPr>
          <a:lstStyle/>
          <a:p>
            <a:pPr marL="674370" indent="-661670">
              <a:lnSpc>
                <a:spcPts val="5070"/>
              </a:lnSpc>
              <a:spcBef>
                <a:spcPts val="95"/>
              </a:spcBef>
              <a:buAutoNum type="arabicPeriod"/>
              <a:tabLst>
                <a:tab pos="674370" algn="l"/>
              </a:tabLst>
            </a:pPr>
            <a:r>
              <a:rPr sz="4450" spc="-315" dirty="0">
                <a:latin typeface="Calibri"/>
                <a:cs typeface="Calibri"/>
              </a:rPr>
              <a:t>Y.</a:t>
            </a:r>
            <a:r>
              <a:rPr sz="4450" spc="-114" dirty="0">
                <a:latin typeface="Calibri"/>
                <a:cs typeface="Calibri"/>
              </a:rPr>
              <a:t> </a:t>
            </a:r>
            <a:r>
              <a:rPr sz="4450" spc="-160" dirty="0">
                <a:latin typeface="Calibri"/>
                <a:cs typeface="Calibri"/>
              </a:rPr>
              <a:t>Chang</a:t>
            </a:r>
            <a:r>
              <a:rPr sz="4450" spc="-90" dirty="0">
                <a:latin typeface="Calibri"/>
                <a:cs typeface="Calibri"/>
              </a:rPr>
              <a:t> </a:t>
            </a:r>
            <a:r>
              <a:rPr sz="4450" spc="-190" dirty="0">
                <a:latin typeface="Calibri"/>
                <a:cs typeface="Calibri"/>
              </a:rPr>
              <a:t>et</a:t>
            </a:r>
            <a:r>
              <a:rPr sz="4450" spc="-235" dirty="0">
                <a:latin typeface="Calibri"/>
                <a:cs typeface="Calibri"/>
              </a:rPr>
              <a:t> </a:t>
            </a:r>
            <a:r>
              <a:rPr sz="4450" spc="-60" dirty="0">
                <a:latin typeface="Calibri"/>
                <a:cs typeface="Calibri"/>
              </a:rPr>
              <a:t>al.,’Design</a:t>
            </a:r>
            <a:r>
              <a:rPr sz="4450" spc="-125" dirty="0">
                <a:latin typeface="Calibri"/>
                <a:cs typeface="Calibri"/>
              </a:rPr>
              <a:t> </a:t>
            </a:r>
            <a:r>
              <a:rPr sz="4450" spc="-170" dirty="0">
                <a:latin typeface="Calibri"/>
                <a:cs typeface="Calibri"/>
              </a:rPr>
              <a:t>and </a:t>
            </a:r>
            <a:r>
              <a:rPr sz="4450" spc="-180" dirty="0">
                <a:latin typeface="Calibri"/>
                <a:cs typeface="Calibri"/>
              </a:rPr>
              <a:t>Implementation</a:t>
            </a:r>
            <a:r>
              <a:rPr sz="4450" spc="-310" dirty="0">
                <a:latin typeface="Calibri"/>
                <a:cs typeface="Calibri"/>
              </a:rPr>
              <a:t> </a:t>
            </a:r>
            <a:r>
              <a:rPr sz="4450" spc="-195" dirty="0">
                <a:latin typeface="Calibri"/>
                <a:cs typeface="Calibri"/>
              </a:rPr>
              <a:t>of</a:t>
            </a:r>
            <a:r>
              <a:rPr sz="4450" spc="-155" dirty="0">
                <a:latin typeface="Calibri"/>
                <a:cs typeface="Calibri"/>
              </a:rPr>
              <a:t> </a:t>
            </a:r>
            <a:r>
              <a:rPr sz="4450" spc="-180" dirty="0">
                <a:latin typeface="Calibri"/>
                <a:cs typeface="Calibri"/>
              </a:rPr>
              <a:t>ESP32-</a:t>
            </a:r>
            <a:r>
              <a:rPr sz="4450" spc="-110" dirty="0">
                <a:latin typeface="Calibri"/>
                <a:cs typeface="Calibri"/>
              </a:rPr>
              <a:t>Based</a:t>
            </a:r>
            <a:r>
              <a:rPr sz="4450" spc="150" dirty="0">
                <a:latin typeface="Calibri"/>
                <a:cs typeface="Calibri"/>
              </a:rPr>
              <a:t> </a:t>
            </a:r>
            <a:r>
              <a:rPr sz="4450" spc="-20" dirty="0">
                <a:latin typeface="Calibri"/>
                <a:cs typeface="Calibri"/>
              </a:rPr>
              <a:t>Edge</a:t>
            </a:r>
            <a:endParaRPr sz="4450">
              <a:latin typeface="Calibri"/>
              <a:cs typeface="Calibri"/>
            </a:endParaRPr>
          </a:p>
          <a:p>
            <a:pPr marL="681990">
              <a:lnSpc>
                <a:spcPts val="4950"/>
              </a:lnSpc>
            </a:pPr>
            <a:r>
              <a:rPr sz="4350" spc="-105" dirty="0">
                <a:latin typeface="Calibri"/>
                <a:cs typeface="Calibri"/>
              </a:rPr>
              <a:t>Computing</a:t>
            </a:r>
            <a:r>
              <a:rPr sz="4350" spc="90" dirty="0">
                <a:latin typeface="Calibri"/>
                <a:cs typeface="Calibri"/>
              </a:rPr>
              <a:t> </a:t>
            </a:r>
            <a:r>
              <a:rPr sz="4350" spc="-180" dirty="0">
                <a:latin typeface="Calibri"/>
                <a:cs typeface="Calibri"/>
              </a:rPr>
              <a:t>for</a:t>
            </a:r>
            <a:r>
              <a:rPr sz="4350" spc="-170" dirty="0">
                <a:latin typeface="Calibri"/>
                <a:cs typeface="Calibri"/>
              </a:rPr>
              <a:t> </a:t>
            </a:r>
            <a:r>
              <a:rPr sz="4350" spc="-150" dirty="0">
                <a:latin typeface="Calibri"/>
                <a:cs typeface="Calibri"/>
              </a:rPr>
              <a:t>Object</a:t>
            </a:r>
            <a:r>
              <a:rPr sz="4350" spc="-135" dirty="0">
                <a:latin typeface="Calibri"/>
                <a:cs typeface="Calibri"/>
              </a:rPr>
              <a:t> </a:t>
            </a:r>
            <a:r>
              <a:rPr sz="4350" spc="-100" dirty="0">
                <a:latin typeface="Calibri"/>
                <a:cs typeface="Calibri"/>
              </a:rPr>
              <a:t>Detection,’Sensors,</a:t>
            </a:r>
            <a:r>
              <a:rPr sz="4350" spc="-350" dirty="0">
                <a:latin typeface="Calibri"/>
                <a:cs typeface="Calibri"/>
              </a:rPr>
              <a:t> </a:t>
            </a:r>
            <a:r>
              <a:rPr sz="4350" spc="-10" dirty="0">
                <a:latin typeface="Calibri"/>
                <a:cs typeface="Calibri"/>
              </a:rPr>
              <a:t>2025.</a:t>
            </a:r>
            <a:endParaRPr sz="4350">
              <a:latin typeface="Calibri"/>
              <a:cs typeface="Calibri"/>
            </a:endParaRPr>
          </a:p>
          <a:p>
            <a:pPr marL="673735" indent="-657225">
              <a:lnSpc>
                <a:spcPts val="5060"/>
              </a:lnSpc>
              <a:spcBef>
                <a:spcPts val="1080"/>
              </a:spcBef>
              <a:buAutoNum type="arabicPeriod" startAt="2"/>
              <a:tabLst>
                <a:tab pos="673735" algn="l"/>
              </a:tabLst>
            </a:pPr>
            <a:r>
              <a:rPr sz="4350" spc="-275" dirty="0">
                <a:latin typeface="Calibri"/>
                <a:cs typeface="Calibri"/>
              </a:rPr>
              <a:t>P.</a:t>
            </a:r>
            <a:r>
              <a:rPr sz="4350" spc="-175" dirty="0">
                <a:latin typeface="Calibri"/>
                <a:cs typeface="Calibri"/>
              </a:rPr>
              <a:t> </a:t>
            </a:r>
            <a:r>
              <a:rPr sz="4350" spc="-225" dirty="0">
                <a:latin typeface="Calibri"/>
                <a:cs typeface="Calibri"/>
              </a:rPr>
              <a:t>Warden,</a:t>
            </a:r>
            <a:r>
              <a:rPr sz="4350" spc="-30" dirty="0">
                <a:latin typeface="Calibri"/>
                <a:cs typeface="Calibri"/>
              </a:rPr>
              <a:t> </a:t>
            </a:r>
            <a:r>
              <a:rPr sz="4350" i="1" spc="-265" dirty="0">
                <a:latin typeface="Calibri"/>
                <a:cs typeface="Calibri"/>
              </a:rPr>
              <a:t>TinyML:</a:t>
            </a:r>
            <a:r>
              <a:rPr sz="4350" i="1" spc="20" dirty="0">
                <a:latin typeface="Calibri"/>
                <a:cs typeface="Calibri"/>
              </a:rPr>
              <a:t> </a:t>
            </a:r>
            <a:r>
              <a:rPr sz="4350" i="1" spc="-270" dirty="0">
                <a:latin typeface="Calibri"/>
                <a:cs typeface="Calibri"/>
              </a:rPr>
              <a:t>Machine</a:t>
            </a:r>
            <a:r>
              <a:rPr sz="4350" i="1" spc="20" dirty="0">
                <a:latin typeface="Calibri"/>
                <a:cs typeface="Calibri"/>
              </a:rPr>
              <a:t> </a:t>
            </a:r>
            <a:r>
              <a:rPr sz="4350" i="1" spc="-120" dirty="0">
                <a:latin typeface="Calibri"/>
                <a:cs typeface="Calibri"/>
              </a:rPr>
              <a:t>Learning</a:t>
            </a:r>
            <a:r>
              <a:rPr sz="4350" i="1" spc="-45" dirty="0">
                <a:latin typeface="Calibri"/>
                <a:cs typeface="Calibri"/>
              </a:rPr>
              <a:t> </a:t>
            </a:r>
            <a:r>
              <a:rPr sz="4350" i="1" spc="-204" dirty="0">
                <a:latin typeface="Calibri"/>
                <a:cs typeface="Calibri"/>
              </a:rPr>
              <a:t>with</a:t>
            </a:r>
            <a:r>
              <a:rPr sz="4350" i="1" spc="-90" dirty="0">
                <a:latin typeface="Calibri"/>
                <a:cs typeface="Calibri"/>
              </a:rPr>
              <a:t> </a:t>
            </a:r>
            <a:r>
              <a:rPr sz="4350" i="1" spc="-180" dirty="0">
                <a:latin typeface="Calibri"/>
                <a:cs typeface="Calibri"/>
              </a:rPr>
              <a:t>TensorFlow</a:t>
            </a:r>
            <a:r>
              <a:rPr sz="4350" i="1" spc="180" dirty="0">
                <a:latin typeface="Calibri"/>
                <a:cs typeface="Calibri"/>
              </a:rPr>
              <a:t> </a:t>
            </a:r>
            <a:r>
              <a:rPr sz="4350" i="1" spc="-70" dirty="0">
                <a:latin typeface="Calibri"/>
                <a:cs typeface="Calibri"/>
              </a:rPr>
              <a:t>Lite,</a:t>
            </a:r>
            <a:r>
              <a:rPr sz="4350" i="1" spc="-395" dirty="0">
                <a:latin typeface="Calibri"/>
                <a:cs typeface="Calibri"/>
              </a:rPr>
              <a:t> </a:t>
            </a:r>
            <a:r>
              <a:rPr sz="4350" spc="-30" dirty="0">
                <a:latin typeface="Calibri"/>
                <a:cs typeface="Calibri"/>
              </a:rPr>
              <a:t>O'Reilly,</a:t>
            </a:r>
            <a:endParaRPr sz="4350">
              <a:latin typeface="Calibri"/>
              <a:cs typeface="Calibri"/>
            </a:endParaRPr>
          </a:p>
          <a:p>
            <a:pPr marL="665480">
              <a:lnSpc>
                <a:spcPts val="4880"/>
              </a:lnSpc>
            </a:pPr>
            <a:r>
              <a:rPr sz="4200" spc="-10" dirty="0">
                <a:latin typeface="Calibri"/>
                <a:cs typeface="Calibri"/>
              </a:rPr>
              <a:t>2019.</a:t>
            </a:r>
            <a:endParaRPr sz="4200">
              <a:latin typeface="Calibri"/>
              <a:cs typeface="Calibri"/>
            </a:endParaRPr>
          </a:p>
          <a:p>
            <a:pPr marL="673100" indent="-654050">
              <a:lnSpc>
                <a:spcPts val="5045"/>
              </a:lnSpc>
              <a:spcBef>
                <a:spcPts val="1010"/>
              </a:spcBef>
              <a:buAutoNum type="arabicPeriod" startAt="3"/>
              <a:tabLst>
                <a:tab pos="673100" algn="l"/>
              </a:tabLst>
            </a:pPr>
            <a:r>
              <a:rPr sz="4450" spc="-140" dirty="0">
                <a:latin typeface="Calibri"/>
                <a:cs typeface="Calibri"/>
              </a:rPr>
              <a:t>Espressif</a:t>
            </a:r>
            <a:r>
              <a:rPr sz="4450" spc="65" dirty="0">
                <a:latin typeface="Calibri"/>
                <a:cs typeface="Calibri"/>
              </a:rPr>
              <a:t> </a:t>
            </a:r>
            <a:r>
              <a:rPr sz="4450" spc="-185" dirty="0">
                <a:latin typeface="Calibri"/>
                <a:cs typeface="Calibri"/>
              </a:rPr>
              <a:t>Systems,</a:t>
            </a:r>
            <a:r>
              <a:rPr sz="4450" spc="-65" dirty="0">
                <a:latin typeface="Calibri"/>
                <a:cs typeface="Calibri"/>
              </a:rPr>
              <a:t> </a:t>
            </a:r>
            <a:r>
              <a:rPr sz="4450" spc="-245" dirty="0">
                <a:latin typeface="Calibri"/>
                <a:cs typeface="Calibri"/>
              </a:rPr>
              <a:t>‘ESP32-</a:t>
            </a:r>
            <a:r>
              <a:rPr sz="4450" spc="-355" dirty="0">
                <a:latin typeface="Calibri"/>
                <a:cs typeface="Calibri"/>
              </a:rPr>
              <a:t>CAM</a:t>
            </a:r>
            <a:r>
              <a:rPr sz="4450" spc="229" dirty="0">
                <a:latin typeface="Calibri"/>
                <a:cs typeface="Calibri"/>
              </a:rPr>
              <a:t> </a:t>
            </a:r>
            <a:r>
              <a:rPr sz="4450" spc="-275" dirty="0">
                <a:latin typeface="Calibri"/>
                <a:cs typeface="Calibri"/>
              </a:rPr>
              <a:t>Audio/Video</a:t>
            </a:r>
            <a:r>
              <a:rPr sz="4450" spc="260" dirty="0">
                <a:latin typeface="Calibri"/>
                <a:cs typeface="Calibri"/>
              </a:rPr>
              <a:t> </a:t>
            </a:r>
            <a:r>
              <a:rPr sz="4450" spc="-180" dirty="0">
                <a:latin typeface="Calibri"/>
                <a:cs typeface="Calibri"/>
              </a:rPr>
              <a:t>Streaming</a:t>
            </a:r>
            <a:r>
              <a:rPr sz="4450" spc="10" dirty="0">
                <a:latin typeface="Calibri"/>
                <a:cs typeface="Calibri"/>
              </a:rPr>
              <a:t> </a:t>
            </a:r>
            <a:r>
              <a:rPr sz="4450" spc="-30" dirty="0">
                <a:latin typeface="Calibri"/>
                <a:cs typeface="Calibri"/>
              </a:rPr>
              <a:t>Protocols,’</a:t>
            </a:r>
            <a:endParaRPr sz="4450">
              <a:latin typeface="Calibri"/>
              <a:cs typeface="Calibri"/>
            </a:endParaRPr>
          </a:p>
          <a:p>
            <a:pPr marL="688340">
              <a:lnSpc>
                <a:spcPts val="5045"/>
              </a:lnSpc>
            </a:pPr>
            <a:r>
              <a:rPr sz="4450" i="1" spc="-210" dirty="0">
                <a:latin typeface="Calibri"/>
                <a:cs typeface="Calibri"/>
              </a:rPr>
              <a:t>Technical</a:t>
            </a:r>
            <a:r>
              <a:rPr sz="4450" i="1" spc="-15" dirty="0">
                <a:latin typeface="Calibri"/>
                <a:cs typeface="Calibri"/>
              </a:rPr>
              <a:t> </a:t>
            </a:r>
            <a:r>
              <a:rPr sz="4450" i="1" spc="-215" dirty="0">
                <a:latin typeface="Calibri"/>
                <a:cs typeface="Calibri"/>
              </a:rPr>
              <a:t>Reference,</a:t>
            </a:r>
            <a:r>
              <a:rPr sz="4450" i="1" spc="-180" dirty="0">
                <a:latin typeface="Calibri"/>
                <a:cs typeface="Calibri"/>
              </a:rPr>
              <a:t> </a:t>
            </a:r>
            <a:r>
              <a:rPr sz="4450" spc="-10" dirty="0">
                <a:latin typeface="Calibri"/>
                <a:cs typeface="Calibri"/>
              </a:rPr>
              <a:t>2023.</a:t>
            </a:r>
            <a:endParaRPr sz="4450">
              <a:latin typeface="Calibri"/>
              <a:cs typeface="Calibri"/>
            </a:endParaRPr>
          </a:p>
          <a:p>
            <a:pPr marL="673735" indent="-651510">
              <a:lnSpc>
                <a:spcPts val="5085"/>
              </a:lnSpc>
              <a:spcBef>
                <a:spcPts val="1060"/>
              </a:spcBef>
              <a:buAutoNum type="arabicPeriod" startAt="4"/>
              <a:tabLst>
                <a:tab pos="673735" algn="l"/>
              </a:tabLst>
            </a:pPr>
            <a:r>
              <a:rPr sz="4350" spc="-100" dirty="0">
                <a:latin typeface="Calibri"/>
                <a:cs typeface="Calibri"/>
              </a:rPr>
              <a:t>Banbury</a:t>
            </a:r>
            <a:r>
              <a:rPr sz="4350" spc="-150" dirty="0">
                <a:latin typeface="Calibri"/>
                <a:cs typeface="Calibri"/>
              </a:rPr>
              <a:t> </a:t>
            </a:r>
            <a:r>
              <a:rPr sz="4350" spc="-155" dirty="0">
                <a:latin typeface="Calibri"/>
                <a:cs typeface="Calibri"/>
              </a:rPr>
              <a:t>et</a:t>
            </a:r>
            <a:r>
              <a:rPr sz="4350" spc="-229" dirty="0">
                <a:latin typeface="Calibri"/>
                <a:cs typeface="Calibri"/>
              </a:rPr>
              <a:t> </a:t>
            </a:r>
            <a:r>
              <a:rPr sz="4350" spc="-175" dirty="0">
                <a:latin typeface="Calibri"/>
                <a:cs typeface="Calibri"/>
              </a:rPr>
              <a:t>at.,”Wake</a:t>
            </a:r>
            <a:r>
              <a:rPr sz="4350" spc="15" dirty="0">
                <a:latin typeface="Calibri"/>
                <a:cs typeface="Calibri"/>
              </a:rPr>
              <a:t> </a:t>
            </a:r>
            <a:r>
              <a:rPr sz="4350" spc="-145" dirty="0">
                <a:latin typeface="Calibri"/>
                <a:cs typeface="Calibri"/>
              </a:rPr>
              <a:t>Vision:</a:t>
            </a:r>
            <a:r>
              <a:rPr sz="4350" spc="-70" dirty="0">
                <a:latin typeface="Calibri"/>
                <a:cs typeface="Calibri"/>
              </a:rPr>
              <a:t> </a:t>
            </a:r>
            <a:r>
              <a:rPr sz="4350" spc="-254" dirty="0">
                <a:latin typeface="Calibri"/>
                <a:cs typeface="Calibri"/>
              </a:rPr>
              <a:t>A</a:t>
            </a:r>
            <a:r>
              <a:rPr sz="4350" spc="-120" dirty="0">
                <a:latin typeface="Calibri"/>
                <a:cs typeface="Calibri"/>
              </a:rPr>
              <a:t> </a:t>
            </a:r>
            <a:r>
              <a:rPr sz="4350" spc="-155" dirty="0">
                <a:latin typeface="Calibri"/>
                <a:cs typeface="Calibri"/>
              </a:rPr>
              <a:t>Tailored</a:t>
            </a:r>
            <a:r>
              <a:rPr sz="4350" spc="-40" dirty="0">
                <a:latin typeface="Calibri"/>
                <a:cs typeface="Calibri"/>
              </a:rPr>
              <a:t> </a:t>
            </a:r>
            <a:r>
              <a:rPr sz="4350" spc="-145" dirty="0">
                <a:latin typeface="Calibri"/>
                <a:cs typeface="Calibri"/>
              </a:rPr>
              <a:t>Dataset</a:t>
            </a:r>
            <a:r>
              <a:rPr sz="4350" spc="-75" dirty="0">
                <a:latin typeface="Calibri"/>
                <a:cs typeface="Calibri"/>
              </a:rPr>
              <a:t> </a:t>
            </a:r>
            <a:r>
              <a:rPr sz="4350" spc="-180" dirty="0">
                <a:latin typeface="Calibri"/>
                <a:cs typeface="Calibri"/>
              </a:rPr>
              <a:t>for</a:t>
            </a:r>
            <a:r>
              <a:rPr sz="4350" spc="-85" dirty="0">
                <a:latin typeface="Calibri"/>
                <a:cs typeface="Calibri"/>
              </a:rPr>
              <a:t> </a:t>
            </a:r>
            <a:r>
              <a:rPr sz="4350" spc="-160" dirty="0">
                <a:latin typeface="Calibri"/>
                <a:cs typeface="Calibri"/>
              </a:rPr>
              <a:t>TinyML,’</a:t>
            </a:r>
            <a:r>
              <a:rPr sz="4350" spc="-25" dirty="0">
                <a:latin typeface="Calibri"/>
                <a:cs typeface="Calibri"/>
              </a:rPr>
              <a:t> </a:t>
            </a:r>
            <a:r>
              <a:rPr sz="4350" i="1" spc="-10" dirty="0">
                <a:latin typeface="Calibri"/>
                <a:cs typeface="Calibri"/>
              </a:rPr>
              <a:t>arXiv,</a:t>
            </a:r>
            <a:endParaRPr sz="4350">
              <a:latin typeface="Calibri"/>
              <a:cs typeface="Calibri"/>
            </a:endParaRPr>
          </a:p>
          <a:p>
            <a:pPr marL="666115">
              <a:lnSpc>
                <a:spcPts val="4785"/>
              </a:lnSpc>
            </a:pPr>
            <a:r>
              <a:rPr sz="4100" spc="-10" dirty="0">
                <a:latin typeface="Calibri"/>
                <a:cs typeface="Calibri"/>
              </a:rPr>
              <a:t>2024.</a:t>
            </a:r>
            <a:endParaRPr sz="4100">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E5F5F-763B-0383-4C1E-FBB82DD8133C}"/>
              </a:ext>
            </a:extLst>
          </p:cNvPr>
          <p:cNvSpPr>
            <a:spLocks noGrp="1"/>
          </p:cNvSpPr>
          <p:nvPr>
            <p:ph type="title"/>
          </p:nvPr>
        </p:nvSpPr>
        <p:spPr>
          <a:xfrm>
            <a:off x="1667516" y="1219200"/>
            <a:ext cx="15702632" cy="669414"/>
          </a:xfrm>
        </p:spPr>
        <p:txBody>
          <a:bodyPr/>
          <a:lstStyle/>
          <a:p>
            <a:r>
              <a:rPr lang="en-US" dirty="0"/>
              <a:t>Feedback </a:t>
            </a:r>
            <a:endParaRPr lang="en-PK" dirty="0"/>
          </a:p>
        </p:txBody>
      </p:sp>
      <p:sp>
        <p:nvSpPr>
          <p:cNvPr id="3" name="Text Placeholder 2">
            <a:extLst>
              <a:ext uri="{FF2B5EF4-FFF2-40B4-BE49-F238E27FC236}">
                <a16:creationId xmlns:a16="http://schemas.microsoft.com/office/drawing/2014/main" id="{CE4CA884-34F2-203C-7149-EE07FAA5486F}"/>
              </a:ext>
            </a:extLst>
          </p:cNvPr>
          <p:cNvSpPr>
            <a:spLocks noGrp="1"/>
          </p:cNvSpPr>
          <p:nvPr>
            <p:ph type="body" idx="1"/>
          </p:nvPr>
        </p:nvSpPr>
        <p:spPr>
          <a:xfrm>
            <a:off x="1647196" y="2678906"/>
            <a:ext cx="13338804" cy="2585323"/>
          </a:xfrm>
        </p:spPr>
        <p:txBody>
          <a:bodyPr/>
          <a:lstStyle/>
          <a:p>
            <a:r>
              <a:rPr lang="en-US" sz="2800" dirty="0"/>
              <a:t>Overall project was good, but Advisor advised  to also include the audio threat recognition part in your intrusion detection system he advised not to go onto doorbell system but to stick onto intrusion system he said the audio threat recognition system would work on machine learning threat recognition on edge device furthermore the co advisor advised us on to efficiently utilize the resources of our esp32 and try out different Edge AI models on microcontroller</a:t>
            </a:r>
            <a:endParaRPr lang="en-PK" sz="2800" dirty="0"/>
          </a:p>
        </p:txBody>
      </p:sp>
    </p:spTree>
    <p:extLst>
      <p:ext uri="{BB962C8B-B14F-4D97-AF65-F5344CB8AC3E}">
        <p14:creationId xmlns:p14="http://schemas.microsoft.com/office/powerpoint/2010/main" val="19363964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1514</TotalTime>
  <Words>1288</Words>
  <Application>Microsoft Office PowerPoint</Application>
  <PresentationFormat>Custom</PresentationFormat>
  <Paragraphs>168</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 MT</vt:lpstr>
      <vt:lpstr>Calibri</vt:lpstr>
      <vt:lpstr>Times New Roman</vt:lpstr>
      <vt:lpstr>Office Theme</vt:lpstr>
      <vt:lpstr>EagleEye: A TinyML Voice-Based Smart Intrusion Detection System A Privacy-Preserving, Hybrid Edge-Cloud Security Solution</vt:lpstr>
      <vt:lpstr>Home Security Today Faces a Critical Gap in Both Interaction and Evidence</vt:lpstr>
      <vt:lpstr>PowerPoint Presentation</vt:lpstr>
      <vt:lpstr>The Technical Barrier: Affordable Edge Devices Cannot Handle AI and Live Streaming Simultaneously</vt:lpstr>
      <vt:lpstr>Our Breakthrough Is a State Machine That Intelligently Switches Device Functionality</vt:lpstr>
      <vt:lpstr>This Logic Enables “EagIeEye^. Affordable, Full-Featured Security Node</vt:lpstr>
      <vt:lpstr>System Architecture: A Step-by-Step Flow from Detection to Deterrence</vt:lpstr>
      <vt:lpstr>Carving Our Niche: How EagleEye Differs from Existing Solutions</vt:lpstr>
      <vt:lpstr>The Hardware Stack Is Optimised for Low Power and High-Quality Audio</vt:lpstr>
      <vt:lpstr>Broader Impact: Contributing to Safer, More Sustainable Communities</vt:lpstr>
      <vt:lpstr>Our Team Possesses a Balanced Skillset Covering All Project Domains</vt:lpstr>
      <vt:lpstr>The Total Project Cost Is Well Within the Approved Budget</vt:lpstr>
      <vt:lpstr>In Summary: We Are Delivering an Intelligent System Built on a Novel Approach to Resource Management</vt:lpstr>
      <vt:lpstr>References</vt:lpstr>
      <vt:lpstr>Feedback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bsce22004</cp:lastModifiedBy>
  <cp:revision>7</cp:revision>
  <dcterms:created xsi:type="dcterms:W3CDTF">2025-11-28T19:47:46Z</dcterms:created>
  <dcterms:modified xsi:type="dcterms:W3CDTF">2025-12-15T10:26:41Z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2025-11-28T00:00:00Z</vt:filetime>
  </property>
  <property fmtid="{D5CDD505-2E9C-101B-9397-08002B2CF9AE}" pid="3" name="LastSaved">
    <vt:filetime>2025-11-28T00:00:00Z</vt:filetime>
  </property>
</Properties>
</file>