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4392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000" y="720000"/>
            <a:ext cx="5472000" cy="29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31" y="972000"/>
            <a:ext cx="4582536" cy="24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8000" y="432000"/>
            <a:ext cx="10368000" cy="3672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l">
              <a:spcAft>
                <a:spcPts val="200"/>
              </a:spcAft>
            </a:pPr>
            <a:r>
              <a:rPr sz="7000" b="1" i="0">
                <a:solidFill>
                  <a:srgbClr val="FFFFFF"/>
                </a:solidFill>
                <a:latin typeface="Calibri"/>
              </a:rPr>
              <a:t>EagleEye</a:t>
            </a:r>
          </a:p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AF4FF"/>
                </a:solidFill>
                <a:latin typeface="Calibri"/>
              </a:rPr>
              <a:t>Intelligent Edge AI Surveillance System</a:t>
            </a:r>
          </a:p>
          <a:p>
            <a:pPr algn="l"/>
            <a:r>
              <a:rPr sz="1600" b="0" i="1">
                <a:solidFill>
                  <a:srgbClr val="FFFFFF"/>
                </a:solidFill>
                <a:latin typeface="Calibri"/>
              </a:rPr>
              <a:t>On-device AI   ·   Cloud-connected   ·   Watch your space from anywhere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20000" y="720000"/>
            <a:ext cx="3960000" cy="2952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25400">
            <a:solidFill>
              <a:srgbClr val="2196F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92000" y="720000"/>
            <a:ext cx="3816000" cy="2952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SparkUp / ORIC</a:t>
            </a:r>
          </a:p>
          <a:p>
            <a:pPr algn="ctr">
              <a:spcAft>
                <a:spcPts val="2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logo</a:t>
            </a:r>
          </a:p>
          <a:p>
            <a:pPr algn="ctr"/>
            <a:r>
              <a:rPr sz="1050" b="0" i="0">
                <a:solidFill>
                  <a:srgbClr val="555555"/>
                </a:solidFill>
                <a:latin typeface="Consolas"/>
              </a:rPr>
              <a:t>assets/sparkup_logo.png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392000"/>
            <a:ext cx="21384000" cy="1512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4392000"/>
            <a:ext cx="20808000" cy="1512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Murtaza Khalid (BSCE22004)      ·      Huzaifa Khan (BSCE22025)      ·      Haseeb Ahmed (BSCE22048)</a:t>
            </a:r>
          </a:p>
          <a:p>
            <a:pPr algn="ctr"/>
            <a:r>
              <a:rPr sz="1350" b="0" i="0">
                <a:solidFill>
                  <a:srgbClr val="FFFFFF"/>
                </a:solidFill>
                <a:latin typeface="Calibri"/>
              </a:rPr>
              <a:t>Supervisor: Dr. Rehan Hafiz   ·   Co-Supervisor: Dr. Rehan Ahmed   ·   Dept. of Computer &amp; Software Engineering, Information Technology University (ITU), Lahore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00" y="6336000"/>
            <a:ext cx="8280000" cy="54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6336000"/>
            <a:ext cx="8136000" cy="54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① 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7056000"/>
            <a:ext cx="8280000" cy="2520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Security cameras force a bad trade-off: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Cloud cams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stream your footage to a company's servers — privacy risk + monthly fees.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LAN / DIY cams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work only on the same Wi-Fi — typed IP, a PC left on, risky port-forwarding.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Most </a:t>
            </a:r>
            <a:r>
              <a:rPr sz="1600" b="1" i="0">
                <a:solidFill>
                  <a:srgbClr val="1F4E79"/>
                </a:solidFill>
                <a:latin typeface="Calibri"/>
              </a:rPr>
              <a:t>record everything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— real events buried in hours of empty video.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000" y="9648000"/>
            <a:ext cx="8280000" cy="648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5875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000" y="9648000"/>
            <a:ext cx="8280000" cy="648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/>
            <a:r>
              <a:rPr sz="1500" b="1" i="0">
                <a:solidFill>
                  <a:srgbClr val="2196F3"/>
                </a:solidFill>
                <a:latin typeface="Calibri"/>
              </a:rPr>
              <a:t>Goal: 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see real intrusions — anywhere, privately, no subscription.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" y="10656000"/>
            <a:ext cx="8280000" cy="54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10656000"/>
            <a:ext cx="8136000" cy="54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② 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" y="11376000"/>
            <a:ext cx="8280000" cy="309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EagleEye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runs a neural network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on the camera itself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. A low-cost ESP32-CAM decides on-device whether a human is present — images are analysed locally, never streamed to the cloud.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On an intruder it pushes a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photo alert to your phone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; you can open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live video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and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pan the camera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— from any network (Wi-Fi or 4G/LTE).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The camera </a:t>
            </a:r>
            <a:r>
              <a:rPr sz="1600" b="1" i="0">
                <a:solidFill>
                  <a:srgbClr val="2196F3"/>
                </a:solidFill>
                <a:latin typeface="Calibri"/>
              </a:rPr>
              <a:t>reaches OUT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to the cloud — no static IP, no port-forwarding, no on-site PC. Encrypted end-to-end; runs on free tiers.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000" y="14112000"/>
            <a:ext cx="8280000" cy="6408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hardware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00" y="14220000"/>
            <a:ext cx="5904000" cy="590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4000" y="20088000"/>
            <a:ext cx="8280000" cy="39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EagleEye node — ESP32-CAM in a 3D-printed mount  ·  swap for a real photo (assets/prototype_photo.jpg)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000" y="20952000"/>
            <a:ext cx="8280000" cy="54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" y="20952000"/>
            <a:ext cx="8136000" cy="54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③ 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21672000"/>
            <a:ext cx="8280000" cy="3960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On-device human detection  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— TinyML; images never leave the device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Instant intruder alerts  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— captured photo pushed to your phone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On-demand remote live video  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— stream only when you ask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App-controlled camera pan  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— servo aim from the app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Arm / disarm + true online status  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— real online/offline, not guesswork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Encrypted &amp; private  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— TLS everywhere, per-device credentials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~$10 hardware  ·  $0/month cloud  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— entire stack on free tiers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000" y="25200000"/>
            <a:ext cx="8280000" cy="2880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000" y="25308000"/>
            <a:ext cx="8064000" cy="2664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IMPACT &amp; SUSTAINABILITY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Affordable AI security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— ~$10 vs $200+ systems democratizes safety for low-income homes  (SDG 9 · 11).</a:t>
            </a:r>
          </a:p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Privacy by design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— only confirmed threats ever leave the device  (SDG 16).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16000" y="6336000"/>
            <a:ext cx="11664000" cy="54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8000" y="6336000"/>
            <a:ext cx="11520000" cy="54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④ 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6000" y="7056000"/>
            <a:ext cx="3240000" cy="324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SITE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92000" y="7056000"/>
            <a:ext cx="4392000" cy="324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576000" y="7056000"/>
            <a:ext cx="2304000" cy="324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ANYWHERE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16000" y="7452000"/>
            <a:ext cx="3240000" cy="3312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6000" y="7452000"/>
            <a:ext cx="3240000" cy="3312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ESP32-CAM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On-device AI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Servo pan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Captures JPEG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2528000" y="8820000"/>
            <a:ext cx="792000" cy="576000"/>
          </a:xfrm>
          <a:prstGeom prst="rightArrow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4000" y="8316000"/>
            <a:ext cx="1080000" cy="324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TLS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392000" y="745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392000" y="7452000"/>
            <a:ext cx="4392000" cy="936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HiveMQ — MQTT broker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392000" y="8604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392000" y="8604000"/>
            <a:ext cx="4392000" cy="936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Cloudinary  ·  Firebase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392000" y="9756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392000" y="9756000"/>
            <a:ext cx="4392000" cy="936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Deno relay (live video)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7784000" y="8820000"/>
            <a:ext cx="792000" cy="576000"/>
          </a:xfrm>
          <a:prstGeom prst="rightArrow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12000" y="8316000"/>
            <a:ext cx="1080000" cy="324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wss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720000" y="7452000"/>
            <a:ext cx="2304000" cy="3312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20000" y="7452000"/>
            <a:ext cx="2304000" cy="3312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Phone app</a:t>
            </a:r>
          </a:p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55555"/>
                </a:solidFill>
                <a:latin typeface="Calibri"/>
              </a:rPr>
              <a:t>React Native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Alerts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Live view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Pan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6000" y="10980000"/>
            <a:ext cx="11664000" cy="864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The camera reaches OUT to the cloud; the phone reaches the same cloud — they meet in the middle.</a:t>
            </a:r>
          </a:p>
          <a:p>
            <a:pPr algn="ctr"/>
            <a:r>
              <a:rPr sz="1250" b="0" i="1">
                <a:solidFill>
                  <a:srgbClr val="555555"/>
                </a:solidFill>
                <a:latin typeface="Calibri"/>
              </a:rPr>
              <a:t>Works on any network  ·  no static IP  ·  no port-forwarding  ·  no on-site PC  ·  end-to-end TLS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6000" y="12528000"/>
            <a:ext cx="11664000" cy="54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8000" y="12528000"/>
            <a:ext cx="11520000" cy="54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⑤ 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16000" y="13248000"/>
            <a:ext cx="2016000" cy="1080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5875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6000" y="13248000"/>
            <a:ext cx="2016000" cy="108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Calibri"/>
              </a:rPr>
              <a:t>Capture frame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232000" y="13608000"/>
            <a:ext cx="288000" cy="360000"/>
          </a:xfrm>
          <a:prstGeom prst="rightArrow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520000" y="13248000"/>
            <a:ext cx="2016000" cy="1080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5875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520000" y="13248000"/>
            <a:ext cx="2016000" cy="108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Calibri"/>
              </a:rPr>
              <a:t>AI: human?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13536000" y="13608000"/>
            <a:ext cx="288000" cy="360000"/>
          </a:xfrm>
          <a:prstGeom prst="rightArrow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3824000" y="13248000"/>
            <a:ext cx="2016000" cy="1080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5875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824000" y="13248000"/>
            <a:ext cx="2016000" cy="108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Calibri"/>
              </a:rPr>
              <a:t>Snap JPEG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15840000" y="13608000"/>
            <a:ext cx="288000" cy="360000"/>
          </a:xfrm>
          <a:prstGeom prst="rightArrow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6128000" y="13248000"/>
            <a:ext cx="2016000" cy="1080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5875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128000" y="13248000"/>
            <a:ext cx="2016000" cy="108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Calibri"/>
              </a:rPr>
              <a:t>Upload + Alert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18144000" y="13608000"/>
            <a:ext cx="288000" cy="360000"/>
          </a:xfrm>
          <a:prstGeom prst="rightArrow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8432000" y="13248000"/>
            <a:ext cx="2016000" cy="1080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5875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432000" y="13248000"/>
            <a:ext cx="2016000" cy="108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Calibri"/>
              </a:rPr>
              <a:t>Phone push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16000" y="14472000"/>
            <a:ext cx="11664000" cy="432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On request → </a:t>
            </a:r>
            <a:r>
              <a:rPr sz="1400" b="1" i="0">
                <a:solidFill>
                  <a:srgbClr val="2196F3"/>
                </a:solidFill>
                <a:latin typeface="Calibri"/>
              </a:rPr>
              <a:t>live video via cloud relay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      |      No human → keep watching  (only confirmed humans trigger an alert).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16000" y="14976000"/>
            <a:ext cx="11664000" cy="54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88000" y="14976000"/>
            <a:ext cx="11520000" cy="54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⑥ 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RESULTS &amp; TECH STACK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16000" y="15696000"/>
            <a:ext cx="3696000" cy="1872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16000" y="15804000"/>
            <a:ext cx="3696000" cy="1728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1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90.8%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55555"/>
                </a:solidFill>
                <a:latin typeface="Calibri"/>
              </a:rPr>
              <a:t>detection accuracy (test; 87.5% human recall)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200000" y="15696000"/>
            <a:ext cx="3696000" cy="1872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200000" y="15804000"/>
            <a:ext cx="3696000" cy="1728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1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&lt;1 s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55555"/>
                </a:solidFill>
                <a:latin typeface="Calibri"/>
              </a:rPr>
              <a:t>on-device inference (~872 ms, ESP32-CAM)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7184000" y="15696000"/>
            <a:ext cx="3696000" cy="1872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184000" y="15804000"/>
            <a:ext cx="3696000" cy="1728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1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&lt;3 s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55555"/>
                </a:solidFill>
                <a:latin typeface="Calibri"/>
              </a:rPr>
              <a:t>detection → phone alert (end-to-end)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16000" y="17856000"/>
            <a:ext cx="3696000" cy="1872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16000" y="17964000"/>
            <a:ext cx="3696000" cy="1728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1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18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55555"/>
                </a:solidFill>
                <a:latin typeface="Calibri"/>
              </a:rPr>
              <a:t>model versions (v1.0 → v7.17)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200000" y="17856000"/>
            <a:ext cx="3696000" cy="1872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200000" y="17964000"/>
            <a:ext cx="3696000" cy="1728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1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~$10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55555"/>
                </a:solidFill>
                <a:latin typeface="Calibri"/>
              </a:rPr>
              <a:t>device vs $200+ · $0/month cloud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7184000" y="17856000"/>
            <a:ext cx="3696000" cy="1872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7184000" y="17964000"/>
            <a:ext cx="3696000" cy="1728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1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100%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55555"/>
                </a:solidFill>
                <a:latin typeface="Calibri"/>
              </a:rPr>
              <a:t>private — frames stay on device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16000" y="19944000"/>
            <a:ext cx="11664000" cy="93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Tech stack: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ESP32-CAM · Edge Impulse (TinyML) · MQTT / HiveMQ · Cloudinary · Firebase · Deno relay · React Native + Expo · TLS / WebSocket</a:t>
            </a:r>
          </a:p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1F4E79"/>
                </a:solidFill>
                <a:latin typeface="Calibri"/>
              </a:rPr>
              <a:t>Why it's novel: 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Edge AI on a microcontroller (privacy + zero inference cost) + an outbound-only architecture that works on any network — the pattern commercial IoT (AWS IoT, Ring/Nest) uses, rebuilt at $0/month.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216000" y="21024000"/>
            <a:ext cx="3696000" cy="432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local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000" y="21300000"/>
            <a:ext cx="3480000" cy="34800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216000" y="24912000"/>
            <a:ext cx="3696000" cy="39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Detection pipeline (on-device)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3200000" y="21024000"/>
            <a:ext cx="3696000" cy="4320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25400">
            <a:solidFill>
              <a:srgbClr val="2196F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272000" y="21024000"/>
            <a:ext cx="3552000" cy="432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App screenshot</a:t>
            </a:r>
          </a:p>
          <a:p>
            <a:pPr algn="ctr">
              <a:spcAft>
                <a:spcPts val="2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dashboard / live view</a:t>
            </a:r>
          </a:p>
          <a:p>
            <a:pPr algn="ctr"/>
            <a:r>
              <a:rPr sz="1050" b="0" i="0">
                <a:solidFill>
                  <a:srgbClr val="555555"/>
                </a:solidFill>
                <a:latin typeface="Consolas"/>
              </a:rPr>
              <a:t>assets/app_screenshot.png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7184000" y="21024000"/>
            <a:ext cx="3696000" cy="4320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25400">
            <a:solidFill>
              <a:srgbClr val="2196F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256000" y="21024000"/>
            <a:ext cx="3552000" cy="4320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Real detection</a:t>
            </a:r>
          </a:p>
          <a:p>
            <a:pPr algn="ctr">
              <a:spcAft>
                <a:spcPts val="2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one clean capture</a:t>
            </a:r>
          </a:p>
          <a:p>
            <a:pPr algn="ctr"/>
            <a:r>
              <a:rPr sz="1050" b="0" i="0">
                <a:solidFill>
                  <a:srgbClr val="555555"/>
                </a:solidFill>
                <a:latin typeface="Consolas"/>
              </a:rPr>
              <a:t>assets/detection_sample.jpg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2000" y="28800000"/>
            <a:ext cx="16920000" cy="1476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196F3"/>
                </a:solidFill>
                <a:latin typeface="Calibri"/>
              </a:rPr>
              <a:t>Team: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Murtaza Khalid (BSCE22004) · Huzaifa Khan (BSCE22025) · Haseeb Ahmed (BSCE22048)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196F3"/>
                </a:solidFill>
                <a:latin typeface="Calibri"/>
              </a:rPr>
              <a:t>Supervisor: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Dr. Rehan Hafiz</a:t>
            </a:r>
            <a:r>
              <a:rPr sz="1200" b="1" i="0">
                <a:solidFill>
                  <a:srgbClr val="2196F3"/>
                </a:solidFill>
                <a:latin typeface="Calibri"/>
              </a:rPr>
              <a:t>     Co-Supervisor: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Dr. Rehan Ahmed</a:t>
            </a:r>
          </a:p>
          <a:p>
            <a:pPr algn="l"/>
            <a:r>
              <a:rPr sz="1100" b="0" i="0">
                <a:solidFill>
                  <a:srgbClr val="EAF4FF"/>
                </a:solidFill>
                <a:latin typeface="Calibri"/>
              </a:rPr>
              <a:t>Dept. of Computer &amp; Software Engineering, ITU Lahore   ·   SparkUp Innovation Summit 2026 (19 June 2026)   ·   UN SDG 9 · 11 · 16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8360000" y="28944000"/>
            <a:ext cx="126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qr_re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32000" y="29016000"/>
            <a:ext cx="1116000" cy="11160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8216000" y="30168000"/>
            <a:ext cx="1548000" cy="288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GitHub repo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9872000" y="28944000"/>
            <a:ext cx="1332000" cy="11880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25400">
            <a:solidFill>
              <a:srgbClr val="2196F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9944000" y="28944000"/>
            <a:ext cx="1188000" cy="1188000"/>
          </a:xfrm>
          <a:prstGeom prst="rect">
            <a:avLst/>
          </a:prstGeom>
          <a:noFill/>
        </p:spPr>
        <p:txBody>
          <a:bodyPr wrap="square" anchor="ctr" lIns="54000" rIns="54000" tIns="28800" bIns="288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Demo QR</a:t>
            </a:r>
          </a:p>
          <a:p>
            <a:pPr algn="ctr">
              <a:spcAft>
                <a:spcPts val="2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add URL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28000" y="30168000"/>
            <a:ext cx="1620000" cy="288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Demo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