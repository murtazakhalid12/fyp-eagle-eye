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640080" cy="640080"/>
          </a:xfrm>
          <a:prstGeom prst="roundRect">
            <a:avLst/>
          </a:prstGeom>
          <a:solidFill>
            <a:srgbClr val="1A9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LITERATURE REVIEW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646464"/>
                </a:solidFill>
                <a:latin typeface="Arial"/>
              </a:defRPr>
            </a:pPr>
            <a:r>
              <a:t>A systematic review across the project's domains — surveillance, on-device vision, model compression, IoT &amp; sensing — with the gap each leaves open.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566160"/>
                <a:gridCol w="4053535"/>
              </a:tblGrid>
              <a:tr h="50945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325A"/>
                          </a:solidFill>
                          <a:latin typeface="Arial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325A"/>
                          </a:solidFill>
                          <a:latin typeface="Arial"/>
                        </a:defRPr>
                      </a:pPr>
                      <a:r>
                        <a:t>KEY WORKS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4325A"/>
                          </a:solidFill>
                          <a:latin typeface="Arial"/>
                        </a:defRPr>
                      </a:pPr>
                      <a:r>
                        <a:t>WHAT THE LITERATURE SHOWS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GAP → OUR OPPORTUNITY</a:t>
                      </a:r>
                    </a:p>
                  </a:txBody>
                  <a:tcPr>
                    <a:solidFill>
                      <a:srgbClr val="0C8070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325A"/>
                          </a:solidFill>
                          <a:latin typeface="Arial"/>
                        </a:defRPr>
                      </a:pPr>
                      <a:r>
                        <a:t>Cloud / commercial cameras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A5A5A"/>
                          </a:solidFill>
                          <a:latin typeface="Arial"/>
                        </a:defRPr>
                      </a:pPr>
                      <a:r>
                        <a:t>Ring, Nest; Al-Khedher [1]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Continuous cloud streaming enables smart alerts.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C8070"/>
                          </a:solidFill>
                          <a:latin typeface="Arial"/>
                        </a:defRPr>
                      </a:pPr>
                      <a:r>
                        <a:t>Privacy risk, high bandwidth, recurring fees.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325A"/>
                          </a:solidFill>
                          <a:latin typeface="Arial"/>
                        </a:defRPr>
                      </a:pPr>
                      <a:r>
                        <a:t>Edge &amp; privacy computing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A5A5A"/>
                          </a:solidFill>
                          <a:latin typeface="Arial"/>
                        </a:defRPr>
                      </a:pPr>
                      <a:r>
                        <a:t>Shi et al. [2]; Tanwar et al. [3]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Moving compute to the edge cuts latency &amp; exposure.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C8070"/>
                          </a:solidFill>
                          <a:latin typeface="Arial"/>
                        </a:defRPr>
                      </a:pPr>
                      <a:r>
                        <a:t>Most still offload inference; few run fully on-device.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325A"/>
                          </a:solidFill>
                          <a:latin typeface="Arial"/>
                        </a:defRPr>
                      </a:pPr>
                      <a:r>
                        <a:t>Detection models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A5A5A"/>
                          </a:solidFill>
                          <a:latin typeface="Arial"/>
                        </a:defRPr>
                      </a:pPr>
                      <a:r>
                        <a:t>YOLO [4], SSD [5] vs MobileNet [6][7]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Accurate detectors exist; depthwise-separable conv is far lighter.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C8070"/>
                          </a:solidFill>
                          <a:latin typeface="Arial"/>
                        </a:defRPr>
                      </a:pPr>
                      <a:r>
                        <a:t>Heavy nets exhaust 520 KB SRAM (1–3 FPS, brownouts); light nets target phones, not a ~100 KB MCU.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325A"/>
                          </a:solidFill>
                          <a:latin typeface="Arial"/>
                        </a:defRPr>
                      </a:pPr>
                      <a:r>
                        <a:t>Model compression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A5A5A"/>
                          </a:solidFill>
                          <a:latin typeface="Arial"/>
                        </a:defRPr>
                      </a:pPr>
                      <a:r>
                        <a:t>INT8 quant. [8], distillation [9]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~4× smaller models with integer-only math.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C8070"/>
                          </a:solidFill>
                          <a:latin typeface="Arial"/>
                        </a:defRPr>
                      </a:pPr>
                      <a:r>
                        <a:t>A real quantization gap; tiny models lose generalization.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325A"/>
                          </a:solidFill>
                          <a:latin typeface="Arial"/>
                        </a:defRPr>
                      </a:pPr>
                      <a:r>
                        <a:t>TinyML on MCUs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A5A5A"/>
                          </a:solidFill>
                          <a:latin typeface="Arial"/>
                        </a:defRPr>
                      </a:pPr>
                      <a:r>
                        <a:t>Warden [10]; TFLite-Micro [11]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OS-free, low-latency inference on bare metal.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C8070"/>
                          </a:solidFill>
                          <a:latin typeface="Arial"/>
                        </a:defRPr>
                      </a:pPr>
                      <a:r>
                        <a:t>Mostly research demos, not privacy-first product systems.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325A"/>
                          </a:solidFill>
                          <a:latin typeface="Arial"/>
                        </a:defRPr>
                      </a:pPr>
                      <a:r>
                        <a:t>Sensing &amp; connectivity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A5A5A"/>
                          </a:solidFill>
                          <a:latin typeface="Arial"/>
                        </a:defRPr>
                      </a:pPr>
                      <a:r>
                        <a:t>PIR motion; MQTT [12]; UrbanSound8K [13]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Cheap triggers; lightweight pub/sub; urban-sound classification.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C8070"/>
                          </a:solidFill>
                          <a:latin typeface="Arial"/>
                        </a:defRPr>
                      </a:pPr>
                      <a:r>
                        <a:t>PIR alone = 85–95% false alarms; MQTT demos are LAN-only; audio rarely fused with vision.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120640"/>
            <a:ext cx="11277295" cy="1280160"/>
          </a:xfrm>
          <a:prstGeom prst="rect">
            <a:avLst/>
          </a:prstGeom>
          <a:solidFill>
            <a:srgbClr val="19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1A9BFC"/>
                </a:solidFill>
                <a:latin typeface="Arial"/>
              </a:defRPr>
            </a:pPr>
            <a:r>
              <a:t>RESEARCH GAP  —  the synthesis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  <a:latin typeface="Arial"/>
              </a:defRPr>
            </a:pPr>
            <a:r>
              <a:t>No low-cost system combines (a) fully on-device human detection for privacy, (b) outbound-only cloud access that works on any network without port-forwarding, and (c) audio threat fusion — on a ~$10 microcontroller. EagleEye targets exactly this gap.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640080" cy="640080"/>
          </a:xfrm>
          <a:prstGeom prst="roundRect">
            <a:avLst/>
          </a:prstGeom>
          <a:solidFill>
            <a:srgbClr val="1A9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FOUNDATIONS WE BUILD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82828"/>
                </a:solidFill>
                <a:latin typeface="Arial"/>
              </a:defRPr>
            </a:pPr>
            <a:r>
              <a:t>We don't just cite these techniques — we benchmarked and adapted them (18 model variants; see "AI Vision").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173736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B9D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327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63040"/>
            <a:ext cx="28346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325A"/>
                </a:solidFill>
                <a:latin typeface="Arial"/>
              </a:defRPr>
            </a:pPr>
            <a:r>
              <a:t>Depthwise-separable convolutions [6][7]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Factorize conv into depthwise + 1x1 pointwise -&gt; ~8–10x fewer MACs.</a:t>
            </a:r>
            <a:br/>
            <a:br/>
            <a:r>
              <a:t>→ Enables our from-scratch on-device CNN (v7.16) based on MobileNet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310" y="1371600"/>
            <a:ext cx="3566160" cy="17373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49470" y="1508760"/>
            <a:ext cx="411480" cy="411480"/>
          </a:xfrm>
          <a:prstGeom prst="ellipse">
            <a:avLst/>
          </a:prstGeom>
          <a:solidFill>
            <a:srgbClr val="32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390" y="1463040"/>
            <a:ext cx="28346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325A"/>
                </a:solidFill>
                <a:latin typeface="Arial"/>
              </a:defRPr>
            </a:pPr>
            <a:r>
              <a:t>INT8 post-training quantization [8]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32-bit -&gt; 8-bit. ~75% smaller; integer-only math.</a:t>
            </a:r>
            <a:br/>
            <a:br/>
            <a:r>
              <a:t>→ Fits the ~100 KB tensor arena. Quantizes both weights &amp; input pixels (Scale &amp; Zero-Point).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7420" y="1371600"/>
            <a:ext cx="3566160" cy="1737360"/>
          </a:xfrm>
          <a:prstGeom prst="roundRect">
            <a:avLst/>
          </a:prstGeom>
          <a:solidFill>
            <a:srgbClr val="FAF5FC"/>
          </a:solidFill>
          <a:ln w="19050">
            <a:solidFill>
              <a:srgbClr val="D7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4580" y="1508760"/>
            <a:ext cx="411480" cy="411480"/>
          </a:xfrm>
          <a:prstGeom prst="ellipse">
            <a:avLst/>
          </a:prstGeom>
          <a:solidFill>
            <a:srgbClr val="6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7500" y="1463040"/>
            <a:ext cx="28346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325A"/>
                </a:solidFill>
                <a:latin typeface="Arial"/>
              </a:defRPr>
            </a:pPr>
            <a:r>
              <a:t>Knowledge distillation [9]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Transfer knowledge from a large teacher model to a small student model.</a:t>
            </a:r>
            <a:br/>
            <a:br/>
            <a:r>
              <a:t>→ Evaluated (v4.0, 91.77%); informed our capacity &amp; resolution choices.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3566160" cy="1737360"/>
          </a:xfrm>
          <a:prstGeom prst="roundRect">
            <a:avLst/>
          </a:prstGeom>
          <a:solidFill>
            <a:srgbClr val="FDF8F3"/>
          </a:solidFill>
          <a:ln w="19050">
            <a:solidFill>
              <a:srgbClr val="E6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3429000"/>
            <a:ext cx="411480" cy="411480"/>
          </a:xfrm>
          <a:prstGeom prst="ellipse">
            <a:avLst/>
          </a:prstGeom>
          <a:solidFill>
            <a:srgbClr val="8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28346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325A"/>
                </a:solidFill>
                <a:latin typeface="Arial"/>
              </a:defRPr>
            </a:pPr>
            <a:r>
              <a:t>TFLite-Micro on bare metal [10][11]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OS-free, low-latency inference directly on microcontrollers.</a:t>
            </a:r>
            <a:br/>
            <a:br/>
            <a:r>
              <a:t>→ Runs on ESP32-CAM. Accelerated by ESP-NN assembly kernels (3x speedup, 2.5s -&gt; 0.8s).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2310" y="3291840"/>
            <a:ext cx="3566160" cy="1737360"/>
          </a:xfrm>
          <a:prstGeom prst="roundRect">
            <a:avLst/>
          </a:prstGeom>
          <a:solidFill>
            <a:srgbClr val="FCF5F5"/>
          </a:solidFill>
          <a:ln w="19050">
            <a:solidFill>
              <a:srgbClr val="E1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49470" y="3429000"/>
            <a:ext cx="411480" cy="411480"/>
          </a:xfrm>
          <a:prstGeom prst="ellipse">
            <a:avLst/>
          </a:prstGeom>
          <a:solidFill>
            <a:srgbClr val="8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2390" y="3383280"/>
            <a:ext cx="28346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325A"/>
                </a:solidFill>
                <a:latin typeface="Arial"/>
              </a:defRPr>
            </a:pPr>
            <a:r>
              <a:t>Edge / privacy-by-design [2][3]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Analyze locally on-chip; never stream raw video to the cloud.</a:t>
            </a:r>
            <a:br/>
            <a:br/>
            <a:r>
              <a:t>→ Transmit only confirmed human threat snapshots for alerts.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7420" y="3291840"/>
            <a:ext cx="3566160" cy="1737360"/>
          </a:xfrm>
          <a:prstGeom prst="roundRect">
            <a:avLst/>
          </a:prstGeom>
          <a:solidFill>
            <a:srgbClr val="F2F9FA"/>
          </a:solidFill>
          <a:ln w="19050">
            <a:solidFill>
              <a:srgbClr val="B9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04580" y="3429000"/>
            <a:ext cx="411480" cy="411480"/>
          </a:xfrm>
          <a:prstGeom prst="ellipse">
            <a:avLst/>
          </a:prstGeom>
          <a:solidFill>
            <a:srgbClr val="1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7500" y="3383280"/>
            <a:ext cx="28346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325A"/>
                </a:solidFill>
                <a:latin typeface="Arial"/>
              </a:defRPr>
            </a:pPr>
            <a:r>
              <a:t>MQTT pub/sub [12] + UrbanSound8K [13]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Lightweight pub/sub network messaging combined with audio classification.</a:t>
            </a:r>
            <a:br/>
            <a:br/>
            <a:r>
              <a:t>→ Outbound-only cloud alerts + triggers from our audio threat detector.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03520"/>
            <a:ext cx="11277295" cy="1097280"/>
          </a:xfrm>
          <a:prstGeom prst="roundRect">
            <a:avLst/>
          </a:prstGeom>
          <a:solidFill>
            <a:srgbClr val="EEF7F5"/>
          </a:solidFill>
          <a:ln w="19050">
            <a:solidFill>
              <a:srgbClr val="AA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C8070"/>
                </a:solidFill>
                <a:latin typeface="Arial"/>
              </a:defRPr>
            </a:pPr>
            <a:r>
              <a:t>POSITIONING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EagleEye combines these proven building blocks into a single privacy-first, remotely-accessible edge device — and contributes a custom from-scratch depthwise-separable detector that holds &gt;90% accuracy entirely on-device.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640080" cy="640080"/>
          </a:xfrm>
          <a:prstGeom prst="roundRect">
            <a:avLst/>
          </a:prstGeom>
          <a:solidFill>
            <a:srgbClr val="1A9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ESP32 CHIP ARCHITECTURE &amp; MEMORY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FIRMWARE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114800" cy="2377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4325A"/>
                </a:solidFill>
                <a:latin typeface="Arial"/>
              </a:defRPr>
            </a:pPr>
            <a:r>
              <a:t>FLASH (4 MB)</a:t>
            </a:r>
          </a:p>
          <a:p>
            <a:pPr>
              <a:spcAft>
                <a:spcPts val="2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Firmware code</a:t>
            </a:r>
          </a:p>
          <a:p>
            <a:pPr>
              <a:spcAft>
                <a:spcPts val="2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Model: 13 KB</a:t>
            </a:r>
          </a:p>
          <a:p>
            <a:pPr lvl="1">
              <a:spcAft>
                <a:spcPts val="2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architecture</a:t>
            </a:r>
          </a:p>
          <a:p>
            <a:pPr lvl="1">
              <a:spcAft>
                <a:spcPts val="2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weights</a:t>
            </a:r>
          </a:p>
          <a:p>
            <a:pPr>
              <a:spcAft>
                <a:spcPts val="2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ESP-NN library code</a:t>
            </a:r>
          </a:p>
          <a:p>
            <a:pPr lvl="1">
              <a:spcAft>
                <a:spcPts val="2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optimized C for conv, dense, pool</a:t>
            </a:r>
          </a:p>
          <a:p>
            <a:pPr lvl="1">
              <a:spcAft>
                <a:spcPts val="2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replaces generic TFLite math (3× faster)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188720"/>
            <a:ext cx="6675120" cy="3200400"/>
          </a:xfrm>
          <a:prstGeom prst="roundRect">
            <a:avLst/>
          </a:prstGeom>
          <a:solidFill>
            <a:srgbClr val="F2F9F5"/>
          </a:solidFill>
          <a:ln w="19050">
            <a:solidFill>
              <a:srgbClr val="AA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4325A"/>
                </a:solidFill>
                <a:latin typeface="Arial"/>
              </a:defRPr>
            </a:pPr>
            <a:r>
              <a:t>INTERNAL SRAM (~520 KB)</a:t>
            </a:r>
          </a:p>
          <a:p>
            <a:pPr>
              <a:spcAft>
                <a:spcPts val="2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Tensor Arena (126 KB)</a:t>
            </a:r>
          </a:p>
          <a:p>
            <a:pPr lvl="1">
              <a:spcAft>
                <a:spcPts val="2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conv outputs live here (reused every layer)</a:t>
            </a:r>
          </a:p>
          <a:p>
            <a:pPr>
              <a:spcAft>
                <a:spcPts val="2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snapshot_buf (27 KB)</a:t>
            </a:r>
          </a:p>
          <a:p>
            <a:pPr lvl="1">
              <a:spcAft>
                <a:spcPts val="2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96×96 RGB888 image buffer</a:t>
            </a:r>
          </a:p>
          <a:p>
            <a:pPr>
              <a:spcAft>
                <a:spcPts val="2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TLS session (40 KB)</a:t>
            </a:r>
          </a:p>
          <a:p>
            <a:pPr lvl="1">
              <a:spcAft>
                <a:spcPts val="2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MQTT encryption overhead</a:t>
            </a:r>
          </a:p>
          <a:p>
            <a:pPr>
              <a:spcAft>
                <a:spcPts val="2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FreeRTOS + WiFi (~150 KB)</a:t>
            </a:r>
          </a:p>
          <a:p>
            <a:pPr lvl="1">
              <a:spcAft>
                <a:spcPts val="2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operating system &amp; network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4114800" cy="1280160"/>
          </a:xfrm>
          <a:prstGeom prst="roundRect">
            <a:avLst/>
          </a:prstGeom>
          <a:solidFill>
            <a:srgbClr val="F9F3FB"/>
          </a:solidFill>
          <a:ln w="19050">
            <a:solidFill>
              <a:srgbClr val="D2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4325A"/>
                </a:solidFill>
                <a:latin typeface="Arial"/>
              </a:defRPr>
            </a:pPr>
            <a:r>
              <a:t>PSRAM (4 MB)</a:t>
            </a:r>
          </a:p>
          <a:p>
            <a:pPr>
              <a:spcAft>
                <a:spcPts val="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Camera buffer 1 (150 KB)</a:t>
            </a:r>
          </a:p>
          <a:p>
            <a:pPr>
              <a:spcAft>
                <a:spcPts val="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Camera buffer 2 (150 KB)</a:t>
            </a:r>
          </a:p>
          <a:p>
            <a:pPr lvl="1">
              <a:spcAft>
                <a:spcPts val="2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dual-buffered DMA camera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080"/>
            <a:ext cx="4114800" cy="1371600"/>
          </a:xfrm>
          <a:prstGeom prst="roundRect">
            <a:avLst/>
          </a:prstGeom>
          <a:solidFill>
            <a:srgbClr val="FDF7F1"/>
          </a:solidFill>
          <a:ln w="19050">
            <a:solidFill>
              <a:srgbClr val="E6C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4325A"/>
                </a:solidFill>
                <a:latin typeface="Arial"/>
              </a:defRPr>
            </a:pPr>
            <a:r>
              <a:t>HARDWARE</a:t>
            </a:r>
          </a:p>
          <a:p>
            <a:pPr>
              <a:spcAft>
                <a:spcPts val="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LEDC PWM → controls pan/tilt servos</a:t>
            </a:r>
          </a:p>
          <a:p>
            <a:pPr>
              <a:spcAft>
                <a:spcPts val="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DMA → high-speed camera data transfer</a:t>
            </a:r>
          </a:p>
          <a:p>
            <a:pPr>
              <a:spcAft>
                <a:spcPts val="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Radio → WiFi antenna 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572000"/>
            <a:ext cx="6675120" cy="201168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4325A"/>
                </a:solidFill>
                <a:latin typeface="Arial"/>
              </a:defRPr>
            </a:pPr>
            <a:r>
              <a:t>CPU</a:t>
            </a:r>
          </a:p>
          <a:p>
            <a:pPr>
              <a:spcAft>
                <a:spcPts val="2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Core 0: servo stepper task (330Hz) | WiFi driver &amp; stack</a:t>
            </a:r>
          </a:p>
          <a:p>
            <a:pPr>
              <a:spcAft>
                <a:spcPts val="2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Core 1: camera capture → resize → normalize → conv(ESP-NN) → pool(ESP-NN) → sepconv(ESP-NN) → pool(ESP-NN) → sepconv(ESP-NN) → pool → dense(ESP-NN) → decision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63440" y="2103120"/>
            <a:ext cx="320040" cy="228600"/>
          </a:xfrm>
          <a:prstGeom prst="rightArrow">
            <a:avLst/>
          </a:prstGeom>
          <a:solidFill>
            <a:srgbClr val="647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640080" cy="640080"/>
          </a:xfrm>
          <a:prstGeom prst="roundRect">
            <a:avLst/>
          </a:prstGeom>
          <a:solidFill>
            <a:srgbClr val="1A9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MODEL ACCELERATION &amp; SPEED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474720" cy="512064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defRPr sz="1300" b="1">
                <a:solidFill>
                  <a:srgbClr val="14325A"/>
                </a:solidFill>
                <a:latin typeface="Arial"/>
              </a:defRPr>
            </a:pPr>
            <a:r>
              <a:t>1. ESP-NN Library Optimization</a:t>
            </a:r>
          </a:p>
          <a:p>
            <a:pPr>
              <a:spcAft>
                <a:spcPts val="800"/>
              </a:spcAft>
              <a:defRPr sz="1000" i="1">
                <a:solidFill>
                  <a:srgbClr val="646464"/>
                </a:solidFill>
                <a:latin typeface="Arial"/>
              </a:defRPr>
            </a:pPr>
            <a:r>
              <a:t>Hardware-Level Assembly Kernels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Replaces standard TFLite math loops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Replaces generic C code with hand-optimized assembly routines from Espressif.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Targets key pipeline layers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Optimizes Conv2D, MaxPool, DepthwiseConv, and Fully Connected operations.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Xtensa LX6 SIMD Instructions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Executes multiple math operations simultaneously per CPU clock cycle.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Massive Speedup Result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Reduces inference time from 2.5s down to 800ms (3× speed boost).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188720"/>
            <a:ext cx="3474720" cy="5120640"/>
          </a:xfrm>
          <a:prstGeom prst="roundRect">
            <a:avLst/>
          </a:prstGeom>
          <a:solidFill>
            <a:srgbClr val="F2F9F5"/>
          </a:solidFill>
          <a:ln w="19050">
            <a:solidFill>
              <a:srgbClr val="AA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defRPr sz="1300" b="1">
                <a:solidFill>
                  <a:srgbClr val="14325A"/>
                </a:solidFill>
                <a:latin typeface="Arial"/>
              </a:defRPr>
            </a:pPr>
            <a:r>
              <a:t>2. INT8 Quantization</a:t>
            </a:r>
          </a:p>
          <a:p>
            <a:pPr>
              <a:spcAft>
                <a:spcPts val="800"/>
              </a:spcAft>
              <a:defRPr sz="1000" i="1">
                <a:solidFill>
                  <a:srgbClr val="646464"/>
                </a:solidFill>
                <a:latin typeface="Arial"/>
              </a:defRPr>
            </a:pPr>
            <a:r>
              <a:t>Integer Math Conversion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Converts weights &amp; activations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Drops model float values from 32-bit floats to signed 8-bit integers.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Bypasses FPU hardware limit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ESP32 lacks double-precision FPU; float operations require slow software emulation.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Single-cycle ALU operation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Integer additions and multiplications run natively in single clock cycles.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Saves critical Flash space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Quantized model weighs 13 KB instead of 52 KB (75% memory footprint reduction).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6448" y="1188720"/>
            <a:ext cx="3474720" cy="5120640"/>
          </a:xfrm>
          <a:prstGeom prst="roundRect">
            <a:avLst/>
          </a:prstGeom>
          <a:solidFill>
            <a:srgbClr val="FDF7F1"/>
          </a:solidFill>
          <a:ln w="19050">
            <a:solidFill>
              <a:srgbClr val="E6C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defRPr sz="1300" b="1">
                <a:solidFill>
                  <a:srgbClr val="14325A"/>
                </a:solidFill>
                <a:latin typeface="Arial"/>
              </a:defRPr>
            </a:pPr>
            <a:r>
              <a:t>3. Depthwise Separable Convs</a:t>
            </a:r>
          </a:p>
          <a:p>
            <a:pPr>
              <a:spcAft>
                <a:spcPts val="800"/>
              </a:spcAft>
              <a:defRPr sz="1000" i="1">
                <a:solidFill>
                  <a:srgbClr val="646464"/>
                </a:solidFill>
                <a:latin typeface="Arial"/>
              </a:defRPr>
            </a:pPr>
            <a:r>
              <a:t>Architectural Layer Design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Decomposes standard convolutions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Splits standard 2D convs into 2 distinct operations: Depthwise and Pointwise.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Depthwise step (3x3 filter)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Filters input channels individually (applies spatial filter channel-by-channel).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Pointwise step (1x1 projection)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Linearly combines outputs across all channels to build final features.</a:t>
            </a:r>
          </a:p>
          <a:p>
            <a:pPr>
              <a:spcAft>
                <a:spcPts val="200"/>
              </a:spcAft>
              <a:defRPr sz="1050" b="1">
                <a:solidFill>
                  <a:srgbClr val="282828"/>
                </a:solidFill>
                <a:latin typeface="Arial"/>
              </a:defRPr>
            </a:pPr>
            <a:r>
              <a:t>9x Reduction in MAC Math</a:t>
            </a:r>
          </a:p>
          <a:p>
            <a:pPr lvl="1">
              <a:spcAft>
                <a:spcPts val="200"/>
              </a:spcAft>
              <a:defRPr sz="950" b="0">
                <a:solidFill>
                  <a:srgbClr val="282828"/>
                </a:solidFill>
                <a:latin typeface="Arial"/>
              </a:defRPr>
            </a:pPr>
            <a:r>
              <a:t>• Drastically cuts parameters and CPU operations with minimal accuracy loss.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