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884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A365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A365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679700"/>
            <a:ext cx="13030200" cy="6527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A365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A365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6283" y="314324"/>
            <a:ext cx="15702632" cy="1354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A365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7196" y="2678906"/>
            <a:ext cx="8087359" cy="6059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image" Target="../media/image2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8155" y="2524477"/>
            <a:ext cx="14264640" cy="28041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 marR="5080" indent="15240" algn="ctr">
              <a:lnSpc>
                <a:spcPts val="7200"/>
              </a:lnSpc>
              <a:spcBef>
                <a:spcPts val="1560"/>
              </a:spcBef>
            </a:pPr>
            <a:r>
              <a:rPr sz="7200" spc="-484" dirty="0">
                <a:solidFill>
                  <a:srgbClr val="013A6B"/>
                </a:solidFill>
              </a:rPr>
              <a:t>EagleEye:</a:t>
            </a:r>
            <a:r>
              <a:rPr sz="7200" spc="95" dirty="0">
                <a:solidFill>
                  <a:srgbClr val="013A6B"/>
                </a:solidFill>
              </a:rPr>
              <a:t> </a:t>
            </a:r>
            <a:r>
              <a:rPr sz="7200" spc="-625" dirty="0">
                <a:solidFill>
                  <a:srgbClr val="013464"/>
                </a:solidFill>
              </a:rPr>
              <a:t>A</a:t>
            </a:r>
            <a:r>
              <a:rPr sz="7200" spc="-465" dirty="0">
                <a:solidFill>
                  <a:srgbClr val="013464"/>
                </a:solidFill>
              </a:rPr>
              <a:t> </a:t>
            </a:r>
            <a:r>
              <a:rPr sz="7200" spc="-340" dirty="0" err="1">
                <a:solidFill>
                  <a:srgbClr val="053664"/>
                </a:solidFill>
              </a:rPr>
              <a:t>TinyML</a:t>
            </a:r>
            <a:r>
              <a:rPr lang="en-US" sz="7200" spc="-340" dirty="0">
                <a:solidFill>
                  <a:srgbClr val="053664"/>
                </a:solidFill>
              </a:rPr>
              <a:t> Voice</a:t>
            </a:r>
            <a:r>
              <a:rPr sz="7200" spc="-340" dirty="0">
                <a:solidFill>
                  <a:srgbClr val="053664"/>
                </a:solidFill>
              </a:rPr>
              <a:t>-</a:t>
            </a:r>
            <a:r>
              <a:rPr sz="7200" spc="-375" dirty="0">
                <a:solidFill>
                  <a:srgbClr val="053664"/>
                </a:solidFill>
              </a:rPr>
              <a:t>Based</a:t>
            </a:r>
            <a:r>
              <a:rPr sz="7200" spc="204" dirty="0">
                <a:solidFill>
                  <a:srgbClr val="053664"/>
                </a:solidFill>
              </a:rPr>
              <a:t> </a:t>
            </a:r>
            <a:r>
              <a:rPr sz="7200" spc="-330" dirty="0">
                <a:solidFill>
                  <a:srgbClr val="03345D"/>
                </a:solidFill>
              </a:rPr>
              <a:t>Smart </a:t>
            </a:r>
            <a:r>
              <a:rPr sz="7200" spc="-195" dirty="0">
                <a:solidFill>
                  <a:srgbClr val="013860"/>
                </a:solidFill>
              </a:rPr>
              <a:t>Intrusion</a:t>
            </a:r>
            <a:r>
              <a:rPr sz="7200" spc="-400" dirty="0">
                <a:solidFill>
                  <a:srgbClr val="013860"/>
                </a:solidFill>
              </a:rPr>
              <a:t> </a:t>
            </a:r>
            <a:r>
              <a:rPr sz="7200" spc="-275" dirty="0">
                <a:solidFill>
                  <a:srgbClr val="003460"/>
                </a:solidFill>
              </a:rPr>
              <a:t>Detection</a:t>
            </a:r>
            <a:r>
              <a:rPr lang="en-US" sz="7200" spc="-275" dirty="0">
                <a:solidFill>
                  <a:srgbClr val="003460"/>
                </a:solidFill>
              </a:rPr>
              <a:t> System</a:t>
            </a:r>
            <a:endParaRPr lang="en-US" sz="7200" dirty="0"/>
          </a:p>
          <a:p>
            <a:pPr marL="27940" algn="ctr">
              <a:lnSpc>
                <a:spcPct val="100000"/>
              </a:lnSpc>
              <a:spcBef>
                <a:spcPts val="1210"/>
              </a:spcBef>
            </a:pPr>
            <a:r>
              <a:rPr lang="en-US" sz="4000" spc="-254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lang="en-US" sz="4000" spc="-2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000" spc="-95" dirty="0">
                <a:solidFill>
                  <a:srgbClr val="000000"/>
                </a:solidFill>
                <a:latin typeface="Calibri"/>
                <a:cs typeface="Calibri"/>
              </a:rPr>
              <a:t>Privacy-Preserving,</a:t>
            </a:r>
            <a:r>
              <a:rPr lang="en-US" sz="4000" spc="-2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000" spc="-120" dirty="0">
                <a:solidFill>
                  <a:srgbClr val="000000"/>
                </a:solidFill>
                <a:latin typeface="Calibri"/>
                <a:cs typeface="Calibri"/>
              </a:rPr>
              <a:t>Hybrid</a:t>
            </a:r>
            <a:r>
              <a:rPr lang="en-US" sz="40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000" spc="-140" dirty="0">
                <a:solidFill>
                  <a:srgbClr val="000000"/>
                </a:solidFill>
                <a:latin typeface="Calibri"/>
                <a:cs typeface="Calibri"/>
              </a:rPr>
              <a:t>Edge-</a:t>
            </a:r>
            <a:r>
              <a:rPr lang="en-US" sz="4000" spc="-60" dirty="0">
                <a:solidFill>
                  <a:srgbClr val="000000"/>
                </a:solidFill>
                <a:latin typeface="Calibri"/>
                <a:cs typeface="Calibri"/>
              </a:rPr>
              <a:t>Cloud</a:t>
            </a:r>
            <a:r>
              <a:rPr lang="en-US" sz="40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000" spc="-100" dirty="0">
                <a:solidFill>
                  <a:srgbClr val="000000"/>
                </a:solidFill>
                <a:latin typeface="Calibri"/>
                <a:cs typeface="Calibri"/>
              </a:rPr>
              <a:t>Security</a:t>
            </a:r>
            <a:r>
              <a:rPr lang="en-US" sz="40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4000" spc="-10" dirty="0">
                <a:solidFill>
                  <a:srgbClr val="000000"/>
                </a:solidFill>
                <a:latin typeface="Calibri"/>
                <a:cs typeface="Calibri"/>
              </a:rPr>
              <a:t>Solution</a:t>
            </a:r>
            <a:endParaRPr lang="en-US"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4092" y="6019800"/>
            <a:ext cx="8152765" cy="2730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750" algn="ctr">
              <a:lnSpc>
                <a:spcPts val="3465"/>
              </a:lnSpc>
              <a:spcBef>
                <a:spcPts val="114"/>
              </a:spcBef>
            </a:pPr>
            <a:r>
              <a:rPr sz="2900" spc="-10" dirty="0">
                <a:latin typeface="Calibri"/>
                <a:cs typeface="Calibri"/>
              </a:rPr>
              <a:t>Team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55" dirty="0">
                <a:latin typeface="Calibri"/>
                <a:cs typeface="Calibri"/>
              </a:rPr>
              <a:t>Members:</a:t>
            </a:r>
            <a:r>
              <a:rPr sz="2900" spc="60" dirty="0">
                <a:latin typeface="Calibri"/>
                <a:cs typeface="Calibri"/>
              </a:rPr>
              <a:t> </a:t>
            </a:r>
            <a:r>
              <a:rPr lang="en-US" sz="2900" spc="60" dirty="0">
                <a:latin typeface="Calibri"/>
                <a:cs typeface="Calibri"/>
              </a:rPr>
              <a:t>Murtaza khalid</a:t>
            </a:r>
            <a:r>
              <a:rPr sz="2900" dirty="0">
                <a:latin typeface="Calibri"/>
                <a:cs typeface="Calibri"/>
              </a:rPr>
              <a:t>,</a:t>
            </a:r>
            <a:r>
              <a:rPr sz="2900" spc="-155" dirty="0">
                <a:latin typeface="Calibri"/>
                <a:cs typeface="Calibri"/>
              </a:rPr>
              <a:t> </a:t>
            </a:r>
            <a:r>
              <a:rPr lang="en-US" sz="2900" spc="-20" dirty="0">
                <a:latin typeface="Calibri"/>
                <a:cs typeface="Calibri"/>
              </a:rPr>
              <a:t>Muhammed Haseeb</a:t>
            </a:r>
            <a:r>
              <a:rPr sz="2900" dirty="0">
                <a:latin typeface="Calibri"/>
                <a:cs typeface="Calibri"/>
              </a:rPr>
              <a:t>,</a:t>
            </a:r>
            <a:r>
              <a:rPr sz="2900" spc="80" dirty="0">
                <a:latin typeface="Calibri"/>
                <a:cs typeface="Calibri"/>
              </a:rPr>
              <a:t> </a:t>
            </a:r>
            <a:r>
              <a:rPr lang="en-US" sz="2900" spc="-10" dirty="0">
                <a:latin typeface="Calibri"/>
                <a:cs typeface="Calibri"/>
              </a:rPr>
              <a:t>Huzaifa Khan</a:t>
            </a:r>
            <a:endParaRPr sz="2900" dirty="0">
              <a:latin typeface="Calibri"/>
              <a:cs typeface="Calibri"/>
            </a:endParaRPr>
          </a:p>
          <a:p>
            <a:pPr algn="ctr">
              <a:lnSpc>
                <a:spcPts val="3645"/>
              </a:lnSpc>
            </a:pPr>
            <a:r>
              <a:rPr sz="3050" spc="-55" dirty="0">
                <a:latin typeface="Calibri"/>
                <a:cs typeface="Calibri"/>
              </a:rPr>
              <a:t>Advisors:</a:t>
            </a:r>
            <a:r>
              <a:rPr sz="3050" spc="-110" dirty="0">
                <a:latin typeface="Calibri"/>
                <a:cs typeface="Calibri"/>
              </a:rPr>
              <a:t> </a:t>
            </a:r>
            <a:r>
              <a:rPr lang="en-US" sz="3050" spc="-55" dirty="0">
                <a:latin typeface="Calibri"/>
                <a:cs typeface="Calibri"/>
              </a:rPr>
              <a:t>Rehan Hafiz</a:t>
            </a:r>
            <a:r>
              <a:rPr sz="3050" spc="-80" dirty="0">
                <a:latin typeface="Calibri"/>
                <a:cs typeface="Calibri"/>
              </a:rPr>
              <a:t>,</a:t>
            </a:r>
            <a:r>
              <a:rPr sz="3050" spc="-95" dirty="0">
                <a:latin typeface="Calibri"/>
                <a:cs typeface="Calibri"/>
              </a:rPr>
              <a:t> </a:t>
            </a:r>
            <a:endParaRPr lang="en-US" sz="3050" spc="-95" dirty="0">
              <a:latin typeface="Calibri"/>
              <a:cs typeface="Calibri"/>
            </a:endParaRPr>
          </a:p>
          <a:p>
            <a:pPr algn="ctr">
              <a:lnSpc>
                <a:spcPts val="3645"/>
              </a:lnSpc>
            </a:pPr>
            <a:r>
              <a:rPr lang="en-US" sz="3050" spc="-95" dirty="0">
                <a:latin typeface="Calibri"/>
                <a:cs typeface="Calibri"/>
              </a:rPr>
              <a:t>co-Advisor: </a:t>
            </a:r>
            <a:r>
              <a:rPr lang="en-US" sz="3050" spc="-75" dirty="0">
                <a:latin typeface="Calibri"/>
                <a:cs typeface="Calibri"/>
              </a:rPr>
              <a:t>Rehan Ahmed</a:t>
            </a:r>
            <a:endParaRPr sz="30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490"/>
              </a:spcBef>
            </a:pPr>
            <a:r>
              <a:rPr sz="2900" spc="-70" dirty="0">
                <a:solidFill>
                  <a:srgbClr val="6B6B6B"/>
                </a:solidFill>
                <a:latin typeface="Calibri"/>
                <a:cs typeface="Calibri"/>
              </a:rPr>
              <a:t>Faculty</a:t>
            </a:r>
            <a:r>
              <a:rPr sz="2900" spc="-9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900" spc="-105" dirty="0">
                <a:solidFill>
                  <a:srgbClr val="6B6B6B"/>
                </a:solidFill>
                <a:latin typeface="Calibri"/>
                <a:cs typeface="Calibri"/>
              </a:rPr>
              <a:t>of</a:t>
            </a:r>
            <a:r>
              <a:rPr sz="2900" spc="-2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900" spc="-65" dirty="0">
                <a:solidFill>
                  <a:srgbClr val="626262"/>
                </a:solidFill>
                <a:latin typeface="Calibri"/>
                <a:cs typeface="Calibri"/>
              </a:rPr>
              <a:t>Engineering,</a:t>
            </a:r>
            <a:r>
              <a:rPr sz="2900" spc="-4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900" spc="-90" dirty="0">
                <a:solidFill>
                  <a:srgbClr val="676767"/>
                </a:solidFill>
                <a:latin typeface="Calibri"/>
                <a:cs typeface="Calibri"/>
              </a:rPr>
              <a:t>Information</a:t>
            </a:r>
            <a:r>
              <a:rPr sz="2900" spc="6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900" spc="-100" dirty="0">
                <a:solidFill>
                  <a:srgbClr val="6B6B6B"/>
                </a:solidFill>
                <a:latin typeface="Calibri"/>
                <a:cs typeface="Calibri"/>
              </a:rPr>
              <a:t>Technology</a:t>
            </a:r>
            <a:r>
              <a:rPr sz="2900" spc="-6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900" spc="-35" dirty="0">
                <a:solidFill>
                  <a:srgbClr val="696969"/>
                </a:solidFill>
                <a:latin typeface="Calibri"/>
                <a:cs typeface="Calibri"/>
              </a:rPr>
              <a:t>University</a:t>
            </a:r>
            <a:endParaRPr sz="2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7900" y="5422900"/>
            <a:ext cx="3263900" cy="2870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19300" y="5930900"/>
            <a:ext cx="927100" cy="1841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26800" y="1003300"/>
            <a:ext cx="4851400" cy="2832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38318" y="960613"/>
            <a:ext cx="8395335" cy="234759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 marR="5080" indent="8890">
              <a:lnSpc>
                <a:spcPts val="5850"/>
              </a:lnSpc>
              <a:spcBef>
                <a:spcPts val="905"/>
              </a:spcBef>
            </a:pPr>
            <a:r>
              <a:rPr sz="5450" spc="-229" dirty="0">
                <a:solidFill>
                  <a:srgbClr val="074170"/>
                </a:solidFill>
              </a:rPr>
              <a:t>Home</a:t>
            </a:r>
            <a:r>
              <a:rPr sz="5450" spc="-175" dirty="0">
                <a:solidFill>
                  <a:srgbClr val="074170"/>
                </a:solidFill>
              </a:rPr>
              <a:t> </a:t>
            </a:r>
            <a:r>
              <a:rPr sz="5450" dirty="0">
                <a:solidFill>
                  <a:srgbClr val="033D6E"/>
                </a:solidFill>
              </a:rPr>
              <a:t>Security</a:t>
            </a:r>
            <a:r>
              <a:rPr sz="5450" spc="-70" dirty="0">
                <a:solidFill>
                  <a:srgbClr val="033D6E"/>
                </a:solidFill>
              </a:rPr>
              <a:t> </a:t>
            </a:r>
            <a:r>
              <a:rPr sz="5450" spc="-229" dirty="0">
                <a:solidFill>
                  <a:srgbClr val="033A69"/>
                </a:solidFill>
              </a:rPr>
              <a:t>Today</a:t>
            </a:r>
            <a:r>
              <a:rPr sz="5450" spc="-140" dirty="0">
                <a:solidFill>
                  <a:srgbClr val="033A69"/>
                </a:solidFill>
              </a:rPr>
              <a:t> </a:t>
            </a:r>
            <a:r>
              <a:rPr sz="5450" spc="-95" dirty="0">
                <a:solidFill>
                  <a:srgbClr val="033B6E"/>
                </a:solidFill>
              </a:rPr>
              <a:t>Faces </a:t>
            </a:r>
            <a:r>
              <a:rPr sz="5450" spc="-305" dirty="0">
                <a:solidFill>
                  <a:srgbClr val="053D6B"/>
                </a:solidFill>
              </a:rPr>
              <a:t>a</a:t>
            </a:r>
            <a:r>
              <a:rPr sz="5450" spc="-155" dirty="0">
                <a:solidFill>
                  <a:srgbClr val="053D6B"/>
                </a:solidFill>
              </a:rPr>
              <a:t> </a:t>
            </a:r>
            <a:r>
              <a:rPr sz="5450" dirty="0">
                <a:solidFill>
                  <a:srgbClr val="013B6B"/>
                </a:solidFill>
              </a:rPr>
              <a:t>Critical</a:t>
            </a:r>
            <a:r>
              <a:rPr sz="5450" spc="-145" dirty="0">
                <a:solidFill>
                  <a:srgbClr val="013B6B"/>
                </a:solidFill>
              </a:rPr>
              <a:t> </a:t>
            </a:r>
            <a:r>
              <a:rPr sz="5450" spc="-350" dirty="0">
                <a:solidFill>
                  <a:srgbClr val="013D6D"/>
                </a:solidFill>
              </a:rPr>
              <a:t>Gap</a:t>
            </a:r>
            <a:r>
              <a:rPr sz="5450" spc="-135" dirty="0">
                <a:solidFill>
                  <a:srgbClr val="013D6D"/>
                </a:solidFill>
              </a:rPr>
              <a:t> </a:t>
            </a:r>
            <a:r>
              <a:rPr sz="5450" spc="120" dirty="0">
                <a:solidFill>
                  <a:srgbClr val="033F6E"/>
                </a:solidFill>
              </a:rPr>
              <a:t>in</a:t>
            </a:r>
            <a:r>
              <a:rPr sz="5450" spc="-515" dirty="0">
                <a:solidFill>
                  <a:srgbClr val="033F6E"/>
                </a:solidFill>
              </a:rPr>
              <a:t> </a:t>
            </a:r>
            <a:r>
              <a:rPr sz="5450" spc="-20" dirty="0">
                <a:solidFill>
                  <a:srgbClr val="013662"/>
                </a:solidFill>
              </a:rPr>
              <a:t>Both </a:t>
            </a:r>
            <a:r>
              <a:rPr sz="5450" dirty="0">
                <a:solidFill>
                  <a:srgbClr val="053D6D"/>
                </a:solidFill>
              </a:rPr>
              <a:t>Interaction</a:t>
            </a:r>
            <a:r>
              <a:rPr sz="5450" spc="55" dirty="0">
                <a:solidFill>
                  <a:srgbClr val="053D6D"/>
                </a:solidFill>
              </a:rPr>
              <a:t> </a:t>
            </a:r>
            <a:r>
              <a:rPr sz="5450" spc="-130" dirty="0">
                <a:solidFill>
                  <a:srgbClr val="013B67"/>
                </a:solidFill>
              </a:rPr>
              <a:t>and</a:t>
            </a:r>
            <a:r>
              <a:rPr sz="5450" spc="-440" dirty="0">
                <a:solidFill>
                  <a:srgbClr val="013B67"/>
                </a:solidFill>
              </a:rPr>
              <a:t> </a:t>
            </a:r>
            <a:r>
              <a:rPr sz="5450" spc="-10" dirty="0">
                <a:solidFill>
                  <a:srgbClr val="013D6E"/>
                </a:solidFill>
              </a:rPr>
              <a:t>Evidence</a:t>
            </a:r>
            <a:endParaRPr sz="5450"/>
          </a:p>
        </p:txBody>
      </p:sp>
      <p:sp>
        <p:nvSpPr>
          <p:cNvPr id="10" name="object 10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500" spc="65" dirty="0">
                <a:latin typeface="Calibri"/>
                <a:cs typeface="Calibri"/>
              </a:rPr>
              <a:t>G</a:t>
            </a:r>
            <a:r>
              <a:rPr sz="1500" spc="4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771" y="3952169"/>
            <a:ext cx="8474075" cy="208533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20065" marR="5080" indent="-508000">
              <a:lnSpc>
                <a:spcPct val="89800"/>
              </a:lnSpc>
              <a:spcBef>
                <a:spcPts val="575"/>
              </a:spcBef>
              <a:buFont typeface="Arial MT"/>
              <a:buChar char="■"/>
              <a:tabLst>
                <a:tab pos="520065" algn="l"/>
                <a:tab pos="525780" algn="l"/>
              </a:tabLst>
            </a:pPr>
            <a:r>
              <a:rPr sz="3650" dirty="0">
                <a:solidFill>
                  <a:srgbClr val="004172"/>
                </a:solidFill>
                <a:latin typeface="Calibri"/>
                <a:cs typeface="Calibri"/>
              </a:rPr>
              <a:t>	</a:t>
            </a:r>
            <a:r>
              <a:rPr sz="3650" spc="-204" dirty="0">
                <a:latin typeface="Calibri"/>
                <a:cs typeface="Calibri"/>
              </a:rPr>
              <a:t>Homeowners</a:t>
            </a:r>
            <a:r>
              <a:rPr sz="3650" spc="60" dirty="0">
                <a:latin typeface="Calibri"/>
                <a:cs typeface="Calibri"/>
              </a:rPr>
              <a:t> </a:t>
            </a:r>
            <a:r>
              <a:rPr sz="3650" spc="-180" dirty="0">
                <a:latin typeface="Calibri"/>
                <a:cs typeface="Calibri"/>
              </a:rPr>
              <a:t>require</a:t>
            </a:r>
            <a:r>
              <a:rPr sz="3650" spc="-45" dirty="0">
                <a:latin typeface="Calibri"/>
                <a:cs typeface="Calibri"/>
              </a:rPr>
              <a:t> </a:t>
            </a:r>
            <a:r>
              <a:rPr sz="3650" spc="-195" dirty="0">
                <a:latin typeface="Calibri"/>
                <a:cs typeface="Calibri"/>
              </a:rPr>
              <a:t>an</a:t>
            </a:r>
            <a:r>
              <a:rPr sz="3650" spc="-55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affordable</a:t>
            </a:r>
            <a:r>
              <a:rPr sz="3650" spc="85" dirty="0">
                <a:latin typeface="Calibri"/>
                <a:cs typeface="Calibri"/>
              </a:rPr>
              <a:t> </a:t>
            </a:r>
            <a:r>
              <a:rPr sz="3650" spc="-210" dirty="0">
                <a:latin typeface="Calibri"/>
                <a:cs typeface="Calibri"/>
              </a:rPr>
              <a:t>way</a:t>
            </a:r>
            <a:r>
              <a:rPr sz="3650" spc="-140" dirty="0">
                <a:latin typeface="Calibri"/>
                <a:cs typeface="Calibri"/>
              </a:rPr>
              <a:t> </a:t>
            </a:r>
            <a:r>
              <a:rPr sz="3650" spc="-165" dirty="0">
                <a:latin typeface="Calibri"/>
                <a:cs typeface="Calibri"/>
              </a:rPr>
              <a:t>to</a:t>
            </a:r>
            <a:r>
              <a:rPr sz="3650" spc="-204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not </a:t>
            </a:r>
            <a:r>
              <a:rPr sz="3650" spc="-140" dirty="0">
                <a:latin typeface="Calibri"/>
                <a:cs typeface="Calibri"/>
              </a:rPr>
              <a:t>just</a:t>
            </a:r>
            <a:r>
              <a:rPr sz="3650" spc="-180" dirty="0">
                <a:latin typeface="Calibri"/>
                <a:cs typeface="Calibri"/>
              </a:rPr>
              <a:t> </a:t>
            </a:r>
            <a:r>
              <a:rPr sz="3650" i="1" spc="-135" dirty="0">
                <a:latin typeface="Calibri"/>
                <a:cs typeface="Calibri"/>
              </a:rPr>
              <a:t>detect</a:t>
            </a:r>
            <a:r>
              <a:rPr sz="3650" i="1" spc="-30" dirty="0">
                <a:latin typeface="Calibri"/>
                <a:cs typeface="Calibri"/>
              </a:rPr>
              <a:t> </a:t>
            </a:r>
            <a:r>
              <a:rPr sz="3650" spc="-150" dirty="0">
                <a:latin typeface="Calibri"/>
                <a:cs typeface="Calibri"/>
              </a:rPr>
              <a:t>potential</a:t>
            </a:r>
            <a:r>
              <a:rPr sz="3650" spc="15" dirty="0">
                <a:latin typeface="Calibri"/>
                <a:cs typeface="Calibri"/>
              </a:rPr>
              <a:t> </a:t>
            </a:r>
            <a:r>
              <a:rPr sz="3650" spc="-150" dirty="0">
                <a:latin typeface="Calibri"/>
                <a:cs typeface="Calibri"/>
              </a:rPr>
              <a:t>intruders,</a:t>
            </a:r>
            <a:r>
              <a:rPr sz="3650" spc="-30" dirty="0">
                <a:latin typeface="Calibri"/>
                <a:cs typeface="Calibri"/>
              </a:rPr>
              <a:t> </a:t>
            </a:r>
            <a:r>
              <a:rPr sz="3650" spc="-145" dirty="0">
                <a:latin typeface="Calibri"/>
                <a:cs typeface="Calibri"/>
              </a:rPr>
              <a:t>but</a:t>
            </a:r>
            <a:r>
              <a:rPr sz="3650" spc="-100" dirty="0">
                <a:latin typeface="Calibri"/>
                <a:cs typeface="Calibri"/>
              </a:rPr>
              <a:t> </a:t>
            </a:r>
            <a:r>
              <a:rPr sz="3650" spc="-229" dirty="0">
                <a:latin typeface="Calibri"/>
                <a:cs typeface="Calibri"/>
              </a:rPr>
              <a:t>to</a:t>
            </a:r>
            <a:r>
              <a:rPr sz="3650" spc="-165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actively </a:t>
            </a:r>
            <a:r>
              <a:rPr sz="3650" i="1" spc="-105" dirty="0">
                <a:solidFill>
                  <a:srgbClr val="080808"/>
                </a:solidFill>
                <a:latin typeface="Calibri"/>
                <a:cs typeface="Calibri"/>
              </a:rPr>
              <a:t>verify</a:t>
            </a:r>
            <a:r>
              <a:rPr sz="3650" i="1" spc="-14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650" i="1" spc="-140" dirty="0">
                <a:latin typeface="Calibri"/>
                <a:cs typeface="Calibri"/>
              </a:rPr>
              <a:t>and</a:t>
            </a:r>
            <a:r>
              <a:rPr sz="3650" i="1" spc="-75" dirty="0">
                <a:latin typeface="Calibri"/>
                <a:cs typeface="Calibri"/>
              </a:rPr>
              <a:t> </a:t>
            </a:r>
            <a:r>
              <a:rPr sz="3650" i="1" spc="-105" dirty="0">
                <a:solidFill>
                  <a:srgbClr val="080808"/>
                </a:solidFill>
                <a:latin typeface="Calibri"/>
                <a:cs typeface="Calibri"/>
              </a:rPr>
              <a:t>speak</a:t>
            </a:r>
            <a:r>
              <a:rPr sz="3650" i="1" spc="-10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to</a:t>
            </a:r>
            <a:r>
              <a:rPr sz="3650" spc="-190" dirty="0">
                <a:latin typeface="Calibri"/>
                <a:cs typeface="Calibri"/>
              </a:rPr>
              <a:t> </a:t>
            </a:r>
            <a:r>
              <a:rPr sz="3650" spc="-220" dirty="0">
                <a:latin typeface="Calibri"/>
                <a:cs typeface="Calibri"/>
              </a:rPr>
              <a:t>them</a:t>
            </a:r>
            <a:r>
              <a:rPr sz="3650" spc="-60" dirty="0">
                <a:latin typeface="Calibri"/>
                <a:cs typeface="Calibri"/>
              </a:rPr>
              <a:t> </a:t>
            </a:r>
            <a:r>
              <a:rPr sz="3650" spc="-75" dirty="0">
                <a:latin typeface="Calibri"/>
                <a:cs typeface="Calibri"/>
              </a:rPr>
              <a:t>in</a:t>
            </a:r>
            <a:r>
              <a:rPr sz="3650" spc="-204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real-</a:t>
            </a:r>
            <a:r>
              <a:rPr sz="3650" spc="-155" dirty="0">
                <a:latin typeface="Calibri"/>
                <a:cs typeface="Calibri"/>
              </a:rPr>
              <a:t>time</a:t>
            </a:r>
            <a:r>
              <a:rPr sz="3650" spc="70" dirty="0">
                <a:latin typeface="Calibri"/>
                <a:cs typeface="Calibri"/>
              </a:rPr>
              <a:t> </a:t>
            </a:r>
            <a:r>
              <a:rPr sz="3650" spc="-229" dirty="0">
                <a:latin typeface="Calibri"/>
                <a:cs typeface="Calibri"/>
              </a:rPr>
              <a:t>to</a:t>
            </a:r>
            <a:r>
              <a:rPr sz="3650" spc="-17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deter </a:t>
            </a:r>
            <a:r>
              <a:rPr sz="3650" spc="-135" dirty="0">
                <a:latin typeface="Calibri"/>
                <a:cs typeface="Calibri"/>
              </a:rPr>
              <a:t>crime.</a:t>
            </a:r>
            <a:r>
              <a:rPr sz="3650" spc="-100" dirty="0">
                <a:latin typeface="Calibri"/>
                <a:cs typeface="Calibri"/>
              </a:rPr>
              <a:t> </a:t>
            </a:r>
            <a:r>
              <a:rPr sz="3650" spc="-85" dirty="0">
                <a:latin typeface="Calibri"/>
                <a:cs typeface="Calibri"/>
              </a:rPr>
              <a:t>Passive</a:t>
            </a:r>
            <a:r>
              <a:rPr sz="3650" spc="5" dirty="0">
                <a:latin typeface="Calibri"/>
                <a:cs typeface="Calibri"/>
              </a:rPr>
              <a:t> </a:t>
            </a:r>
            <a:r>
              <a:rPr sz="3650" spc="-110" dirty="0">
                <a:latin typeface="Calibri"/>
                <a:cs typeface="Calibri"/>
              </a:rPr>
              <a:t>alerts</a:t>
            </a:r>
            <a:r>
              <a:rPr sz="3650" spc="-75" dirty="0">
                <a:latin typeface="Calibri"/>
                <a:cs typeface="Calibri"/>
              </a:rPr>
              <a:t> </a:t>
            </a:r>
            <a:r>
              <a:rPr sz="3650" spc="-155" dirty="0">
                <a:latin typeface="Calibri"/>
                <a:cs typeface="Calibri"/>
              </a:rPr>
              <a:t>are</a:t>
            </a:r>
            <a:r>
              <a:rPr sz="3650" spc="-175" dirty="0">
                <a:latin typeface="Calibri"/>
                <a:cs typeface="Calibri"/>
              </a:rPr>
              <a:t> </a:t>
            </a:r>
            <a:r>
              <a:rPr sz="3650" spc="-165" dirty="0">
                <a:latin typeface="Calibri"/>
                <a:cs typeface="Calibri"/>
              </a:rPr>
              <a:t>not</a:t>
            </a:r>
            <a:r>
              <a:rPr sz="3650" spc="-16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enough.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8975" y="6649508"/>
            <a:ext cx="8712835" cy="20701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18795" marR="5080" indent="-506730">
              <a:lnSpc>
                <a:spcPts val="3950"/>
              </a:lnSpc>
              <a:spcBef>
                <a:spcPts val="480"/>
              </a:spcBef>
              <a:buChar char="■"/>
              <a:tabLst>
                <a:tab pos="518795" algn="l"/>
                <a:tab pos="525780" algn="l"/>
              </a:tabLst>
            </a:pPr>
            <a:r>
              <a:rPr sz="3550" dirty="0">
                <a:solidFill>
                  <a:srgbClr val="034177"/>
                </a:solidFill>
                <a:latin typeface="Arial MT"/>
                <a:cs typeface="Arial MT"/>
              </a:rPr>
              <a:t>	</a:t>
            </a:r>
            <a:r>
              <a:rPr sz="3550" spc="-100" dirty="0">
                <a:latin typeface="Calibri"/>
                <a:cs typeface="Calibri"/>
              </a:rPr>
              <a:t>Purely </a:t>
            </a:r>
            <a:r>
              <a:rPr sz="3550" spc="-105" dirty="0">
                <a:latin typeface="Calibri"/>
                <a:cs typeface="Calibri"/>
              </a:rPr>
              <a:t>offline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cameras</a:t>
            </a:r>
            <a:r>
              <a:rPr sz="3550" spc="-85" dirty="0">
                <a:latin typeface="Calibri"/>
                <a:cs typeface="Calibri"/>
              </a:rPr>
              <a:t> </a:t>
            </a:r>
            <a:r>
              <a:rPr sz="3550" spc="-150" dirty="0">
                <a:latin typeface="Calibri"/>
                <a:cs typeface="Calibri"/>
              </a:rPr>
              <a:t>are</a:t>
            </a:r>
            <a:r>
              <a:rPr sz="3550" spc="-114" dirty="0">
                <a:latin typeface="Calibri"/>
                <a:cs typeface="Calibri"/>
              </a:rPr>
              <a:t> </a:t>
            </a:r>
            <a:r>
              <a:rPr sz="3550" spc="-40" dirty="0">
                <a:latin typeface="Calibri"/>
                <a:cs typeface="Calibri"/>
              </a:rPr>
              <a:t>critically</a:t>
            </a:r>
            <a:r>
              <a:rPr sz="3550" spc="-10" dirty="0">
                <a:latin typeface="Calibri"/>
                <a:cs typeface="Calibri"/>
              </a:rPr>
              <a:t> vulnerable. </a:t>
            </a:r>
            <a:r>
              <a:rPr sz="3550" spc="-100" dirty="0">
                <a:latin typeface="Calibri"/>
                <a:cs typeface="Calibri"/>
              </a:rPr>
              <a:t>If</a:t>
            </a:r>
            <a:r>
              <a:rPr sz="3550" spc="-180" dirty="0">
                <a:latin typeface="Calibri"/>
                <a:cs typeface="Calibri"/>
              </a:rPr>
              <a:t> </a:t>
            </a:r>
            <a:r>
              <a:rPr sz="3550" spc="-80" dirty="0">
                <a:latin typeface="Calibri"/>
                <a:cs typeface="Calibri"/>
              </a:rPr>
              <a:t>an</a:t>
            </a:r>
            <a:r>
              <a:rPr sz="3550" spc="-125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intruder</a:t>
            </a:r>
            <a:r>
              <a:rPr sz="3550" spc="-85" dirty="0">
                <a:latin typeface="Calibri"/>
                <a:cs typeface="Calibri"/>
              </a:rPr>
              <a:t> </a:t>
            </a:r>
            <a:r>
              <a:rPr sz="3550" spc="-95" dirty="0">
                <a:latin typeface="Calibri"/>
                <a:cs typeface="Calibri"/>
              </a:rPr>
              <a:t>steals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or</a:t>
            </a:r>
            <a:r>
              <a:rPr sz="3550" spc="-265" dirty="0">
                <a:latin typeface="Calibri"/>
                <a:cs typeface="Calibri"/>
              </a:rPr>
              <a:t> </a:t>
            </a:r>
            <a:r>
              <a:rPr sz="3550" spc="-95" dirty="0">
                <a:latin typeface="Calibri"/>
                <a:cs typeface="Calibri"/>
              </a:rPr>
              <a:t>destroys</a:t>
            </a:r>
            <a:r>
              <a:rPr sz="3550" spc="40" dirty="0">
                <a:latin typeface="Calibri"/>
                <a:cs typeface="Calibri"/>
              </a:rPr>
              <a:t> </a:t>
            </a:r>
            <a:r>
              <a:rPr sz="3550" spc="-155" dirty="0">
                <a:latin typeface="Calibri"/>
                <a:cs typeface="Calibri"/>
              </a:rPr>
              <a:t>the</a:t>
            </a:r>
            <a:r>
              <a:rPr sz="3550" spc="-140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device,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all </a:t>
            </a:r>
            <a:r>
              <a:rPr sz="3550" spc="-140" dirty="0">
                <a:latin typeface="Calibri"/>
                <a:cs typeface="Calibri"/>
              </a:rPr>
              <a:t>recorded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spc="-210" dirty="0">
                <a:latin typeface="Calibri"/>
                <a:cs typeface="Calibri"/>
              </a:rPr>
              <a:t>footage—</a:t>
            </a:r>
            <a:r>
              <a:rPr sz="3550" spc="-75" dirty="0">
                <a:latin typeface="Calibri"/>
                <a:cs typeface="Calibri"/>
              </a:rPr>
              <a:t>and</a:t>
            </a:r>
            <a:r>
              <a:rPr sz="3550" spc="70" dirty="0">
                <a:latin typeface="Calibri"/>
                <a:cs typeface="Calibri"/>
              </a:rPr>
              <a:t> </a:t>
            </a:r>
            <a:r>
              <a:rPr sz="3550" spc="-155" dirty="0">
                <a:latin typeface="Calibri"/>
                <a:cs typeface="Calibri"/>
              </a:rPr>
              <a:t>the</a:t>
            </a:r>
            <a:r>
              <a:rPr sz="3550" spc="-125" dirty="0">
                <a:latin typeface="Calibri"/>
                <a:cs typeface="Calibri"/>
              </a:rPr>
              <a:t> </a:t>
            </a:r>
            <a:r>
              <a:rPr sz="3550" spc="-80" dirty="0">
                <a:latin typeface="Calibri"/>
                <a:cs typeface="Calibri"/>
              </a:rPr>
              <a:t>only</a:t>
            </a:r>
            <a:r>
              <a:rPr sz="3550" spc="-105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evidence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30" dirty="0">
                <a:solidFill>
                  <a:srgbClr val="0A0A0A"/>
                </a:solidFill>
                <a:latin typeface="Calibri"/>
                <a:cs typeface="Calibri"/>
              </a:rPr>
              <a:t>of</a:t>
            </a:r>
            <a:r>
              <a:rPr sz="3550" spc="-15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the </a:t>
            </a:r>
            <a:r>
              <a:rPr sz="3550" spc="-185" dirty="0">
                <a:latin typeface="Calibri"/>
                <a:cs typeface="Calibri"/>
              </a:rPr>
              <a:t>crime—</a:t>
            </a:r>
            <a:r>
              <a:rPr sz="3550" dirty="0">
                <a:latin typeface="Calibri"/>
                <a:cs typeface="Calibri"/>
              </a:rPr>
              <a:t>is</a:t>
            </a:r>
            <a:r>
              <a:rPr sz="3550" spc="-165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permanently</a:t>
            </a:r>
            <a:r>
              <a:rPr sz="3550" spc="1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lost.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86646" y="4015316"/>
            <a:ext cx="227647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solidFill>
                  <a:srgbClr val="777777"/>
                </a:solidFill>
                <a:latin typeface="Calibri"/>
                <a:cs typeface="Calibri"/>
              </a:rPr>
              <a:t>Passive</a:t>
            </a:r>
            <a:r>
              <a:rPr sz="3300" spc="-100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3300" spc="-85" dirty="0">
                <a:solidFill>
                  <a:srgbClr val="6E6E6E"/>
                </a:solidFill>
                <a:latin typeface="Calibri"/>
                <a:cs typeface="Calibri"/>
              </a:rPr>
              <a:t>Alerts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10446" y="8269816"/>
            <a:ext cx="245173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solidFill>
                  <a:srgbClr val="DA691D"/>
                </a:solidFill>
                <a:latin typeface="Calibri"/>
                <a:cs typeface="Calibri"/>
              </a:rPr>
              <a:t>Evidence</a:t>
            </a:r>
            <a:r>
              <a:rPr sz="3300" spc="300" dirty="0">
                <a:solidFill>
                  <a:srgbClr val="DA691D"/>
                </a:solidFill>
                <a:latin typeface="Calibri"/>
                <a:cs typeface="Calibri"/>
              </a:rPr>
              <a:t> </a:t>
            </a:r>
            <a:r>
              <a:rPr sz="3300" spc="70" dirty="0">
                <a:solidFill>
                  <a:srgbClr val="DB6D21"/>
                </a:solidFill>
                <a:latin typeface="Calibri"/>
                <a:cs typeface="Calibri"/>
              </a:rPr>
              <a:t>Lost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E42D8-76A1-9E18-B41C-8E2A84A19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152400"/>
            <a:ext cx="17068800" cy="9448800"/>
          </a:xfrm>
        </p:spPr>
        <p:txBody>
          <a:bodyPr/>
          <a:lstStyle/>
          <a:p>
            <a:endParaRPr lang="en-PK" dirty="0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98EFDAFF-9F92-780E-8541-C562038B7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499" y="76200"/>
            <a:ext cx="17538699" cy="956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2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2298700"/>
            <a:ext cx="16002000" cy="441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1157" y="414866"/>
            <a:ext cx="14298930" cy="13779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5080" marR="5080" indent="-1263015">
              <a:lnSpc>
                <a:spcPts val="5150"/>
              </a:lnSpc>
              <a:spcBef>
                <a:spcPts val="550"/>
              </a:spcBef>
            </a:pPr>
            <a:r>
              <a:rPr sz="4550" dirty="0">
                <a:solidFill>
                  <a:srgbClr val="08385D"/>
                </a:solidFill>
              </a:rPr>
              <a:t>The</a:t>
            </a:r>
            <a:r>
              <a:rPr sz="4550" spc="-110" dirty="0">
                <a:solidFill>
                  <a:srgbClr val="08385D"/>
                </a:solidFill>
              </a:rPr>
              <a:t> </a:t>
            </a:r>
            <a:r>
              <a:rPr sz="4550" dirty="0"/>
              <a:t>Technical</a:t>
            </a:r>
            <a:r>
              <a:rPr sz="4550" spc="-105" dirty="0"/>
              <a:t> </a:t>
            </a:r>
            <a:r>
              <a:rPr sz="4550" dirty="0">
                <a:solidFill>
                  <a:srgbClr val="053660"/>
                </a:solidFill>
              </a:rPr>
              <a:t>Barrier:</a:t>
            </a:r>
            <a:r>
              <a:rPr sz="4550" spc="-75" dirty="0">
                <a:solidFill>
                  <a:srgbClr val="053660"/>
                </a:solidFill>
              </a:rPr>
              <a:t> </a:t>
            </a:r>
            <a:r>
              <a:rPr sz="4550" spc="55" dirty="0">
                <a:solidFill>
                  <a:srgbClr val="053862"/>
                </a:solidFill>
              </a:rPr>
              <a:t>Affordable</a:t>
            </a:r>
            <a:r>
              <a:rPr sz="4550" spc="45" dirty="0">
                <a:solidFill>
                  <a:srgbClr val="053862"/>
                </a:solidFill>
              </a:rPr>
              <a:t> </a:t>
            </a:r>
            <a:r>
              <a:rPr sz="4550" spc="-114" dirty="0">
                <a:solidFill>
                  <a:srgbClr val="03315B"/>
                </a:solidFill>
              </a:rPr>
              <a:t>Edge</a:t>
            </a:r>
            <a:r>
              <a:rPr sz="4550" spc="-229" dirty="0">
                <a:solidFill>
                  <a:srgbClr val="03315B"/>
                </a:solidFill>
              </a:rPr>
              <a:t> </a:t>
            </a:r>
            <a:r>
              <a:rPr sz="4550" dirty="0">
                <a:solidFill>
                  <a:srgbClr val="03345B"/>
                </a:solidFill>
              </a:rPr>
              <a:t>Devices</a:t>
            </a:r>
            <a:r>
              <a:rPr sz="4550" spc="20" dirty="0">
                <a:solidFill>
                  <a:srgbClr val="03345B"/>
                </a:solidFill>
              </a:rPr>
              <a:t> </a:t>
            </a:r>
            <a:r>
              <a:rPr sz="4550" spc="-10" dirty="0">
                <a:solidFill>
                  <a:srgbClr val="083864"/>
                </a:solidFill>
              </a:rPr>
              <a:t>Cannot </a:t>
            </a:r>
            <a:r>
              <a:rPr sz="4550" dirty="0">
                <a:solidFill>
                  <a:srgbClr val="083D64"/>
                </a:solidFill>
              </a:rPr>
              <a:t>Handle</a:t>
            </a:r>
            <a:r>
              <a:rPr sz="4550" spc="105" dirty="0">
                <a:solidFill>
                  <a:srgbClr val="083D64"/>
                </a:solidFill>
              </a:rPr>
              <a:t> </a:t>
            </a:r>
            <a:r>
              <a:rPr sz="4550" spc="-10" dirty="0">
                <a:solidFill>
                  <a:srgbClr val="033664"/>
                </a:solidFill>
              </a:rPr>
              <a:t>AI</a:t>
            </a:r>
            <a:r>
              <a:rPr sz="4550" spc="-345" dirty="0">
                <a:solidFill>
                  <a:srgbClr val="033664"/>
                </a:solidFill>
              </a:rPr>
              <a:t> </a:t>
            </a:r>
            <a:r>
              <a:rPr sz="4550" dirty="0">
                <a:solidFill>
                  <a:srgbClr val="05365E"/>
                </a:solidFill>
              </a:rPr>
              <a:t>and</a:t>
            </a:r>
            <a:r>
              <a:rPr sz="4550" spc="-260" dirty="0">
                <a:solidFill>
                  <a:srgbClr val="05365E"/>
                </a:solidFill>
              </a:rPr>
              <a:t> </a:t>
            </a:r>
            <a:r>
              <a:rPr sz="4550" dirty="0">
                <a:solidFill>
                  <a:srgbClr val="083B67"/>
                </a:solidFill>
              </a:rPr>
              <a:t>Live</a:t>
            </a:r>
            <a:r>
              <a:rPr sz="4550" spc="-220" dirty="0">
                <a:solidFill>
                  <a:srgbClr val="083B67"/>
                </a:solidFill>
              </a:rPr>
              <a:t> </a:t>
            </a:r>
            <a:r>
              <a:rPr sz="4550" dirty="0">
                <a:solidFill>
                  <a:srgbClr val="053862"/>
                </a:solidFill>
              </a:rPr>
              <a:t>Streaming</a:t>
            </a:r>
            <a:r>
              <a:rPr sz="4550" spc="80" dirty="0">
                <a:solidFill>
                  <a:srgbClr val="053862"/>
                </a:solidFill>
              </a:rPr>
              <a:t> </a:t>
            </a:r>
            <a:r>
              <a:rPr sz="4550" spc="-10" dirty="0">
                <a:solidFill>
                  <a:srgbClr val="03315B"/>
                </a:solidFill>
              </a:rPr>
              <a:t>Simultaneously</a:t>
            </a:r>
            <a:endParaRPr sz="4550"/>
          </a:p>
        </p:txBody>
      </p:sp>
      <p:sp>
        <p:nvSpPr>
          <p:cNvPr id="8" name="object 8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500" spc="65" dirty="0">
                <a:latin typeface="Calibri"/>
                <a:cs typeface="Calibri"/>
              </a:rPr>
              <a:t>G</a:t>
            </a:r>
            <a:r>
              <a:rPr sz="1500" spc="4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771" y="5324475"/>
            <a:ext cx="4456430" cy="9334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1905">
              <a:lnSpc>
                <a:spcPts val="3400"/>
              </a:lnSpc>
              <a:spcBef>
                <a:spcPts val="505"/>
              </a:spcBef>
            </a:pPr>
            <a:r>
              <a:rPr sz="3100" spc="-20" dirty="0">
                <a:latin typeface="Calibri"/>
                <a:cs typeface="Calibri"/>
              </a:rPr>
              <a:t>Task</a:t>
            </a:r>
            <a:r>
              <a:rPr sz="3100" spc="-14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1:</a:t>
            </a:r>
            <a:r>
              <a:rPr sz="3100" spc="-26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Al</a:t>
            </a:r>
            <a:r>
              <a:rPr sz="3100" spc="-135" dirty="0">
                <a:latin typeface="Calibri"/>
                <a:cs typeface="Calibri"/>
              </a:rPr>
              <a:t> </a:t>
            </a:r>
            <a:r>
              <a:rPr sz="3100" spc="-114" dirty="0">
                <a:latin typeface="Calibri"/>
                <a:cs typeface="Calibri"/>
              </a:rPr>
              <a:t>Inference</a:t>
            </a:r>
            <a:r>
              <a:rPr sz="3100" spc="40" dirty="0">
                <a:latin typeface="Calibri"/>
                <a:cs typeface="Calibri"/>
              </a:rPr>
              <a:t> </a:t>
            </a:r>
            <a:r>
              <a:rPr sz="3100" spc="-85" dirty="0">
                <a:latin typeface="Calibri"/>
                <a:cs typeface="Calibri"/>
              </a:rPr>
              <a:t>-</a:t>
            </a:r>
            <a:r>
              <a:rPr sz="3100" spc="-240" dirty="0">
                <a:latin typeface="Calibri"/>
                <a:cs typeface="Calibri"/>
              </a:rPr>
              <a:t> </a:t>
            </a:r>
            <a:r>
              <a:rPr sz="3100" spc="-55" dirty="0">
                <a:latin typeface="Calibri"/>
                <a:cs typeface="Calibri"/>
              </a:rPr>
              <a:t>Running </a:t>
            </a:r>
            <a:r>
              <a:rPr sz="3100" spc="-65" dirty="0">
                <a:latin typeface="Calibri"/>
                <a:cs typeface="Calibri"/>
              </a:rPr>
              <a:t>a</a:t>
            </a:r>
            <a:r>
              <a:rPr sz="3100" spc="-135" dirty="0">
                <a:latin typeface="Calibri"/>
                <a:cs typeface="Calibri"/>
              </a:rPr>
              <a:t> </a:t>
            </a:r>
            <a:r>
              <a:rPr sz="3100" spc="-185" dirty="0">
                <a:latin typeface="Calibri"/>
                <a:cs typeface="Calibri"/>
              </a:rPr>
              <a:t>per</a:t>
            </a:r>
            <a:r>
              <a:rPr lang="en-US" sz="3100" spc="-185" dirty="0">
                <a:latin typeface="Calibri"/>
                <a:cs typeface="Calibri"/>
              </a:rPr>
              <a:t>s</a:t>
            </a:r>
            <a:r>
              <a:rPr sz="3100" spc="-185" dirty="0">
                <a:latin typeface="Calibri"/>
                <a:cs typeface="Calibri"/>
              </a:rPr>
              <a:t>on</a:t>
            </a:r>
            <a:r>
              <a:rPr sz="3100" spc="1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detection</a:t>
            </a:r>
            <a:r>
              <a:rPr sz="3100" spc="2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model.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8246" y="4433005"/>
            <a:ext cx="1589405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50" spc="-350" dirty="0">
                <a:solidFill>
                  <a:srgbClr val="05365E"/>
                </a:solidFill>
                <a:latin typeface="Arial MT"/>
                <a:cs typeface="Arial MT"/>
              </a:rPr>
              <a:t>ESP32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21426" y="5315655"/>
            <a:ext cx="4568190" cy="13760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indent="17780" algn="just">
              <a:lnSpc>
                <a:spcPts val="3400"/>
              </a:lnSpc>
              <a:spcBef>
                <a:spcPts val="575"/>
              </a:spcBef>
            </a:pPr>
            <a:r>
              <a:rPr sz="3200" spc="-80" dirty="0">
                <a:latin typeface="Calibri"/>
                <a:cs typeface="Calibri"/>
              </a:rPr>
              <a:t>Task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2:</a:t>
            </a:r>
            <a:r>
              <a:rPr sz="3200" spc="-290" dirty="0">
                <a:latin typeface="Calibri"/>
                <a:cs typeface="Calibri"/>
              </a:rPr>
              <a:t> </a:t>
            </a:r>
            <a:r>
              <a:rPr sz="3200" spc="-150" dirty="0">
                <a:latin typeface="Calibri"/>
                <a:cs typeface="Calibri"/>
              </a:rPr>
              <a:t>Real-</a:t>
            </a:r>
            <a:r>
              <a:rPr sz="3200" spc="-170" dirty="0">
                <a:latin typeface="Calibri"/>
                <a:cs typeface="Calibri"/>
              </a:rPr>
              <a:t>time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170" dirty="0">
                <a:latin typeface="Calibri"/>
                <a:cs typeface="Calibri"/>
              </a:rPr>
              <a:t>Streaming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0" dirty="0">
                <a:latin typeface="Calibri"/>
                <a:cs typeface="Calibri"/>
              </a:rPr>
              <a:t>-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25" dirty="0">
                <a:latin typeface="Calibri"/>
                <a:cs typeface="Calibri"/>
              </a:rPr>
              <a:t>Handling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25" dirty="0">
                <a:latin typeface="Calibri"/>
                <a:cs typeface="Calibri"/>
              </a:rPr>
              <a:t>a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90" dirty="0">
                <a:latin typeface="Calibri"/>
                <a:cs typeface="Calibri"/>
              </a:rPr>
              <a:t>two-</a:t>
            </a:r>
            <a:r>
              <a:rPr sz="3200" spc="-215" dirty="0">
                <a:latin typeface="Calibri"/>
                <a:cs typeface="Calibri"/>
              </a:rPr>
              <a:t>way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65" dirty="0">
                <a:latin typeface="Calibri"/>
                <a:cs typeface="Calibri"/>
              </a:rPr>
              <a:t>video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7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40" dirty="0">
                <a:latin typeface="Calibri"/>
                <a:cs typeface="Calibri"/>
              </a:rPr>
              <a:t>audio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80" dirty="0">
                <a:latin typeface="Calibri"/>
                <a:cs typeface="Calibri"/>
              </a:rPr>
              <a:t>feed.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8100" y="7305675"/>
            <a:ext cx="15716250" cy="1813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8455" indent="-325755">
              <a:lnSpc>
                <a:spcPts val="3585"/>
              </a:lnSpc>
              <a:spcBef>
                <a:spcPts val="125"/>
              </a:spcBef>
              <a:buChar char="•"/>
              <a:tabLst>
                <a:tab pos="338455" algn="l"/>
              </a:tabLst>
            </a:pPr>
            <a:r>
              <a:rPr sz="3100" spc="-120" dirty="0">
                <a:latin typeface="Calibri"/>
                <a:cs typeface="Calibri"/>
              </a:rPr>
              <a:t>The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90" dirty="0">
                <a:latin typeface="Calibri"/>
                <a:cs typeface="Calibri"/>
              </a:rPr>
              <a:t>primary</a:t>
            </a:r>
            <a:r>
              <a:rPr sz="3100" spc="50" dirty="0">
                <a:latin typeface="Calibri"/>
                <a:cs typeface="Calibri"/>
              </a:rPr>
              <a:t> </a:t>
            </a:r>
            <a:r>
              <a:rPr sz="3100" spc="-90" dirty="0">
                <a:latin typeface="Calibri"/>
                <a:cs typeface="Calibri"/>
              </a:rPr>
              <a:t>challenge</a:t>
            </a:r>
            <a:r>
              <a:rPr sz="3100" spc="30" dirty="0">
                <a:latin typeface="Calibri"/>
                <a:cs typeface="Calibri"/>
              </a:rPr>
              <a:t> </a:t>
            </a:r>
            <a:r>
              <a:rPr sz="3100" spc="-40" dirty="0">
                <a:latin typeface="Calibri"/>
                <a:cs typeface="Calibri"/>
              </a:rPr>
              <a:t>lies</a:t>
            </a:r>
            <a:r>
              <a:rPr sz="3100" spc="-155" dirty="0">
                <a:latin typeface="Calibri"/>
                <a:cs typeface="Calibri"/>
              </a:rPr>
              <a:t> </a:t>
            </a:r>
            <a:r>
              <a:rPr sz="3100" spc="-40" dirty="0">
                <a:latin typeface="Calibri"/>
                <a:cs typeface="Calibri"/>
              </a:rPr>
              <a:t>in</a:t>
            </a:r>
            <a:r>
              <a:rPr sz="3100" spc="-140" dirty="0">
                <a:latin typeface="Calibri"/>
                <a:cs typeface="Calibri"/>
              </a:rPr>
              <a:t> </a:t>
            </a:r>
            <a:r>
              <a:rPr sz="3100" spc="-125" dirty="0">
                <a:latin typeface="Calibri"/>
                <a:cs typeface="Calibri"/>
              </a:rPr>
              <a:t>the</a:t>
            </a:r>
            <a:r>
              <a:rPr sz="3100" spc="-185" dirty="0">
                <a:latin typeface="Calibri"/>
                <a:cs typeface="Calibri"/>
              </a:rPr>
              <a:t> </a:t>
            </a:r>
            <a:r>
              <a:rPr sz="3100" spc="-135" dirty="0">
                <a:latin typeface="Calibri"/>
                <a:cs typeface="Calibri"/>
              </a:rPr>
              <a:t>hardware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-75" dirty="0">
                <a:latin typeface="Calibri"/>
                <a:cs typeface="Calibri"/>
              </a:rPr>
              <a:t>limitations</a:t>
            </a:r>
            <a:r>
              <a:rPr sz="3100" spc="60" dirty="0">
                <a:latin typeface="Calibri"/>
                <a:cs typeface="Calibri"/>
              </a:rPr>
              <a:t> </a:t>
            </a:r>
            <a:r>
              <a:rPr sz="3100" spc="-140" dirty="0">
                <a:latin typeface="Calibri"/>
                <a:cs typeface="Calibri"/>
              </a:rPr>
              <a:t>of </a:t>
            </a:r>
            <a:r>
              <a:rPr sz="3100" spc="-110" dirty="0">
                <a:latin typeface="Calibri"/>
                <a:cs typeface="Calibri"/>
              </a:rPr>
              <a:t>low-</a:t>
            </a:r>
            <a:r>
              <a:rPr sz="3100" spc="-75" dirty="0">
                <a:latin typeface="Calibri"/>
                <a:cs typeface="Calibri"/>
              </a:rPr>
              <a:t>cost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90" dirty="0">
                <a:latin typeface="Calibri"/>
                <a:cs typeface="Calibri"/>
              </a:rPr>
              <a:t>microcontrollers</a:t>
            </a:r>
            <a:r>
              <a:rPr sz="3100" spc="-210" dirty="0">
                <a:latin typeface="Calibri"/>
                <a:cs typeface="Calibri"/>
              </a:rPr>
              <a:t> </a:t>
            </a:r>
            <a:r>
              <a:rPr sz="3100" spc="-60" dirty="0">
                <a:latin typeface="Calibri"/>
                <a:cs typeface="Calibri"/>
              </a:rPr>
              <a:t>like</a:t>
            </a:r>
            <a:r>
              <a:rPr sz="3100" spc="-114" dirty="0">
                <a:latin typeface="Calibri"/>
                <a:cs typeface="Calibri"/>
              </a:rPr>
              <a:t> </a:t>
            </a:r>
            <a:r>
              <a:rPr sz="3100" spc="-150" dirty="0">
                <a:latin typeface="Calibri"/>
                <a:cs typeface="Calibri"/>
              </a:rPr>
              <a:t>the</a:t>
            </a:r>
            <a:r>
              <a:rPr sz="3100" spc="-13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ESP32.</a:t>
            </a:r>
            <a:endParaRPr sz="3100" dirty="0">
              <a:latin typeface="Calibri"/>
              <a:cs typeface="Calibri"/>
            </a:endParaRPr>
          </a:p>
          <a:p>
            <a:pPr marL="338455" indent="-325120">
              <a:lnSpc>
                <a:spcPts val="3395"/>
              </a:lnSpc>
              <a:buChar char="•"/>
              <a:tabLst>
                <a:tab pos="338455" algn="l"/>
              </a:tabLst>
            </a:pPr>
            <a:r>
              <a:rPr sz="3050" spc="-75" dirty="0">
                <a:latin typeface="Calibri"/>
                <a:cs typeface="Calibri"/>
              </a:rPr>
              <a:t>These</a:t>
            </a:r>
            <a:r>
              <a:rPr sz="3050" spc="-100" dirty="0">
                <a:latin typeface="Calibri"/>
                <a:cs typeface="Calibri"/>
              </a:rPr>
              <a:t> </a:t>
            </a:r>
            <a:r>
              <a:rPr sz="3050" spc="-65" dirty="0">
                <a:latin typeface="Calibri"/>
                <a:cs typeface="Calibri"/>
              </a:rPr>
              <a:t>devices</a:t>
            </a:r>
            <a:r>
              <a:rPr sz="3050" spc="-10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lack</a:t>
            </a:r>
            <a:r>
              <a:rPr sz="3050" spc="-175" dirty="0">
                <a:latin typeface="Calibri"/>
                <a:cs typeface="Calibri"/>
              </a:rPr>
              <a:t> </a:t>
            </a:r>
            <a:r>
              <a:rPr sz="3050" spc="-95" dirty="0">
                <a:latin typeface="Calibri"/>
                <a:cs typeface="Calibri"/>
              </a:rPr>
              <a:t>the</a:t>
            </a:r>
            <a:r>
              <a:rPr sz="3050" spc="-170" dirty="0">
                <a:latin typeface="Calibri"/>
                <a:cs typeface="Calibri"/>
              </a:rPr>
              <a:t> </a:t>
            </a:r>
            <a:r>
              <a:rPr sz="3050" spc="-65" dirty="0">
                <a:latin typeface="Calibri"/>
                <a:cs typeface="Calibri"/>
              </a:rPr>
              <a:t>memory</a:t>
            </a:r>
            <a:r>
              <a:rPr sz="3050" spc="90" dirty="0">
                <a:latin typeface="Calibri"/>
                <a:cs typeface="Calibri"/>
              </a:rPr>
              <a:t> </a:t>
            </a:r>
            <a:r>
              <a:rPr sz="3050" spc="-50" dirty="0">
                <a:latin typeface="Calibri"/>
                <a:cs typeface="Calibri"/>
              </a:rPr>
              <a:t>and</a:t>
            </a:r>
            <a:r>
              <a:rPr sz="3050" spc="-70" dirty="0">
                <a:latin typeface="Calibri"/>
                <a:cs typeface="Calibri"/>
              </a:rPr>
              <a:t> </a:t>
            </a:r>
            <a:r>
              <a:rPr sz="3050" spc="-55" dirty="0">
                <a:latin typeface="Calibri"/>
                <a:cs typeface="Calibri"/>
              </a:rPr>
              <a:t>processing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spc="-114" dirty="0">
                <a:latin typeface="Calibri"/>
                <a:cs typeface="Calibri"/>
              </a:rPr>
              <a:t>power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spc="-130" dirty="0">
                <a:latin typeface="Calibri"/>
                <a:cs typeface="Calibri"/>
              </a:rPr>
              <a:t>to</a:t>
            </a:r>
            <a:r>
              <a:rPr sz="3050" spc="-10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perform</a:t>
            </a:r>
            <a:r>
              <a:rPr sz="3050" spc="25" dirty="0">
                <a:latin typeface="Calibri"/>
                <a:cs typeface="Calibri"/>
              </a:rPr>
              <a:t> </a:t>
            </a:r>
            <a:r>
              <a:rPr sz="3050" spc="-120" dirty="0">
                <a:latin typeface="Calibri"/>
                <a:cs typeface="Calibri"/>
              </a:rPr>
              <a:t>two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resource-</a:t>
            </a:r>
            <a:r>
              <a:rPr sz="3050" spc="-75" dirty="0">
                <a:latin typeface="Calibri"/>
                <a:cs typeface="Calibri"/>
              </a:rPr>
              <a:t>intensive</a:t>
            </a:r>
            <a:r>
              <a:rPr sz="3050" spc="-95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tasks</a:t>
            </a:r>
            <a:r>
              <a:rPr sz="3050" spc="-100" dirty="0">
                <a:latin typeface="Calibri"/>
                <a:cs typeface="Calibri"/>
              </a:rPr>
              <a:t> </a:t>
            </a:r>
            <a:r>
              <a:rPr sz="3050" spc="-70" dirty="0">
                <a:latin typeface="Calibri"/>
                <a:cs typeface="Calibri"/>
              </a:rPr>
              <a:t>at</a:t>
            </a:r>
            <a:r>
              <a:rPr sz="3050" spc="-17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once.</a:t>
            </a:r>
            <a:endParaRPr sz="3050" dirty="0">
              <a:latin typeface="Calibri"/>
              <a:cs typeface="Calibri"/>
            </a:endParaRPr>
          </a:p>
          <a:p>
            <a:pPr marL="321945" indent="-308610">
              <a:lnSpc>
                <a:spcPts val="3350"/>
              </a:lnSpc>
              <a:buChar char="•"/>
              <a:tabLst>
                <a:tab pos="321945" algn="l"/>
              </a:tabLst>
            </a:pPr>
            <a:r>
              <a:rPr sz="3050" spc="-95" dirty="0">
                <a:latin typeface="Calibri"/>
                <a:cs typeface="Calibri"/>
              </a:rPr>
              <a:t>Attempting</a:t>
            </a:r>
            <a:r>
              <a:rPr sz="3050" spc="-80" dirty="0">
                <a:latin typeface="Calibri"/>
                <a:cs typeface="Calibri"/>
              </a:rPr>
              <a:t> </a:t>
            </a:r>
            <a:r>
              <a:rPr sz="3050" spc="-60" dirty="0">
                <a:latin typeface="Calibri"/>
                <a:cs typeface="Calibri"/>
              </a:rPr>
              <a:t>both</a:t>
            </a:r>
            <a:r>
              <a:rPr sz="3050" spc="-110" dirty="0">
                <a:latin typeface="Calibri"/>
                <a:cs typeface="Calibri"/>
              </a:rPr>
              <a:t> </a:t>
            </a:r>
            <a:r>
              <a:rPr sz="3050" spc="-50" dirty="0">
                <a:latin typeface="Calibri"/>
                <a:cs typeface="Calibri"/>
              </a:rPr>
              <a:t>simultaneously</a:t>
            </a:r>
            <a:r>
              <a:rPr sz="3050" spc="-85" dirty="0">
                <a:latin typeface="Calibri"/>
                <a:cs typeface="Calibri"/>
              </a:rPr>
              <a:t> </a:t>
            </a:r>
            <a:r>
              <a:rPr sz="3050" spc="-55" dirty="0">
                <a:latin typeface="Calibri"/>
                <a:cs typeface="Calibri"/>
              </a:rPr>
              <a:t>results</a:t>
            </a:r>
            <a:r>
              <a:rPr sz="3050" spc="-114" dirty="0">
                <a:latin typeface="Calibri"/>
                <a:cs typeface="Calibri"/>
              </a:rPr>
              <a:t> </a:t>
            </a:r>
            <a:r>
              <a:rPr sz="3050" spc="-55" dirty="0">
                <a:latin typeface="Calibri"/>
                <a:cs typeface="Calibri"/>
              </a:rPr>
              <a:t>in</a:t>
            </a:r>
            <a:r>
              <a:rPr sz="3050" spc="-120" dirty="0">
                <a:latin typeface="Calibri"/>
                <a:cs typeface="Calibri"/>
              </a:rPr>
              <a:t> </a:t>
            </a:r>
            <a:r>
              <a:rPr sz="3050" spc="-85" dirty="0">
                <a:latin typeface="Calibri"/>
                <a:cs typeface="Calibri"/>
              </a:rPr>
              <a:t>system </a:t>
            </a:r>
            <a:r>
              <a:rPr sz="3050" spc="-50" dirty="0">
                <a:latin typeface="Calibri"/>
                <a:cs typeface="Calibri"/>
              </a:rPr>
              <a:t>crashes</a:t>
            </a:r>
            <a:r>
              <a:rPr sz="3050" spc="-125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or</a:t>
            </a:r>
            <a:r>
              <a:rPr sz="3050" spc="-200" dirty="0">
                <a:latin typeface="Calibri"/>
                <a:cs typeface="Calibri"/>
              </a:rPr>
              <a:t> </a:t>
            </a:r>
            <a:r>
              <a:rPr sz="3050" spc="-70" dirty="0">
                <a:latin typeface="Calibri"/>
                <a:cs typeface="Calibri"/>
              </a:rPr>
              <a:t>unacceptable</a:t>
            </a:r>
            <a:r>
              <a:rPr sz="3050" spc="110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performance,</a:t>
            </a:r>
            <a:r>
              <a:rPr sz="3050" spc="-45" dirty="0">
                <a:latin typeface="Calibri"/>
                <a:cs typeface="Calibri"/>
              </a:rPr>
              <a:t> </a:t>
            </a:r>
            <a:r>
              <a:rPr sz="3050" spc="-65" dirty="0">
                <a:latin typeface="Calibri"/>
                <a:cs typeface="Calibri"/>
              </a:rPr>
              <a:t>creating</a:t>
            </a:r>
            <a:r>
              <a:rPr sz="3050" spc="-80" dirty="0">
                <a:latin typeface="Calibri"/>
                <a:cs typeface="Calibri"/>
              </a:rPr>
              <a:t> </a:t>
            </a:r>
            <a:r>
              <a:rPr sz="3050" spc="50" dirty="0">
                <a:latin typeface="Calibri"/>
                <a:cs typeface="Calibri"/>
              </a:rPr>
              <a:t>a</a:t>
            </a:r>
            <a:endParaRPr sz="3050" dirty="0">
              <a:latin typeface="Calibri"/>
              <a:cs typeface="Calibri"/>
            </a:endParaRPr>
          </a:p>
          <a:p>
            <a:pPr marL="334645">
              <a:lnSpc>
                <a:spcPts val="3720"/>
              </a:lnSpc>
            </a:pPr>
            <a:r>
              <a:rPr sz="3250" spc="-190" dirty="0">
                <a:latin typeface="Calibri"/>
                <a:cs typeface="Calibri"/>
              </a:rPr>
              <a:t>fundamental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150" dirty="0">
                <a:latin typeface="Calibri"/>
                <a:cs typeface="Calibri"/>
              </a:rPr>
              <a:t>roadblock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204" dirty="0">
                <a:latin typeface="Calibri"/>
                <a:cs typeface="Calibri"/>
              </a:rPr>
              <a:t>to</a:t>
            </a:r>
            <a:r>
              <a:rPr sz="3250" spc="-150" dirty="0">
                <a:latin typeface="Calibri"/>
                <a:cs typeface="Calibri"/>
              </a:rPr>
              <a:t> </a:t>
            </a:r>
            <a:r>
              <a:rPr sz="3250" spc="-120" dirty="0">
                <a:latin typeface="Calibri"/>
                <a:cs typeface="Calibri"/>
              </a:rPr>
              <a:t>building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150" dirty="0">
                <a:latin typeface="Calibri"/>
                <a:cs typeface="Calibri"/>
              </a:rPr>
              <a:t>a</a:t>
            </a:r>
            <a:r>
              <a:rPr sz="3250" spc="-155" dirty="0">
                <a:latin typeface="Calibri"/>
                <a:cs typeface="Calibri"/>
              </a:rPr>
              <a:t> </a:t>
            </a:r>
            <a:r>
              <a:rPr sz="3250" spc="-185" dirty="0">
                <a:latin typeface="Calibri"/>
                <a:cs typeface="Calibri"/>
              </a:rPr>
              <a:t>low-</a:t>
            </a:r>
            <a:r>
              <a:rPr sz="3250" spc="-160" dirty="0">
                <a:latin typeface="Calibri"/>
                <a:cs typeface="Calibri"/>
              </a:rPr>
              <a:t>cost,</a:t>
            </a:r>
            <a:r>
              <a:rPr sz="3250" spc="-80" dirty="0">
                <a:latin typeface="Calibri"/>
                <a:cs typeface="Calibri"/>
              </a:rPr>
              <a:t> </a:t>
            </a:r>
            <a:r>
              <a:rPr sz="3250" spc="-150" dirty="0">
                <a:latin typeface="Calibri"/>
                <a:cs typeface="Calibri"/>
              </a:rPr>
              <a:t>full-</a:t>
            </a:r>
            <a:r>
              <a:rPr sz="3250" spc="-185" dirty="0">
                <a:latin typeface="Calibri"/>
                <a:cs typeface="Calibri"/>
              </a:rPr>
              <a:t>featured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device.</a:t>
            </a:r>
            <a:endParaRPr sz="3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00" y="2717800"/>
            <a:ext cx="1435100" cy="1473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4400" y="2413000"/>
            <a:ext cx="5486400" cy="4191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58800" y="2730500"/>
            <a:ext cx="1435100" cy="1447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651" rIns="0" bIns="0" rtlCol="0">
            <a:spAutoFit/>
          </a:bodyPr>
          <a:lstStyle/>
          <a:p>
            <a:pPr marL="2590800" marR="5080" indent="101600">
              <a:lnSpc>
                <a:spcPts val="4800"/>
              </a:lnSpc>
              <a:spcBef>
                <a:spcPts val="770"/>
              </a:spcBef>
            </a:pPr>
            <a:r>
              <a:rPr sz="4500" spc="-175" dirty="0">
                <a:solidFill>
                  <a:srgbClr val="053864"/>
                </a:solidFill>
              </a:rPr>
              <a:t>Our</a:t>
            </a:r>
            <a:r>
              <a:rPr sz="4500" spc="-165" dirty="0">
                <a:solidFill>
                  <a:srgbClr val="053864"/>
                </a:solidFill>
              </a:rPr>
              <a:t> </a:t>
            </a:r>
            <a:r>
              <a:rPr sz="4500" spc="-65" dirty="0">
                <a:solidFill>
                  <a:srgbClr val="053F70"/>
                </a:solidFill>
              </a:rPr>
              <a:t>Breakthrough</a:t>
            </a:r>
            <a:r>
              <a:rPr sz="4500" spc="-250" dirty="0">
                <a:solidFill>
                  <a:srgbClr val="053F70"/>
                </a:solidFill>
              </a:rPr>
              <a:t> </a:t>
            </a:r>
            <a:r>
              <a:rPr sz="4500" dirty="0">
                <a:solidFill>
                  <a:srgbClr val="083864"/>
                </a:solidFill>
              </a:rPr>
              <a:t>Is</a:t>
            </a:r>
            <a:r>
              <a:rPr sz="4500" spc="-440" dirty="0">
                <a:solidFill>
                  <a:srgbClr val="083864"/>
                </a:solidFill>
              </a:rPr>
              <a:t> </a:t>
            </a:r>
            <a:r>
              <a:rPr sz="4500" spc="-125" dirty="0">
                <a:solidFill>
                  <a:srgbClr val="073B67"/>
                </a:solidFill>
              </a:rPr>
              <a:t>a</a:t>
            </a:r>
            <a:r>
              <a:rPr sz="4500" spc="-375" dirty="0">
                <a:solidFill>
                  <a:srgbClr val="073B67"/>
                </a:solidFill>
              </a:rPr>
              <a:t> </a:t>
            </a:r>
            <a:r>
              <a:rPr sz="4500" spc="-55" dirty="0">
                <a:solidFill>
                  <a:srgbClr val="03345D"/>
                </a:solidFill>
              </a:rPr>
              <a:t>State</a:t>
            </a:r>
            <a:r>
              <a:rPr sz="4500" spc="-409" dirty="0">
                <a:solidFill>
                  <a:srgbClr val="03345D"/>
                </a:solidFill>
              </a:rPr>
              <a:t> </a:t>
            </a:r>
            <a:r>
              <a:rPr sz="4500" spc="-50" dirty="0">
                <a:solidFill>
                  <a:srgbClr val="034174"/>
                </a:solidFill>
              </a:rPr>
              <a:t>Machine</a:t>
            </a:r>
            <a:r>
              <a:rPr sz="4500" spc="-140" dirty="0">
                <a:solidFill>
                  <a:srgbClr val="034174"/>
                </a:solidFill>
              </a:rPr>
              <a:t> </a:t>
            </a:r>
            <a:r>
              <a:rPr sz="4500" spc="-20" dirty="0">
                <a:solidFill>
                  <a:srgbClr val="053862"/>
                </a:solidFill>
              </a:rPr>
              <a:t>That </a:t>
            </a:r>
            <a:r>
              <a:rPr sz="4500" dirty="0">
                <a:solidFill>
                  <a:srgbClr val="083A64"/>
                </a:solidFill>
              </a:rPr>
              <a:t>Intelligently</a:t>
            </a:r>
            <a:r>
              <a:rPr sz="4500" spc="20" dirty="0">
                <a:solidFill>
                  <a:srgbClr val="083A64"/>
                </a:solidFill>
              </a:rPr>
              <a:t> </a:t>
            </a:r>
            <a:r>
              <a:rPr sz="4500" spc="-40" dirty="0">
                <a:solidFill>
                  <a:srgbClr val="07365E"/>
                </a:solidFill>
              </a:rPr>
              <a:t>Switches</a:t>
            </a:r>
            <a:r>
              <a:rPr sz="4500" spc="-135" dirty="0">
                <a:solidFill>
                  <a:srgbClr val="07365E"/>
                </a:solidFill>
              </a:rPr>
              <a:t> </a:t>
            </a:r>
            <a:r>
              <a:rPr sz="4500" spc="-120" dirty="0">
                <a:solidFill>
                  <a:srgbClr val="03345D"/>
                </a:solidFill>
              </a:rPr>
              <a:t>Device </a:t>
            </a:r>
            <a:r>
              <a:rPr sz="4500" spc="-25" dirty="0">
                <a:solidFill>
                  <a:srgbClr val="0C3F69"/>
                </a:solidFill>
              </a:rPr>
              <a:t>Functionality</a:t>
            </a:r>
            <a:endParaRPr sz="4500"/>
          </a:p>
        </p:txBody>
      </p:sp>
      <p:sp>
        <p:nvSpPr>
          <p:cNvPr id="6" name="object 6"/>
          <p:cNvSpPr txBox="1"/>
          <p:nvPr/>
        </p:nvSpPr>
        <p:spPr>
          <a:xfrm>
            <a:off x="2147685" y="4409016"/>
            <a:ext cx="2659380" cy="2232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5310">
              <a:lnSpc>
                <a:spcPts val="3929"/>
              </a:lnSpc>
              <a:spcBef>
                <a:spcPts val="130"/>
              </a:spcBef>
            </a:pPr>
            <a:r>
              <a:rPr sz="3300" dirty="0">
                <a:solidFill>
                  <a:srgbClr val="0A3660"/>
                </a:solidFill>
                <a:latin typeface="Calibri"/>
                <a:cs typeface="Calibri"/>
              </a:rPr>
              <a:t>AI</a:t>
            </a:r>
            <a:r>
              <a:rPr sz="3300" spc="50" dirty="0">
                <a:solidFill>
                  <a:srgbClr val="0A3660"/>
                </a:solidFill>
                <a:latin typeface="Calibri"/>
                <a:cs typeface="Calibri"/>
              </a:rPr>
              <a:t> </a:t>
            </a:r>
            <a:r>
              <a:rPr sz="3300" spc="30" dirty="0">
                <a:solidFill>
                  <a:srgbClr val="083D69"/>
                </a:solidFill>
                <a:latin typeface="Calibri"/>
                <a:cs typeface="Calibri"/>
              </a:rPr>
              <a:t>Mode</a:t>
            </a:r>
            <a:endParaRPr sz="3300">
              <a:latin typeface="Calibri"/>
              <a:cs typeface="Calibri"/>
            </a:endParaRPr>
          </a:p>
          <a:p>
            <a:pPr marL="123825" algn="just">
              <a:lnSpc>
                <a:spcPts val="3810"/>
              </a:lnSpc>
            </a:pPr>
            <a:r>
              <a:rPr sz="3200" spc="-100" dirty="0">
                <a:solidFill>
                  <a:srgbClr val="111111"/>
                </a:solidFill>
                <a:latin typeface="Calibri"/>
                <a:cs typeface="Calibri"/>
              </a:rPr>
              <a:t>Sentry</a:t>
            </a:r>
            <a:r>
              <a:rPr sz="3200" spc="-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spc="-265" dirty="0">
                <a:solidFill>
                  <a:srgbClr val="212121"/>
                </a:solidFill>
                <a:latin typeface="Calibri"/>
                <a:cs typeface="Calibri"/>
              </a:rPr>
              <a:t>&amp; </a:t>
            </a:r>
            <a:r>
              <a:rPr sz="3200" spc="-10" dirty="0">
                <a:solidFill>
                  <a:srgbClr val="0F0F0F"/>
                </a:solidFill>
                <a:latin typeface="Calibri"/>
                <a:cs typeface="Calibri"/>
              </a:rPr>
              <a:t>Detect</a:t>
            </a:r>
            <a:endParaRPr sz="3200">
              <a:latin typeface="Calibri"/>
              <a:cs typeface="Calibri"/>
            </a:endParaRPr>
          </a:p>
          <a:p>
            <a:pPr marL="20320" marR="5080" indent="-8255" algn="just">
              <a:lnSpc>
                <a:spcPts val="2800"/>
              </a:lnSpc>
              <a:spcBef>
                <a:spcPts val="1220"/>
              </a:spcBef>
            </a:pPr>
            <a:r>
              <a:rPr sz="2550" spc="-85" dirty="0">
                <a:solidFill>
                  <a:srgbClr val="4B4B4B"/>
                </a:solidFill>
                <a:latin typeface="Calibri"/>
                <a:cs typeface="Calibri"/>
              </a:rPr>
              <a:t>System</a:t>
            </a:r>
            <a:r>
              <a:rPr sz="2550" spc="-7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-80" dirty="0">
                <a:solidFill>
                  <a:srgbClr val="525252"/>
                </a:solidFill>
                <a:latin typeface="Calibri"/>
                <a:cs typeface="Calibri"/>
              </a:rPr>
              <a:t>resources</a:t>
            </a:r>
            <a:r>
              <a:rPr sz="2550" spc="-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550" spc="-40" dirty="0">
                <a:solidFill>
                  <a:srgbClr val="505050"/>
                </a:solidFill>
                <a:latin typeface="Calibri"/>
                <a:cs typeface="Calibri"/>
              </a:rPr>
              <a:t>are </a:t>
            </a:r>
            <a:r>
              <a:rPr sz="2700" spc="-150" dirty="0">
                <a:solidFill>
                  <a:srgbClr val="505050"/>
                </a:solidFill>
                <a:latin typeface="Calibri"/>
                <a:cs typeface="Calibri"/>
              </a:rPr>
              <a:t>dedicated</a:t>
            </a:r>
            <a:r>
              <a:rPr sz="2700" spc="6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700" spc="-360" dirty="0">
                <a:solidFill>
                  <a:srgbClr val="545454"/>
                </a:solidFill>
                <a:latin typeface="Calibri"/>
                <a:cs typeface="Calibri"/>
              </a:rPr>
              <a:t>to</a:t>
            </a:r>
            <a:r>
              <a:rPr sz="2700" spc="204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505050"/>
                </a:solidFill>
                <a:latin typeface="Calibri"/>
                <a:cs typeface="Calibri"/>
              </a:rPr>
              <a:t>running </a:t>
            </a:r>
            <a:r>
              <a:rPr sz="2700" spc="-17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27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700" spc="-200" dirty="0">
                <a:solidFill>
                  <a:srgbClr val="494949"/>
                </a:solidFill>
                <a:latin typeface="Calibri"/>
                <a:cs typeface="Calibri"/>
              </a:rPr>
              <a:t>TinyML</a:t>
            </a:r>
            <a:r>
              <a:rPr sz="2700" spc="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B4B4B"/>
                </a:solidFill>
                <a:latin typeface="Calibri"/>
                <a:cs typeface="Calibri"/>
              </a:rPr>
              <a:t>model.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3857" y="3169708"/>
            <a:ext cx="1440815" cy="6921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3970">
              <a:lnSpc>
                <a:spcPts val="2500"/>
              </a:lnSpc>
              <a:spcBef>
                <a:spcPts val="390"/>
              </a:spcBef>
            </a:pPr>
            <a:r>
              <a:rPr sz="2300" spc="-35" dirty="0">
                <a:latin typeface="Calibri"/>
                <a:cs typeface="Calibri"/>
              </a:rPr>
              <a:t>Switching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in </a:t>
            </a:r>
            <a:r>
              <a:rPr sz="2300" spc="-50" dirty="0">
                <a:latin typeface="Calibri"/>
                <a:cs typeface="Calibri"/>
              </a:rPr>
              <a:t>Milliseconds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07605" y="4409016"/>
            <a:ext cx="3125470" cy="2233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30"/>
              </a:spcBef>
            </a:pPr>
            <a:r>
              <a:rPr sz="3300" spc="70" dirty="0">
                <a:solidFill>
                  <a:srgbClr val="C67234"/>
                </a:solidFill>
                <a:latin typeface="Calibri"/>
                <a:cs typeface="Calibri"/>
              </a:rPr>
              <a:t>Intercom</a:t>
            </a:r>
            <a:r>
              <a:rPr sz="3300" spc="35" dirty="0">
                <a:solidFill>
                  <a:srgbClr val="C67234"/>
                </a:solidFill>
                <a:latin typeface="Calibri"/>
                <a:cs typeface="Calibri"/>
              </a:rPr>
              <a:t> </a:t>
            </a:r>
            <a:r>
              <a:rPr sz="3300" spc="-20" dirty="0">
                <a:solidFill>
                  <a:srgbClr val="D4671C"/>
                </a:solidFill>
                <a:latin typeface="Calibri"/>
                <a:cs typeface="Calibri"/>
              </a:rPr>
              <a:t>Mode</a:t>
            </a:r>
            <a:endParaRPr sz="33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50" spc="-80" dirty="0">
                <a:latin typeface="Calibri"/>
                <a:cs typeface="Calibri"/>
              </a:rPr>
              <a:t>Verify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155" dirty="0">
                <a:solidFill>
                  <a:srgbClr val="1D1D1D"/>
                </a:solidFill>
                <a:latin typeface="Calibri"/>
                <a:cs typeface="Calibri"/>
              </a:rPr>
              <a:t>&amp;</a:t>
            </a:r>
            <a:r>
              <a:rPr sz="3050" spc="-19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151515"/>
                </a:solidFill>
                <a:latin typeface="Calibri"/>
                <a:cs typeface="Calibri"/>
              </a:rPr>
              <a:t>Talk</a:t>
            </a:r>
            <a:endParaRPr sz="3050">
              <a:latin typeface="Calibri"/>
              <a:cs typeface="Calibri"/>
            </a:endParaRPr>
          </a:p>
          <a:p>
            <a:pPr marL="19685" algn="ctr">
              <a:lnSpc>
                <a:spcPts val="2855"/>
              </a:lnSpc>
              <a:spcBef>
                <a:spcPts val="940"/>
              </a:spcBef>
            </a:pPr>
            <a:r>
              <a:rPr sz="2550" spc="-85" dirty="0">
                <a:solidFill>
                  <a:srgbClr val="525252"/>
                </a:solidFill>
                <a:latin typeface="Calibri"/>
                <a:cs typeface="Calibri"/>
              </a:rPr>
              <a:t>System</a:t>
            </a:r>
            <a:r>
              <a:rPr sz="255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550" spc="-85" dirty="0">
                <a:solidFill>
                  <a:srgbClr val="595959"/>
                </a:solidFill>
                <a:latin typeface="Calibri"/>
                <a:cs typeface="Calibri"/>
              </a:rPr>
              <a:t>resources</a:t>
            </a:r>
            <a:r>
              <a:rPr sz="255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565656"/>
                </a:solidFill>
                <a:latin typeface="Calibri"/>
                <a:cs typeface="Calibri"/>
              </a:rPr>
              <a:t>are</a:t>
            </a:r>
            <a:endParaRPr sz="2550">
              <a:latin typeface="Calibri"/>
              <a:cs typeface="Calibri"/>
            </a:endParaRPr>
          </a:p>
          <a:p>
            <a:pPr algn="ctr">
              <a:lnSpc>
                <a:spcPts val="2790"/>
              </a:lnSpc>
            </a:pPr>
            <a:r>
              <a:rPr sz="2700" spc="-35" dirty="0">
                <a:solidFill>
                  <a:srgbClr val="565656"/>
                </a:solidFill>
                <a:latin typeface="Calibri"/>
                <a:cs typeface="Calibri"/>
              </a:rPr>
              <a:t>re</a:t>
            </a:r>
            <a:r>
              <a:rPr sz="270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700" spc="-130" dirty="0">
                <a:solidFill>
                  <a:srgbClr val="525252"/>
                </a:solidFill>
                <a:latin typeface="Calibri"/>
                <a:cs typeface="Calibri"/>
              </a:rPr>
              <a:t>allocated</a:t>
            </a:r>
            <a:r>
              <a:rPr sz="2700" spc="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700" spc="-175" dirty="0">
                <a:solidFill>
                  <a:srgbClr val="565656"/>
                </a:solidFill>
                <a:latin typeface="Calibri"/>
                <a:cs typeface="Calibri"/>
              </a:rPr>
              <a:t>to</a:t>
            </a:r>
            <a:r>
              <a:rPr sz="2700" spc="-12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700" spc="-155" dirty="0">
                <a:solidFill>
                  <a:srgbClr val="595959"/>
                </a:solidFill>
                <a:latin typeface="Calibri"/>
                <a:cs typeface="Calibri"/>
              </a:rPr>
              <a:t>video</a:t>
            </a:r>
            <a:r>
              <a:rPr sz="27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545454"/>
                </a:solidFill>
                <a:latin typeface="Calibri"/>
                <a:cs typeface="Calibri"/>
              </a:rPr>
              <a:t>and</a:t>
            </a:r>
            <a:endParaRPr sz="2700">
              <a:latin typeface="Calibri"/>
              <a:cs typeface="Calibri"/>
            </a:endParaRPr>
          </a:p>
          <a:p>
            <a:pPr marR="8255" algn="ctr">
              <a:lnSpc>
                <a:spcPts val="3055"/>
              </a:lnSpc>
            </a:pPr>
            <a:r>
              <a:rPr sz="2750" spc="-175" dirty="0">
                <a:solidFill>
                  <a:srgbClr val="575757"/>
                </a:solidFill>
                <a:latin typeface="Calibri"/>
                <a:cs typeface="Calibri"/>
              </a:rPr>
              <a:t>audio</a:t>
            </a:r>
            <a:r>
              <a:rPr sz="2750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2750" spc="-80" dirty="0">
                <a:solidFill>
                  <a:srgbClr val="4F4F4F"/>
                </a:solidFill>
                <a:latin typeface="Calibri"/>
                <a:cs typeface="Calibri"/>
              </a:rPr>
              <a:t>streaming.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4750" y="7256991"/>
            <a:ext cx="10716260" cy="18859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43230" marR="436245" algn="ctr">
              <a:lnSpc>
                <a:spcPts val="2850"/>
              </a:lnSpc>
              <a:spcBef>
                <a:spcPts val="525"/>
              </a:spcBef>
            </a:pPr>
            <a:r>
              <a:rPr sz="2700" spc="-125" dirty="0">
                <a:latin typeface="Calibri"/>
                <a:cs typeface="Calibri"/>
              </a:rPr>
              <a:t>Instead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65" dirty="0">
                <a:latin typeface="Calibri"/>
                <a:cs typeface="Calibri"/>
              </a:rPr>
              <a:t>of</a:t>
            </a:r>
            <a:r>
              <a:rPr sz="2700" spc="-165" dirty="0">
                <a:latin typeface="Calibri"/>
                <a:cs typeface="Calibri"/>
              </a:rPr>
              <a:t> </a:t>
            </a:r>
            <a:r>
              <a:rPr sz="2700" spc="-95" dirty="0">
                <a:latin typeface="Calibri"/>
                <a:cs typeface="Calibri"/>
              </a:rPr>
              <a:t>trying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70" dirty="0">
                <a:latin typeface="Calibri"/>
                <a:cs typeface="Calibri"/>
              </a:rPr>
              <a:t>to</a:t>
            </a:r>
            <a:r>
              <a:rPr sz="2700" spc="-200" dirty="0">
                <a:latin typeface="Calibri"/>
                <a:cs typeface="Calibri"/>
              </a:rPr>
              <a:t> </a:t>
            </a:r>
            <a:r>
              <a:rPr sz="2700" spc="-95" dirty="0">
                <a:latin typeface="Calibri"/>
                <a:cs typeface="Calibri"/>
              </a:rPr>
              <a:t>do</a:t>
            </a:r>
            <a:r>
              <a:rPr sz="2700" spc="-180" dirty="0">
                <a:latin typeface="Calibri"/>
                <a:cs typeface="Calibri"/>
              </a:rPr>
              <a:t> </a:t>
            </a:r>
            <a:r>
              <a:rPr sz="2700" spc="-100" dirty="0">
                <a:latin typeface="Calibri"/>
                <a:cs typeface="Calibri"/>
              </a:rPr>
              <a:t>everything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85" dirty="0">
                <a:latin typeface="Calibri"/>
                <a:cs typeface="Calibri"/>
              </a:rPr>
              <a:t>at</a:t>
            </a:r>
            <a:r>
              <a:rPr sz="2700" spc="-250" dirty="0">
                <a:latin typeface="Calibri"/>
                <a:cs typeface="Calibri"/>
              </a:rPr>
              <a:t> </a:t>
            </a:r>
            <a:r>
              <a:rPr sz="2700" spc="-95" dirty="0">
                <a:latin typeface="Calibri"/>
                <a:cs typeface="Calibri"/>
              </a:rPr>
              <a:t>once,</a:t>
            </a:r>
            <a:r>
              <a:rPr sz="2700" spc="-190" dirty="0">
                <a:latin typeface="Calibri"/>
                <a:cs typeface="Calibri"/>
              </a:rPr>
              <a:t> </a:t>
            </a:r>
            <a:r>
              <a:rPr sz="2700" spc="-105" dirty="0">
                <a:latin typeface="Calibri"/>
                <a:cs typeface="Calibri"/>
              </a:rPr>
              <a:t>our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firmware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90" dirty="0">
                <a:latin typeface="Calibri"/>
                <a:cs typeface="Calibri"/>
              </a:rPr>
              <a:t>enables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45" dirty="0">
                <a:latin typeface="Calibri"/>
                <a:cs typeface="Calibri"/>
              </a:rPr>
              <a:t>the</a:t>
            </a:r>
            <a:r>
              <a:rPr sz="2700" spc="-150" dirty="0">
                <a:latin typeface="Calibri"/>
                <a:cs typeface="Calibri"/>
              </a:rPr>
              <a:t> </a:t>
            </a:r>
            <a:r>
              <a:rPr sz="2700" spc="-90" dirty="0">
                <a:latin typeface="Calibri"/>
                <a:cs typeface="Calibri"/>
              </a:rPr>
              <a:t>device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spc="-135" dirty="0">
                <a:latin typeface="Calibri"/>
                <a:cs typeface="Calibri"/>
              </a:rPr>
              <a:t>operate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</a:t>
            </a:r>
            <a:r>
              <a:rPr sz="2700" spc="-204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two</a:t>
            </a:r>
            <a:r>
              <a:rPr sz="2700" spc="-160" dirty="0">
                <a:latin typeface="Calibri"/>
                <a:cs typeface="Calibri"/>
              </a:rPr>
              <a:t> </a:t>
            </a:r>
            <a:r>
              <a:rPr sz="2700" spc="-80" dirty="0">
                <a:latin typeface="Calibri"/>
                <a:cs typeface="Calibri"/>
              </a:rPr>
              <a:t>distinct,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90" dirty="0">
                <a:latin typeface="Calibri"/>
                <a:cs typeface="Calibri"/>
              </a:rPr>
              <a:t>mutually</a:t>
            </a:r>
            <a:r>
              <a:rPr sz="2700" spc="105" dirty="0">
                <a:latin typeface="Calibri"/>
                <a:cs typeface="Calibri"/>
              </a:rPr>
              <a:t> </a:t>
            </a:r>
            <a:r>
              <a:rPr sz="2700" spc="-100" dirty="0">
                <a:latin typeface="Calibri"/>
                <a:cs typeface="Calibri"/>
              </a:rPr>
              <a:t>exclusive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modes.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ts val="3185"/>
              </a:lnSpc>
              <a:spcBef>
                <a:spcPts val="2330"/>
              </a:spcBef>
            </a:pPr>
            <a:r>
              <a:rPr sz="2850" spc="-155" dirty="0">
                <a:latin typeface="Calibri"/>
                <a:cs typeface="Calibri"/>
              </a:rPr>
              <a:t>The</a:t>
            </a:r>
            <a:r>
              <a:rPr sz="2850" spc="-280" dirty="0">
                <a:latin typeface="Calibri"/>
                <a:cs typeface="Calibri"/>
              </a:rPr>
              <a:t> </a:t>
            </a:r>
            <a:r>
              <a:rPr sz="2850" spc="-190" dirty="0">
                <a:latin typeface="Calibri"/>
                <a:cs typeface="Calibri"/>
              </a:rPr>
              <a:t>system</a:t>
            </a:r>
            <a:r>
              <a:rPr sz="2850" spc="-70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intelligently</a:t>
            </a:r>
            <a:r>
              <a:rPr sz="2850" spc="40" dirty="0">
                <a:latin typeface="Calibri"/>
                <a:cs typeface="Calibri"/>
              </a:rPr>
              <a:t> </a:t>
            </a:r>
            <a:r>
              <a:rPr sz="2850" spc="-180" dirty="0">
                <a:latin typeface="Calibri"/>
                <a:cs typeface="Calibri"/>
              </a:rPr>
              <a:t>swaps</a:t>
            </a:r>
            <a:r>
              <a:rPr sz="2850" spc="-120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its</a:t>
            </a:r>
            <a:r>
              <a:rPr sz="2850" spc="-215" dirty="0">
                <a:latin typeface="Calibri"/>
                <a:cs typeface="Calibri"/>
              </a:rPr>
              <a:t> </a:t>
            </a:r>
            <a:r>
              <a:rPr sz="2850" spc="-195" dirty="0">
                <a:latin typeface="Calibri"/>
                <a:cs typeface="Calibri"/>
              </a:rPr>
              <a:t>function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spc="-190" dirty="0">
                <a:latin typeface="Calibri"/>
                <a:cs typeface="Calibri"/>
              </a:rPr>
              <a:t>based</a:t>
            </a:r>
            <a:r>
              <a:rPr sz="2850" spc="-75" dirty="0">
                <a:latin typeface="Calibri"/>
                <a:cs typeface="Calibri"/>
              </a:rPr>
              <a:t> </a:t>
            </a:r>
            <a:r>
              <a:rPr sz="2850" spc="-204" dirty="0">
                <a:latin typeface="Calibri"/>
                <a:cs typeface="Calibri"/>
              </a:rPr>
              <a:t>on</a:t>
            </a:r>
            <a:r>
              <a:rPr sz="2850" spc="-65" dirty="0">
                <a:latin typeface="Calibri"/>
                <a:cs typeface="Calibri"/>
              </a:rPr>
              <a:t> </a:t>
            </a:r>
            <a:r>
              <a:rPr sz="2850" spc="-165" dirty="0">
                <a:latin typeface="Calibri"/>
                <a:cs typeface="Calibri"/>
              </a:rPr>
              <a:t>the</a:t>
            </a:r>
            <a:r>
              <a:rPr sz="2850" spc="-260" dirty="0">
                <a:latin typeface="Calibri"/>
                <a:cs typeface="Calibri"/>
              </a:rPr>
              <a:t> </a:t>
            </a:r>
            <a:r>
              <a:rPr sz="2850" spc="-204" dirty="0">
                <a:latin typeface="Calibri"/>
                <a:cs typeface="Calibri"/>
              </a:rPr>
              <a:t>immediate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spc="-180" dirty="0">
                <a:latin typeface="Calibri"/>
                <a:cs typeface="Calibri"/>
              </a:rPr>
              <a:t>need,</a:t>
            </a:r>
            <a:r>
              <a:rPr sz="2850" spc="-165" dirty="0">
                <a:latin typeface="Calibri"/>
                <a:cs typeface="Calibri"/>
              </a:rPr>
              <a:t> </a:t>
            </a:r>
            <a:r>
              <a:rPr sz="2850" spc="-80" dirty="0">
                <a:latin typeface="Calibri"/>
                <a:cs typeface="Calibri"/>
              </a:rPr>
              <a:t>managing</a:t>
            </a:r>
            <a:endParaRPr sz="2850">
              <a:latin typeface="Calibri"/>
              <a:cs typeface="Calibri"/>
            </a:endParaRPr>
          </a:p>
          <a:p>
            <a:pPr algn="ctr">
              <a:lnSpc>
                <a:spcPts val="3005"/>
              </a:lnSpc>
            </a:pPr>
            <a:r>
              <a:rPr sz="2700" spc="-140" dirty="0">
                <a:latin typeface="Calibri"/>
                <a:cs typeface="Calibri"/>
              </a:rPr>
              <a:t>the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105" dirty="0">
                <a:latin typeface="Calibri"/>
                <a:cs typeface="Calibri"/>
              </a:rPr>
              <a:t>limited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hardware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120" dirty="0">
                <a:latin typeface="Calibri"/>
                <a:cs typeface="Calibri"/>
              </a:rPr>
              <a:t>resources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effectively.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00" y="8242300"/>
            <a:ext cx="393700" cy="660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353300"/>
            <a:ext cx="673100" cy="571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375400"/>
            <a:ext cx="660400" cy="64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5422900"/>
            <a:ext cx="673100" cy="685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68100" y="3683000"/>
            <a:ext cx="4800600" cy="3416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66400" y="990600"/>
            <a:ext cx="825500" cy="482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04900" y="939800"/>
            <a:ext cx="1930400" cy="11811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1595100" y="7518400"/>
            <a:ext cx="2032000" cy="622300"/>
            <a:chOff x="11595100" y="7518400"/>
            <a:chExt cx="2032000" cy="622300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95100" y="7518400"/>
              <a:ext cx="2032000" cy="482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41200" y="8039100"/>
              <a:ext cx="1270000" cy="101600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70300" y="6019800"/>
            <a:ext cx="203200" cy="4699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98483" y="775052"/>
            <a:ext cx="12251055" cy="1600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260"/>
              </a:lnSpc>
              <a:spcBef>
                <a:spcPts val="95"/>
              </a:spcBef>
            </a:pPr>
            <a:r>
              <a:rPr sz="5350" spc="150" dirty="0">
                <a:solidFill>
                  <a:srgbClr val="033664"/>
                </a:solidFill>
              </a:rPr>
              <a:t>This</a:t>
            </a:r>
            <a:r>
              <a:rPr sz="5350" spc="-375" dirty="0">
                <a:solidFill>
                  <a:srgbClr val="033664"/>
                </a:solidFill>
              </a:rPr>
              <a:t> </a:t>
            </a:r>
            <a:r>
              <a:rPr sz="5350" spc="75" dirty="0">
                <a:solidFill>
                  <a:srgbClr val="013464"/>
                </a:solidFill>
              </a:rPr>
              <a:t>Logic</a:t>
            </a:r>
            <a:r>
              <a:rPr sz="5350" spc="-10" dirty="0">
                <a:solidFill>
                  <a:srgbClr val="013464"/>
                </a:solidFill>
              </a:rPr>
              <a:t> </a:t>
            </a:r>
            <a:r>
              <a:rPr sz="5350" dirty="0">
                <a:solidFill>
                  <a:srgbClr val="01386B"/>
                </a:solidFill>
              </a:rPr>
              <a:t>Enables</a:t>
            </a:r>
            <a:r>
              <a:rPr sz="5350" spc="5" dirty="0">
                <a:solidFill>
                  <a:srgbClr val="01386B"/>
                </a:solidFill>
              </a:rPr>
              <a:t> </a:t>
            </a:r>
            <a:r>
              <a:rPr sz="5350" spc="-100" dirty="0">
                <a:solidFill>
                  <a:srgbClr val="073360"/>
                </a:solidFill>
              </a:rPr>
              <a:t>“EagIeEye^.</a:t>
            </a:r>
            <a:endParaRPr sz="5350"/>
          </a:p>
          <a:p>
            <a:pPr marL="29209">
              <a:lnSpc>
                <a:spcPts val="6140"/>
              </a:lnSpc>
            </a:pPr>
            <a:r>
              <a:rPr sz="5250" spc="110" dirty="0">
                <a:solidFill>
                  <a:srgbClr val="013464"/>
                </a:solidFill>
              </a:rPr>
              <a:t>Affordable,</a:t>
            </a:r>
            <a:r>
              <a:rPr sz="5250" spc="235" dirty="0">
                <a:solidFill>
                  <a:srgbClr val="013464"/>
                </a:solidFill>
              </a:rPr>
              <a:t> </a:t>
            </a:r>
            <a:r>
              <a:rPr sz="5250" dirty="0">
                <a:solidFill>
                  <a:srgbClr val="033667"/>
                </a:solidFill>
              </a:rPr>
              <a:t>Full-Featured</a:t>
            </a:r>
            <a:r>
              <a:rPr sz="5250" spc="455" dirty="0">
                <a:solidFill>
                  <a:srgbClr val="033667"/>
                </a:solidFill>
              </a:rPr>
              <a:t> </a:t>
            </a:r>
            <a:r>
              <a:rPr sz="5250" spc="114" dirty="0">
                <a:solidFill>
                  <a:srgbClr val="053867"/>
                </a:solidFill>
              </a:rPr>
              <a:t>Security</a:t>
            </a:r>
            <a:r>
              <a:rPr sz="5250" spc="140" dirty="0">
                <a:solidFill>
                  <a:srgbClr val="053867"/>
                </a:solidFill>
              </a:rPr>
              <a:t> </a:t>
            </a:r>
            <a:r>
              <a:rPr sz="5250" spc="-20" dirty="0">
                <a:solidFill>
                  <a:srgbClr val="053867"/>
                </a:solidFill>
              </a:rPr>
              <a:t>Node</a:t>
            </a:r>
            <a:endParaRPr sz="5250"/>
          </a:p>
        </p:txBody>
      </p:sp>
      <p:sp>
        <p:nvSpPr>
          <p:cNvPr id="17" name="object 17"/>
          <p:cNvSpPr txBox="1"/>
          <p:nvPr/>
        </p:nvSpPr>
        <p:spPr>
          <a:xfrm>
            <a:off x="16108071" y="9468643"/>
            <a:ext cx="99060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450" spc="-390" dirty="0">
                <a:latin typeface="Calibri"/>
                <a:cs typeface="Calibri"/>
              </a:rPr>
              <a:t>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54742" y="9468643"/>
            <a:ext cx="988694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450" spc="-10" dirty="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091" y="2810933"/>
            <a:ext cx="8250555" cy="1682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just">
              <a:lnSpc>
                <a:spcPts val="3415"/>
              </a:lnSpc>
              <a:spcBef>
                <a:spcPts val="114"/>
              </a:spcBef>
            </a:pPr>
            <a:r>
              <a:rPr sz="2900" spc="-50" dirty="0">
                <a:latin typeface="Calibri"/>
                <a:cs typeface="Calibri"/>
              </a:rPr>
              <a:t>*”Primary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Objective“*</a:t>
            </a:r>
            <a:endParaRPr sz="2900">
              <a:latin typeface="Calibri"/>
              <a:cs typeface="Calibri"/>
            </a:endParaRPr>
          </a:p>
          <a:p>
            <a:pPr marL="21590" marR="5080" indent="15875" algn="just">
              <a:lnSpc>
                <a:spcPct val="89200"/>
              </a:lnSpc>
              <a:spcBef>
                <a:spcPts val="305"/>
              </a:spcBef>
            </a:pPr>
            <a:r>
              <a:rPr sz="2850" spc="-204" dirty="0">
                <a:latin typeface="Calibri"/>
                <a:cs typeface="Calibri"/>
              </a:rPr>
              <a:t>To</a:t>
            </a:r>
            <a:r>
              <a:rPr sz="2850" spc="-45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develop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a</a:t>
            </a:r>
            <a:r>
              <a:rPr sz="2850" spc="-225" dirty="0">
                <a:latin typeface="Calibri"/>
                <a:cs typeface="Calibri"/>
              </a:rPr>
              <a:t> </a:t>
            </a:r>
            <a:r>
              <a:rPr sz="2850" spc="-30" dirty="0">
                <a:latin typeface="Calibri"/>
                <a:cs typeface="Calibri"/>
              </a:rPr>
              <a:t>battery-</a:t>
            </a:r>
            <a:r>
              <a:rPr sz="2850" spc="-35" dirty="0">
                <a:latin typeface="Calibri"/>
                <a:cs typeface="Calibri"/>
              </a:rPr>
              <a:t>powered</a:t>
            </a:r>
            <a:r>
              <a:rPr sz="2850" spc="-229" dirty="0">
                <a:latin typeface="Calibri"/>
                <a:cs typeface="Calibri"/>
              </a:rPr>
              <a:t> </a:t>
            </a:r>
            <a:r>
              <a:rPr sz="2850" spc="-20" dirty="0">
                <a:latin typeface="Calibri"/>
                <a:cs typeface="Calibri"/>
              </a:rPr>
              <a:t>security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node</a:t>
            </a:r>
            <a:r>
              <a:rPr sz="2850" spc="10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that</a:t>
            </a:r>
            <a:r>
              <a:rPr sz="2850" spc="-155" dirty="0">
                <a:latin typeface="Calibri"/>
                <a:cs typeface="Calibri"/>
              </a:rPr>
              <a:t> </a:t>
            </a:r>
            <a:r>
              <a:rPr sz="2850" spc="-120" dirty="0">
                <a:latin typeface="Calibri"/>
                <a:cs typeface="Calibri"/>
              </a:rPr>
              <a:t>combines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Edge</a:t>
            </a:r>
            <a:r>
              <a:rPr sz="2950" spc="-130" dirty="0">
                <a:latin typeface="Calibri"/>
                <a:cs typeface="Calibri"/>
              </a:rPr>
              <a:t> </a:t>
            </a:r>
            <a:r>
              <a:rPr sz="2950" spc="-114" dirty="0">
                <a:latin typeface="Calibri"/>
                <a:cs typeface="Calibri"/>
              </a:rPr>
              <a:t>AI</a:t>
            </a:r>
            <a:r>
              <a:rPr sz="2950" spc="-200" dirty="0">
                <a:latin typeface="Calibri"/>
                <a:cs typeface="Calibri"/>
              </a:rPr>
              <a:t> </a:t>
            </a:r>
            <a:r>
              <a:rPr sz="2950" spc="-90" dirty="0">
                <a:latin typeface="Calibri"/>
                <a:cs typeface="Calibri"/>
              </a:rPr>
              <a:t>Person</a:t>
            </a:r>
            <a:r>
              <a:rPr sz="2950" spc="55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detection,</a:t>
            </a:r>
            <a:r>
              <a:rPr sz="2950" spc="-45" dirty="0">
                <a:latin typeface="Calibri"/>
                <a:cs typeface="Calibri"/>
              </a:rPr>
              <a:t> </a:t>
            </a:r>
            <a:r>
              <a:rPr sz="2950" spc="-100" dirty="0">
                <a:latin typeface="Calibri"/>
                <a:cs typeface="Calibri"/>
              </a:rPr>
              <a:t>secure</a:t>
            </a:r>
            <a:r>
              <a:rPr sz="2950" spc="-55" dirty="0">
                <a:latin typeface="Calibri"/>
                <a:cs typeface="Calibri"/>
              </a:rPr>
              <a:t> </a:t>
            </a:r>
            <a:r>
              <a:rPr sz="2950" spc="-90" dirty="0">
                <a:latin typeface="Calibri"/>
                <a:cs typeface="Calibri"/>
              </a:rPr>
              <a:t>Cloud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spc="-85" dirty="0">
                <a:latin typeface="Calibri"/>
                <a:cs typeface="Calibri"/>
              </a:rPr>
              <a:t>Evidence</a:t>
            </a:r>
            <a:r>
              <a:rPr sz="2950" spc="-15" dirty="0">
                <a:latin typeface="Calibri"/>
                <a:cs typeface="Calibri"/>
              </a:rPr>
              <a:t> </a:t>
            </a:r>
            <a:r>
              <a:rPr sz="2950" spc="-105" dirty="0">
                <a:latin typeface="Calibri"/>
                <a:cs typeface="Calibri"/>
              </a:rPr>
              <a:t>Storage,</a:t>
            </a:r>
            <a:r>
              <a:rPr sz="2950" spc="-60" dirty="0">
                <a:latin typeface="Calibri"/>
                <a:cs typeface="Calibri"/>
              </a:rPr>
              <a:t> </a:t>
            </a:r>
            <a:r>
              <a:rPr sz="2900" spc="-155" dirty="0">
                <a:latin typeface="Calibri"/>
                <a:cs typeface="Calibri"/>
              </a:rPr>
              <a:t>and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Two-</a:t>
            </a:r>
            <a:r>
              <a:rPr sz="2900" spc="-100" dirty="0">
                <a:latin typeface="Calibri"/>
                <a:cs typeface="Calibri"/>
              </a:rPr>
              <a:t>WayAudio</a:t>
            </a:r>
            <a:r>
              <a:rPr sz="2900" spc="1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Intercom.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4031" y="4657019"/>
            <a:ext cx="8780780" cy="431355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850" spc="-95" dirty="0">
                <a:latin typeface="Calibri"/>
                <a:cs typeface="Calibri"/>
              </a:rPr>
              <a:t>Key</a:t>
            </a:r>
            <a:r>
              <a:rPr sz="2850" spc="-55" dirty="0">
                <a:latin typeface="Calibri"/>
                <a:cs typeface="Calibri"/>
              </a:rPr>
              <a:t> </a:t>
            </a:r>
            <a:r>
              <a:rPr sz="2850" spc="-50" dirty="0">
                <a:latin typeface="Calibri"/>
                <a:cs typeface="Calibri"/>
              </a:rPr>
              <a:t>Deliverables:</a:t>
            </a:r>
            <a:endParaRPr sz="2850" dirty="0">
              <a:latin typeface="Calibri"/>
              <a:cs typeface="Calibri"/>
            </a:endParaRPr>
          </a:p>
          <a:p>
            <a:pPr marL="928369" marR="5080" indent="-1905">
              <a:lnSpc>
                <a:spcPts val="3100"/>
              </a:lnSpc>
              <a:spcBef>
                <a:spcPts val="1200"/>
              </a:spcBef>
            </a:pPr>
            <a:r>
              <a:rPr sz="2850" spc="-55" dirty="0">
                <a:latin typeface="Calibri"/>
                <a:cs typeface="Calibri"/>
              </a:rPr>
              <a:t>Hardware:</a:t>
            </a:r>
            <a:r>
              <a:rPr sz="2850" spc="-95" dirty="0">
                <a:latin typeface="Calibri"/>
                <a:cs typeface="Calibri"/>
              </a:rPr>
              <a:t> </a:t>
            </a:r>
            <a:r>
              <a:rPr sz="2850" spc="-220" dirty="0">
                <a:latin typeface="Calibri"/>
                <a:cs typeface="Calibri"/>
              </a:rPr>
              <a:t>A</a:t>
            </a:r>
            <a:r>
              <a:rPr sz="2850" spc="-160" dirty="0">
                <a:latin typeface="Calibri"/>
                <a:cs typeface="Calibri"/>
              </a:rPr>
              <a:t> </a:t>
            </a:r>
            <a:r>
              <a:rPr sz="2850" spc="-80" dirty="0">
                <a:latin typeface="Calibri"/>
                <a:cs typeface="Calibri"/>
              </a:rPr>
              <a:t>self-</a:t>
            </a:r>
            <a:r>
              <a:rPr sz="2850" spc="-100" dirty="0">
                <a:latin typeface="Calibri"/>
                <a:cs typeface="Calibri"/>
              </a:rPr>
              <a:t>contained</a:t>
            </a:r>
            <a:r>
              <a:rPr sz="2850" spc="-275" dirty="0">
                <a:latin typeface="Calibri"/>
                <a:cs typeface="Calibri"/>
              </a:rPr>
              <a:t> </a:t>
            </a:r>
            <a:r>
              <a:rPr sz="2850" spc="-105" dirty="0">
                <a:latin typeface="Calibri"/>
                <a:cs typeface="Calibri"/>
              </a:rPr>
              <a:t>unit</a:t>
            </a:r>
            <a:r>
              <a:rPr sz="2850" spc="-114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using</a:t>
            </a:r>
            <a:r>
              <a:rPr sz="2850" spc="-30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an</a:t>
            </a:r>
            <a:r>
              <a:rPr sz="2850" spc="-220" dirty="0">
                <a:latin typeface="Calibri"/>
                <a:cs typeface="Calibri"/>
              </a:rPr>
              <a:t> </a:t>
            </a:r>
            <a:r>
              <a:rPr sz="2850" spc="-170" dirty="0">
                <a:latin typeface="Calibri"/>
                <a:cs typeface="Calibri"/>
              </a:rPr>
              <a:t>ESP32-</a:t>
            </a:r>
            <a:r>
              <a:rPr sz="2850" spc="-165" dirty="0">
                <a:latin typeface="Calibri"/>
                <a:cs typeface="Calibri"/>
              </a:rPr>
              <a:t>CAM</a:t>
            </a:r>
            <a:r>
              <a:rPr sz="2850" spc="155" dirty="0">
                <a:latin typeface="Calibri"/>
                <a:cs typeface="Calibri"/>
              </a:rPr>
              <a:t> </a:t>
            </a:r>
            <a:r>
              <a:rPr sz="2850" spc="-40" dirty="0">
                <a:latin typeface="Calibri"/>
                <a:cs typeface="Calibri"/>
              </a:rPr>
              <a:t>with </a:t>
            </a:r>
            <a:r>
              <a:rPr sz="2850" spc="-70" dirty="0">
                <a:latin typeface="Calibri"/>
                <a:cs typeface="Calibri"/>
              </a:rPr>
              <a:t>a</a:t>
            </a:r>
            <a:r>
              <a:rPr sz="2850" spc="-125" dirty="0">
                <a:latin typeface="Calibri"/>
                <a:cs typeface="Calibri"/>
              </a:rPr>
              <a:t> </a:t>
            </a:r>
            <a:r>
              <a:rPr sz="2850" spc="-120" dirty="0">
                <a:latin typeface="Calibri"/>
                <a:cs typeface="Calibri"/>
              </a:rPr>
              <a:t>high-</a:t>
            </a:r>
            <a:r>
              <a:rPr sz="2850" spc="-70" dirty="0">
                <a:latin typeface="Calibri"/>
                <a:cs typeface="Calibri"/>
              </a:rPr>
              <a:t>quality</a:t>
            </a:r>
            <a:r>
              <a:rPr sz="2850" spc="70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l2S</a:t>
            </a:r>
            <a:r>
              <a:rPr sz="2850" spc="-105" dirty="0">
                <a:latin typeface="Calibri"/>
                <a:cs typeface="Calibri"/>
              </a:rPr>
              <a:t> </a:t>
            </a:r>
            <a:r>
              <a:rPr lang="en-US" sz="2850" spc="-155" dirty="0">
                <a:latin typeface="Calibri"/>
                <a:cs typeface="Calibri"/>
              </a:rPr>
              <a:t>mi</a:t>
            </a:r>
            <a:r>
              <a:rPr sz="2850" spc="-155" dirty="0">
                <a:latin typeface="Calibri"/>
                <a:cs typeface="Calibri"/>
              </a:rPr>
              <a:t>crophone</a:t>
            </a:r>
            <a:r>
              <a:rPr sz="2850" spc="105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and</a:t>
            </a:r>
            <a:r>
              <a:rPr sz="2850" spc="-65" dirty="0">
                <a:latin typeface="Calibri"/>
                <a:cs typeface="Calibri"/>
              </a:rPr>
              <a:t> </a:t>
            </a:r>
            <a:r>
              <a:rPr sz="2850" spc="-120" dirty="0">
                <a:latin typeface="Calibri"/>
                <a:cs typeface="Calibri"/>
              </a:rPr>
              <a:t>Speaker</a:t>
            </a:r>
            <a:r>
              <a:rPr sz="2850" spc="-75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interface.</a:t>
            </a:r>
            <a:endParaRPr sz="2850" dirty="0">
              <a:latin typeface="Calibri"/>
              <a:cs typeface="Calibri"/>
            </a:endParaRPr>
          </a:p>
          <a:p>
            <a:pPr marL="928369" marR="1450340" indent="-2540">
              <a:lnSpc>
                <a:spcPts val="3100"/>
              </a:lnSpc>
              <a:spcBef>
                <a:spcPts val="1150"/>
              </a:spcBef>
            </a:pPr>
            <a:r>
              <a:rPr sz="2900" spc="-95" dirty="0">
                <a:latin typeface="Calibri"/>
                <a:cs typeface="Calibri"/>
              </a:rPr>
              <a:t>Edge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AI:</a:t>
            </a:r>
            <a:r>
              <a:rPr sz="2900" spc="-229" dirty="0">
                <a:latin typeface="Calibri"/>
                <a:cs typeface="Calibri"/>
              </a:rPr>
              <a:t> </a:t>
            </a:r>
            <a:r>
              <a:rPr sz="2900" spc="-240" dirty="0">
                <a:latin typeface="Calibri"/>
                <a:cs typeface="Calibri"/>
              </a:rPr>
              <a:t>A</a:t>
            </a:r>
            <a:r>
              <a:rPr sz="2900" spc="-185" dirty="0">
                <a:latin typeface="Calibri"/>
                <a:cs typeface="Calibri"/>
              </a:rPr>
              <a:t> </a:t>
            </a:r>
            <a:r>
              <a:rPr sz="2900" spc="-130" dirty="0">
                <a:latin typeface="Calibri"/>
                <a:cs typeface="Calibri"/>
              </a:rPr>
              <a:t>quantized</a:t>
            </a:r>
            <a:r>
              <a:rPr sz="2900" spc="80" dirty="0">
                <a:latin typeface="Calibri"/>
                <a:cs typeface="Calibri"/>
              </a:rPr>
              <a:t> </a:t>
            </a:r>
            <a:r>
              <a:rPr sz="2900" spc="-195" dirty="0">
                <a:latin typeface="Calibri"/>
                <a:cs typeface="Calibri"/>
              </a:rPr>
              <a:t>TinyML</a:t>
            </a:r>
            <a:r>
              <a:rPr sz="2900" spc="30" dirty="0">
                <a:latin typeface="Calibri"/>
                <a:cs typeface="Calibri"/>
              </a:rPr>
              <a:t> </a:t>
            </a:r>
            <a:r>
              <a:rPr sz="2900" spc="-145" dirty="0">
                <a:latin typeface="Calibri"/>
                <a:cs typeface="Calibri"/>
              </a:rPr>
              <a:t>model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180" dirty="0">
                <a:latin typeface="Calibri"/>
                <a:cs typeface="Calibri"/>
              </a:rPr>
              <a:t>(MobileNet) </a:t>
            </a:r>
            <a:r>
              <a:rPr sz="2900" spc="-125" dirty="0">
                <a:latin typeface="Calibri"/>
                <a:cs typeface="Calibri"/>
              </a:rPr>
              <a:t>optimised</a:t>
            </a:r>
            <a:r>
              <a:rPr sz="2900" spc="70" dirty="0">
                <a:latin typeface="Calibri"/>
                <a:cs typeface="Calibri"/>
              </a:rPr>
              <a:t> </a:t>
            </a:r>
            <a:r>
              <a:rPr sz="2900" spc="-180" dirty="0">
                <a:latin typeface="Calibri"/>
                <a:cs typeface="Calibri"/>
              </a:rPr>
              <a:t>for</a:t>
            </a:r>
            <a:r>
              <a:rPr sz="2900" spc="-160" dirty="0">
                <a:latin typeface="Calibri"/>
                <a:cs typeface="Calibri"/>
              </a:rPr>
              <a:t> </a:t>
            </a:r>
            <a:r>
              <a:rPr sz="2900" spc="-155" dirty="0">
                <a:latin typeface="Calibri"/>
                <a:cs typeface="Calibri"/>
              </a:rPr>
              <a:t>on-</a:t>
            </a:r>
            <a:r>
              <a:rPr sz="2900" spc="-140" dirty="0">
                <a:latin typeface="Calibri"/>
                <a:cs typeface="Calibri"/>
              </a:rPr>
              <a:t>device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160" dirty="0">
                <a:latin typeface="Calibri"/>
                <a:cs typeface="Calibri"/>
              </a:rPr>
              <a:t>person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35" dirty="0">
                <a:latin typeface="Calibri"/>
                <a:cs typeface="Calibri"/>
              </a:rPr>
              <a:t>detection.</a:t>
            </a:r>
            <a:endParaRPr sz="2900" dirty="0">
              <a:latin typeface="Calibri"/>
              <a:cs typeface="Calibri"/>
            </a:endParaRPr>
          </a:p>
          <a:p>
            <a:pPr marL="930275" marR="504825" indent="-3175">
              <a:lnSpc>
                <a:spcPts val="3100"/>
              </a:lnSpc>
              <a:spcBef>
                <a:spcPts val="1200"/>
              </a:spcBef>
            </a:pPr>
            <a:r>
              <a:rPr sz="2850" spc="-35" dirty="0">
                <a:latin typeface="Calibri"/>
                <a:cs typeface="Calibri"/>
              </a:rPr>
              <a:t>Cloud</a:t>
            </a:r>
            <a:r>
              <a:rPr sz="2850" spc="-140" dirty="0">
                <a:latin typeface="Calibri"/>
                <a:cs typeface="Calibri"/>
              </a:rPr>
              <a:t> </a:t>
            </a:r>
            <a:r>
              <a:rPr sz="2850" spc="-60" dirty="0">
                <a:latin typeface="Calibri"/>
                <a:cs typeface="Calibri"/>
              </a:rPr>
              <a:t>Backend:</a:t>
            </a:r>
            <a:r>
              <a:rPr sz="2850" spc="-100" dirty="0">
                <a:latin typeface="Calibri"/>
                <a:cs typeface="Calibri"/>
              </a:rPr>
              <a:t> Secure,</a:t>
            </a:r>
            <a:r>
              <a:rPr sz="2850" spc="-25" dirty="0">
                <a:latin typeface="Calibri"/>
                <a:cs typeface="Calibri"/>
              </a:rPr>
              <a:t> </a:t>
            </a:r>
            <a:r>
              <a:rPr sz="2850" spc="-135" dirty="0">
                <a:latin typeface="Calibri"/>
                <a:cs typeface="Calibri"/>
              </a:rPr>
              <a:t>event-</a:t>
            </a:r>
            <a:r>
              <a:rPr sz="2850" spc="-110" dirty="0">
                <a:latin typeface="Calibri"/>
                <a:cs typeface="Calibri"/>
              </a:rPr>
              <a:t>based</a:t>
            </a:r>
            <a:r>
              <a:rPr sz="2850" spc="30" dirty="0">
                <a:latin typeface="Calibri"/>
                <a:cs typeface="Calibri"/>
              </a:rPr>
              <a:t> </a:t>
            </a:r>
            <a:r>
              <a:rPr sz="2850" spc="-120" dirty="0">
                <a:latin typeface="Calibri"/>
                <a:cs typeface="Calibri"/>
              </a:rPr>
              <a:t>image</a:t>
            </a:r>
            <a:r>
              <a:rPr sz="2850" spc="-55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storage</a:t>
            </a:r>
            <a:r>
              <a:rPr sz="2850" spc="20" dirty="0">
                <a:latin typeface="Calibri"/>
                <a:cs typeface="Calibri"/>
              </a:rPr>
              <a:t> </a:t>
            </a:r>
            <a:r>
              <a:rPr sz="2850" spc="-25" dirty="0">
                <a:latin typeface="Calibri"/>
                <a:cs typeface="Calibri"/>
              </a:rPr>
              <a:t>to </a:t>
            </a:r>
            <a:r>
              <a:rPr sz="2850" spc="-135" dirty="0">
                <a:latin typeface="Calibri"/>
                <a:cs typeface="Calibri"/>
              </a:rPr>
              <a:t>prevent</a:t>
            </a:r>
            <a:r>
              <a:rPr sz="2850" spc="25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evidence</a:t>
            </a:r>
            <a:r>
              <a:rPr sz="2850" spc="-35" dirty="0">
                <a:latin typeface="Calibri"/>
                <a:cs typeface="Calibri"/>
              </a:rPr>
              <a:t> </a:t>
            </a:r>
            <a:r>
              <a:rPr sz="2850" spc="-20" dirty="0">
                <a:latin typeface="Calibri"/>
                <a:cs typeface="Calibri"/>
              </a:rPr>
              <a:t>loss.</a:t>
            </a:r>
            <a:endParaRPr sz="2850" dirty="0">
              <a:latin typeface="Calibri"/>
              <a:cs typeface="Calibri"/>
            </a:endParaRPr>
          </a:p>
          <a:p>
            <a:pPr marL="927735" marR="866140" indent="-1905">
              <a:lnSpc>
                <a:spcPts val="3100"/>
              </a:lnSpc>
              <a:spcBef>
                <a:spcPts val="1200"/>
              </a:spcBef>
            </a:pPr>
            <a:r>
              <a:rPr sz="2900" spc="-150" dirty="0">
                <a:latin typeface="Calibri"/>
                <a:cs typeface="Calibri"/>
              </a:rPr>
              <a:t>Mobile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35" dirty="0">
                <a:latin typeface="Calibri"/>
                <a:cs typeface="Calibri"/>
              </a:rPr>
              <a:t>App: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335" dirty="0">
                <a:latin typeface="Calibri"/>
                <a:cs typeface="Calibri"/>
              </a:rPr>
              <a:t>A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185" dirty="0">
                <a:latin typeface="Calibri"/>
                <a:cs typeface="Calibri"/>
              </a:rPr>
              <a:t>custom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145" dirty="0">
                <a:latin typeface="Calibri"/>
                <a:cs typeface="Calibri"/>
              </a:rPr>
              <a:t>interface</a:t>
            </a:r>
            <a:r>
              <a:rPr sz="2900" spc="60" dirty="0">
                <a:latin typeface="Calibri"/>
                <a:cs typeface="Calibri"/>
              </a:rPr>
              <a:t> </a:t>
            </a:r>
            <a:r>
              <a:rPr sz="2900" spc="-180" dirty="0">
                <a:latin typeface="Calibri"/>
                <a:cs typeface="Calibri"/>
              </a:rPr>
              <a:t>for</a:t>
            </a:r>
            <a:r>
              <a:rPr sz="2900" spc="-140" dirty="0">
                <a:latin typeface="Calibri"/>
                <a:cs typeface="Calibri"/>
              </a:rPr>
              <a:t> </a:t>
            </a:r>
            <a:r>
              <a:rPr sz="2900" spc="-130" dirty="0">
                <a:latin typeface="Calibri"/>
                <a:cs typeface="Calibri"/>
              </a:rPr>
              <a:t>receiving</a:t>
            </a:r>
            <a:r>
              <a:rPr sz="2900" spc="65" dirty="0">
                <a:latin typeface="Calibri"/>
                <a:cs typeface="Calibri"/>
              </a:rPr>
              <a:t> </a:t>
            </a:r>
            <a:r>
              <a:rPr sz="2900" spc="-75" dirty="0">
                <a:latin typeface="Calibri"/>
                <a:cs typeface="Calibri"/>
              </a:rPr>
              <a:t>instant </a:t>
            </a:r>
            <a:r>
              <a:rPr sz="2900" spc="-114" dirty="0">
                <a:latin typeface="Calibri"/>
                <a:cs typeface="Calibri"/>
              </a:rPr>
              <a:t>alerts</a:t>
            </a:r>
            <a:r>
              <a:rPr sz="2900" dirty="0">
                <a:latin typeface="Calibri"/>
                <a:cs typeface="Calibri"/>
              </a:rPr>
              <a:t> </a:t>
            </a:r>
            <a:r>
              <a:rPr sz="2900" spc="-160" dirty="0">
                <a:latin typeface="Calibri"/>
                <a:cs typeface="Calibri"/>
              </a:rPr>
              <a:t>and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initiating’Push-to-Talk’</a:t>
            </a:r>
            <a:r>
              <a:rPr sz="2900" spc="-270" dirty="0">
                <a:latin typeface="Calibri"/>
                <a:cs typeface="Calibri"/>
              </a:rPr>
              <a:t> </a:t>
            </a:r>
            <a:r>
              <a:rPr sz="2900" spc="-160" dirty="0">
                <a:latin typeface="Calibri"/>
                <a:cs typeface="Calibri"/>
              </a:rPr>
              <a:t>intercom</a:t>
            </a:r>
            <a:r>
              <a:rPr sz="2900" spc="114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calls.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46272" y="7026980"/>
            <a:ext cx="2428875" cy="4845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165" dirty="0">
                <a:solidFill>
                  <a:srgbClr val="708C9E"/>
                </a:solidFill>
                <a:latin typeface="Arial MT"/>
                <a:cs typeface="Arial MT"/>
              </a:rPr>
              <a:t>›o:vo1ooooo1ooooo1ooo!</a:t>
            </a:r>
            <a:endParaRPr sz="1300">
              <a:latin typeface="Arial MT"/>
              <a:cs typeface="Arial MT"/>
            </a:endParaRPr>
          </a:p>
          <a:p>
            <a:pPr marL="24130">
              <a:lnSpc>
                <a:spcPct val="100000"/>
              </a:lnSpc>
              <a:spcBef>
                <a:spcPts val="890"/>
              </a:spcBef>
              <a:tabLst>
                <a:tab pos="327025" algn="l"/>
              </a:tabLst>
            </a:pPr>
            <a:r>
              <a:rPr sz="950" spc="55" dirty="0">
                <a:solidFill>
                  <a:srgbClr val="7C93A3"/>
                </a:solidFill>
                <a:latin typeface="Calibri"/>
                <a:cs typeface="Calibri"/>
              </a:rPr>
              <a:t>'</a:t>
            </a:r>
            <a:r>
              <a:rPr sz="950" spc="409" dirty="0">
                <a:solidFill>
                  <a:srgbClr val="7C93A3"/>
                </a:solidFill>
                <a:latin typeface="Calibri"/>
                <a:cs typeface="Calibri"/>
              </a:rPr>
              <a:t> </a:t>
            </a:r>
            <a:r>
              <a:rPr sz="950" spc="5" dirty="0">
                <a:solidFill>
                  <a:srgbClr val="75909E"/>
                </a:solidFill>
                <a:latin typeface="Calibri"/>
                <a:cs typeface="Calibri"/>
              </a:rPr>
              <a:t>'</a:t>
            </a:r>
            <a:r>
              <a:rPr sz="950" dirty="0">
                <a:solidFill>
                  <a:srgbClr val="75909E"/>
                </a:solidFill>
                <a:latin typeface="Calibri"/>
                <a:cs typeface="Calibri"/>
              </a:rPr>
              <a:t>	</a:t>
            </a:r>
            <a:r>
              <a:rPr sz="950" spc="-50" dirty="0">
                <a:solidFill>
                  <a:srgbClr val="577489"/>
                </a:solidFill>
                <a:latin typeface="Calibri"/>
                <a:cs typeface="Calibri"/>
              </a:rPr>
              <a:t>1</a:t>
            </a:r>
            <a:r>
              <a:rPr sz="950" spc="195" dirty="0">
                <a:solidFill>
                  <a:srgbClr val="5774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B899E"/>
                </a:solidFill>
                <a:latin typeface="Calibri"/>
                <a:cs typeface="Calibri"/>
              </a:rPr>
              <a:t>1</a:t>
            </a:r>
            <a:r>
              <a:rPr sz="950" spc="204" dirty="0">
                <a:solidFill>
                  <a:srgbClr val="6B899E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590A1"/>
                </a:solidFill>
                <a:latin typeface="Calibri"/>
                <a:cs typeface="Calibri"/>
              </a:rPr>
              <a:t>0</a:t>
            </a:r>
            <a:r>
              <a:rPr sz="950" spc="130" dirty="0">
                <a:solidFill>
                  <a:srgbClr val="7590A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08A9C"/>
                </a:solidFill>
                <a:latin typeface="Calibri"/>
                <a:cs typeface="Calibri"/>
              </a:rPr>
              <a:t>0</a:t>
            </a:r>
            <a:r>
              <a:rPr sz="950" spc="90" dirty="0">
                <a:solidFill>
                  <a:srgbClr val="708A9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08295"/>
                </a:solidFill>
                <a:latin typeface="Calibri"/>
                <a:cs typeface="Calibri"/>
              </a:rPr>
              <a:t>1</a:t>
            </a:r>
            <a:r>
              <a:rPr sz="950" spc="170" dirty="0">
                <a:solidFill>
                  <a:srgbClr val="608295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490A5"/>
                </a:solidFill>
                <a:latin typeface="Calibri"/>
                <a:cs typeface="Calibri"/>
              </a:rPr>
              <a:t>1</a:t>
            </a:r>
            <a:r>
              <a:rPr sz="950" spc="125" dirty="0">
                <a:solidFill>
                  <a:srgbClr val="7490A5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7295A8"/>
                </a:solidFill>
                <a:latin typeface="Calibri"/>
                <a:cs typeface="Calibri"/>
              </a:rPr>
              <a:t>0</a:t>
            </a:r>
            <a:r>
              <a:rPr sz="950" spc="170" dirty="0">
                <a:solidFill>
                  <a:srgbClr val="7295A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7C90"/>
                </a:solidFill>
                <a:latin typeface="Calibri"/>
                <a:cs typeface="Calibri"/>
              </a:rPr>
              <a:t>0</a:t>
            </a:r>
            <a:r>
              <a:rPr sz="950" spc="130" dirty="0">
                <a:solidFill>
                  <a:srgbClr val="5B7C9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7859A"/>
                </a:solidFill>
                <a:latin typeface="Calibri"/>
                <a:cs typeface="Calibri"/>
              </a:rPr>
              <a:t>1</a:t>
            </a:r>
            <a:r>
              <a:rPr sz="950" spc="204" dirty="0">
                <a:solidFill>
                  <a:srgbClr val="67859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9798E"/>
                </a:solidFill>
                <a:latin typeface="Calibri"/>
                <a:cs typeface="Calibri"/>
              </a:rPr>
              <a:t>0</a:t>
            </a:r>
            <a:r>
              <a:rPr sz="950" spc="50" dirty="0">
                <a:solidFill>
                  <a:srgbClr val="59798E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790AA"/>
                </a:solidFill>
                <a:latin typeface="Calibri"/>
                <a:cs typeface="Calibri"/>
              </a:rPr>
              <a:t>9</a:t>
            </a:r>
            <a:r>
              <a:rPr sz="950" spc="229" dirty="0">
                <a:solidFill>
                  <a:srgbClr val="6790A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46982"/>
                </a:solidFill>
                <a:latin typeface="Calibri"/>
                <a:cs typeface="Calibri"/>
              </a:rPr>
              <a:t>T</a:t>
            </a:r>
            <a:r>
              <a:rPr sz="950" spc="150" dirty="0">
                <a:solidFill>
                  <a:srgbClr val="446982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497089"/>
                </a:solidFill>
                <a:latin typeface="Calibri"/>
                <a:cs typeface="Calibri"/>
              </a:rPr>
              <a:t>0</a:t>
            </a:r>
            <a:r>
              <a:rPr sz="950" spc="240" dirty="0">
                <a:solidFill>
                  <a:srgbClr val="4970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E97AF"/>
                </a:solidFill>
                <a:latin typeface="Calibri"/>
                <a:cs typeface="Calibri"/>
              </a:rPr>
              <a:t>9</a:t>
            </a:r>
            <a:r>
              <a:rPr sz="950" spc="340" dirty="0">
                <a:solidFill>
                  <a:srgbClr val="6E97A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B90AA"/>
                </a:solidFill>
                <a:latin typeface="Calibri"/>
                <a:cs typeface="Calibri"/>
              </a:rPr>
              <a:t>T</a:t>
            </a:r>
            <a:r>
              <a:rPr sz="950" spc="150" dirty="0">
                <a:solidFill>
                  <a:srgbClr val="6B90A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48EA5"/>
                </a:solidFill>
                <a:latin typeface="Calibri"/>
                <a:cs typeface="Calibri"/>
              </a:rPr>
              <a:t>0</a:t>
            </a:r>
            <a:r>
              <a:rPr sz="950" spc="165" dirty="0">
                <a:solidFill>
                  <a:srgbClr val="648EA5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089A1"/>
                </a:solidFill>
                <a:latin typeface="Calibri"/>
                <a:cs typeface="Calibri"/>
              </a:rPr>
              <a:t>0</a:t>
            </a:r>
            <a:r>
              <a:rPr sz="950" spc="340" dirty="0">
                <a:solidFill>
                  <a:srgbClr val="6089A1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426982"/>
                </a:solidFill>
                <a:latin typeface="Calibri"/>
                <a:cs typeface="Calibri"/>
              </a:rPr>
              <a:t>T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900" y="8623300"/>
            <a:ext cx="673100" cy="711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00" y="6870700"/>
            <a:ext cx="15621000" cy="1435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7300" y="5651500"/>
            <a:ext cx="622300" cy="774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300" y="4660900"/>
            <a:ext cx="876300" cy="723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3800" y="3632200"/>
            <a:ext cx="762000" cy="762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699" y="6454776"/>
            <a:ext cx="431800" cy="444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9500" y="2705100"/>
            <a:ext cx="977900" cy="5715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3000" y="1752600"/>
            <a:ext cx="850900" cy="4572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16516" y="6862233"/>
            <a:ext cx="0" cy="1312545"/>
          </a:xfrm>
          <a:custGeom>
            <a:avLst/>
            <a:gdLst/>
            <a:ahLst/>
            <a:cxnLst/>
            <a:rect l="l" t="t" r="r" b="b"/>
            <a:pathLst>
              <a:path h="1312545">
                <a:moveTo>
                  <a:pt x="0" y="1312333"/>
                </a:moveTo>
                <a:lnTo>
                  <a:pt x="0" y="0"/>
                </a:lnTo>
              </a:path>
            </a:pathLst>
          </a:custGeom>
          <a:ln w="21166">
            <a:solidFill>
              <a:srgbClr val="3454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05933" y="6862233"/>
            <a:ext cx="15591790" cy="1490345"/>
            <a:chOff x="905933" y="6862233"/>
            <a:chExt cx="15591790" cy="1490345"/>
          </a:xfrm>
        </p:grpSpPr>
        <p:sp>
          <p:nvSpPr>
            <p:cNvPr id="12" name="object 12"/>
            <p:cNvSpPr/>
            <p:nvPr/>
          </p:nvSpPr>
          <p:spPr>
            <a:xfrm>
              <a:off x="16486712" y="6862233"/>
              <a:ext cx="0" cy="1490345"/>
            </a:xfrm>
            <a:custGeom>
              <a:avLst/>
              <a:gdLst/>
              <a:ahLst/>
              <a:cxnLst/>
              <a:rect l="l" t="t" r="r" b="b"/>
              <a:pathLst>
                <a:path h="1490345">
                  <a:moveTo>
                    <a:pt x="0" y="1490133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454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5933" y="6872816"/>
              <a:ext cx="15591790" cy="0"/>
            </a:xfrm>
            <a:custGeom>
              <a:avLst/>
              <a:gdLst/>
              <a:ahLst/>
              <a:cxnLst/>
              <a:rect l="l" t="t" r="r" b="b"/>
              <a:pathLst>
                <a:path w="15591790">
                  <a:moveTo>
                    <a:pt x="0" y="0"/>
                  </a:moveTo>
                  <a:lnTo>
                    <a:pt x="15591367" y="0"/>
                  </a:lnTo>
                </a:path>
              </a:pathLst>
            </a:custGeom>
            <a:ln w="21166">
              <a:solidFill>
                <a:srgbClr val="3454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5933" y="8341783"/>
              <a:ext cx="15591790" cy="0"/>
            </a:xfrm>
            <a:custGeom>
              <a:avLst/>
              <a:gdLst/>
              <a:ahLst/>
              <a:cxnLst/>
              <a:rect l="l" t="t" r="r" b="b"/>
              <a:pathLst>
                <a:path w="15591790">
                  <a:moveTo>
                    <a:pt x="0" y="0"/>
                  </a:moveTo>
                  <a:lnTo>
                    <a:pt x="15591367" y="0"/>
                  </a:lnTo>
                </a:path>
              </a:pathLst>
            </a:custGeom>
            <a:ln w="21166">
              <a:solidFill>
                <a:srgbClr val="3454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033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10"/>
              </a:spcBef>
            </a:pPr>
            <a:r>
              <a:rPr sz="3600" spc="60" dirty="0">
                <a:solidFill>
                  <a:srgbClr val="012849"/>
                </a:solidFill>
              </a:rPr>
              <a:t>System</a:t>
            </a:r>
            <a:r>
              <a:rPr sz="3600" spc="90" dirty="0">
                <a:solidFill>
                  <a:srgbClr val="012849"/>
                </a:solidFill>
              </a:rPr>
              <a:t> </a:t>
            </a:r>
            <a:r>
              <a:rPr sz="3600" spc="100" dirty="0">
                <a:solidFill>
                  <a:srgbClr val="032F52"/>
                </a:solidFill>
              </a:rPr>
              <a:t>Architecture:</a:t>
            </a:r>
            <a:r>
              <a:rPr sz="3600" spc="170" dirty="0">
                <a:solidFill>
                  <a:srgbClr val="032F52"/>
                </a:solidFill>
              </a:rPr>
              <a:t> </a:t>
            </a:r>
            <a:r>
              <a:rPr sz="3600" dirty="0">
                <a:solidFill>
                  <a:srgbClr val="032D50"/>
                </a:solidFill>
              </a:rPr>
              <a:t>A</a:t>
            </a:r>
            <a:r>
              <a:rPr sz="3600" spc="-85" dirty="0">
                <a:solidFill>
                  <a:srgbClr val="032D50"/>
                </a:solidFill>
              </a:rPr>
              <a:t> </a:t>
            </a:r>
            <a:r>
              <a:rPr sz="3600" spc="80" dirty="0">
                <a:solidFill>
                  <a:srgbClr val="082F4F"/>
                </a:solidFill>
              </a:rPr>
              <a:t>Step-</a:t>
            </a:r>
            <a:r>
              <a:rPr sz="3600" spc="75" dirty="0">
                <a:solidFill>
                  <a:srgbClr val="082F4F"/>
                </a:solidFill>
              </a:rPr>
              <a:t>by-</a:t>
            </a:r>
            <a:r>
              <a:rPr sz="3600" spc="85" dirty="0">
                <a:solidFill>
                  <a:srgbClr val="082F4F"/>
                </a:solidFill>
              </a:rPr>
              <a:t>Step</a:t>
            </a:r>
            <a:r>
              <a:rPr sz="3600" spc="270" dirty="0">
                <a:solidFill>
                  <a:srgbClr val="082F4F"/>
                </a:solidFill>
              </a:rPr>
              <a:t> </a:t>
            </a:r>
            <a:r>
              <a:rPr sz="3600" dirty="0">
                <a:solidFill>
                  <a:srgbClr val="0A3454"/>
                </a:solidFill>
              </a:rPr>
              <a:t>Flow</a:t>
            </a:r>
            <a:r>
              <a:rPr sz="3600" spc="10" dirty="0">
                <a:solidFill>
                  <a:srgbClr val="0A3454"/>
                </a:solidFill>
              </a:rPr>
              <a:t> </a:t>
            </a:r>
            <a:r>
              <a:rPr sz="3600" spc="125" dirty="0">
                <a:solidFill>
                  <a:srgbClr val="082D4B"/>
                </a:solidFill>
              </a:rPr>
              <a:t>from</a:t>
            </a:r>
            <a:r>
              <a:rPr sz="3600" spc="-155" dirty="0">
                <a:solidFill>
                  <a:srgbClr val="082D4B"/>
                </a:solidFill>
              </a:rPr>
              <a:t> </a:t>
            </a:r>
            <a:r>
              <a:rPr sz="3600" spc="110" dirty="0">
                <a:solidFill>
                  <a:srgbClr val="0A314D"/>
                </a:solidFill>
              </a:rPr>
              <a:t>Detection</a:t>
            </a:r>
            <a:r>
              <a:rPr sz="3600" spc="-85" dirty="0">
                <a:solidFill>
                  <a:srgbClr val="0A314D"/>
                </a:solidFill>
              </a:rPr>
              <a:t> </a:t>
            </a:r>
            <a:r>
              <a:rPr sz="3600" spc="100" dirty="0">
                <a:solidFill>
                  <a:srgbClr val="083456"/>
                </a:solidFill>
              </a:rPr>
              <a:t>to</a:t>
            </a:r>
            <a:r>
              <a:rPr sz="3600" spc="-15" dirty="0">
                <a:solidFill>
                  <a:srgbClr val="083456"/>
                </a:solidFill>
              </a:rPr>
              <a:t> </a:t>
            </a:r>
            <a:r>
              <a:rPr sz="3600" spc="55" dirty="0">
                <a:solidFill>
                  <a:srgbClr val="052A48"/>
                </a:solidFill>
              </a:rPr>
              <a:t>Deterrence</a:t>
            </a:r>
            <a:endParaRPr sz="3600"/>
          </a:p>
        </p:txBody>
      </p:sp>
      <p:sp>
        <p:nvSpPr>
          <p:cNvPr id="16" name="object 16"/>
          <p:cNvSpPr txBox="1"/>
          <p:nvPr/>
        </p:nvSpPr>
        <p:spPr>
          <a:xfrm>
            <a:off x="2718446" y="1732491"/>
            <a:ext cx="21551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55" dirty="0">
                <a:solidFill>
                  <a:srgbClr val="052136"/>
                </a:solidFill>
                <a:latin typeface="Arial MT"/>
                <a:cs typeface="Arial MT"/>
              </a:rPr>
              <a:t>1.</a:t>
            </a:r>
            <a:r>
              <a:rPr sz="2700" spc="-335" dirty="0">
                <a:solidFill>
                  <a:srgbClr val="052136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0C2F49"/>
                </a:solidFill>
                <a:latin typeface="Arial MT"/>
                <a:cs typeface="Arial MT"/>
              </a:rPr>
              <a:t>Deep</a:t>
            </a:r>
            <a:r>
              <a:rPr sz="2700" spc="-40" dirty="0">
                <a:solidFill>
                  <a:srgbClr val="0C2F49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05243D"/>
                </a:solidFill>
                <a:latin typeface="Arial MT"/>
                <a:cs typeface="Arial MT"/>
              </a:rPr>
              <a:t>Sleep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5710" y="2748491"/>
            <a:ext cx="21043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65" dirty="0">
                <a:solidFill>
                  <a:srgbClr val="262626"/>
                </a:solidFill>
                <a:latin typeface="Arial MT"/>
                <a:cs typeface="Arial MT"/>
              </a:rPr>
              <a:t>2.</a:t>
            </a:r>
            <a:r>
              <a:rPr sz="2700" spc="-2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700" spc="-180" dirty="0">
                <a:solidFill>
                  <a:srgbClr val="0C263D"/>
                </a:solidFill>
                <a:latin typeface="Arial MT"/>
                <a:cs typeface="Arial MT"/>
              </a:rPr>
              <a:t>PIR</a:t>
            </a:r>
            <a:r>
              <a:rPr sz="2700" spc="10" dirty="0">
                <a:solidFill>
                  <a:srgbClr val="0C263D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0A263B"/>
                </a:solidFill>
                <a:latin typeface="Arial MT"/>
                <a:cs typeface="Arial MT"/>
              </a:rPr>
              <a:t>Trigger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5878" y="1773766"/>
            <a:ext cx="4048122" cy="33214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050" dirty="0">
                <a:latin typeface="Calibri"/>
                <a:cs typeface="Calibri"/>
              </a:rPr>
              <a:t>Device is in sleep utilizing low power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65878" y="2789766"/>
            <a:ext cx="374332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45" dirty="0">
                <a:solidFill>
                  <a:srgbClr val="161616"/>
                </a:solidFill>
                <a:latin typeface="Calibri"/>
                <a:cs typeface="Calibri"/>
              </a:rPr>
              <a:t>Motion</a:t>
            </a:r>
            <a:r>
              <a:rPr sz="2050" spc="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11111"/>
                </a:solidFill>
                <a:latin typeface="Calibri"/>
                <a:cs typeface="Calibri"/>
              </a:rPr>
              <a:t>is</a:t>
            </a:r>
            <a:r>
              <a:rPr sz="2050" spc="-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90" dirty="0">
                <a:solidFill>
                  <a:srgbClr val="0E0E0E"/>
                </a:solidFill>
                <a:latin typeface="Calibri"/>
                <a:cs typeface="Calibri"/>
              </a:rPr>
              <a:t>detected,</a:t>
            </a:r>
            <a:r>
              <a:rPr sz="2050" spc="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050" spc="-80" dirty="0">
                <a:solidFill>
                  <a:srgbClr val="111111"/>
                </a:solidFill>
                <a:latin typeface="Calibri"/>
                <a:cs typeface="Calibri"/>
              </a:rPr>
              <a:t>waking</a:t>
            </a:r>
            <a:r>
              <a:rPr sz="2050" spc="-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85" dirty="0">
                <a:solidFill>
                  <a:srgbClr val="1F1F1F"/>
                </a:solidFill>
                <a:latin typeface="Calibri"/>
                <a:cs typeface="Calibri"/>
              </a:rPr>
              <a:t>the </a:t>
            </a:r>
            <a:r>
              <a:rPr sz="2050" spc="-35" dirty="0">
                <a:latin typeface="Calibri"/>
                <a:cs typeface="Calibri"/>
              </a:rPr>
              <a:t>ESP32.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41705" y="3794477"/>
            <a:ext cx="269176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</a:tabLst>
            </a:pPr>
            <a:r>
              <a:rPr sz="2200" spc="-25" dirty="0">
                <a:solidFill>
                  <a:srgbClr val="082D4D"/>
                </a:solidFill>
                <a:latin typeface="Calibri"/>
                <a:cs typeface="Calibri"/>
              </a:rPr>
              <a:t>3.</a:t>
            </a:r>
            <a:r>
              <a:rPr sz="2200" dirty="0">
                <a:solidFill>
                  <a:srgbClr val="082D4D"/>
                </a:solidFill>
                <a:latin typeface="Calibri"/>
                <a:cs typeface="Calibri"/>
              </a:rPr>
              <a:t>	</a:t>
            </a:r>
            <a:r>
              <a:rPr sz="2200" spc="505" dirty="0">
                <a:solidFill>
                  <a:srgbClr val="072A4B"/>
                </a:solidFill>
                <a:latin typeface="Calibri"/>
                <a:cs typeface="Calibri"/>
              </a:rPr>
              <a:t>Edge</a:t>
            </a:r>
            <a:r>
              <a:rPr sz="2200" spc="30" dirty="0">
                <a:solidFill>
                  <a:srgbClr val="072A4B"/>
                </a:solidFill>
                <a:latin typeface="Calibri"/>
                <a:cs typeface="Calibri"/>
              </a:rPr>
              <a:t> </a:t>
            </a:r>
            <a:r>
              <a:rPr sz="2200" spc="425" dirty="0">
                <a:solidFill>
                  <a:srgbClr val="032649"/>
                </a:solidFill>
                <a:latin typeface="Calibri"/>
                <a:cs typeface="Calibri"/>
              </a:rPr>
              <a:t>AI</a:t>
            </a:r>
            <a:r>
              <a:rPr sz="2200" spc="50" dirty="0">
                <a:solidFill>
                  <a:srgbClr val="032649"/>
                </a:solidFill>
                <a:latin typeface="Calibri"/>
                <a:cs typeface="Calibri"/>
              </a:rPr>
              <a:t> </a:t>
            </a:r>
            <a:r>
              <a:rPr sz="2200" spc="484" dirty="0">
                <a:solidFill>
                  <a:srgbClr val="03213F"/>
                </a:solidFill>
                <a:latin typeface="Calibri"/>
                <a:cs typeface="Calibri"/>
              </a:rPr>
              <a:t>Check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73332" y="3794477"/>
            <a:ext cx="699706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175" dirty="0">
                <a:solidFill>
                  <a:srgbClr val="2D2D2D"/>
                </a:solidFill>
                <a:latin typeface="Calibri"/>
                <a:cs typeface="Calibri"/>
              </a:rPr>
              <a:t>The</a:t>
            </a:r>
            <a:r>
              <a:rPr sz="2200" spc="-1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200" spc="-160" dirty="0">
                <a:solidFill>
                  <a:srgbClr val="111111"/>
                </a:solidFill>
                <a:latin typeface="Calibri"/>
                <a:cs typeface="Calibri"/>
              </a:rPr>
              <a:t>on-</a:t>
            </a:r>
            <a:r>
              <a:rPr sz="2200" spc="-150" dirty="0">
                <a:solidFill>
                  <a:srgbClr val="111111"/>
                </a:solidFill>
                <a:latin typeface="Calibri"/>
                <a:cs typeface="Calibri"/>
              </a:rPr>
              <a:t>board</a:t>
            </a:r>
            <a:r>
              <a:rPr sz="2200" spc="10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200" spc="-235" dirty="0" err="1">
                <a:solidFill>
                  <a:srgbClr val="070707"/>
                </a:solidFill>
                <a:latin typeface="Calibri"/>
                <a:cs typeface="Calibri"/>
              </a:rPr>
              <a:t>Mobi</a:t>
            </a:r>
            <a:r>
              <a:rPr lang="en-US" sz="2200" spc="-235" dirty="0" err="1">
                <a:solidFill>
                  <a:srgbClr val="070707"/>
                </a:solidFill>
                <a:latin typeface="Calibri"/>
                <a:cs typeface="Calibri"/>
              </a:rPr>
              <a:t>l</a:t>
            </a:r>
            <a:r>
              <a:rPr sz="2200" spc="-235" dirty="0" err="1">
                <a:solidFill>
                  <a:srgbClr val="070707"/>
                </a:solidFill>
                <a:latin typeface="Calibri"/>
                <a:cs typeface="Calibri"/>
              </a:rPr>
              <a:t>eNet</a:t>
            </a:r>
            <a:r>
              <a:rPr sz="2200" spc="14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2200" spc="-180" dirty="0">
                <a:solidFill>
                  <a:srgbClr val="111111"/>
                </a:solidFill>
                <a:latin typeface="Calibri"/>
                <a:cs typeface="Calibri"/>
              </a:rPr>
              <a:t>model</a:t>
            </a:r>
            <a:r>
              <a:rPr sz="22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200" spc="-130" dirty="0">
                <a:solidFill>
                  <a:srgbClr val="151515"/>
                </a:solidFill>
                <a:latin typeface="Calibri"/>
                <a:cs typeface="Calibri"/>
              </a:rPr>
              <a:t>runs</a:t>
            </a:r>
            <a:r>
              <a:rPr sz="2200" spc="-12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200" spc="-18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22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200" spc="-145" dirty="0">
                <a:solidFill>
                  <a:srgbClr val="111111"/>
                </a:solidFill>
                <a:latin typeface="Calibri"/>
                <a:cs typeface="Calibri"/>
              </a:rPr>
              <a:t>verify</a:t>
            </a:r>
            <a:r>
              <a:rPr sz="22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200" spc="-114" dirty="0">
                <a:solidFill>
                  <a:srgbClr val="1A1A1A"/>
                </a:solidFill>
                <a:latin typeface="Calibri"/>
                <a:cs typeface="Calibri"/>
              </a:rPr>
              <a:t>if</a:t>
            </a:r>
            <a:r>
              <a:rPr sz="22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200" spc="-16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200" spc="-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85" dirty="0">
                <a:solidFill>
                  <a:srgbClr val="0C0C0C"/>
                </a:solidFill>
                <a:latin typeface="Calibri"/>
                <a:cs typeface="Calibri"/>
              </a:rPr>
              <a:t>motion</a:t>
            </a:r>
            <a:r>
              <a:rPr sz="2200" spc="1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00" spc="-100" dirty="0">
                <a:solidFill>
                  <a:srgbClr val="9CACBA"/>
                </a:solidFill>
                <a:latin typeface="Calibri"/>
                <a:cs typeface="Calibri"/>
              </a:rPr>
              <a:t>is</a:t>
            </a:r>
            <a:r>
              <a:rPr sz="2200" spc="-10" dirty="0">
                <a:solidFill>
                  <a:srgbClr val="9CACBA"/>
                </a:solidFill>
                <a:latin typeface="Calibri"/>
                <a:cs typeface="Calibri"/>
              </a:rPr>
              <a:t> </a:t>
            </a:r>
            <a:r>
              <a:rPr sz="2200" spc="-155" dirty="0">
                <a:solidFill>
                  <a:srgbClr val="505D69"/>
                </a:solidFill>
                <a:latin typeface="Calibri"/>
                <a:cs typeface="Calibri"/>
              </a:rPr>
              <a:t>a</a:t>
            </a:r>
            <a:r>
              <a:rPr sz="2200" spc="-145" dirty="0">
                <a:solidFill>
                  <a:srgbClr val="505D69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161616"/>
                </a:solidFill>
                <a:latin typeface="Calibri"/>
                <a:cs typeface="Calibri"/>
              </a:rPr>
              <a:t>'Person'.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47218" y="4754033"/>
            <a:ext cx="236918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89255" algn="l"/>
              </a:tabLst>
            </a:pPr>
            <a:r>
              <a:rPr sz="2900" spc="-25" dirty="0">
                <a:solidFill>
                  <a:srgbClr val="082A4B"/>
                </a:solidFill>
                <a:latin typeface="Calibri"/>
                <a:cs typeface="Calibri"/>
              </a:rPr>
              <a:t>4.</a:t>
            </a:r>
            <a:r>
              <a:rPr sz="2900" dirty="0">
                <a:solidFill>
                  <a:srgbClr val="082A4B"/>
                </a:solidFill>
                <a:latin typeface="Calibri"/>
                <a:cs typeface="Calibri"/>
              </a:rPr>
              <a:t>	</a:t>
            </a:r>
            <a:r>
              <a:rPr sz="2900" spc="114" dirty="0">
                <a:solidFill>
                  <a:srgbClr val="072441"/>
                </a:solidFill>
                <a:latin typeface="Calibri"/>
                <a:cs typeface="Calibri"/>
              </a:rPr>
              <a:t>Secure</a:t>
            </a:r>
            <a:r>
              <a:rPr sz="2900" spc="-45" dirty="0">
                <a:solidFill>
                  <a:srgbClr val="072441"/>
                </a:solidFill>
                <a:latin typeface="Calibri"/>
                <a:cs typeface="Calibri"/>
              </a:rPr>
              <a:t> </a:t>
            </a:r>
            <a:r>
              <a:rPr sz="2900" spc="50" dirty="0">
                <a:solidFill>
                  <a:srgbClr val="052844"/>
                </a:solidFill>
                <a:latin typeface="Calibri"/>
                <a:cs typeface="Calibri"/>
              </a:rPr>
              <a:t>Alert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58218" y="4694766"/>
            <a:ext cx="9262110" cy="5969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indent="7620">
              <a:lnSpc>
                <a:spcPts val="2000"/>
              </a:lnSpc>
              <a:spcBef>
                <a:spcPts val="580"/>
              </a:spcBef>
            </a:pPr>
            <a:r>
              <a:rPr sz="2050" spc="-75" dirty="0">
                <a:latin typeface="Calibri"/>
                <a:cs typeface="Calibri"/>
              </a:rPr>
              <a:t>If</a:t>
            </a:r>
            <a:r>
              <a:rPr sz="2050" spc="-105" dirty="0">
                <a:latin typeface="Calibri"/>
                <a:cs typeface="Calibri"/>
              </a:rPr>
              <a:t> </a:t>
            </a:r>
            <a:r>
              <a:rPr sz="2050" spc="-90" dirty="0">
                <a:latin typeface="Calibri"/>
                <a:cs typeface="Calibri"/>
              </a:rPr>
              <a:t>a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95" dirty="0">
                <a:latin typeface="Calibri"/>
                <a:cs typeface="Calibri"/>
              </a:rPr>
              <a:t>person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-130" dirty="0">
                <a:latin typeface="Calibri"/>
                <a:cs typeface="Calibri"/>
              </a:rPr>
              <a:t> </a:t>
            </a:r>
            <a:r>
              <a:rPr sz="2050" spc="-80" dirty="0">
                <a:latin typeface="Calibri"/>
                <a:cs typeface="Calibri"/>
              </a:rPr>
              <a:t>confirmed,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50" dirty="0">
                <a:latin typeface="Calibri"/>
                <a:cs typeface="Calibri"/>
              </a:rPr>
              <a:t>an</a:t>
            </a:r>
            <a:r>
              <a:rPr sz="2050" spc="-100" dirty="0">
                <a:latin typeface="Calibri"/>
                <a:cs typeface="Calibri"/>
              </a:rPr>
              <a:t> </a:t>
            </a:r>
            <a:r>
              <a:rPr sz="2050" spc="-70" dirty="0">
                <a:latin typeface="Calibri"/>
                <a:cs typeface="Calibri"/>
              </a:rPr>
              <a:t>image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is</a:t>
            </a:r>
            <a:r>
              <a:rPr sz="2050" spc="-80" dirty="0">
                <a:latin typeface="Calibri"/>
                <a:cs typeface="Calibri"/>
              </a:rPr>
              <a:t> immediately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55" dirty="0">
                <a:latin typeface="Calibri"/>
                <a:cs typeface="Calibri"/>
              </a:rPr>
              <a:t>uploaded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60" dirty="0">
                <a:latin typeface="Calibri"/>
                <a:cs typeface="Calibri"/>
              </a:rPr>
              <a:t>to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45" dirty="0">
                <a:latin typeface="Calibri"/>
                <a:cs typeface="Calibri"/>
              </a:rPr>
              <a:t>Cloud</a:t>
            </a:r>
            <a:r>
              <a:rPr sz="2050" spc="85" dirty="0">
                <a:latin typeface="Calibri"/>
                <a:cs typeface="Calibri"/>
              </a:rPr>
              <a:t> </a:t>
            </a:r>
            <a:r>
              <a:rPr sz="2050" spc="-95" dirty="0">
                <a:latin typeface="Calibri"/>
                <a:cs typeface="Calibri"/>
              </a:rPr>
              <a:t>Storage</a:t>
            </a:r>
            <a:r>
              <a:rPr sz="2050" spc="60" dirty="0">
                <a:latin typeface="Calibri"/>
                <a:cs typeface="Calibri"/>
              </a:rPr>
              <a:t> </a:t>
            </a:r>
            <a:r>
              <a:rPr sz="2050" spc="-100" dirty="0">
                <a:latin typeface="Calibri"/>
                <a:cs typeface="Calibri"/>
              </a:rPr>
              <a:t>and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90" dirty="0">
                <a:latin typeface="Calibri"/>
                <a:cs typeface="Calibri"/>
              </a:rPr>
              <a:t>a</a:t>
            </a:r>
            <a:r>
              <a:rPr sz="2050" spc="-35" dirty="0">
                <a:latin typeface="Calibri"/>
                <a:cs typeface="Calibri"/>
              </a:rPr>
              <a:t> notification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-120" dirty="0">
                <a:latin typeface="Calibri"/>
                <a:cs typeface="Calibri"/>
              </a:rPr>
              <a:t> </a:t>
            </a:r>
            <a:r>
              <a:rPr sz="2050" spc="-75" dirty="0">
                <a:solidFill>
                  <a:srgbClr val="111111"/>
                </a:solidFill>
                <a:latin typeface="Calibri"/>
                <a:cs typeface="Calibri"/>
              </a:rPr>
              <a:t>sent</a:t>
            </a:r>
            <a:r>
              <a:rPr sz="2050" spc="2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1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2050" spc="-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85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2050" spc="-16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050" spc="-65" dirty="0">
                <a:solidFill>
                  <a:srgbClr val="0C0C0C"/>
                </a:solidFill>
                <a:latin typeface="Calibri"/>
                <a:cs typeface="Calibri"/>
              </a:rPr>
              <a:t>mobile</a:t>
            </a:r>
            <a:r>
              <a:rPr sz="205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app.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5553" y="5850466"/>
            <a:ext cx="276352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1475" algn="l"/>
              </a:tabLst>
            </a:pPr>
            <a:r>
              <a:rPr sz="2050" spc="-25" dirty="0">
                <a:solidFill>
                  <a:srgbClr val="1D1D1D"/>
                </a:solidFill>
                <a:latin typeface="Calibri"/>
                <a:cs typeface="Calibri"/>
              </a:rPr>
              <a:t>5.</a:t>
            </a:r>
            <a:r>
              <a:rPr sz="2050" dirty="0">
                <a:solidFill>
                  <a:srgbClr val="1D1D1D"/>
                </a:solidFill>
                <a:latin typeface="Calibri"/>
                <a:cs typeface="Calibri"/>
              </a:rPr>
              <a:t>	</a:t>
            </a:r>
            <a:r>
              <a:rPr sz="2050" spc="484" dirty="0">
                <a:solidFill>
                  <a:srgbClr val="282828"/>
                </a:solidFill>
                <a:latin typeface="Calibri"/>
                <a:cs typeface="Calibri"/>
              </a:rPr>
              <a:t>User</a:t>
            </a:r>
            <a:r>
              <a:rPr sz="2050" spc="1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050" spc="520" dirty="0">
                <a:solidFill>
                  <a:srgbClr val="1A1A1A"/>
                </a:solidFill>
                <a:latin typeface="Calibri"/>
                <a:cs typeface="Calibri"/>
              </a:rPr>
              <a:t>Response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0760" y="5850466"/>
            <a:ext cx="425259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60" dirty="0">
                <a:solidFill>
                  <a:srgbClr val="3A2311"/>
                </a:solidFill>
                <a:latin typeface="Calibri"/>
                <a:cs typeface="Calibri"/>
              </a:rPr>
              <a:t>The</a:t>
            </a:r>
            <a:r>
              <a:rPr sz="2050" spc="-55" dirty="0">
                <a:solidFill>
                  <a:srgbClr val="3A2311"/>
                </a:solidFill>
                <a:latin typeface="Calibri"/>
                <a:cs typeface="Calibri"/>
              </a:rPr>
              <a:t> </a:t>
            </a:r>
            <a:r>
              <a:rPr sz="2050" spc="-90" dirty="0">
                <a:solidFill>
                  <a:srgbClr val="877767"/>
                </a:solidFill>
                <a:latin typeface="Calibri"/>
                <a:cs typeface="Calibri"/>
              </a:rPr>
              <a:t>user</a:t>
            </a:r>
            <a:r>
              <a:rPr sz="2050" spc="-50" dirty="0">
                <a:solidFill>
                  <a:srgbClr val="877767"/>
                </a:solidFill>
                <a:latin typeface="Calibri"/>
                <a:cs typeface="Calibri"/>
              </a:rPr>
              <a:t> </a:t>
            </a:r>
            <a:r>
              <a:rPr sz="2050" spc="-65" dirty="0">
                <a:solidFill>
                  <a:srgbClr val="8E7764"/>
                </a:solidFill>
                <a:latin typeface="Calibri"/>
                <a:cs typeface="Calibri"/>
              </a:rPr>
              <a:t>taps</a:t>
            </a:r>
            <a:r>
              <a:rPr sz="2050" spc="-130" dirty="0">
                <a:solidFill>
                  <a:srgbClr val="8E7764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4B311D"/>
                </a:solidFill>
                <a:latin typeface="Calibri"/>
                <a:cs typeface="Calibri"/>
              </a:rPr>
              <a:t>'Talk'</a:t>
            </a:r>
            <a:r>
              <a:rPr sz="2050" spc="10" dirty="0">
                <a:solidFill>
                  <a:srgbClr val="4B311D"/>
                </a:solidFill>
                <a:latin typeface="Calibri"/>
                <a:cs typeface="Calibri"/>
              </a:rPr>
              <a:t> </a:t>
            </a:r>
            <a:r>
              <a:rPr sz="2050" spc="-65" dirty="0">
                <a:solidFill>
                  <a:srgbClr val="756454"/>
                </a:solidFill>
                <a:latin typeface="Calibri"/>
                <a:cs typeface="Calibri"/>
              </a:rPr>
              <a:t>on</a:t>
            </a:r>
            <a:r>
              <a:rPr sz="2050" spc="20" dirty="0">
                <a:solidFill>
                  <a:srgbClr val="756454"/>
                </a:solidFill>
                <a:latin typeface="Calibri"/>
                <a:cs typeface="Calibri"/>
              </a:rPr>
              <a:t> </a:t>
            </a:r>
            <a:r>
              <a:rPr sz="2050" spc="-120" dirty="0">
                <a:solidFill>
                  <a:srgbClr val="9A8779"/>
                </a:solidFill>
                <a:latin typeface="Calibri"/>
                <a:cs typeface="Calibri"/>
              </a:rPr>
              <a:t>the</a:t>
            </a:r>
            <a:r>
              <a:rPr sz="2050" spc="-90" dirty="0">
                <a:solidFill>
                  <a:srgbClr val="9A8779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998777"/>
                </a:solidFill>
                <a:latin typeface="Calibri"/>
                <a:cs typeface="Calibri"/>
              </a:rPr>
              <a:t>app</a:t>
            </a:r>
            <a:r>
              <a:rPr sz="2050" spc="-60" dirty="0">
                <a:solidFill>
                  <a:srgbClr val="998777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131313"/>
                </a:solidFill>
                <a:latin typeface="Calibri"/>
                <a:cs typeface="Calibri"/>
              </a:rPr>
              <a:t>notification.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50628" y="7333191"/>
            <a:ext cx="307721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83540" algn="l"/>
                <a:tab pos="1059815" algn="l"/>
              </a:tabLst>
            </a:pPr>
            <a:r>
              <a:rPr sz="2700" spc="-25" dirty="0">
                <a:solidFill>
                  <a:srgbClr val="052A49"/>
                </a:solidFill>
                <a:latin typeface="Calibri"/>
                <a:cs typeface="Calibri"/>
              </a:rPr>
              <a:t>6.</a:t>
            </a:r>
            <a:r>
              <a:rPr sz="2700" dirty="0">
                <a:solidFill>
                  <a:srgbClr val="052A49"/>
                </a:solidFill>
                <a:latin typeface="Calibri"/>
                <a:cs typeface="Calibri"/>
              </a:rPr>
              <a:t>	</a:t>
            </a:r>
            <a:r>
              <a:rPr sz="2700" spc="-25" dirty="0">
                <a:solidFill>
                  <a:srgbClr val="0E2B46"/>
                </a:solidFill>
                <a:latin typeface="Calibri"/>
                <a:cs typeface="Calibri"/>
              </a:rPr>
              <a:t>The</a:t>
            </a:r>
            <a:r>
              <a:rPr sz="2700" dirty="0">
                <a:solidFill>
                  <a:srgbClr val="0E2B46"/>
                </a:solidFill>
                <a:latin typeface="Calibri"/>
                <a:cs typeface="Calibri"/>
              </a:rPr>
              <a:t>	</a:t>
            </a:r>
            <a:r>
              <a:rPr sz="2700" spc="165" dirty="0">
                <a:solidFill>
                  <a:srgbClr val="072138"/>
                </a:solidFill>
                <a:latin typeface="Calibri"/>
                <a:cs typeface="Calibri"/>
              </a:rPr>
              <a:t>State</a:t>
            </a:r>
            <a:r>
              <a:rPr sz="2700" spc="35" dirty="0">
                <a:solidFill>
                  <a:srgbClr val="072138"/>
                </a:solidFill>
                <a:latin typeface="Calibri"/>
                <a:cs typeface="Calibri"/>
              </a:rPr>
              <a:t> </a:t>
            </a:r>
            <a:r>
              <a:rPr sz="2700" spc="200" dirty="0">
                <a:solidFill>
                  <a:srgbClr val="0F2A44"/>
                </a:solidFill>
                <a:latin typeface="Calibri"/>
                <a:cs typeface="Calibri"/>
              </a:rPr>
              <a:t>Switch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7016" y="7344127"/>
            <a:ext cx="5981065" cy="6565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R="5080" indent="10795">
              <a:lnSpc>
                <a:spcPts val="2300"/>
              </a:lnSpc>
              <a:spcBef>
                <a:spcPts val="480"/>
              </a:spcBef>
            </a:pPr>
            <a:r>
              <a:rPr sz="2200" spc="245" dirty="0">
                <a:solidFill>
                  <a:srgbClr val="0F243B"/>
                </a:solidFill>
                <a:latin typeface="Calibri"/>
                <a:cs typeface="Calibri"/>
              </a:rPr>
              <a:t>STOPS</a:t>
            </a:r>
            <a:r>
              <a:rPr sz="2200" spc="145" dirty="0">
                <a:solidFill>
                  <a:srgbClr val="0F243B"/>
                </a:solidFill>
                <a:latin typeface="Calibri"/>
                <a:cs typeface="Calibri"/>
              </a:rPr>
              <a:t> </a:t>
            </a:r>
            <a:r>
              <a:rPr sz="2200" spc="200" dirty="0">
                <a:solidFill>
                  <a:srgbClr val="0A2844"/>
                </a:solidFill>
                <a:latin typeface="Calibri"/>
                <a:cs typeface="Calibri"/>
              </a:rPr>
              <a:t>Al</a:t>
            </a:r>
            <a:r>
              <a:rPr sz="2200" spc="-10" dirty="0">
                <a:solidFill>
                  <a:srgbClr val="0A2844"/>
                </a:solidFill>
                <a:latin typeface="Calibri"/>
                <a:cs typeface="Calibri"/>
              </a:rPr>
              <a:t> </a:t>
            </a:r>
            <a:r>
              <a:rPr sz="2200" spc="140" dirty="0">
                <a:latin typeface="Calibri"/>
                <a:cs typeface="Calibri"/>
              </a:rPr>
              <a:t>processes</a:t>
            </a:r>
            <a:r>
              <a:rPr sz="2200" spc="270" dirty="0">
                <a:latin typeface="Calibri"/>
                <a:cs typeface="Calibri"/>
              </a:rPr>
              <a:t> </a:t>
            </a:r>
            <a:r>
              <a:rPr sz="2200" spc="114" dirty="0">
                <a:latin typeface="Calibri"/>
                <a:cs typeface="Calibri"/>
              </a:rPr>
              <a:t>and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250" dirty="0">
                <a:solidFill>
                  <a:srgbClr val="11263B"/>
                </a:solidFill>
                <a:latin typeface="Calibri"/>
                <a:cs typeface="Calibri"/>
              </a:rPr>
              <a:t>STARTS</a:t>
            </a:r>
            <a:r>
              <a:rPr sz="2200" spc="75" dirty="0">
                <a:solidFill>
                  <a:srgbClr val="11263B"/>
                </a:solidFill>
                <a:latin typeface="Calibri"/>
                <a:cs typeface="Calibri"/>
              </a:rPr>
              <a:t> </a:t>
            </a:r>
            <a:r>
              <a:rPr sz="2200" spc="175" dirty="0">
                <a:solidFill>
                  <a:srgbClr val="081C34"/>
                </a:solidFill>
                <a:latin typeface="Calibri"/>
                <a:cs typeface="Calibri"/>
              </a:rPr>
              <a:t>STREAMING </a:t>
            </a:r>
            <a:r>
              <a:rPr sz="2200" spc="80" dirty="0">
                <a:latin typeface="Calibri"/>
                <a:cs typeface="Calibri"/>
              </a:rPr>
              <a:t>live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80" dirty="0">
                <a:latin typeface="Calibri"/>
                <a:cs typeface="Calibri"/>
              </a:rPr>
              <a:t>video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135" dirty="0">
                <a:latin typeface="Calibri"/>
                <a:cs typeface="Calibri"/>
              </a:rPr>
              <a:t>(MJPEG)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114" dirty="0">
                <a:latin typeface="Calibri"/>
                <a:cs typeface="Calibri"/>
              </a:rPr>
              <a:t>and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95" dirty="0">
                <a:latin typeface="Calibri"/>
                <a:cs typeface="Calibri"/>
              </a:rPr>
              <a:t>audio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spc="90" dirty="0">
                <a:latin typeface="Calibri"/>
                <a:cs typeface="Calibri"/>
              </a:rPr>
              <a:t>(UDP).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43535" y="8786635"/>
            <a:ext cx="293243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80" dirty="0">
                <a:solidFill>
                  <a:srgbClr val="0A2338"/>
                </a:solidFill>
                <a:latin typeface="Calibri"/>
                <a:cs typeface="Calibri"/>
              </a:rPr>
              <a:t>7.</a:t>
            </a:r>
            <a:r>
              <a:rPr sz="2000" spc="400" dirty="0">
                <a:solidFill>
                  <a:srgbClr val="0A2338"/>
                </a:solidFill>
                <a:latin typeface="Calibri"/>
                <a:cs typeface="Calibri"/>
              </a:rPr>
              <a:t> </a:t>
            </a:r>
            <a:r>
              <a:rPr sz="2000" spc="475" dirty="0">
                <a:solidFill>
                  <a:srgbClr val="0A263D"/>
                </a:solidFill>
                <a:latin typeface="Calibri"/>
                <a:cs typeface="Calibri"/>
              </a:rPr>
              <a:t>Return</a:t>
            </a:r>
            <a:r>
              <a:rPr sz="2000" spc="105" dirty="0">
                <a:solidFill>
                  <a:srgbClr val="0A263D"/>
                </a:solidFill>
                <a:latin typeface="Calibri"/>
                <a:cs typeface="Calibri"/>
              </a:rPr>
              <a:t> </a:t>
            </a:r>
            <a:r>
              <a:rPr sz="2000" spc="450" dirty="0">
                <a:solidFill>
                  <a:srgbClr val="05263D"/>
                </a:solidFill>
                <a:latin typeface="Calibri"/>
                <a:cs typeface="Calibri"/>
              </a:rPr>
              <a:t>to</a:t>
            </a:r>
            <a:r>
              <a:rPr sz="2000" spc="75" dirty="0">
                <a:solidFill>
                  <a:srgbClr val="05263D"/>
                </a:solidFill>
                <a:latin typeface="Calibri"/>
                <a:cs typeface="Calibri"/>
              </a:rPr>
              <a:t> </a:t>
            </a:r>
            <a:r>
              <a:rPr sz="2000" spc="465" dirty="0">
                <a:solidFill>
                  <a:srgbClr val="0F2D46"/>
                </a:solidFill>
                <a:latin typeface="Calibri"/>
                <a:cs typeface="Calibri"/>
              </a:rPr>
              <a:t>Sentry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18563" y="8786635"/>
            <a:ext cx="818007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40" dirty="0">
                <a:latin typeface="Calibri"/>
                <a:cs typeface="Calibri"/>
              </a:rPr>
              <a:t>When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70" dirty="0">
                <a:latin typeface="Calibri"/>
                <a:cs typeface="Calibri"/>
              </a:rPr>
              <a:t>user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hangs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up,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65" dirty="0">
                <a:latin typeface="Calibri"/>
                <a:cs typeface="Calibri"/>
              </a:rPr>
              <a:t>the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device </a:t>
            </a:r>
            <a:r>
              <a:rPr sz="2000" spc="-65" dirty="0">
                <a:solidFill>
                  <a:srgbClr val="0A0A0A"/>
                </a:solidFill>
                <a:latin typeface="Calibri"/>
                <a:cs typeface="Calibri"/>
              </a:rPr>
              <a:t>returns</a:t>
            </a:r>
            <a:r>
              <a:rPr sz="2000" spc="3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000" spc="-90" dirty="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sz="2000" spc="-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Deep </a:t>
            </a:r>
            <a:r>
              <a:rPr sz="2000" spc="-30" dirty="0">
                <a:latin typeface="Calibri"/>
                <a:cs typeface="Calibri"/>
              </a:rPr>
              <a:t>Sleep,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awaiting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95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next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010473"/>
              </p:ext>
            </p:extLst>
          </p:nvPr>
        </p:nvGraphicFramePr>
        <p:xfrm>
          <a:off x="675216" y="1727200"/>
          <a:ext cx="16105505" cy="7365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600">
                <a:tc>
                  <a:txBody>
                    <a:bodyPr/>
                    <a:lstStyle/>
                    <a:p>
                      <a:pPr marL="152400" marR="1226820" indent="-20955">
                        <a:lnSpc>
                          <a:spcPts val="3650"/>
                        </a:lnSpc>
                        <a:spcBef>
                          <a:spcPts val="1245"/>
                        </a:spcBef>
                      </a:pPr>
                      <a:r>
                        <a:rPr sz="32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Commercial</a:t>
                      </a:r>
                      <a:r>
                        <a:rPr sz="3250" spc="2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Systems </a:t>
                      </a:r>
                      <a:r>
                        <a:rPr sz="3250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(e.g.,</a:t>
                      </a:r>
                      <a:r>
                        <a:rPr sz="3250" spc="-195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Ring,</a:t>
                      </a:r>
                      <a:r>
                        <a:rPr sz="3250" spc="-254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50" spc="-10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Nest)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T="158115" marB="0">
                    <a:lnR w="6350">
                      <a:solidFill>
                        <a:srgbClr val="7C7774"/>
                      </a:solidFill>
                      <a:prstDash val="solid"/>
                    </a:lnR>
                    <a:lnB w="6350">
                      <a:solidFill>
                        <a:srgbClr val="7C77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715"/>
                        </a:spcBef>
                      </a:pPr>
                      <a:r>
                        <a:rPr sz="3250" spc="16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3250" spc="21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50" spc="405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CCTV</a:t>
                      </a:r>
                      <a:endParaRPr sz="3250">
                        <a:latin typeface="Calibri"/>
                        <a:cs typeface="Calibri"/>
                      </a:endParaRPr>
                    </a:p>
                  </a:txBody>
                  <a:tcPr marL="0" marR="0" marT="344805" marB="0">
                    <a:lnL w="6350">
                      <a:solidFill>
                        <a:srgbClr val="7C7774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  <a:lnB w="6350">
                      <a:solidFill>
                        <a:srgbClr val="7C77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3775"/>
                        </a:lnSpc>
                        <a:spcBef>
                          <a:spcPts val="915"/>
                        </a:spcBef>
                      </a:pPr>
                      <a:r>
                        <a:rPr sz="3250" spc="-10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EagleEye</a:t>
                      </a:r>
                      <a:endParaRPr sz="3250">
                        <a:latin typeface="Arial MT"/>
                        <a:cs typeface="Arial MT"/>
                      </a:endParaRPr>
                    </a:p>
                    <a:p>
                      <a:pPr marL="213995">
                        <a:lnSpc>
                          <a:spcPts val="3715"/>
                        </a:lnSpc>
                      </a:pPr>
                      <a:r>
                        <a:rPr sz="3200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(Our</a:t>
                      </a:r>
                      <a:r>
                        <a:rPr sz="3200" spc="50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200" spc="7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Contribution)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234860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  <a:lnT w="28575">
                      <a:solidFill>
                        <a:srgbClr val="23486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365">
                <a:tc>
                  <a:txBody>
                    <a:bodyPr/>
                    <a:lstStyle/>
                    <a:p>
                      <a:pPr marL="130810">
                        <a:lnSpc>
                          <a:spcPts val="3510"/>
                        </a:lnSpc>
                      </a:pPr>
                      <a:r>
                        <a:rPr sz="3200" spc="-10" dirty="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Pros: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135890" marR="1049020" indent="-5080">
                        <a:lnSpc>
                          <a:spcPts val="3500"/>
                        </a:lnSpc>
                        <a:spcBef>
                          <a:spcPts val="155"/>
                        </a:spcBef>
                      </a:pPr>
                      <a:r>
                        <a:rPr sz="3100" spc="-60" dirty="0">
                          <a:latin typeface="Calibri"/>
                          <a:cs typeface="Calibri"/>
                        </a:rPr>
                        <a:t>Excellent</a:t>
                      </a:r>
                      <a:r>
                        <a:rPr sz="3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4" dirty="0">
                          <a:latin typeface="Calibri"/>
                          <a:cs typeface="Calibri"/>
                        </a:rPr>
                        <a:t>features,</a:t>
                      </a:r>
                      <a:r>
                        <a:rPr sz="3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50" dirty="0">
                          <a:latin typeface="Calibri"/>
                          <a:cs typeface="Calibri"/>
                        </a:rPr>
                        <a:t>polished </a:t>
                      </a:r>
                      <a:r>
                        <a:rPr sz="3100" spc="-7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31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0" dirty="0">
                          <a:latin typeface="Calibri"/>
                          <a:cs typeface="Calibri"/>
                        </a:rPr>
                        <a:t>experience.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ts val="3495"/>
                        </a:lnSpc>
                        <a:spcBef>
                          <a:spcPts val="3250"/>
                        </a:spcBef>
                      </a:pPr>
                      <a:r>
                        <a:rPr sz="2950" spc="60" dirty="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Cons:</a:t>
                      </a:r>
                      <a:endParaRPr sz="2950" dirty="0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ts val="3435"/>
                        </a:lnSpc>
                      </a:pPr>
                      <a:r>
                        <a:rPr sz="2900" dirty="0">
                          <a:solidFill>
                            <a:srgbClr val="894B46"/>
                          </a:solidFill>
                          <a:latin typeface="Calibri"/>
                          <a:cs typeface="Calibri"/>
                        </a:rPr>
                        <a:t>Expensive</a:t>
                      </a:r>
                      <a:r>
                        <a:rPr sz="2900" spc="-10" dirty="0">
                          <a:solidFill>
                            <a:srgbClr val="894B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00" dirty="0">
                          <a:solidFill>
                            <a:srgbClr val="754946"/>
                          </a:solidFill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2900" spc="80" dirty="0">
                          <a:solidFill>
                            <a:srgbClr val="7549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10" dirty="0">
                          <a:solidFill>
                            <a:srgbClr val="82564F"/>
                          </a:solidFill>
                          <a:latin typeface="Calibri"/>
                          <a:cs typeface="Calibri"/>
                        </a:rPr>
                        <a:t>($</a:t>
                      </a:r>
                      <a:r>
                        <a:rPr sz="2900" spc="-10" dirty="0">
                          <a:solidFill>
                            <a:srgbClr val="773A34"/>
                          </a:solidFill>
                          <a:latin typeface="Calibri"/>
                          <a:cs typeface="Calibri"/>
                        </a:rPr>
                        <a:t>100+),</a:t>
                      </a:r>
                      <a:endParaRPr lang="en-US" sz="2900" spc="-10" dirty="0">
                        <a:solidFill>
                          <a:srgbClr val="773A34"/>
                        </a:solidFill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ts val="3435"/>
                        </a:lnSpc>
                      </a:pPr>
                      <a:r>
                        <a:rPr lang="en-US" sz="2900" spc="-10" dirty="0">
                          <a:solidFill>
                            <a:srgbClr val="773A34"/>
                          </a:solidFill>
                          <a:latin typeface="Calibri"/>
                          <a:cs typeface="Calibri"/>
                        </a:rPr>
                        <a:t>Energy </a:t>
                      </a:r>
                      <a:r>
                        <a:rPr lang="en-US" sz="2900" spc="-10" dirty="0" err="1">
                          <a:solidFill>
                            <a:srgbClr val="773A34"/>
                          </a:solidFill>
                          <a:latin typeface="Calibri"/>
                          <a:cs typeface="Calibri"/>
                        </a:rPr>
                        <a:t>ineffecient</a:t>
                      </a:r>
                      <a:endParaRPr sz="2900" dirty="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R w="6350">
                      <a:solidFill>
                        <a:srgbClr val="7C7774"/>
                      </a:solidFill>
                      <a:prstDash val="solid"/>
                    </a:lnR>
                    <a:lnT w="6350">
                      <a:solidFill>
                        <a:srgbClr val="7C777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3610"/>
                        </a:lnSpc>
                        <a:spcBef>
                          <a:spcPts val="3180"/>
                        </a:spcBef>
                      </a:pPr>
                      <a:r>
                        <a:rPr sz="3100" spc="-1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Pros: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  <a:p>
                      <a:pPr marL="161290">
                        <a:lnSpc>
                          <a:spcPts val="3610"/>
                        </a:lnSpc>
                      </a:pPr>
                      <a:r>
                        <a:rPr sz="3100" spc="-55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3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45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3100" spc="-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recording.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  <a:p>
                      <a:pPr marL="144780">
                        <a:lnSpc>
                          <a:spcPts val="3495"/>
                        </a:lnSpc>
                        <a:spcBef>
                          <a:spcPts val="3329"/>
                        </a:spcBef>
                      </a:pPr>
                      <a:r>
                        <a:rPr sz="2950" spc="6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Cons:</a:t>
                      </a:r>
                      <a:endParaRPr sz="2950" dirty="0">
                        <a:latin typeface="Calibri"/>
                        <a:cs typeface="Calibri"/>
                      </a:endParaRPr>
                    </a:p>
                    <a:p>
                      <a:pPr marL="156845">
                        <a:lnSpc>
                          <a:spcPts val="3435"/>
                        </a:lnSpc>
                      </a:pPr>
                      <a:r>
                        <a:rPr sz="2900" dirty="0">
                          <a:solidFill>
                            <a:srgbClr val="774B46"/>
                          </a:solidFill>
                          <a:latin typeface="Calibri"/>
                          <a:cs typeface="Calibri"/>
                        </a:rPr>
                        <a:t>Passive</a:t>
                      </a:r>
                      <a:r>
                        <a:rPr sz="2900" spc="100" dirty="0">
                          <a:solidFill>
                            <a:srgbClr val="774B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00" dirty="0">
                          <a:solidFill>
                            <a:srgbClr val="774B48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2900" spc="120" dirty="0">
                          <a:solidFill>
                            <a:srgbClr val="774B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00" dirty="0">
                          <a:solidFill>
                            <a:srgbClr val="936966"/>
                          </a:solidFill>
                          <a:latin typeface="Calibri"/>
                          <a:cs typeface="Calibri"/>
                        </a:rPr>
                        <a:t>only,</a:t>
                      </a:r>
                      <a:r>
                        <a:rPr sz="2900" spc="-15" dirty="0">
                          <a:solidFill>
                            <a:srgbClr val="93696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25" dirty="0">
                          <a:solidFill>
                            <a:srgbClr val="855E5B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900" dirty="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6350">
                      <a:solidFill>
                        <a:srgbClr val="7C7774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  <a:lnT w="6350">
                      <a:solidFill>
                        <a:srgbClr val="7C777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1295" marR="636270" indent="8890">
                        <a:lnSpc>
                          <a:spcPct val="91100"/>
                        </a:lnSpc>
                        <a:spcBef>
                          <a:spcPts val="1405"/>
                        </a:spcBef>
                      </a:pPr>
                      <a:r>
                        <a:rPr sz="3200" spc="-7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2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65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3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14" dirty="0">
                          <a:latin typeface="Calibri"/>
                          <a:cs typeface="Calibri"/>
                        </a:rPr>
                        <a:t>Gap</a:t>
                      </a:r>
                      <a:r>
                        <a:rPr sz="32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34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45" dirty="0">
                          <a:latin typeface="Calibri"/>
                          <a:cs typeface="Calibri"/>
                        </a:rPr>
                        <a:t>Fill: </a:t>
                      </a:r>
                      <a:r>
                        <a:rPr sz="3200" spc="-38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35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7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lack</a:t>
                      </a:r>
                      <a:r>
                        <a:rPr sz="32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3100" spc="-90" dirty="0">
                          <a:latin typeface="Calibri"/>
                          <a:cs typeface="Calibri"/>
                        </a:rPr>
                        <a:t>resource-constrained</a:t>
                      </a:r>
                      <a:r>
                        <a:rPr sz="3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35" dirty="0">
                          <a:latin typeface="Calibri"/>
                          <a:cs typeface="Calibri"/>
                        </a:rPr>
                        <a:t>systems </a:t>
                      </a:r>
                      <a:r>
                        <a:rPr sz="3200" spc="-16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32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14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intelligently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switch </a:t>
                      </a:r>
                      <a:r>
                        <a:rPr sz="3100" spc="-14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3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dirty="0">
                          <a:latin typeface="Calibri"/>
                          <a:cs typeface="Calibri"/>
                        </a:rPr>
                        <a:t>Inference</a:t>
                      </a:r>
                      <a:r>
                        <a:rPr sz="31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0" dirty="0">
                          <a:latin typeface="Calibri"/>
                          <a:cs typeface="Calibri"/>
                        </a:rPr>
                        <a:t>(for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  <a:p>
                      <a:pPr marL="210185" marR="292100" indent="-3175">
                        <a:lnSpc>
                          <a:spcPts val="3450"/>
                        </a:lnSpc>
                        <a:spcBef>
                          <a:spcPts val="120"/>
                        </a:spcBef>
                      </a:pPr>
                      <a:r>
                        <a:rPr sz="3200" spc="-130" dirty="0">
                          <a:latin typeface="Calibri"/>
                          <a:cs typeface="Calibri"/>
                        </a:rPr>
                        <a:t>detection)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4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50" dirty="0">
                          <a:latin typeface="Calibri"/>
                          <a:cs typeface="Calibri"/>
                        </a:rPr>
                        <a:t>Throughput</a:t>
                      </a:r>
                      <a:r>
                        <a:rPr sz="3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7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3200" spc="-65" dirty="0">
                          <a:latin typeface="Calibri"/>
                          <a:cs typeface="Calibri"/>
                        </a:rPr>
                        <a:t>streaming).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178435" marB="0">
                    <a:lnL w="28575">
                      <a:solidFill>
                        <a:srgbClr val="234860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135890">
                        <a:lnSpc>
                          <a:spcPts val="3080"/>
                        </a:lnSpc>
                      </a:pPr>
                      <a:r>
                        <a:rPr sz="3050" spc="-50" dirty="0">
                          <a:solidFill>
                            <a:srgbClr val="804441"/>
                          </a:solidFill>
                          <a:latin typeface="Calibri"/>
                          <a:cs typeface="Calibri"/>
                        </a:rPr>
                        <a:t>mandatory</a:t>
                      </a:r>
                      <a:r>
                        <a:rPr sz="3050" spc="-45" dirty="0">
                          <a:solidFill>
                            <a:srgbClr val="80444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solidFill>
                            <a:srgbClr val="79423B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3050" spc="-145" dirty="0">
                          <a:solidFill>
                            <a:srgbClr val="7942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solidFill>
                            <a:srgbClr val="8E5952"/>
                          </a:solidFill>
                          <a:latin typeface="Calibri"/>
                          <a:cs typeface="Calibri"/>
                        </a:rPr>
                        <a:t>subscriptions.</a:t>
                      </a:r>
                      <a:endParaRPr sz="30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6350">
                      <a:solidFill>
                        <a:srgbClr val="7C77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ts val="3080"/>
                        </a:lnSpc>
                      </a:pPr>
                      <a:r>
                        <a:rPr sz="3050" spc="-90" dirty="0">
                          <a:solidFill>
                            <a:srgbClr val="89625D"/>
                          </a:solidFill>
                          <a:latin typeface="Calibri"/>
                          <a:cs typeface="Calibri"/>
                        </a:rPr>
                        <a:t>real-</a:t>
                      </a:r>
                      <a:r>
                        <a:rPr sz="3050" spc="-60" dirty="0">
                          <a:solidFill>
                            <a:srgbClr val="89625D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3050" spc="-80" dirty="0">
                          <a:solidFill>
                            <a:srgbClr val="89625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50" dirty="0">
                          <a:solidFill>
                            <a:srgbClr val="7B4948"/>
                          </a:solidFill>
                          <a:latin typeface="Calibri"/>
                          <a:cs typeface="Calibri"/>
                        </a:rPr>
                        <a:t>interaction, </a:t>
                      </a:r>
                      <a:r>
                        <a:rPr sz="3050" spc="-10" dirty="0">
                          <a:solidFill>
                            <a:srgbClr val="79423F"/>
                          </a:solidFill>
                          <a:latin typeface="Calibri"/>
                          <a:cs typeface="Calibri"/>
                        </a:rPr>
                        <a:t>vulnerable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7C7774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34860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7C77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ts val="3155"/>
                        </a:lnSpc>
                      </a:pPr>
                      <a:r>
                        <a:rPr sz="2950" spc="-50" dirty="0">
                          <a:solidFill>
                            <a:srgbClr val="8E6962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950" spc="-120" dirty="0">
                          <a:solidFill>
                            <a:srgbClr val="8E696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dirty="0">
                          <a:solidFill>
                            <a:srgbClr val="8E6760"/>
                          </a:solidFill>
                          <a:latin typeface="Calibri"/>
                          <a:cs typeface="Calibri"/>
                        </a:rPr>
                        <a:t>evidence</a:t>
                      </a:r>
                      <a:r>
                        <a:rPr sz="2950" spc="-75" dirty="0">
                          <a:solidFill>
                            <a:srgbClr val="8E67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10" dirty="0">
                          <a:solidFill>
                            <a:srgbClr val="916B6B"/>
                          </a:solidFill>
                          <a:latin typeface="Calibri"/>
                          <a:cs typeface="Calibri"/>
                        </a:rPr>
                        <a:t>theft.</a:t>
                      </a:r>
                      <a:endParaRPr sz="29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7C7774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3010"/>
                        </a:lnSpc>
                      </a:pPr>
                      <a:r>
                        <a:rPr sz="3200" spc="-95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32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Value: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195580" marR="189230" indent="10795">
                        <a:lnSpc>
                          <a:spcPct val="91700"/>
                        </a:lnSpc>
                        <a:spcBef>
                          <a:spcPts val="120"/>
                        </a:spcBef>
                      </a:pPr>
                      <a:r>
                        <a:rPr sz="3200" spc="-95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3200" spc="-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40" dirty="0">
                          <a:latin typeface="Calibri"/>
                          <a:cs typeface="Calibri"/>
                        </a:rPr>
                        <a:t>logic-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driven</a:t>
                      </a:r>
                      <a:r>
                        <a:rPr sz="32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firmware </a:t>
                      </a:r>
                      <a:r>
                        <a:rPr sz="3100" dirty="0">
                          <a:latin typeface="Calibri"/>
                          <a:cs typeface="Calibri"/>
                        </a:rPr>
                        <a:t>enables</a:t>
                      </a:r>
                      <a:r>
                        <a:rPr sz="31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high-</a:t>
                      </a:r>
                      <a:r>
                        <a:rPr sz="3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31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0" dirty="0"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3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3200" spc="-70" dirty="0">
                          <a:latin typeface="Calibri"/>
                          <a:cs typeface="Calibri"/>
                        </a:rPr>
                        <a:t>low-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cost,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low-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30" dirty="0">
                          <a:latin typeface="Calibri"/>
                          <a:cs typeface="Calibri"/>
                        </a:rPr>
                        <a:t>hardware, </a:t>
                      </a:r>
                      <a:r>
                        <a:rPr sz="3200" spc="-6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32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mandatory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fees.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234860"/>
                      </a:solidFill>
                      <a:prstDash val="solid"/>
                    </a:lnL>
                    <a:lnR w="28575">
                      <a:solidFill>
                        <a:srgbClr val="234860"/>
                      </a:solidFill>
                      <a:prstDash val="solid"/>
                    </a:lnR>
                    <a:lnB w="28575">
                      <a:solidFill>
                        <a:srgbClr val="2348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1493500" y="2982383"/>
            <a:ext cx="5274945" cy="0"/>
          </a:xfrm>
          <a:custGeom>
            <a:avLst/>
            <a:gdLst/>
            <a:ahLst/>
            <a:cxnLst/>
            <a:rect l="l" t="t" r="r" b="b"/>
            <a:pathLst>
              <a:path w="5274944">
                <a:moveTo>
                  <a:pt x="0" y="0"/>
                </a:moveTo>
                <a:lnTo>
                  <a:pt x="5274733" y="0"/>
                </a:lnTo>
              </a:path>
            </a:pathLst>
          </a:custGeom>
          <a:ln w="4233">
            <a:solidFill>
              <a:srgbClr val="74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2940" y="499533"/>
            <a:ext cx="1599755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114" dirty="0">
                <a:solidFill>
                  <a:srgbClr val="053152"/>
                </a:solidFill>
              </a:rPr>
              <a:t>Carving</a:t>
            </a:r>
            <a:r>
              <a:rPr sz="4150" spc="25" dirty="0">
                <a:solidFill>
                  <a:srgbClr val="053152"/>
                </a:solidFill>
              </a:rPr>
              <a:t> </a:t>
            </a:r>
            <a:r>
              <a:rPr sz="4150" dirty="0">
                <a:solidFill>
                  <a:srgbClr val="0A385B"/>
                </a:solidFill>
              </a:rPr>
              <a:t>Our</a:t>
            </a:r>
            <a:r>
              <a:rPr sz="4150" spc="-90" dirty="0">
                <a:solidFill>
                  <a:srgbClr val="0A385B"/>
                </a:solidFill>
              </a:rPr>
              <a:t> </a:t>
            </a:r>
            <a:r>
              <a:rPr sz="4150" spc="90" dirty="0">
                <a:solidFill>
                  <a:srgbClr val="033867"/>
                </a:solidFill>
              </a:rPr>
              <a:t>Niche:</a:t>
            </a:r>
            <a:r>
              <a:rPr sz="4150" spc="-165" dirty="0">
                <a:solidFill>
                  <a:srgbClr val="033867"/>
                </a:solidFill>
              </a:rPr>
              <a:t> </a:t>
            </a:r>
            <a:r>
              <a:rPr sz="4150" spc="75" dirty="0">
                <a:solidFill>
                  <a:srgbClr val="0C3B64"/>
                </a:solidFill>
              </a:rPr>
              <a:t>How</a:t>
            </a:r>
            <a:r>
              <a:rPr sz="4150" spc="-40" dirty="0">
                <a:solidFill>
                  <a:srgbClr val="0C3B64"/>
                </a:solidFill>
              </a:rPr>
              <a:t> </a:t>
            </a:r>
            <a:r>
              <a:rPr sz="4150" dirty="0">
                <a:solidFill>
                  <a:srgbClr val="05365E"/>
                </a:solidFill>
              </a:rPr>
              <a:t>EagleEye</a:t>
            </a:r>
            <a:r>
              <a:rPr sz="4150" spc="-10" dirty="0">
                <a:solidFill>
                  <a:srgbClr val="05365E"/>
                </a:solidFill>
              </a:rPr>
              <a:t> </a:t>
            </a:r>
            <a:r>
              <a:rPr sz="4150" spc="170" dirty="0">
                <a:solidFill>
                  <a:srgbClr val="05345E"/>
                </a:solidFill>
              </a:rPr>
              <a:t>Differs</a:t>
            </a:r>
            <a:r>
              <a:rPr sz="4150" spc="-120" dirty="0">
                <a:solidFill>
                  <a:srgbClr val="05345E"/>
                </a:solidFill>
              </a:rPr>
              <a:t> </a:t>
            </a:r>
            <a:r>
              <a:rPr sz="4150" spc="185" dirty="0">
                <a:solidFill>
                  <a:srgbClr val="033459"/>
                </a:solidFill>
              </a:rPr>
              <a:t>from</a:t>
            </a:r>
            <a:r>
              <a:rPr sz="4150" spc="-235" dirty="0">
                <a:solidFill>
                  <a:srgbClr val="033459"/>
                </a:solidFill>
              </a:rPr>
              <a:t> </a:t>
            </a:r>
            <a:r>
              <a:rPr sz="4150" spc="140" dirty="0">
                <a:solidFill>
                  <a:srgbClr val="03345E"/>
                </a:solidFill>
              </a:rPr>
              <a:t>Existing</a:t>
            </a:r>
            <a:r>
              <a:rPr sz="4150" spc="-170" dirty="0">
                <a:solidFill>
                  <a:srgbClr val="03345E"/>
                </a:solidFill>
              </a:rPr>
              <a:t> </a:t>
            </a:r>
            <a:r>
              <a:rPr sz="4150" spc="120" dirty="0">
                <a:solidFill>
                  <a:srgbClr val="082F54"/>
                </a:solidFill>
              </a:rPr>
              <a:t>Solutions</a:t>
            </a:r>
            <a:endParaRPr sz="4150"/>
          </a:p>
        </p:txBody>
      </p:sp>
      <p:sp>
        <p:nvSpPr>
          <p:cNvPr id="5" name="object 5"/>
          <p:cNvSpPr txBox="1"/>
          <p:nvPr/>
        </p:nvSpPr>
        <p:spPr>
          <a:xfrm>
            <a:off x="16108071" y="9468643"/>
            <a:ext cx="99060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450" spc="-390" dirty="0">
                <a:latin typeface="Calibri"/>
                <a:cs typeface="Calibri"/>
              </a:rPr>
              <a:t>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54742" y="9468643"/>
            <a:ext cx="988694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450" spc="-10" dirty="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113" y="414161"/>
            <a:ext cx="13567410" cy="15138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 marR="5080" indent="8255">
              <a:lnSpc>
                <a:spcPts val="5550"/>
              </a:lnSpc>
              <a:spcBef>
                <a:spcPts val="795"/>
              </a:spcBef>
            </a:pPr>
            <a:r>
              <a:rPr sz="5100" spc="-155" dirty="0">
                <a:solidFill>
                  <a:srgbClr val="073860"/>
                </a:solidFill>
              </a:rPr>
              <a:t>The</a:t>
            </a:r>
            <a:r>
              <a:rPr sz="5100" spc="-320" dirty="0">
                <a:solidFill>
                  <a:srgbClr val="073860"/>
                </a:solidFill>
              </a:rPr>
              <a:t> </a:t>
            </a:r>
            <a:r>
              <a:rPr sz="5100" spc="-90" dirty="0">
                <a:solidFill>
                  <a:srgbClr val="05345E"/>
                </a:solidFill>
              </a:rPr>
              <a:t>Hardware</a:t>
            </a:r>
            <a:r>
              <a:rPr sz="5100" spc="-265" dirty="0">
                <a:solidFill>
                  <a:srgbClr val="05345E"/>
                </a:solidFill>
              </a:rPr>
              <a:t> </a:t>
            </a:r>
            <a:r>
              <a:rPr sz="5100" spc="-60" dirty="0">
                <a:solidFill>
                  <a:srgbClr val="053860"/>
                </a:solidFill>
              </a:rPr>
              <a:t>Stack</a:t>
            </a:r>
            <a:r>
              <a:rPr sz="5100" spc="-365" dirty="0">
                <a:solidFill>
                  <a:srgbClr val="053860"/>
                </a:solidFill>
              </a:rPr>
              <a:t> </a:t>
            </a:r>
            <a:r>
              <a:rPr sz="5100" spc="75" dirty="0">
                <a:solidFill>
                  <a:srgbClr val="05335B"/>
                </a:solidFill>
              </a:rPr>
              <a:t>Is</a:t>
            </a:r>
            <a:r>
              <a:rPr sz="5100" spc="-445" dirty="0">
                <a:solidFill>
                  <a:srgbClr val="05335B"/>
                </a:solidFill>
              </a:rPr>
              <a:t> </a:t>
            </a:r>
            <a:r>
              <a:rPr sz="5100" spc="-20" dirty="0">
                <a:solidFill>
                  <a:srgbClr val="053B69"/>
                </a:solidFill>
              </a:rPr>
              <a:t>Optimised</a:t>
            </a:r>
            <a:r>
              <a:rPr sz="5100" spc="-120" dirty="0">
                <a:solidFill>
                  <a:srgbClr val="053B69"/>
                </a:solidFill>
              </a:rPr>
              <a:t> </a:t>
            </a:r>
            <a:r>
              <a:rPr sz="5100" spc="55" dirty="0">
                <a:solidFill>
                  <a:srgbClr val="083B66"/>
                </a:solidFill>
              </a:rPr>
              <a:t>for</a:t>
            </a:r>
            <a:r>
              <a:rPr sz="5100" spc="-355" dirty="0">
                <a:solidFill>
                  <a:srgbClr val="083B66"/>
                </a:solidFill>
              </a:rPr>
              <a:t> </a:t>
            </a:r>
            <a:r>
              <a:rPr sz="5100" spc="-105" dirty="0">
                <a:solidFill>
                  <a:srgbClr val="033B6B"/>
                </a:solidFill>
              </a:rPr>
              <a:t>Low</a:t>
            </a:r>
            <a:r>
              <a:rPr sz="5100" spc="-280" dirty="0">
                <a:solidFill>
                  <a:srgbClr val="033B6B"/>
                </a:solidFill>
              </a:rPr>
              <a:t> </a:t>
            </a:r>
            <a:r>
              <a:rPr sz="5100" spc="-10" dirty="0">
                <a:solidFill>
                  <a:srgbClr val="05345D"/>
                </a:solidFill>
              </a:rPr>
              <a:t>Power </a:t>
            </a:r>
            <a:r>
              <a:rPr sz="5100" spc="-70" dirty="0">
                <a:solidFill>
                  <a:srgbClr val="05365D"/>
                </a:solidFill>
              </a:rPr>
              <a:t>and</a:t>
            </a:r>
            <a:r>
              <a:rPr sz="5100" spc="-445" dirty="0">
                <a:solidFill>
                  <a:srgbClr val="05365D"/>
                </a:solidFill>
              </a:rPr>
              <a:t> </a:t>
            </a:r>
            <a:r>
              <a:rPr sz="5100" spc="-30" dirty="0">
                <a:solidFill>
                  <a:srgbClr val="05365D"/>
                </a:solidFill>
              </a:rPr>
              <a:t>High-</a:t>
            </a:r>
            <a:r>
              <a:rPr sz="5100" dirty="0">
                <a:solidFill>
                  <a:srgbClr val="05365D"/>
                </a:solidFill>
              </a:rPr>
              <a:t>Quality</a:t>
            </a:r>
            <a:r>
              <a:rPr sz="5100" spc="5" dirty="0">
                <a:solidFill>
                  <a:srgbClr val="05365D"/>
                </a:solidFill>
              </a:rPr>
              <a:t> </a:t>
            </a:r>
            <a:r>
              <a:rPr sz="5100" spc="-20" dirty="0">
                <a:solidFill>
                  <a:srgbClr val="013460"/>
                </a:solidFill>
              </a:rPr>
              <a:t>Audio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1412129" y="2791530"/>
            <a:ext cx="4758055" cy="209168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281555" marR="5080" indent="-177800">
              <a:lnSpc>
                <a:spcPts val="2700"/>
              </a:lnSpc>
              <a:spcBef>
                <a:spcPts val="509"/>
              </a:spcBef>
            </a:pPr>
            <a:r>
              <a:rPr sz="2550" dirty="0">
                <a:latin typeface="Calibri"/>
                <a:cs typeface="Calibri"/>
              </a:rPr>
              <a:t>Processing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60" dirty="0">
                <a:solidFill>
                  <a:srgbClr val="131313"/>
                </a:solidFill>
                <a:latin typeface="Calibri"/>
                <a:cs typeface="Calibri"/>
              </a:rPr>
              <a:t>&amp;</a:t>
            </a:r>
            <a:r>
              <a:rPr sz="2550" spc="-15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Vision: </a:t>
            </a:r>
            <a:r>
              <a:rPr sz="2550" spc="-105" dirty="0">
                <a:solidFill>
                  <a:srgbClr val="0E0E0E"/>
                </a:solidFill>
                <a:latin typeface="Calibri"/>
                <a:cs typeface="Calibri"/>
              </a:rPr>
              <a:t>ESP32-</a:t>
            </a:r>
            <a:r>
              <a:rPr sz="2550" spc="-55" dirty="0">
                <a:solidFill>
                  <a:srgbClr val="0E0E0E"/>
                </a:solidFill>
                <a:latin typeface="Calibri"/>
                <a:cs typeface="Calibri"/>
              </a:rPr>
              <a:t>CAM</a:t>
            </a:r>
            <a:r>
              <a:rPr sz="2550" spc="-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550" spc="-105" dirty="0">
                <a:solidFill>
                  <a:srgbClr val="151515"/>
                </a:solidFill>
                <a:latin typeface="Calibri"/>
                <a:cs typeface="Calibri"/>
              </a:rPr>
              <a:t>Module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550">
              <a:latin typeface="Calibri"/>
              <a:cs typeface="Calibri"/>
            </a:endParaRPr>
          </a:p>
          <a:p>
            <a:pPr marL="12700">
              <a:lnSpc>
                <a:spcPts val="3020"/>
              </a:lnSpc>
            </a:pPr>
            <a:r>
              <a:rPr sz="2700" spc="-155" dirty="0">
                <a:latin typeface="Calibri"/>
                <a:cs typeface="Calibri"/>
              </a:rPr>
              <a:t>Wake-</a:t>
            </a:r>
            <a:r>
              <a:rPr sz="2700" spc="-50" dirty="0">
                <a:latin typeface="Calibri"/>
                <a:cs typeface="Calibri"/>
              </a:rPr>
              <a:t>up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Trigger:</a:t>
            </a:r>
            <a:endParaRPr sz="2700">
              <a:latin typeface="Calibri"/>
              <a:cs typeface="Calibri"/>
            </a:endParaRPr>
          </a:p>
          <a:p>
            <a:pPr marL="897890">
              <a:lnSpc>
                <a:spcPts val="2780"/>
              </a:lnSpc>
            </a:pPr>
            <a:r>
              <a:rPr sz="2500" dirty="0">
                <a:solidFill>
                  <a:srgbClr val="111111"/>
                </a:solidFill>
                <a:latin typeface="Calibri"/>
                <a:cs typeface="Calibri"/>
              </a:rPr>
              <a:t>PIR</a:t>
            </a:r>
            <a:r>
              <a:rPr sz="2500" spc="7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11111"/>
                </a:solidFill>
                <a:latin typeface="Calibri"/>
                <a:cs typeface="Calibri"/>
              </a:rPr>
              <a:t>Sensor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5412" y="7714191"/>
            <a:ext cx="3439160" cy="765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95"/>
              </a:lnSpc>
              <a:spcBef>
                <a:spcPts val="105"/>
              </a:spcBef>
            </a:pPr>
            <a:r>
              <a:rPr sz="2700" spc="-25" dirty="0">
                <a:latin typeface="Calibri"/>
                <a:cs typeface="Calibri"/>
              </a:rPr>
              <a:t>High-FidelityAudio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Input:</a:t>
            </a:r>
            <a:endParaRPr sz="2700">
              <a:latin typeface="Calibri"/>
              <a:cs typeface="Calibri"/>
            </a:endParaRPr>
          </a:p>
          <a:p>
            <a:pPr marL="280670">
              <a:lnSpc>
                <a:spcPts val="2815"/>
              </a:lnSpc>
            </a:pPr>
            <a:r>
              <a:rPr sz="2550" spc="-65" dirty="0">
                <a:solidFill>
                  <a:srgbClr val="131313"/>
                </a:solidFill>
                <a:latin typeface="Calibri"/>
                <a:cs typeface="Calibri"/>
              </a:rPr>
              <a:t>INNP441</a:t>
            </a:r>
            <a:r>
              <a:rPr sz="255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11111"/>
                </a:solidFill>
                <a:latin typeface="Calibri"/>
                <a:cs typeface="Calibri"/>
              </a:rPr>
              <a:t>I2S</a:t>
            </a:r>
            <a:r>
              <a:rPr sz="2550" spc="-14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rgbClr val="111111"/>
                </a:solidFill>
                <a:latin typeface="Calibri"/>
                <a:cs typeface="Calibri"/>
              </a:rPr>
              <a:t>Microphone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29256" y="2435930"/>
            <a:ext cx="3160395" cy="10820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13970">
              <a:lnSpc>
                <a:spcPct val="89100"/>
              </a:lnSpc>
              <a:spcBef>
                <a:spcPts val="450"/>
              </a:spcBef>
            </a:pPr>
            <a:r>
              <a:rPr sz="2550" spc="-10" dirty="0">
                <a:latin typeface="Calibri"/>
                <a:cs typeface="Calibri"/>
              </a:rPr>
              <a:t>Clear</a:t>
            </a:r>
            <a:r>
              <a:rPr sz="2550" spc="-140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Audio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Output: </a:t>
            </a:r>
            <a:r>
              <a:rPr sz="2400" spc="-60" dirty="0">
                <a:solidFill>
                  <a:srgbClr val="0A0A0A"/>
                </a:solidFill>
                <a:latin typeface="Calibri"/>
                <a:cs typeface="Calibri"/>
              </a:rPr>
              <a:t>MAX9835TA</a:t>
            </a:r>
            <a:r>
              <a:rPr sz="2400" spc="-5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400" spc="70" dirty="0">
                <a:solidFill>
                  <a:srgbClr val="0C0C0C"/>
                </a:solidFill>
                <a:latin typeface="Calibri"/>
                <a:cs typeface="Calibri"/>
              </a:rPr>
              <a:t>I2S</a:t>
            </a:r>
            <a:r>
              <a:rPr sz="2400" spc="-1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31313"/>
                </a:solidFill>
                <a:latin typeface="Calibri"/>
                <a:cs typeface="Calibri"/>
              </a:rPr>
              <a:t>Amplifier </a:t>
            </a:r>
            <a:r>
              <a:rPr sz="2500" spc="-125" dirty="0">
                <a:solidFill>
                  <a:srgbClr val="181818"/>
                </a:solidFill>
                <a:latin typeface="Calibri"/>
                <a:cs typeface="Calibri"/>
              </a:rPr>
              <a:t>&amp;</a:t>
            </a:r>
            <a:r>
              <a:rPr sz="2500" spc="-14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00" spc="-200" dirty="0">
                <a:solidFill>
                  <a:srgbClr val="1A1A1A"/>
                </a:solidFill>
                <a:latin typeface="Calibri"/>
                <a:cs typeface="Calibri"/>
              </a:rPr>
              <a:t>3W</a:t>
            </a:r>
            <a:r>
              <a:rPr sz="25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11111"/>
                </a:solidFill>
                <a:latin typeface="Calibri"/>
                <a:cs typeface="Calibri"/>
              </a:rPr>
              <a:t>Speaker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18346" y="5722761"/>
            <a:ext cx="4449445" cy="3212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9385">
              <a:lnSpc>
                <a:spcPts val="2935"/>
              </a:lnSpc>
              <a:spcBef>
                <a:spcPts val="135"/>
              </a:spcBef>
            </a:pPr>
            <a:r>
              <a:rPr sz="2600" spc="-60" dirty="0">
                <a:solidFill>
                  <a:srgbClr val="070707"/>
                </a:solidFill>
                <a:latin typeface="Calibri"/>
                <a:cs typeface="Calibri"/>
              </a:rPr>
              <a:t>Power</a:t>
            </a:r>
            <a:r>
              <a:rPr sz="2600" spc="-12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2600" spc="-80" dirty="0">
                <a:solidFill>
                  <a:srgbClr val="0E0E0E"/>
                </a:solidFill>
                <a:latin typeface="Calibri"/>
                <a:cs typeface="Calibri"/>
              </a:rPr>
              <a:t>&amp;</a:t>
            </a:r>
            <a:r>
              <a:rPr sz="2600" spc="-1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Programming:</a:t>
            </a:r>
            <a:endParaRPr sz="2600" dirty="0">
              <a:latin typeface="Calibri"/>
              <a:cs typeface="Calibri"/>
            </a:endParaRPr>
          </a:p>
          <a:p>
            <a:pPr marL="160655">
              <a:lnSpc>
                <a:spcPts val="2815"/>
              </a:lnSpc>
            </a:pPr>
            <a:r>
              <a:rPr sz="2500" spc="-55" dirty="0">
                <a:solidFill>
                  <a:srgbClr val="111111"/>
                </a:solidFill>
                <a:latin typeface="Calibri"/>
                <a:cs typeface="Calibri"/>
              </a:rPr>
              <a:t>Power</a:t>
            </a:r>
            <a:r>
              <a:rPr sz="2500" spc="-2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080808"/>
                </a:solidFill>
                <a:latin typeface="Calibri"/>
                <a:cs typeface="Calibri"/>
              </a:rPr>
              <a:t>Supply</a:t>
            </a:r>
            <a:r>
              <a:rPr sz="2500" spc="-11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500" spc="-125" dirty="0">
                <a:solidFill>
                  <a:srgbClr val="131313"/>
                </a:solidFill>
                <a:latin typeface="Calibri"/>
                <a:cs typeface="Calibri"/>
              </a:rPr>
              <a:t>&amp;</a:t>
            </a:r>
            <a:r>
              <a:rPr sz="2500" spc="-1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A0A0A"/>
                </a:solidFill>
                <a:latin typeface="Calibri"/>
                <a:cs typeface="Calibri"/>
              </a:rPr>
              <a:t>FTDI</a:t>
            </a:r>
            <a:r>
              <a:rPr sz="2500" spc="-11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F0F0F"/>
                </a:solidFill>
                <a:latin typeface="Calibri"/>
                <a:cs typeface="Calibri"/>
              </a:rPr>
              <a:t>Module</a:t>
            </a:r>
            <a:endParaRPr sz="2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50"/>
              </a:spcBef>
            </a:pP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300" spc="90" dirty="0">
                <a:solidFill>
                  <a:srgbClr val="08365E"/>
                </a:solidFill>
                <a:latin typeface="Calibri"/>
                <a:cs typeface="Calibri"/>
              </a:rPr>
              <a:t>Key</a:t>
            </a:r>
            <a:r>
              <a:rPr sz="3300" spc="-180" dirty="0">
                <a:solidFill>
                  <a:srgbClr val="08365E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0F314D"/>
                </a:solidFill>
                <a:latin typeface="Calibri"/>
                <a:cs typeface="Calibri"/>
              </a:rPr>
              <a:t>Insight</a:t>
            </a:r>
            <a:endParaRPr sz="3300" dirty="0">
              <a:latin typeface="Calibri"/>
              <a:cs typeface="Calibri"/>
            </a:endParaRPr>
          </a:p>
          <a:p>
            <a:pPr marL="24765" marR="5080" indent="3810">
              <a:lnSpc>
                <a:spcPts val="2200"/>
              </a:lnSpc>
              <a:spcBef>
                <a:spcPts val="980"/>
              </a:spcBef>
            </a:pPr>
            <a:r>
              <a:rPr sz="2150" spc="-140" dirty="0">
                <a:latin typeface="Arial MT"/>
                <a:cs typeface="Arial MT"/>
              </a:rPr>
              <a:t>The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140" dirty="0">
                <a:latin typeface="Arial MT"/>
                <a:cs typeface="Arial MT"/>
              </a:rPr>
              <a:t>use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35" dirty="0">
                <a:latin typeface="Arial MT"/>
                <a:cs typeface="Arial MT"/>
              </a:rPr>
              <a:t>of</a:t>
            </a:r>
            <a:r>
              <a:rPr sz="2150" spc="-55" dirty="0">
                <a:latin typeface="Arial MT"/>
                <a:cs typeface="Arial MT"/>
              </a:rPr>
              <a:t> the</a:t>
            </a:r>
            <a:r>
              <a:rPr sz="2150" spc="-135" dirty="0">
                <a:latin typeface="Arial MT"/>
                <a:cs typeface="Arial MT"/>
              </a:rPr>
              <a:t> </a:t>
            </a:r>
            <a:r>
              <a:rPr sz="2150" spc="-195" dirty="0">
                <a:latin typeface="Arial MT"/>
                <a:cs typeface="Arial MT"/>
              </a:rPr>
              <a:t>I2</a:t>
            </a:r>
            <a:r>
              <a:rPr lang="en-US" sz="2150" spc="-195" dirty="0">
                <a:latin typeface="Arial MT"/>
                <a:cs typeface="Arial MT"/>
              </a:rPr>
              <a:t>c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80" dirty="0">
                <a:latin typeface="Arial MT"/>
                <a:cs typeface="Arial MT"/>
              </a:rPr>
              <a:t>protocol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-70" dirty="0">
                <a:latin typeface="Arial MT"/>
                <a:cs typeface="Arial MT"/>
              </a:rPr>
              <a:t>for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audio </a:t>
            </a:r>
            <a:r>
              <a:rPr sz="2050" spc="-60" dirty="0">
                <a:latin typeface="Arial MT"/>
                <a:cs typeface="Arial MT"/>
              </a:rPr>
              <a:t>ensures</a:t>
            </a:r>
            <a:r>
              <a:rPr sz="2050" spc="-95" dirty="0">
                <a:latin typeface="Arial MT"/>
                <a:cs typeface="Arial MT"/>
              </a:rPr>
              <a:t> </a:t>
            </a:r>
            <a:r>
              <a:rPr sz="2050" spc="-135" dirty="0">
                <a:latin typeface="Arial MT"/>
                <a:cs typeface="Arial MT"/>
              </a:rPr>
              <a:t>a</a:t>
            </a:r>
            <a:r>
              <a:rPr sz="2050" spc="-90" dirty="0">
                <a:latin typeface="Arial MT"/>
                <a:cs typeface="Arial MT"/>
              </a:rPr>
              <a:t> </a:t>
            </a:r>
            <a:r>
              <a:rPr sz="2050" spc="-30" dirty="0">
                <a:latin typeface="Arial MT"/>
                <a:cs typeface="Arial MT"/>
              </a:rPr>
              <a:t>dedicated,</a:t>
            </a:r>
            <a:r>
              <a:rPr sz="2050" spc="-114" dirty="0">
                <a:latin typeface="Arial MT"/>
                <a:cs typeface="Arial MT"/>
              </a:rPr>
              <a:t> </a:t>
            </a:r>
            <a:r>
              <a:rPr sz="2050" spc="-45" dirty="0">
                <a:latin typeface="Arial MT"/>
                <a:cs typeface="Arial MT"/>
              </a:rPr>
              <a:t>high-</a:t>
            </a:r>
            <a:r>
              <a:rPr sz="2050" dirty="0">
                <a:latin typeface="Arial MT"/>
                <a:cs typeface="Arial MT"/>
              </a:rPr>
              <a:t>quality</a:t>
            </a:r>
            <a:r>
              <a:rPr sz="2050" spc="3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digital </a:t>
            </a:r>
            <a:r>
              <a:rPr sz="2150" spc="-100" dirty="0">
                <a:latin typeface="Arial MT"/>
                <a:cs typeface="Arial MT"/>
              </a:rPr>
              <a:t>connection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-55" dirty="0">
                <a:latin typeface="Arial MT"/>
                <a:cs typeface="Arial MT"/>
              </a:rPr>
              <a:t>for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60" dirty="0">
                <a:latin typeface="Arial MT"/>
                <a:cs typeface="Arial MT"/>
              </a:rPr>
              <a:t>the</a:t>
            </a:r>
            <a:r>
              <a:rPr sz="2150" spc="-175" dirty="0">
                <a:latin typeface="Arial MT"/>
                <a:cs typeface="Arial MT"/>
              </a:rPr>
              <a:t> </a:t>
            </a:r>
            <a:r>
              <a:rPr sz="2150" spc="-70" dirty="0">
                <a:latin typeface="Arial MT"/>
                <a:cs typeface="Arial MT"/>
              </a:rPr>
              <a:t>intercom</a:t>
            </a:r>
            <a:r>
              <a:rPr sz="2150" spc="-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function, </a:t>
            </a:r>
            <a:r>
              <a:rPr sz="2000" spc="-40" dirty="0">
                <a:latin typeface="Arial MT"/>
                <a:cs typeface="Arial MT"/>
              </a:rPr>
              <a:t>separate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6858000"/>
            <a:ext cx="1803400" cy="179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1905000"/>
            <a:ext cx="1930400" cy="1930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160"/>
              </a:lnSpc>
              <a:spcBef>
                <a:spcPts val="125"/>
              </a:spcBef>
            </a:pPr>
            <a:r>
              <a:rPr spc="65" dirty="0">
                <a:solidFill>
                  <a:srgbClr val="033159"/>
                </a:solidFill>
              </a:rPr>
              <a:t>Broader</a:t>
            </a:r>
            <a:r>
              <a:rPr spc="85" dirty="0">
                <a:solidFill>
                  <a:srgbClr val="033159"/>
                </a:solidFill>
              </a:rPr>
              <a:t> </a:t>
            </a:r>
            <a:r>
              <a:rPr spc="175" dirty="0">
                <a:solidFill>
                  <a:srgbClr val="05335B"/>
                </a:solidFill>
              </a:rPr>
              <a:t>Impact:</a:t>
            </a:r>
            <a:r>
              <a:rPr spc="-120" dirty="0">
                <a:solidFill>
                  <a:srgbClr val="05335B"/>
                </a:solidFill>
              </a:rPr>
              <a:t> </a:t>
            </a:r>
            <a:r>
              <a:rPr spc="190" dirty="0"/>
              <a:t>Contributing</a:t>
            </a:r>
            <a:r>
              <a:rPr spc="105" dirty="0"/>
              <a:t> </a:t>
            </a:r>
            <a:r>
              <a:rPr spc="175" dirty="0">
                <a:solidFill>
                  <a:srgbClr val="07315B"/>
                </a:solidFill>
              </a:rPr>
              <a:t>to</a:t>
            </a:r>
            <a:r>
              <a:rPr spc="-30" dirty="0">
                <a:solidFill>
                  <a:srgbClr val="07315B"/>
                </a:solidFill>
              </a:rPr>
              <a:t> </a:t>
            </a:r>
            <a:r>
              <a:rPr spc="50" dirty="0">
                <a:solidFill>
                  <a:srgbClr val="053156"/>
                </a:solidFill>
              </a:rPr>
              <a:t>Safer,</a:t>
            </a:r>
            <a:r>
              <a:rPr spc="-235" dirty="0">
                <a:solidFill>
                  <a:srgbClr val="053156"/>
                </a:solidFill>
              </a:rPr>
              <a:t> </a:t>
            </a:r>
            <a:r>
              <a:rPr spc="145" dirty="0">
                <a:solidFill>
                  <a:srgbClr val="01345E"/>
                </a:solidFill>
              </a:rPr>
              <a:t>More</a:t>
            </a:r>
            <a:r>
              <a:rPr spc="-130" dirty="0">
                <a:solidFill>
                  <a:srgbClr val="01345E"/>
                </a:solidFill>
              </a:rPr>
              <a:t> </a:t>
            </a:r>
            <a:r>
              <a:rPr spc="105" dirty="0">
                <a:solidFill>
                  <a:srgbClr val="03315B"/>
                </a:solidFill>
              </a:rPr>
              <a:t>Sustainable</a:t>
            </a:r>
          </a:p>
          <a:p>
            <a:pPr marL="12700">
              <a:lnSpc>
                <a:spcPts val="5280"/>
              </a:lnSpc>
            </a:pPr>
            <a:r>
              <a:rPr sz="4450" spc="80" dirty="0">
                <a:solidFill>
                  <a:srgbClr val="053157"/>
                </a:solidFill>
              </a:rPr>
              <a:t>Communities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3388262" y="1854589"/>
            <a:ext cx="13114019" cy="718312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495"/>
              </a:spcBef>
            </a:pPr>
            <a:r>
              <a:rPr sz="3400" spc="-110" dirty="0">
                <a:solidFill>
                  <a:srgbClr val="0C3454"/>
                </a:solidFill>
                <a:latin typeface="Arial MT"/>
                <a:cs typeface="Arial MT"/>
              </a:rPr>
              <a:t>UN</a:t>
            </a:r>
            <a:r>
              <a:rPr sz="3400" spc="-250" dirty="0">
                <a:solidFill>
                  <a:srgbClr val="0C3454"/>
                </a:solidFill>
                <a:latin typeface="Arial MT"/>
                <a:cs typeface="Arial MT"/>
              </a:rPr>
              <a:t> </a:t>
            </a:r>
            <a:r>
              <a:rPr sz="3400" spc="-229" dirty="0">
                <a:solidFill>
                  <a:srgbClr val="0A2D4B"/>
                </a:solidFill>
                <a:latin typeface="Arial MT"/>
                <a:cs typeface="Arial MT"/>
              </a:rPr>
              <a:t>SDG</a:t>
            </a:r>
            <a:r>
              <a:rPr sz="3400" spc="-140" dirty="0">
                <a:solidFill>
                  <a:srgbClr val="0A2D4B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82F56"/>
                </a:solidFill>
                <a:latin typeface="Arial MT"/>
                <a:cs typeface="Arial MT"/>
              </a:rPr>
              <a:t>9</a:t>
            </a:r>
            <a:r>
              <a:rPr sz="3400" spc="190" dirty="0">
                <a:solidFill>
                  <a:srgbClr val="082F56"/>
                </a:solidFill>
                <a:latin typeface="Arial MT"/>
                <a:cs typeface="Arial MT"/>
              </a:rPr>
              <a:t> </a:t>
            </a:r>
            <a:r>
              <a:rPr sz="3400" spc="80" dirty="0">
                <a:solidFill>
                  <a:srgbClr val="0A3457"/>
                </a:solidFill>
                <a:latin typeface="Arial MT"/>
                <a:cs typeface="Arial MT"/>
              </a:rPr>
              <a:t>(Industry,</a:t>
            </a:r>
            <a:r>
              <a:rPr sz="3400" spc="-225" dirty="0">
                <a:solidFill>
                  <a:srgbClr val="0A3457"/>
                </a:solidFill>
                <a:latin typeface="Arial MT"/>
                <a:cs typeface="Arial MT"/>
              </a:rPr>
              <a:t> </a:t>
            </a:r>
            <a:r>
              <a:rPr sz="3400" spc="70" dirty="0">
                <a:solidFill>
                  <a:srgbClr val="0A2D4D"/>
                </a:solidFill>
                <a:latin typeface="Arial MT"/>
                <a:cs typeface="Arial MT"/>
              </a:rPr>
              <a:t>Innovation,</a:t>
            </a:r>
            <a:r>
              <a:rPr sz="3400" spc="-120" dirty="0">
                <a:solidFill>
                  <a:srgbClr val="0A2D4D"/>
                </a:solidFill>
                <a:latin typeface="Arial MT"/>
                <a:cs typeface="Arial MT"/>
              </a:rPr>
              <a:t> </a:t>
            </a:r>
            <a:r>
              <a:rPr sz="3400" spc="70" dirty="0">
                <a:solidFill>
                  <a:srgbClr val="073357"/>
                </a:solidFill>
                <a:latin typeface="Arial MT"/>
                <a:cs typeface="Arial MT"/>
              </a:rPr>
              <a:t>and</a:t>
            </a:r>
            <a:r>
              <a:rPr sz="3400" spc="-345" dirty="0">
                <a:solidFill>
                  <a:srgbClr val="073357"/>
                </a:solidFill>
                <a:latin typeface="Arial MT"/>
                <a:cs typeface="Arial MT"/>
              </a:rPr>
              <a:t> </a:t>
            </a:r>
            <a:r>
              <a:rPr sz="3400" spc="110" dirty="0">
                <a:solidFill>
                  <a:srgbClr val="0C2F56"/>
                </a:solidFill>
                <a:latin typeface="Arial MT"/>
                <a:cs typeface="Arial MT"/>
              </a:rPr>
              <a:t>Infrastructure)</a:t>
            </a:r>
            <a:endParaRPr sz="3400" dirty="0">
              <a:latin typeface="Arial MT"/>
              <a:cs typeface="Arial MT"/>
            </a:endParaRPr>
          </a:p>
          <a:p>
            <a:pPr marL="20320" marR="5080" indent="1905">
              <a:lnSpc>
                <a:spcPts val="3900"/>
              </a:lnSpc>
              <a:spcBef>
                <a:spcPts val="600"/>
              </a:spcBef>
            </a:pPr>
            <a:r>
              <a:rPr sz="3300" spc="-425" dirty="0">
                <a:latin typeface="Arial MT"/>
                <a:cs typeface="Arial MT"/>
              </a:rPr>
              <a:t>We</a:t>
            </a:r>
            <a:r>
              <a:rPr sz="3300" spc="-250" dirty="0">
                <a:latin typeface="Arial MT"/>
                <a:cs typeface="Arial MT"/>
              </a:rPr>
              <a:t> </a:t>
            </a:r>
            <a:r>
              <a:rPr sz="3300" spc="-170" dirty="0">
                <a:latin typeface="Arial MT"/>
                <a:cs typeface="Arial MT"/>
              </a:rPr>
              <a:t>are</a:t>
            </a:r>
            <a:r>
              <a:rPr sz="3300" spc="-250" dirty="0">
                <a:latin typeface="Arial MT"/>
                <a:cs typeface="Arial MT"/>
              </a:rPr>
              <a:t> </a:t>
            </a:r>
            <a:r>
              <a:rPr sz="3300" spc="-100" dirty="0">
                <a:latin typeface="Arial MT"/>
                <a:cs typeface="Arial MT"/>
              </a:rPr>
              <a:t>democratising</a:t>
            </a:r>
            <a:r>
              <a:rPr sz="3300" spc="-130" dirty="0">
                <a:latin typeface="Arial MT"/>
                <a:cs typeface="Arial MT"/>
              </a:rPr>
              <a:t> </a:t>
            </a:r>
            <a:r>
              <a:rPr sz="3300" spc="-185" dirty="0">
                <a:latin typeface="Arial MT"/>
                <a:cs typeface="Arial MT"/>
              </a:rPr>
              <a:t>advanced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spc="-105" dirty="0">
                <a:latin typeface="Arial MT"/>
                <a:cs typeface="Arial MT"/>
              </a:rPr>
              <a:t>security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135" dirty="0">
                <a:latin typeface="Arial MT"/>
                <a:cs typeface="Arial MT"/>
              </a:rPr>
              <a:t>features</a:t>
            </a:r>
            <a:r>
              <a:rPr sz="3300" spc="-95" dirty="0">
                <a:latin typeface="Arial MT"/>
                <a:cs typeface="Arial MT"/>
              </a:rPr>
              <a:t> </a:t>
            </a:r>
            <a:r>
              <a:rPr sz="3300" spc="-240" dirty="0">
                <a:latin typeface="Arial MT"/>
                <a:cs typeface="Arial MT"/>
              </a:rPr>
              <a:t>(Al</a:t>
            </a:r>
            <a:r>
              <a:rPr sz="3300" spc="-185" dirty="0">
                <a:latin typeface="Arial MT"/>
                <a:cs typeface="Arial MT"/>
              </a:rPr>
              <a:t> </a:t>
            </a:r>
            <a:r>
              <a:rPr sz="3300" spc="-125" dirty="0">
                <a:latin typeface="Arial MT"/>
                <a:cs typeface="Arial MT"/>
              </a:rPr>
              <a:t>+</a:t>
            </a:r>
            <a:r>
              <a:rPr sz="3300" spc="-455" dirty="0">
                <a:latin typeface="Arial MT"/>
                <a:cs typeface="Arial MT"/>
              </a:rPr>
              <a:t> </a:t>
            </a:r>
            <a:r>
              <a:rPr sz="3300" spc="-85" dirty="0">
                <a:latin typeface="Arial MT"/>
                <a:cs typeface="Arial MT"/>
              </a:rPr>
              <a:t>Intercom)</a:t>
            </a:r>
            <a:r>
              <a:rPr sz="3300" spc="95" dirty="0">
                <a:latin typeface="Arial MT"/>
                <a:cs typeface="Arial MT"/>
              </a:rPr>
              <a:t> </a:t>
            </a:r>
            <a:r>
              <a:rPr sz="3300" spc="-180" dirty="0">
                <a:latin typeface="Arial MT"/>
                <a:cs typeface="Arial MT"/>
              </a:rPr>
              <a:t>by</a:t>
            </a:r>
            <a:r>
              <a:rPr sz="3300" spc="-19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building </a:t>
            </a:r>
            <a:r>
              <a:rPr sz="3300" spc="-85" dirty="0">
                <a:latin typeface="Arial MT"/>
                <a:cs typeface="Arial MT"/>
              </a:rPr>
              <a:t>them</a:t>
            </a:r>
            <a:r>
              <a:rPr sz="3300" spc="-145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upon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105" dirty="0">
                <a:latin typeface="Arial MT"/>
                <a:cs typeface="Arial MT"/>
              </a:rPr>
              <a:t>highly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85" dirty="0">
                <a:latin typeface="Arial MT"/>
                <a:cs typeface="Arial MT"/>
              </a:rPr>
              <a:t>affordable</a:t>
            </a:r>
            <a:r>
              <a:rPr sz="3300" dirty="0">
                <a:latin typeface="Arial MT"/>
                <a:cs typeface="Arial MT"/>
              </a:rPr>
              <a:t> </a:t>
            </a:r>
            <a:r>
              <a:rPr sz="3300" spc="-195" dirty="0">
                <a:latin typeface="Arial MT"/>
                <a:cs typeface="Arial MT"/>
              </a:rPr>
              <a:t>and</a:t>
            </a:r>
            <a:r>
              <a:rPr sz="3300" spc="-125" dirty="0">
                <a:latin typeface="Arial MT"/>
                <a:cs typeface="Arial MT"/>
              </a:rPr>
              <a:t> </a:t>
            </a:r>
            <a:r>
              <a:rPr sz="3300" spc="-195" dirty="0">
                <a:latin typeface="Arial MT"/>
                <a:cs typeface="Arial MT"/>
              </a:rPr>
              <a:t>accessible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components.</a:t>
            </a:r>
            <a:endParaRPr sz="3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3300" dirty="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sz="3450" spc="-160" dirty="0">
                <a:solidFill>
                  <a:srgbClr val="082A49"/>
                </a:solidFill>
                <a:latin typeface="Arial MT"/>
                <a:cs typeface="Arial MT"/>
              </a:rPr>
              <a:t>UN</a:t>
            </a:r>
            <a:r>
              <a:rPr sz="3450" spc="-190" dirty="0">
                <a:solidFill>
                  <a:srgbClr val="082A49"/>
                </a:solidFill>
                <a:latin typeface="Arial MT"/>
                <a:cs typeface="Arial MT"/>
              </a:rPr>
              <a:t> </a:t>
            </a:r>
            <a:r>
              <a:rPr sz="3450" spc="-280" dirty="0">
                <a:solidFill>
                  <a:srgbClr val="082A49"/>
                </a:solidFill>
                <a:latin typeface="Arial MT"/>
                <a:cs typeface="Arial MT"/>
              </a:rPr>
              <a:t>SDG</a:t>
            </a:r>
            <a:r>
              <a:rPr sz="3450" spc="-200" dirty="0">
                <a:solidFill>
                  <a:srgbClr val="082A49"/>
                </a:solidFill>
                <a:latin typeface="Arial MT"/>
                <a:cs typeface="Arial MT"/>
              </a:rPr>
              <a:t> </a:t>
            </a:r>
            <a:r>
              <a:rPr sz="3450" spc="-145" dirty="0">
                <a:solidFill>
                  <a:srgbClr val="0C3459"/>
                </a:solidFill>
                <a:latin typeface="Arial MT"/>
                <a:cs typeface="Arial MT"/>
              </a:rPr>
              <a:t>11</a:t>
            </a:r>
            <a:r>
              <a:rPr sz="3450" spc="-325" dirty="0">
                <a:solidFill>
                  <a:srgbClr val="0C3459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083157"/>
                </a:solidFill>
                <a:latin typeface="Arial MT"/>
                <a:cs typeface="Arial MT"/>
              </a:rPr>
              <a:t>(Sustainable</a:t>
            </a:r>
            <a:r>
              <a:rPr sz="3450" spc="90" dirty="0">
                <a:solidFill>
                  <a:srgbClr val="083157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072A49"/>
                </a:solidFill>
                <a:latin typeface="Arial MT"/>
                <a:cs typeface="Arial MT"/>
              </a:rPr>
              <a:t>Cities</a:t>
            </a:r>
            <a:r>
              <a:rPr sz="3450" spc="40" dirty="0">
                <a:solidFill>
                  <a:srgbClr val="072A49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0C345B"/>
                </a:solidFill>
                <a:latin typeface="Arial MT"/>
                <a:cs typeface="Arial MT"/>
              </a:rPr>
              <a:t>and</a:t>
            </a:r>
            <a:r>
              <a:rPr sz="3450" spc="-80" dirty="0">
                <a:solidFill>
                  <a:srgbClr val="0C345B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032B4F"/>
                </a:solidFill>
                <a:latin typeface="Arial MT"/>
                <a:cs typeface="Arial MT"/>
              </a:rPr>
              <a:t>Communities)</a:t>
            </a:r>
            <a:endParaRPr sz="3450" dirty="0">
              <a:latin typeface="Arial MT"/>
              <a:cs typeface="Arial MT"/>
            </a:endParaRPr>
          </a:p>
          <a:p>
            <a:pPr marL="19050" marR="162560" indent="-1905">
              <a:lnSpc>
                <a:spcPts val="3950"/>
              </a:lnSpc>
              <a:spcBef>
                <a:spcPts val="500"/>
              </a:spcBef>
            </a:pPr>
            <a:r>
              <a:rPr sz="3650" spc="-215" dirty="0">
                <a:latin typeface="Calibri"/>
                <a:cs typeface="Calibri"/>
              </a:rPr>
              <a:t>Our</a:t>
            </a:r>
            <a:r>
              <a:rPr sz="3650" spc="-135" dirty="0">
                <a:latin typeface="Calibri"/>
                <a:cs typeface="Calibri"/>
              </a:rPr>
              <a:t> </a:t>
            </a:r>
            <a:r>
              <a:rPr sz="3650" spc="-200" dirty="0">
                <a:latin typeface="Calibri"/>
                <a:cs typeface="Calibri"/>
              </a:rPr>
              <a:t>system</a:t>
            </a:r>
            <a:r>
              <a:rPr sz="3650" spc="-30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provides</a:t>
            </a:r>
            <a:r>
              <a:rPr sz="3650" spc="-45" dirty="0">
                <a:latin typeface="Calibri"/>
                <a:cs typeface="Calibri"/>
              </a:rPr>
              <a:t> </a:t>
            </a:r>
            <a:r>
              <a:rPr sz="3650" spc="-70" dirty="0">
                <a:latin typeface="Calibri"/>
                <a:cs typeface="Calibri"/>
              </a:rPr>
              <a:t>a</a:t>
            </a:r>
            <a:r>
              <a:rPr sz="3650" spc="-235" dirty="0">
                <a:latin typeface="Calibri"/>
                <a:cs typeface="Calibri"/>
              </a:rPr>
              <a:t> </a:t>
            </a:r>
            <a:r>
              <a:rPr sz="3650" spc="-175" dirty="0">
                <a:latin typeface="Calibri"/>
                <a:cs typeface="Calibri"/>
              </a:rPr>
              <a:t>low-</a:t>
            </a:r>
            <a:r>
              <a:rPr sz="3650" spc="-150" dirty="0">
                <a:latin typeface="Calibri"/>
                <a:cs typeface="Calibri"/>
              </a:rPr>
              <a:t>cost</a:t>
            </a:r>
            <a:r>
              <a:rPr sz="3650" spc="-50" dirty="0">
                <a:latin typeface="Calibri"/>
                <a:cs typeface="Calibri"/>
              </a:rPr>
              <a:t> </a:t>
            </a:r>
            <a:r>
              <a:rPr sz="3650" spc="-130" dirty="0">
                <a:latin typeface="Calibri"/>
                <a:cs typeface="Calibri"/>
              </a:rPr>
              <a:t>tool</a:t>
            </a:r>
            <a:r>
              <a:rPr sz="3650" spc="-215" dirty="0">
                <a:latin typeface="Calibri"/>
                <a:cs typeface="Calibri"/>
              </a:rPr>
              <a:t> </a:t>
            </a:r>
            <a:r>
              <a:rPr sz="3650" spc="-185" dirty="0">
                <a:latin typeface="Calibri"/>
                <a:cs typeface="Calibri"/>
              </a:rPr>
              <a:t>for</a:t>
            </a:r>
            <a:r>
              <a:rPr sz="3650" spc="-260" dirty="0">
                <a:latin typeface="Calibri"/>
                <a:cs typeface="Calibri"/>
              </a:rPr>
              <a:t> </a:t>
            </a:r>
            <a:r>
              <a:rPr sz="3650" spc="-135" dirty="0">
                <a:latin typeface="Calibri"/>
                <a:cs typeface="Calibri"/>
              </a:rPr>
              <a:t>reliable</a:t>
            </a:r>
            <a:r>
              <a:rPr sz="3650" spc="-5" dirty="0">
                <a:latin typeface="Calibri"/>
                <a:cs typeface="Calibri"/>
              </a:rPr>
              <a:t> </a:t>
            </a:r>
            <a:r>
              <a:rPr sz="3650" spc="-170" dirty="0">
                <a:latin typeface="Calibri"/>
                <a:cs typeface="Calibri"/>
              </a:rPr>
              <a:t>neighbourhood</a:t>
            </a:r>
            <a:r>
              <a:rPr sz="3650" spc="170" dirty="0">
                <a:latin typeface="Calibri"/>
                <a:cs typeface="Calibri"/>
              </a:rPr>
              <a:t> </a:t>
            </a:r>
            <a:r>
              <a:rPr sz="3650" spc="-75" dirty="0">
                <a:latin typeface="Calibri"/>
                <a:cs typeface="Calibri"/>
              </a:rPr>
              <a:t>monitoring, </a:t>
            </a:r>
            <a:r>
              <a:rPr sz="3650" spc="-155" dirty="0">
                <a:latin typeface="Calibri"/>
                <a:cs typeface="Calibri"/>
              </a:rPr>
              <a:t>enhancing</a:t>
            </a:r>
            <a:r>
              <a:rPr sz="3650" spc="-35" dirty="0">
                <a:latin typeface="Calibri"/>
                <a:cs typeface="Calibri"/>
              </a:rPr>
              <a:t> </a:t>
            </a:r>
            <a:r>
              <a:rPr sz="3650" spc="-180" dirty="0">
                <a:latin typeface="Calibri"/>
                <a:cs typeface="Calibri"/>
              </a:rPr>
              <a:t>community</a:t>
            </a:r>
            <a:r>
              <a:rPr sz="3650" spc="5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safety.</a:t>
            </a:r>
            <a:endParaRPr sz="36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50" dirty="0">
              <a:latin typeface="Calibri"/>
              <a:cs typeface="Calibri"/>
            </a:endParaRPr>
          </a:p>
          <a:p>
            <a:pPr marL="12700">
              <a:lnSpc>
                <a:spcPts val="4555"/>
              </a:lnSpc>
            </a:pPr>
            <a:r>
              <a:rPr sz="3800" dirty="0">
                <a:solidFill>
                  <a:srgbClr val="083456"/>
                </a:solidFill>
                <a:latin typeface="Calibri"/>
                <a:cs typeface="Calibri"/>
              </a:rPr>
              <a:t>Environmental</a:t>
            </a:r>
            <a:r>
              <a:rPr sz="3800" spc="330" dirty="0">
                <a:solidFill>
                  <a:srgbClr val="083456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C3457"/>
                </a:solidFill>
                <a:latin typeface="Calibri"/>
                <a:cs typeface="Calibri"/>
              </a:rPr>
              <a:t>Impact</a:t>
            </a:r>
            <a:endParaRPr sz="3800" dirty="0">
              <a:latin typeface="Calibri"/>
              <a:cs typeface="Calibri"/>
            </a:endParaRPr>
          </a:p>
          <a:p>
            <a:pPr marL="20320" marR="106045" indent="-2540">
              <a:lnSpc>
                <a:spcPts val="3900"/>
              </a:lnSpc>
              <a:spcBef>
                <a:spcPts val="525"/>
              </a:spcBef>
            </a:pPr>
            <a:r>
              <a:rPr sz="3650" spc="-85" dirty="0">
                <a:latin typeface="Calibri"/>
                <a:cs typeface="Calibri"/>
              </a:rPr>
              <a:t>Our’Sensor</a:t>
            </a:r>
            <a:r>
              <a:rPr sz="3650" spc="-70" dirty="0">
                <a:latin typeface="Calibri"/>
                <a:cs typeface="Calibri"/>
              </a:rPr>
              <a:t> </a:t>
            </a:r>
            <a:r>
              <a:rPr sz="3650" spc="-135" dirty="0">
                <a:latin typeface="Calibri"/>
                <a:cs typeface="Calibri"/>
              </a:rPr>
              <a:t>Fusion’</a:t>
            </a:r>
            <a:r>
              <a:rPr sz="3650" spc="-35" dirty="0">
                <a:latin typeface="Calibri"/>
                <a:cs typeface="Calibri"/>
              </a:rPr>
              <a:t> </a:t>
            </a:r>
            <a:r>
              <a:rPr sz="3650" spc="-190" dirty="0">
                <a:latin typeface="Calibri"/>
                <a:cs typeface="Calibri"/>
              </a:rPr>
              <a:t>and</a:t>
            </a:r>
            <a:r>
              <a:rPr sz="3650" spc="-55" dirty="0">
                <a:latin typeface="Calibri"/>
                <a:cs typeface="Calibri"/>
              </a:rPr>
              <a:t> </a:t>
            </a:r>
            <a:r>
              <a:rPr sz="3650" spc="-180" dirty="0">
                <a:latin typeface="Calibri"/>
                <a:cs typeface="Calibri"/>
              </a:rPr>
              <a:t>State</a:t>
            </a:r>
            <a:r>
              <a:rPr sz="3650" spc="-100" dirty="0">
                <a:latin typeface="Calibri"/>
                <a:cs typeface="Calibri"/>
              </a:rPr>
              <a:t> </a:t>
            </a:r>
            <a:r>
              <a:rPr sz="3650" spc="-250" dirty="0">
                <a:latin typeface="Calibri"/>
                <a:cs typeface="Calibri"/>
              </a:rPr>
              <a:t>Machine</a:t>
            </a:r>
            <a:r>
              <a:rPr sz="3650" dirty="0">
                <a:latin typeface="Calibri"/>
                <a:cs typeface="Calibri"/>
              </a:rPr>
              <a:t> </a:t>
            </a:r>
            <a:r>
              <a:rPr sz="3650" spc="-125" dirty="0">
                <a:latin typeface="Calibri"/>
                <a:cs typeface="Calibri"/>
              </a:rPr>
              <a:t>design</a:t>
            </a:r>
            <a:r>
              <a:rPr sz="3650" spc="-55" dirty="0">
                <a:latin typeface="Calibri"/>
                <a:cs typeface="Calibri"/>
              </a:rPr>
              <a:t> </a:t>
            </a:r>
            <a:r>
              <a:rPr sz="3650" spc="-35" dirty="0">
                <a:latin typeface="Calibri"/>
                <a:cs typeface="Calibri"/>
              </a:rPr>
              <a:t>is</a:t>
            </a:r>
            <a:r>
              <a:rPr sz="3650" spc="-265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inherently</a:t>
            </a:r>
            <a:r>
              <a:rPr sz="3650" spc="85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energy-</a:t>
            </a:r>
            <a:r>
              <a:rPr sz="3650" spc="-20" dirty="0">
                <a:latin typeface="Calibri"/>
                <a:cs typeface="Calibri"/>
              </a:rPr>
              <a:t>efficient. </a:t>
            </a:r>
            <a:r>
              <a:rPr sz="3550" spc="-120" dirty="0">
                <a:latin typeface="Calibri"/>
                <a:cs typeface="Calibri"/>
              </a:rPr>
              <a:t>The </a:t>
            </a:r>
            <a:r>
              <a:rPr sz="3550" spc="-145" dirty="0">
                <a:latin typeface="Calibri"/>
                <a:cs typeface="Calibri"/>
              </a:rPr>
              <a:t>high-</a:t>
            </a:r>
            <a:r>
              <a:rPr sz="3550" spc="-140" dirty="0">
                <a:latin typeface="Calibri"/>
                <a:cs typeface="Calibri"/>
              </a:rPr>
              <a:t>power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spc="-150" dirty="0">
                <a:latin typeface="Calibri"/>
                <a:cs typeface="Calibri"/>
              </a:rPr>
              <a:t>camera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spc="-90" dirty="0">
                <a:latin typeface="Calibri"/>
                <a:cs typeface="Calibri"/>
              </a:rPr>
              <a:t>and</a:t>
            </a:r>
            <a:r>
              <a:rPr sz="3550" spc="-110" dirty="0">
                <a:latin typeface="Calibri"/>
                <a:cs typeface="Calibri"/>
              </a:rPr>
              <a:t> </a:t>
            </a:r>
            <a:r>
              <a:rPr sz="3550" spc="-120" dirty="0">
                <a:latin typeface="Calibri"/>
                <a:cs typeface="Calibri"/>
              </a:rPr>
              <a:t>streaming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functions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spc="-150" dirty="0">
                <a:latin typeface="Calibri"/>
                <a:cs typeface="Calibri"/>
              </a:rPr>
              <a:t>are</a:t>
            </a:r>
            <a:r>
              <a:rPr sz="3550" spc="-114" dirty="0">
                <a:latin typeface="Calibri"/>
                <a:cs typeface="Calibri"/>
              </a:rPr>
              <a:t> </a:t>
            </a:r>
            <a:r>
              <a:rPr sz="3550" dirty="0">
                <a:solidFill>
                  <a:srgbClr val="C4641F"/>
                </a:solidFill>
                <a:latin typeface="Calibri"/>
                <a:cs typeface="Calibri"/>
              </a:rPr>
              <a:t>only</a:t>
            </a:r>
            <a:r>
              <a:rPr sz="3550" spc="-40" dirty="0">
                <a:solidFill>
                  <a:srgbClr val="C4641F"/>
                </a:solidFill>
                <a:latin typeface="Calibri"/>
                <a:cs typeface="Calibri"/>
              </a:rPr>
              <a:t> </a:t>
            </a:r>
            <a:r>
              <a:rPr sz="3550" dirty="0">
                <a:solidFill>
                  <a:srgbClr val="C6641C"/>
                </a:solidFill>
                <a:latin typeface="Calibri"/>
                <a:cs typeface="Calibri"/>
              </a:rPr>
              <a:t>active</a:t>
            </a:r>
            <a:r>
              <a:rPr sz="3550" spc="-100" dirty="0">
                <a:solidFill>
                  <a:srgbClr val="C6641C"/>
                </a:solidFill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during </a:t>
            </a:r>
            <a:r>
              <a:rPr sz="3600" spc="-130" dirty="0">
                <a:latin typeface="Calibri"/>
                <a:cs typeface="Calibri"/>
              </a:rPr>
              <a:t>verified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75" dirty="0">
                <a:latin typeface="Calibri"/>
                <a:cs typeface="Calibri"/>
              </a:rPr>
              <a:t>human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25" dirty="0">
                <a:latin typeface="Calibri"/>
                <a:cs typeface="Calibri"/>
              </a:rPr>
              <a:t>interactions,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85" dirty="0">
                <a:latin typeface="Calibri"/>
                <a:cs typeface="Calibri"/>
              </a:rPr>
              <a:t>drastically</a:t>
            </a:r>
            <a:r>
              <a:rPr sz="3600" spc="100" dirty="0">
                <a:latin typeface="Calibri"/>
                <a:cs typeface="Calibri"/>
              </a:rPr>
              <a:t> </a:t>
            </a:r>
            <a:r>
              <a:rPr sz="3600" spc="-125" dirty="0">
                <a:latin typeface="Calibri"/>
                <a:cs typeface="Calibri"/>
              </a:rPr>
              <a:t>reducing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25" dirty="0">
                <a:latin typeface="Calibri"/>
                <a:cs typeface="Calibri"/>
              </a:rPr>
              <a:t>overall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energy </a:t>
            </a:r>
            <a:r>
              <a:rPr sz="3550" spc="-114" dirty="0">
                <a:latin typeface="Calibri"/>
                <a:cs typeface="Calibri"/>
              </a:rPr>
              <a:t>consumption</a:t>
            </a:r>
            <a:r>
              <a:rPr sz="3550" spc="-10" dirty="0">
                <a:latin typeface="Calibri"/>
                <a:cs typeface="Calibri"/>
              </a:rPr>
              <a:t> </a:t>
            </a:r>
            <a:r>
              <a:rPr sz="3550" spc="-135" dirty="0">
                <a:latin typeface="Calibri"/>
                <a:cs typeface="Calibri"/>
              </a:rPr>
              <a:t>compared</a:t>
            </a:r>
            <a:r>
              <a:rPr sz="3550" spc="10" dirty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to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spc="-120" dirty="0">
                <a:latin typeface="Calibri"/>
                <a:cs typeface="Calibri"/>
              </a:rPr>
              <a:t>always-</a:t>
            </a:r>
            <a:r>
              <a:rPr sz="3550" spc="-110" dirty="0">
                <a:latin typeface="Calibri"/>
                <a:cs typeface="Calibri"/>
              </a:rPr>
              <a:t>on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systems.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00" y="2806700"/>
            <a:ext cx="1968500" cy="1981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7000" y="2895600"/>
            <a:ext cx="1981200" cy="1803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82600" y="2806700"/>
            <a:ext cx="1092200" cy="1968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64795" y="587022"/>
            <a:ext cx="11527790" cy="15474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598930" marR="5080" indent="-1586865">
              <a:lnSpc>
                <a:spcPts val="5650"/>
              </a:lnSpc>
              <a:spcBef>
                <a:spcPts val="855"/>
              </a:spcBef>
            </a:pPr>
            <a:r>
              <a:rPr sz="5250" spc="-190" dirty="0">
                <a:solidFill>
                  <a:srgbClr val="083A62"/>
                </a:solidFill>
              </a:rPr>
              <a:t>Our</a:t>
            </a:r>
            <a:r>
              <a:rPr sz="5250" spc="-175" dirty="0">
                <a:solidFill>
                  <a:srgbClr val="083A62"/>
                </a:solidFill>
              </a:rPr>
              <a:t> </a:t>
            </a:r>
            <a:r>
              <a:rPr sz="5250" spc="-340" dirty="0">
                <a:solidFill>
                  <a:srgbClr val="07345B"/>
                </a:solidFill>
              </a:rPr>
              <a:t>Team</a:t>
            </a:r>
            <a:r>
              <a:rPr sz="5250" spc="-290" dirty="0">
                <a:solidFill>
                  <a:srgbClr val="07345B"/>
                </a:solidFill>
              </a:rPr>
              <a:t> </a:t>
            </a:r>
            <a:r>
              <a:rPr sz="5250" spc="-155" dirty="0">
                <a:solidFill>
                  <a:srgbClr val="032F54"/>
                </a:solidFill>
              </a:rPr>
              <a:t>Possesses</a:t>
            </a:r>
            <a:r>
              <a:rPr sz="5250" spc="-85" dirty="0">
                <a:solidFill>
                  <a:srgbClr val="032F54"/>
                </a:solidFill>
              </a:rPr>
              <a:t> </a:t>
            </a:r>
            <a:r>
              <a:rPr sz="5250" spc="-210" dirty="0">
                <a:solidFill>
                  <a:srgbClr val="053359"/>
                </a:solidFill>
              </a:rPr>
              <a:t>a</a:t>
            </a:r>
            <a:r>
              <a:rPr sz="5250" spc="-385" dirty="0">
                <a:solidFill>
                  <a:srgbClr val="053359"/>
                </a:solidFill>
              </a:rPr>
              <a:t> </a:t>
            </a:r>
            <a:r>
              <a:rPr sz="5250" spc="-145" dirty="0">
                <a:solidFill>
                  <a:srgbClr val="053A62"/>
                </a:solidFill>
              </a:rPr>
              <a:t>Balanced</a:t>
            </a:r>
            <a:r>
              <a:rPr sz="5250" spc="-220" dirty="0">
                <a:solidFill>
                  <a:srgbClr val="053A62"/>
                </a:solidFill>
              </a:rPr>
              <a:t> </a:t>
            </a:r>
            <a:r>
              <a:rPr sz="5250" spc="-10" dirty="0">
                <a:solidFill>
                  <a:srgbClr val="013157"/>
                </a:solidFill>
              </a:rPr>
              <a:t>Skillset </a:t>
            </a:r>
            <a:r>
              <a:rPr sz="5250" spc="-55" dirty="0">
                <a:solidFill>
                  <a:srgbClr val="073459"/>
                </a:solidFill>
              </a:rPr>
              <a:t>Covering</a:t>
            </a:r>
            <a:r>
              <a:rPr sz="5250" spc="-315" dirty="0">
                <a:solidFill>
                  <a:srgbClr val="073459"/>
                </a:solidFill>
              </a:rPr>
              <a:t> </a:t>
            </a:r>
            <a:r>
              <a:rPr sz="5250" spc="-10" dirty="0">
                <a:solidFill>
                  <a:srgbClr val="01335B"/>
                </a:solidFill>
              </a:rPr>
              <a:t>All</a:t>
            </a:r>
            <a:r>
              <a:rPr sz="5250" spc="-540" dirty="0">
                <a:solidFill>
                  <a:srgbClr val="01335B"/>
                </a:solidFill>
              </a:rPr>
              <a:t> </a:t>
            </a:r>
            <a:r>
              <a:rPr sz="5250" spc="-40" dirty="0">
                <a:solidFill>
                  <a:srgbClr val="053156"/>
                </a:solidFill>
              </a:rPr>
              <a:t>Project</a:t>
            </a:r>
            <a:r>
              <a:rPr sz="5250" spc="-280" dirty="0">
                <a:solidFill>
                  <a:srgbClr val="053156"/>
                </a:solidFill>
              </a:rPr>
              <a:t> </a:t>
            </a:r>
            <a:r>
              <a:rPr sz="5250" spc="-10" dirty="0">
                <a:solidFill>
                  <a:srgbClr val="053152"/>
                </a:solidFill>
              </a:rPr>
              <a:t>Domains</a:t>
            </a:r>
            <a:endParaRPr sz="5250"/>
          </a:p>
        </p:txBody>
      </p:sp>
      <p:sp>
        <p:nvSpPr>
          <p:cNvPr id="6" name="object 6"/>
          <p:cNvSpPr txBox="1"/>
          <p:nvPr/>
        </p:nvSpPr>
        <p:spPr>
          <a:xfrm>
            <a:off x="1570895" y="5258152"/>
            <a:ext cx="4234180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>
              <a:lnSpc>
                <a:spcPts val="3285"/>
              </a:lnSpc>
              <a:spcBef>
                <a:spcPts val="95"/>
              </a:spcBef>
            </a:pPr>
            <a:r>
              <a:rPr lang="en-US" sz="2850" spc="60" dirty="0">
                <a:solidFill>
                  <a:srgbClr val="0A2D48"/>
                </a:solidFill>
                <a:latin typeface="Arial MT"/>
                <a:cs typeface="Arial MT"/>
              </a:rPr>
              <a:t>Haseeb Ahmed</a:t>
            </a:r>
            <a:r>
              <a:rPr sz="2850" spc="-10" dirty="0">
                <a:solidFill>
                  <a:srgbClr val="082F52"/>
                </a:solidFill>
                <a:latin typeface="Arial MT"/>
                <a:cs typeface="Arial MT"/>
              </a:rPr>
              <a:t>:</a:t>
            </a:r>
            <a:endParaRPr sz="2850" dirty="0">
              <a:latin typeface="Arial MT"/>
              <a:cs typeface="Arial MT"/>
            </a:endParaRPr>
          </a:p>
          <a:p>
            <a:pPr marL="12700">
              <a:lnSpc>
                <a:spcPts val="3345"/>
              </a:lnSpc>
            </a:pPr>
            <a:r>
              <a:rPr sz="2900" dirty="0">
                <a:solidFill>
                  <a:srgbClr val="0C314D"/>
                </a:solidFill>
                <a:latin typeface="Arial MT"/>
                <a:cs typeface="Arial MT"/>
              </a:rPr>
              <a:t>Embedded</a:t>
            </a:r>
            <a:r>
              <a:rPr sz="2900" spc="-65" dirty="0">
                <a:solidFill>
                  <a:srgbClr val="0C314D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082A49"/>
                </a:solidFill>
                <a:latin typeface="Arial MT"/>
                <a:cs typeface="Arial MT"/>
              </a:rPr>
              <a:t>Systems</a:t>
            </a:r>
            <a:r>
              <a:rPr sz="2900" spc="-160" dirty="0">
                <a:solidFill>
                  <a:srgbClr val="082A49"/>
                </a:solidFill>
                <a:latin typeface="Arial MT"/>
                <a:cs typeface="Arial MT"/>
              </a:rPr>
              <a:t> </a:t>
            </a:r>
            <a:r>
              <a:rPr sz="2900" spc="-20" dirty="0">
                <a:solidFill>
                  <a:srgbClr val="0C2F4D"/>
                </a:solidFill>
                <a:latin typeface="Arial MT"/>
                <a:cs typeface="Arial MT"/>
              </a:rPr>
              <a:t>Lead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5384" y="5258152"/>
            <a:ext cx="4174490" cy="12817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9">
              <a:lnSpc>
                <a:spcPts val="3285"/>
              </a:lnSpc>
              <a:spcBef>
                <a:spcPts val="95"/>
              </a:spcBef>
            </a:pPr>
            <a:r>
              <a:rPr lang="en-US" sz="2850" dirty="0">
                <a:solidFill>
                  <a:srgbClr val="0A2F4D"/>
                </a:solidFill>
                <a:latin typeface="Arial MT"/>
                <a:cs typeface="Arial MT"/>
              </a:rPr>
              <a:t>Murtaza khalid and Huzaifa</a:t>
            </a:r>
            <a:r>
              <a:rPr sz="2850" dirty="0">
                <a:solidFill>
                  <a:srgbClr val="083356"/>
                </a:solidFill>
                <a:latin typeface="Arial MT"/>
                <a:cs typeface="Arial MT"/>
              </a:rPr>
              <a:t>:</a:t>
            </a:r>
            <a:r>
              <a:rPr sz="2850" spc="35" dirty="0">
                <a:solidFill>
                  <a:srgbClr val="083356"/>
                </a:solidFill>
                <a:latin typeface="Arial MT"/>
                <a:cs typeface="Arial MT"/>
              </a:rPr>
              <a:t> </a:t>
            </a:r>
            <a:r>
              <a:rPr sz="2850" spc="-10" dirty="0">
                <a:solidFill>
                  <a:srgbClr val="082B46"/>
                </a:solidFill>
                <a:latin typeface="Arial MT"/>
                <a:cs typeface="Arial MT"/>
              </a:rPr>
              <a:t>Cloud</a:t>
            </a:r>
            <a:endParaRPr sz="2850" dirty="0">
              <a:latin typeface="Arial MT"/>
              <a:cs typeface="Arial MT"/>
            </a:endParaRPr>
          </a:p>
          <a:p>
            <a:pPr marL="12700">
              <a:lnSpc>
                <a:spcPts val="3345"/>
              </a:lnSpc>
            </a:pPr>
            <a:r>
              <a:rPr sz="2900" spc="-105" dirty="0">
                <a:solidFill>
                  <a:srgbClr val="0A3156"/>
                </a:solidFill>
                <a:latin typeface="Arial MT"/>
                <a:cs typeface="Arial MT"/>
              </a:rPr>
              <a:t>&amp;</a:t>
            </a:r>
            <a:r>
              <a:rPr sz="2900" spc="-95" dirty="0">
                <a:solidFill>
                  <a:srgbClr val="0A315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052F56"/>
                </a:solidFill>
                <a:latin typeface="Arial MT"/>
                <a:cs typeface="Arial MT"/>
              </a:rPr>
              <a:t>AI</a:t>
            </a:r>
            <a:r>
              <a:rPr sz="2900" spc="-310" dirty="0">
                <a:solidFill>
                  <a:srgbClr val="052F56"/>
                </a:solidFill>
                <a:latin typeface="Arial MT"/>
                <a:cs typeface="Arial MT"/>
              </a:rPr>
              <a:t> </a:t>
            </a:r>
            <a:r>
              <a:rPr sz="2900" spc="-20" dirty="0">
                <a:solidFill>
                  <a:srgbClr val="05284B"/>
                </a:solidFill>
                <a:latin typeface="Arial MT"/>
                <a:cs typeface="Arial MT"/>
              </a:rPr>
              <a:t>Lead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7108" y="5258152"/>
            <a:ext cx="4330065" cy="37086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132080" indent="20320">
              <a:lnSpc>
                <a:spcPct val="90800"/>
              </a:lnSpc>
              <a:spcBef>
                <a:spcPts val="409"/>
              </a:spcBef>
            </a:pPr>
            <a:r>
              <a:rPr lang="en-US" sz="2850" spc="60" dirty="0">
                <a:solidFill>
                  <a:srgbClr val="0F344F"/>
                </a:solidFill>
                <a:latin typeface="Arial MT"/>
                <a:cs typeface="Arial MT"/>
              </a:rPr>
              <a:t>Murtaza khalid and Huzaifa</a:t>
            </a:r>
            <a:r>
              <a:rPr sz="2850" spc="-10" dirty="0">
                <a:solidFill>
                  <a:srgbClr val="053457"/>
                </a:solidFill>
                <a:latin typeface="Arial MT"/>
                <a:cs typeface="Arial MT"/>
              </a:rPr>
              <a:t>: </a:t>
            </a:r>
            <a:r>
              <a:rPr sz="2900" spc="60" dirty="0">
                <a:solidFill>
                  <a:srgbClr val="0A3152"/>
                </a:solidFill>
                <a:latin typeface="Arial MT"/>
                <a:cs typeface="Arial MT"/>
              </a:rPr>
              <a:t>Application</a:t>
            </a:r>
            <a:r>
              <a:rPr sz="2900" spc="-215" dirty="0">
                <a:solidFill>
                  <a:srgbClr val="0A3152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82B4B"/>
                </a:solidFill>
                <a:latin typeface="Arial MT"/>
                <a:cs typeface="Arial MT"/>
              </a:rPr>
              <a:t>Development </a:t>
            </a:r>
            <a:r>
              <a:rPr sz="3050" spc="135" dirty="0">
                <a:solidFill>
                  <a:srgbClr val="0A2B48"/>
                </a:solidFill>
                <a:latin typeface="Calibri"/>
                <a:cs typeface="Calibri"/>
              </a:rPr>
              <a:t>Lead</a:t>
            </a:r>
            <a:endParaRPr sz="3050" dirty="0">
              <a:latin typeface="Calibri"/>
              <a:cs typeface="Calibri"/>
            </a:endParaRPr>
          </a:p>
          <a:p>
            <a:pPr marL="408940" indent="-270510">
              <a:lnSpc>
                <a:spcPts val="2840"/>
              </a:lnSpc>
              <a:buClr>
                <a:srgbClr val="2D2D2D"/>
              </a:buClr>
              <a:buChar char="•"/>
              <a:tabLst>
                <a:tab pos="408940" algn="l"/>
              </a:tabLst>
            </a:pPr>
            <a:r>
              <a:rPr sz="2750" dirty="0">
                <a:latin typeface="Calibri"/>
                <a:cs typeface="Calibri"/>
              </a:rPr>
              <a:t>Custom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mobile</a:t>
            </a:r>
            <a:r>
              <a:rPr sz="2750" spc="-16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app</a:t>
            </a:r>
            <a:endParaRPr sz="2750" dirty="0">
              <a:latin typeface="Calibri"/>
              <a:cs typeface="Calibri"/>
            </a:endParaRPr>
          </a:p>
          <a:p>
            <a:pPr marL="409575">
              <a:lnSpc>
                <a:spcPts val="3150"/>
              </a:lnSpc>
            </a:pPr>
            <a:r>
              <a:rPr sz="2750" spc="-10" dirty="0">
                <a:latin typeface="Calibri"/>
                <a:cs typeface="Calibri"/>
              </a:rPr>
              <a:t>development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(Flutter/React</a:t>
            </a:r>
            <a:endParaRPr sz="2750" dirty="0">
              <a:latin typeface="Calibri"/>
              <a:cs typeface="Calibri"/>
            </a:endParaRPr>
          </a:p>
          <a:p>
            <a:pPr marL="408305">
              <a:lnSpc>
                <a:spcPts val="3260"/>
              </a:lnSpc>
            </a:pPr>
            <a:r>
              <a:rPr sz="2850" spc="-10" dirty="0">
                <a:latin typeface="Calibri"/>
                <a:cs typeface="Calibri"/>
              </a:rPr>
              <a:t>Native)</a:t>
            </a:r>
            <a:endParaRPr sz="2850" dirty="0">
              <a:latin typeface="Calibri"/>
              <a:cs typeface="Calibri"/>
            </a:endParaRPr>
          </a:p>
          <a:p>
            <a:pPr marL="408940" indent="-270510">
              <a:lnSpc>
                <a:spcPts val="3140"/>
              </a:lnSpc>
              <a:buClr>
                <a:srgbClr val="2B2B2B"/>
              </a:buClr>
              <a:buChar char="•"/>
              <a:tabLst>
                <a:tab pos="408940" algn="l"/>
              </a:tabLst>
            </a:pPr>
            <a:r>
              <a:rPr sz="2750" spc="-10" dirty="0">
                <a:latin typeface="Calibri"/>
                <a:cs typeface="Calibri"/>
              </a:rPr>
              <a:t>Implementing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'Push-</a:t>
            </a:r>
            <a:r>
              <a:rPr sz="2750" spc="-25" dirty="0">
                <a:latin typeface="Calibri"/>
                <a:cs typeface="Calibri"/>
              </a:rPr>
              <a:t>to-</a:t>
            </a:r>
            <a:endParaRPr sz="2750" dirty="0">
              <a:latin typeface="Calibri"/>
              <a:cs typeface="Calibri"/>
            </a:endParaRPr>
          </a:p>
          <a:p>
            <a:pPr marL="423545">
              <a:lnSpc>
                <a:spcPts val="3260"/>
              </a:lnSpc>
            </a:pPr>
            <a:r>
              <a:rPr sz="2850" spc="-30" dirty="0">
                <a:latin typeface="Calibri"/>
                <a:cs typeface="Calibri"/>
              </a:rPr>
              <a:t>Talk'</a:t>
            </a:r>
            <a:r>
              <a:rPr sz="2850" spc="-13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logic</a:t>
            </a:r>
            <a:endParaRPr sz="2850" dirty="0">
              <a:latin typeface="Calibri"/>
              <a:cs typeface="Calibri"/>
            </a:endParaRPr>
          </a:p>
          <a:p>
            <a:pPr marL="407034" indent="-268605">
              <a:lnSpc>
                <a:spcPts val="3240"/>
              </a:lnSpc>
              <a:buClr>
                <a:srgbClr val="2F2F2F"/>
              </a:buClr>
              <a:buChar char="•"/>
              <a:tabLst>
                <a:tab pos="407034" algn="l"/>
              </a:tabLst>
            </a:pPr>
            <a:r>
              <a:rPr sz="2750" spc="-25" dirty="0">
                <a:latin typeface="Calibri"/>
                <a:cs typeface="Calibri"/>
              </a:rPr>
              <a:t>Video</a:t>
            </a:r>
            <a:r>
              <a:rPr sz="2750" spc="-1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rendering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2293" y="6443133"/>
            <a:ext cx="4135120" cy="1689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9720" indent="-287020">
              <a:lnSpc>
                <a:spcPts val="3340"/>
              </a:lnSpc>
              <a:spcBef>
                <a:spcPts val="114"/>
              </a:spcBef>
              <a:buClr>
                <a:srgbClr val="2D2D2D"/>
              </a:buClr>
              <a:buChar char="•"/>
              <a:tabLst>
                <a:tab pos="299720" algn="l"/>
              </a:tabLst>
            </a:pPr>
            <a:r>
              <a:rPr sz="2900" spc="-120" dirty="0">
                <a:latin typeface="Calibri"/>
                <a:cs typeface="Calibri"/>
              </a:rPr>
              <a:t>State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lang="en-US" sz="2900" spc="-120" dirty="0">
                <a:latin typeface="Calibri"/>
                <a:cs typeface="Calibri"/>
              </a:rPr>
              <a:t>m</a:t>
            </a:r>
            <a:r>
              <a:rPr sz="2900" spc="-120" dirty="0">
                <a:latin typeface="Calibri"/>
                <a:cs typeface="Calibri"/>
              </a:rPr>
              <a:t>achine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firmware</a:t>
            </a:r>
            <a:endParaRPr sz="2900" dirty="0">
              <a:latin typeface="Calibri"/>
              <a:cs typeface="Calibri"/>
            </a:endParaRPr>
          </a:p>
          <a:p>
            <a:pPr marL="290195" marR="5080" indent="-278130">
              <a:lnSpc>
                <a:spcPts val="3200"/>
              </a:lnSpc>
              <a:spcBef>
                <a:spcPts val="200"/>
              </a:spcBef>
              <a:buChar char="•"/>
              <a:tabLst>
                <a:tab pos="290195" algn="l"/>
                <a:tab pos="293370" algn="l"/>
              </a:tabLst>
            </a:pPr>
            <a:r>
              <a:rPr sz="29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2900" spc="-135" dirty="0">
                <a:latin typeface="Calibri"/>
                <a:cs typeface="Calibri"/>
              </a:rPr>
              <a:t>Audio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-120" dirty="0">
                <a:latin typeface="Calibri"/>
                <a:cs typeface="Calibri"/>
              </a:rPr>
              <a:t>hardware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integration </a:t>
            </a:r>
            <a:r>
              <a:rPr sz="2900" spc="-10" dirty="0">
                <a:latin typeface="Calibri"/>
                <a:cs typeface="Calibri"/>
              </a:rPr>
              <a:t>(l2S)</a:t>
            </a:r>
            <a:endParaRPr sz="2900" dirty="0">
              <a:latin typeface="Calibri"/>
              <a:cs typeface="Calibri"/>
            </a:endParaRPr>
          </a:p>
          <a:p>
            <a:pPr marL="282575" indent="-269875">
              <a:lnSpc>
                <a:spcPts val="3140"/>
              </a:lnSpc>
              <a:buClr>
                <a:srgbClr val="2B2B2B"/>
              </a:buClr>
              <a:buChar char="•"/>
              <a:tabLst>
                <a:tab pos="282575" algn="l"/>
              </a:tabLst>
            </a:pPr>
            <a:r>
              <a:rPr sz="2900" spc="-90" dirty="0">
                <a:latin typeface="Calibri"/>
                <a:cs typeface="Calibri"/>
              </a:rPr>
              <a:t>Camera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driver</a:t>
            </a:r>
            <a:r>
              <a:rPr sz="2900" spc="-65" dirty="0">
                <a:latin typeface="Calibri"/>
                <a:cs typeface="Calibri"/>
              </a:rPr>
              <a:t> optimisation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6094" y="6443133"/>
            <a:ext cx="3712845" cy="20955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4480" marR="104775" indent="-272415">
              <a:lnSpc>
                <a:spcPts val="3200"/>
              </a:lnSpc>
              <a:spcBef>
                <a:spcPts val="455"/>
              </a:spcBef>
              <a:buChar char="•"/>
              <a:tabLst>
                <a:tab pos="284480" algn="l"/>
                <a:tab pos="296545" algn="l"/>
              </a:tabLst>
            </a:pPr>
            <a:r>
              <a:rPr sz="2900" dirty="0">
                <a:solidFill>
                  <a:srgbClr val="2F2F2F"/>
                </a:solidFill>
                <a:latin typeface="Calibri"/>
                <a:cs typeface="Calibri"/>
              </a:rPr>
              <a:t>	</a:t>
            </a:r>
            <a:r>
              <a:rPr sz="2900" spc="-85" dirty="0">
                <a:latin typeface="Calibri"/>
                <a:cs typeface="Calibri"/>
              </a:rPr>
              <a:t>Training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and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quantizing </a:t>
            </a:r>
            <a:r>
              <a:rPr sz="2900" spc="-100" dirty="0">
                <a:latin typeface="Calibri"/>
                <a:cs typeface="Calibri"/>
              </a:rPr>
              <a:t>edge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models</a:t>
            </a:r>
            <a:endParaRPr sz="2900">
              <a:latin typeface="Calibri"/>
              <a:cs typeface="Calibri"/>
            </a:endParaRPr>
          </a:p>
          <a:p>
            <a:pPr marL="286385" marR="5080" indent="-274320">
              <a:lnSpc>
                <a:spcPts val="3200"/>
              </a:lnSpc>
              <a:buChar char="•"/>
              <a:tabLst>
                <a:tab pos="286385" algn="l"/>
                <a:tab pos="299085" algn="l"/>
              </a:tabLst>
            </a:pPr>
            <a:r>
              <a:rPr sz="2900" dirty="0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sz="2900" spc="-80" dirty="0">
                <a:latin typeface="Calibri"/>
                <a:cs typeface="Calibri"/>
              </a:rPr>
              <a:t>Setting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up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70" dirty="0">
                <a:latin typeface="Calibri"/>
                <a:cs typeface="Calibri"/>
              </a:rPr>
              <a:t>cloud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storage </a:t>
            </a:r>
            <a:r>
              <a:rPr sz="2900" spc="-10" dirty="0">
                <a:latin typeface="Calibri"/>
                <a:cs typeface="Calibri"/>
              </a:rPr>
              <a:t>buckets</a:t>
            </a:r>
            <a:endParaRPr sz="2900">
              <a:latin typeface="Calibri"/>
              <a:cs typeface="Calibri"/>
            </a:endParaRPr>
          </a:p>
          <a:p>
            <a:pPr marL="294640" indent="-281940">
              <a:lnSpc>
                <a:spcPts val="3140"/>
              </a:lnSpc>
              <a:buClr>
                <a:srgbClr val="2F2F2F"/>
              </a:buClr>
              <a:buChar char="•"/>
              <a:tabLst>
                <a:tab pos="294640" algn="l"/>
              </a:tabLst>
            </a:pPr>
            <a:r>
              <a:rPr sz="2900" spc="-114" dirty="0">
                <a:latin typeface="Calibri"/>
                <a:cs typeface="Calibri"/>
              </a:rPr>
              <a:t>Database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management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8775700"/>
            <a:ext cx="9499600" cy="88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7890" y="669572"/>
            <a:ext cx="11951970" cy="15919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6510" marR="5080" indent="-4445">
              <a:lnSpc>
                <a:spcPts val="6000"/>
              </a:lnSpc>
              <a:spcBef>
                <a:spcPts val="530"/>
              </a:spcBef>
            </a:pPr>
            <a:r>
              <a:rPr sz="5250" spc="-40" dirty="0">
                <a:solidFill>
                  <a:srgbClr val="053860"/>
                </a:solidFill>
              </a:rPr>
              <a:t>The</a:t>
            </a:r>
            <a:r>
              <a:rPr sz="5250" spc="-345" dirty="0">
                <a:solidFill>
                  <a:srgbClr val="053860"/>
                </a:solidFill>
              </a:rPr>
              <a:t> </a:t>
            </a:r>
            <a:r>
              <a:rPr sz="5250" spc="-10" dirty="0">
                <a:solidFill>
                  <a:srgbClr val="053862"/>
                </a:solidFill>
              </a:rPr>
              <a:t>Total</a:t>
            </a:r>
            <a:r>
              <a:rPr sz="5250" spc="-350" dirty="0">
                <a:solidFill>
                  <a:srgbClr val="053862"/>
                </a:solidFill>
              </a:rPr>
              <a:t> </a:t>
            </a:r>
            <a:r>
              <a:rPr sz="5250" dirty="0">
                <a:solidFill>
                  <a:srgbClr val="01315B"/>
                </a:solidFill>
              </a:rPr>
              <a:t>Project</a:t>
            </a:r>
            <a:r>
              <a:rPr sz="5250" spc="-55" dirty="0">
                <a:solidFill>
                  <a:srgbClr val="01315B"/>
                </a:solidFill>
              </a:rPr>
              <a:t> </a:t>
            </a:r>
            <a:r>
              <a:rPr sz="5250" dirty="0">
                <a:solidFill>
                  <a:srgbClr val="083B67"/>
                </a:solidFill>
              </a:rPr>
              <a:t>Cost</a:t>
            </a:r>
            <a:r>
              <a:rPr sz="5250" spc="-204" dirty="0">
                <a:solidFill>
                  <a:srgbClr val="083B67"/>
                </a:solidFill>
              </a:rPr>
              <a:t> </a:t>
            </a:r>
            <a:r>
              <a:rPr sz="5250" spc="80" dirty="0">
                <a:solidFill>
                  <a:srgbClr val="07345B"/>
                </a:solidFill>
              </a:rPr>
              <a:t>Is</a:t>
            </a:r>
            <a:r>
              <a:rPr sz="5250" spc="-380" dirty="0">
                <a:solidFill>
                  <a:srgbClr val="07345B"/>
                </a:solidFill>
              </a:rPr>
              <a:t> </a:t>
            </a:r>
            <a:r>
              <a:rPr sz="5250" spc="-25" dirty="0">
                <a:solidFill>
                  <a:srgbClr val="033867"/>
                </a:solidFill>
              </a:rPr>
              <a:t>Well</a:t>
            </a:r>
            <a:r>
              <a:rPr sz="5250" spc="-300" dirty="0">
                <a:solidFill>
                  <a:srgbClr val="033867"/>
                </a:solidFill>
              </a:rPr>
              <a:t> </a:t>
            </a:r>
            <a:r>
              <a:rPr sz="5250" spc="114" dirty="0">
                <a:solidFill>
                  <a:srgbClr val="033460"/>
                </a:solidFill>
              </a:rPr>
              <a:t>Within</a:t>
            </a:r>
            <a:r>
              <a:rPr sz="5250" spc="-254" dirty="0">
                <a:solidFill>
                  <a:srgbClr val="033460"/>
                </a:solidFill>
              </a:rPr>
              <a:t> </a:t>
            </a:r>
            <a:r>
              <a:rPr sz="5250" spc="114" dirty="0">
                <a:solidFill>
                  <a:srgbClr val="033867"/>
                </a:solidFill>
              </a:rPr>
              <a:t>the </a:t>
            </a:r>
            <a:r>
              <a:rPr sz="5250" dirty="0">
                <a:solidFill>
                  <a:srgbClr val="01345E"/>
                </a:solidFill>
              </a:rPr>
              <a:t>Approved</a:t>
            </a:r>
            <a:r>
              <a:rPr sz="5250" spc="-80" dirty="0">
                <a:solidFill>
                  <a:srgbClr val="01345E"/>
                </a:solidFill>
              </a:rPr>
              <a:t> </a:t>
            </a:r>
            <a:r>
              <a:rPr sz="5250" spc="-10" dirty="0">
                <a:solidFill>
                  <a:srgbClr val="013157"/>
                </a:solidFill>
              </a:rPr>
              <a:t>Budget</a:t>
            </a:r>
            <a:endParaRPr sz="525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85296" y="2678906"/>
          <a:ext cx="8011159" cy="6059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marR="730250" algn="ctr">
                        <a:lnSpc>
                          <a:spcPts val="3345"/>
                        </a:lnSpc>
                      </a:pPr>
                      <a:r>
                        <a:rPr sz="3450" spc="-10" dirty="0">
                          <a:latin typeface="Calibri"/>
                          <a:cs typeface="Calibri"/>
                        </a:rPr>
                        <a:t>Component</a:t>
                      </a:r>
                      <a:endParaRPr sz="34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8825" algn="ctr">
                        <a:lnSpc>
                          <a:spcPts val="3365"/>
                        </a:lnSpc>
                      </a:pPr>
                      <a:r>
                        <a:rPr sz="3550" spc="-90" dirty="0">
                          <a:latin typeface="Calibri"/>
                          <a:cs typeface="Calibri"/>
                        </a:rPr>
                        <a:t>Cost</a:t>
                      </a:r>
                      <a:r>
                        <a:rPr sz="355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550" spc="-20" dirty="0">
                          <a:latin typeface="Calibri"/>
                          <a:cs typeface="Calibri"/>
                        </a:rPr>
                        <a:t>(PKR)</a:t>
                      </a:r>
                      <a:endParaRPr sz="3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R="727075" algn="ctr">
                        <a:lnSpc>
                          <a:spcPts val="3965"/>
                        </a:lnSpc>
                      </a:pPr>
                      <a:r>
                        <a:rPr sz="3400" spc="-45" dirty="0">
                          <a:latin typeface="Calibri"/>
                          <a:cs typeface="Calibri"/>
                        </a:rPr>
                        <a:t>ESP32-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CAT</a:t>
                      </a:r>
                      <a:r>
                        <a:rPr sz="34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50" dirty="0">
                          <a:latin typeface="Calibri"/>
                          <a:cs typeface="Calibri"/>
                        </a:rPr>
                        <a:t>Module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2475" algn="ctr">
                        <a:lnSpc>
                          <a:spcPts val="3945"/>
                        </a:lnSpc>
                      </a:pPr>
                      <a:r>
                        <a:rPr sz="3300" spc="-10" dirty="0">
                          <a:latin typeface="Calibri"/>
                          <a:cs typeface="Calibri"/>
                        </a:rPr>
                        <a:t>1,500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marR="728980" algn="ctr">
                        <a:lnSpc>
                          <a:spcPct val="100000"/>
                        </a:lnSpc>
                      </a:pPr>
                      <a:r>
                        <a:rPr sz="3300" spc="-390" dirty="0">
                          <a:latin typeface="Calibri"/>
                          <a:cs typeface="Calibri"/>
                        </a:rPr>
                        <a:t>125</a:t>
                      </a:r>
                      <a:r>
                        <a:rPr sz="3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110" dirty="0">
                          <a:latin typeface="Calibri"/>
                          <a:cs typeface="Calibri"/>
                        </a:rPr>
                        <a:t>Microphone</a:t>
                      </a:r>
                      <a:r>
                        <a:rPr sz="33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35" dirty="0">
                          <a:latin typeface="Calibri"/>
                          <a:cs typeface="Calibri"/>
                        </a:rPr>
                        <a:t>(INMP441)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015" algn="ctr">
                        <a:lnSpc>
                          <a:spcPts val="3910"/>
                        </a:lnSpc>
                      </a:pPr>
                      <a:r>
                        <a:rPr sz="3300" spc="-25" dirty="0">
                          <a:latin typeface="Calibri"/>
                          <a:cs typeface="Calibri"/>
                        </a:rPr>
                        <a:t>400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205">
                <a:tc>
                  <a:txBody>
                    <a:bodyPr/>
                    <a:lstStyle/>
                    <a:p>
                      <a:pPr marR="73279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300" dirty="0">
                          <a:latin typeface="Calibri"/>
                          <a:cs typeface="Calibri"/>
                        </a:rPr>
                        <a:t>l2S</a:t>
                      </a:r>
                      <a:r>
                        <a:rPr sz="3300" spc="-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65" dirty="0">
                          <a:latin typeface="Calibri"/>
                          <a:cs typeface="Calibri"/>
                        </a:rPr>
                        <a:t>Amplifier</a:t>
                      </a:r>
                      <a:r>
                        <a:rPr sz="33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90" dirty="0">
                          <a:latin typeface="Calibri"/>
                          <a:cs typeface="Calibri"/>
                        </a:rPr>
                        <a:t>(MAX98357A)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753745" algn="ctr">
                        <a:lnSpc>
                          <a:spcPts val="4050"/>
                        </a:lnSpc>
                      </a:pPr>
                      <a:r>
                        <a:rPr sz="3450" spc="-25" dirty="0">
                          <a:latin typeface="Calibri"/>
                          <a:cs typeface="Calibri"/>
                        </a:rPr>
                        <a:t>350</a:t>
                      </a:r>
                      <a:endParaRPr sz="34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 marR="71691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3300" spc="-30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3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270" dirty="0">
                          <a:latin typeface="Calibri"/>
                          <a:cs typeface="Calibri"/>
                        </a:rPr>
                        <a:t>(3W</a:t>
                      </a:r>
                      <a:r>
                        <a:rPr sz="33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10" dirty="0">
                          <a:latin typeface="Calibri"/>
                          <a:cs typeface="Calibri"/>
                        </a:rPr>
                        <a:t>4Ohm)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1840" algn="ctr">
                        <a:lnSpc>
                          <a:spcPts val="4054"/>
                        </a:lnSpc>
                      </a:pPr>
                      <a:r>
                        <a:rPr sz="3550" spc="-285" dirty="0">
                          <a:latin typeface="Calibri"/>
                          <a:cs typeface="Calibri"/>
                        </a:rPr>
                        <a:t>150</a:t>
                      </a:r>
                      <a:endParaRPr sz="3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pPr marR="709295" algn="ctr">
                        <a:lnSpc>
                          <a:spcPts val="4015"/>
                        </a:lnSpc>
                      </a:pPr>
                      <a:r>
                        <a:rPr sz="3400" spc="-50" dirty="0">
                          <a:latin typeface="Calibri"/>
                          <a:cs typeface="Calibri"/>
                        </a:rPr>
                        <a:t>Serial</a:t>
                      </a:r>
                      <a:r>
                        <a:rPr sz="3400" spc="-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45" dirty="0">
                          <a:latin typeface="Calibri"/>
                          <a:cs typeface="Calibri"/>
                        </a:rPr>
                        <a:t>USB</a:t>
                      </a:r>
                      <a:r>
                        <a:rPr sz="3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(FTDI)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3745" algn="ctr">
                        <a:lnSpc>
                          <a:spcPts val="4025"/>
                        </a:lnSpc>
                      </a:pPr>
                      <a:r>
                        <a:rPr sz="3450" spc="-25" dirty="0">
                          <a:latin typeface="Calibri"/>
                          <a:cs typeface="Calibri"/>
                        </a:rPr>
                        <a:t>300</a:t>
                      </a:r>
                      <a:endParaRPr sz="34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R="709295" algn="ctr">
                        <a:lnSpc>
                          <a:spcPts val="4085"/>
                        </a:lnSpc>
                      </a:pPr>
                      <a:r>
                        <a:rPr sz="3550" spc="-135" dirty="0">
                          <a:latin typeface="Calibri"/>
                          <a:cs typeface="Calibri"/>
                        </a:rPr>
                        <a:t>PIR</a:t>
                      </a:r>
                      <a:r>
                        <a:rPr sz="355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550" spc="-10" dirty="0">
                          <a:latin typeface="Calibri"/>
                          <a:cs typeface="Calibri"/>
                        </a:rPr>
                        <a:t>Sensor</a:t>
                      </a:r>
                      <a:endParaRPr sz="3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43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3050" spc="50" dirty="0">
                          <a:latin typeface="Times New Roman"/>
                          <a:cs typeface="Times New Roman"/>
                        </a:rPr>
                        <a:t>180</a:t>
                      </a:r>
                      <a:endParaRPr sz="30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R="704850" algn="ctr">
                        <a:lnSpc>
                          <a:spcPct val="100000"/>
                        </a:lnSpc>
                      </a:pPr>
                      <a:r>
                        <a:rPr sz="3400" spc="-125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3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Supply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581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100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 marR="7512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3300" spc="-75" dirty="0">
                          <a:latin typeface="Calibri"/>
                          <a:cs typeface="Calibri"/>
                        </a:rPr>
                        <a:t>Miscellaneous</a:t>
                      </a:r>
                      <a:r>
                        <a:rPr sz="33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10" dirty="0">
                          <a:latin typeface="Calibri"/>
                          <a:cs typeface="Calibri"/>
                        </a:rPr>
                        <a:t>(PCB/Casing)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664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3100" spc="-25" dirty="0">
                          <a:latin typeface="Times New Roman"/>
                          <a:cs typeface="Times New Roman"/>
                        </a:rPr>
                        <a:t>400</a:t>
                      </a: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R="70612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3300" spc="-1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330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10" dirty="0">
                          <a:latin typeface="Calibri"/>
                          <a:cs typeface="Calibri"/>
                        </a:rPr>
                        <a:t>ESTIMATED</a:t>
                      </a:r>
                      <a:r>
                        <a:rPr sz="33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300" spc="-20" dirty="0">
                          <a:latin typeface="Calibri"/>
                          <a:cs typeface="Calibri"/>
                        </a:rPr>
                        <a:t>COST</a:t>
                      </a:r>
                      <a:endParaRPr sz="3300">
                        <a:latin typeface="Calibri"/>
                        <a:cs typeface="Calibri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L="762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3200" spc="60" dirty="0">
                          <a:latin typeface="Times New Roman"/>
                          <a:cs typeface="Times New Roman"/>
                        </a:rPr>
                        <a:t>3,580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7340600"/>
            <a:ext cx="1282700" cy="1701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00" y="5943600"/>
            <a:ext cx="1358900" cy="698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8100" y="4089400"/>
            <a:ext cx="1460500" cy="1155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0800" y="2336800"/>
            <a:ext cx="1244600" cy="11303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6101" y="462844"/>
            <a:ext cx="15600044" cy="13169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1115" marR="5080" indent="-19050">
              <a:lnSpc>
                <a:spcPts val="5000"/>
              </a:lnSpc>
              <a:spcBef>
                <a:spcPts val="365"/>
              </a:spcBef>
            </a:pPr>
            <a:r>
              <a:rPr sz="4300" spc="155" dirty="0">
                <a:solidFill>
                  <a:srgbClr val="0A3A5D"/>
                </a:solidFill>
              </a:rPr>
              <a:t>In</a:t>
            </a:r>
            <a:r>
              <a:rPr sz="4300" spc="-295" dirty="0">
                <a:solidFill>
                  <a:srgbClr val="0A3A5D"/>
                </a:solidFill>
              </a:rPr>
              <a:t> </a:t>
            </a:r>
            <a:r>
              <a:rPr sz="4300" spc="90" dirty="0">
                <a:solidFill>
                  <a:srgbClr val="03345D"/>
                </a:solidFill>
              </a:rPr>
              <a:t>Summary:</a:t>
            </a:r>
            <a:r>
              <a:rPr sz="4300" spc="-20" dirty="0">
                <a:solidFill>
                  <a:srgbClr val="03345D"/>
                </a:solidFill>
              </a:rPr>
              <a:t> </a:t>
            </a:r>
            <a:r>
              <a:rPr sz="4300" dirty="0">
                <a:solidFill>
                  <a:srgbClr val="013460"/>
                </a:solidFill>
              </a:rPr>
              <a:t>We</a:t>
            </a:r>
            <a:r>
              <a:rPr sz="4300" spc="-15" dirty="0">
                <a:solidFill>
                  <a:srgbClr val="013460"/>
                </a:solidFill>
              </a:rPr>
              <a:t> </a:t>
            </a:r>
            <a:r>
              <a:rPr sz="4300" spc="85" dirty="0">
                <a:solidFill>
                  <a:srgbClr val="03345D"/>
                </a:solidFill>
              </a:rPr>
              <a:t>Are</a:t>
            </a:r>
            <a:r>
              <a:rPr sz="4300" spc="-190" dirty="0">
                <a:solidFill>
                  <a:srgbClr val="03345D"/>
                </a:solidFill>
              </a:rPr>
              <a:t> </a:t>
            </a:r>
            <a:r>
              <a:rPr sz="4300" spc="125" dirty="0">
                <a:solidFill>
                  <a:srgbClr val="0A3F6B"/>
                </a:solidFill>
              </a:rPr>
              <a:t>Delivering</a:t>
            </a:r>
            <a:r>
              <a:rPr sz="4300" spc="10" dirty="0">
                <a:solidFill>
                  <a:srgbClr val="0A3F6B"/>
                </a:solidFill>
              </a:rPr>
              <a:t> </a:t>
            </a:r>
            <a:r>
              <a:rPr sz="4300" spc="90" dirty="0">
                <a:solidFill>
                  <a:srgbClr val="083D69"/>
                </a:solidFill>
              </a:rPr>
              <a:t>an</a:t>
            </a:r>
            <a:r>
              <a:rPr sz="4300" spc="-320" dirty="0">
                <a:solidFill>
                  <a:srgbClr val="083D69"/>
                </a:solidFill>
              </a:rPr>
              <a:t> </a:t>
            </a:r>
            <a:r>
              <a:rPr sz="4300" spc="160" dirty="0">
                <a:solidFill>
                  <a:srgbClr val="033864"/>
                </a:solidFill>
              </a:rPr>
              <a:t>Intelligent</a:t>
            </a:r>
            <a:r>
              <a:rPr sz="4300" spc="190" dirty="0">
                <a:solidFill>
                  <a:srgbClr val="033864"/>
                </a:solidFill>
              </a:rPr>
              <a:t> </a:t>
            </a:r>
            <a:r>
              <a:rPr sz="4300" spc="114" dirty="0">
                <a:solidFill>
                  <a:srgbClr val="05345D"/>
                </a:solidFill>
              </a:rPr>
              <a:t>System</a:t>
            </a:r>
            <a:r>
              <a:rPr sz="4300" spc="20" dirty="0">
                <a:solidFill>
                  <a:srgbClr val="05345D"/>
                </a:solidFill>
              </a:rPr>
              <a:t> </a:t>
            </a:r>
            <a:r>
              <a:rPr sz="4300" spc="125" dirty="0">
                <a:solidFill>
                  <a:srgbClr val="05365E"/>
                </a:solidFill>
              </a:rPr>
              <a:t>Built</a:t>
            </a:r>
            <a:r>
              <a:rPr sz="4300" spc="60" dirty="0">
                <a:solidFill>
                  <a:srgbClr val="05365E"/>
                </a:solidFill>
              </a:rPr>
              <a:t> </a:t>
            </a:r>
            <a:r>
              <a:rPr sz="4300" spc="110" dirty="0">
                <a:solidFill>
                  <a:srgbClr val="053860"/>
                </a:solidFill>
              </a:rPr>
              <a:t>on </a:t>
            </a:r>
            <a:r>
              <a:rPr sz="4300" spc="-245" dirty="0">
                <a:solidFill>
                  <a:srgbClr val="0A3F6B"/>
                </a:solidFill>
              </a:rPr>
              <a:t>a</a:t>
            </a:r>
            <a:r>
              <a:rPr sz="4300" spc="-110" dirty="0">
                <a:solidFill>
                  <a:srgbClr val="0A3F6B"/>
                </a:solidFill>
              </a:rPr>
              <a:t> </a:t>
            </a:r>
            <a:r>
              <a:rPr sz="4300" dirty="0">
                <a:solidFill>
                  <a:srgbClr val="073860"/>
                </a:solidFill>
              </a:rPr>
              <a:t>Novel</a:t>
            </a:r>
            <a:r>
              <a:rPr sz="4300" spc="40" dirty="0">
                <a:solidFill>
                  <a:srgbClr val="073860"/>
                </a:solidFill>
              </a:rPr>
              <a:t> </a:t>
            </a:r>
            <a:r>
              <a:rPr sz="4300" spc="60" dirty="0">
                <a:solidFill>
                  <a:srgbClr val="053D6B"/>
                </a:solidFill>
              </a:rPr>
              <a:t>Approach</a:t>
            </a:r>
            <a:r>
              <a:rPr sz="4300" spc="165" dirty="0">
                <a:solidFill>
                  <a:srgbClr val="053D6B"/>
                </a:solidFill>
              </a:rPr>
              <a:t> </a:t>
            </a:r>
            <a:r>
              <a:rPr sz="4300" spc="50" dirty="0">
                <a:solidFill>
                  <a:srgbClr val="05345D"/>
                </a:solidFill>
              </a:rPr>
              <a:t>to</a:t>
            </a:r>
            <a:r>
              <a:rPr sz="4300" spc="-45" dirty="0">
                <a:solidFill>
                  <a:srgbClr val="05345D"/>
                </a:solidFill>
              </a:rPr>
              <a:t> </a:t>
            </a:r>
            <a:r>
              <a:rPr sz="4300" dirty="0">
                <a:solidFill>
                  <a:srgbClr val="073D64"/>
                </a:solidFill>
              </a:rPr>
              <a:t>Resource</a:t>
            </a:r>
            <a:r>
              <a:rPr sz="4300" spc="125" dirty="0">
                <a:solidFill>
                  <a:srgbClr val="073D64"/>
                </a:solidFill>
              </a:rPr>
              <a:t> </a:t>
            </a:r>
            <a:r>
              <a:rPr sz="4300" spc="-10" dirty="0">
                <a:solidFill>
                  <a:srgbClr val="033864"/>
                </a:solidFill>
              </a:rPr>
              <a:t>Management</a:t>
            </a:r>
            <a:endParaRPr sz="4300"/>
          </a:p>
        </p:txBody>
      </p:sp>
      <p:sp>
        <p:nvSpPr>
          <p:cNvPr id="11" name="object 11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4745" y="4541661"/>
            <a:ext cx="32321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A2A2A"/>
                </a:solidFill>
                <a:latin typeface="Calibri"/>
                <a:cs typeface="Calibri"/>
              </a:rPr>
              <a:t>CRA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9697" y="2605616"/>
            <a:ext cx="12861290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60" dirty="0">
                <a:latin typeface="Calibri"/>
                <a:cs typeface="Calibri"/>
              </a:rPr>
              <a:t>The</a:t>
            </a:r>
            <a:r>
              <a:rPr sz="3300" spc="-185" dirty="0">
                <a:latin typeface="Calibri"/>
                <a:cs typeface="Calibri"/>
              </a:rPr>
              <a:t> </a:t>
            </a:r>
            <a:r>
              <a:rPr sz="3300" spc="-40" dirty="0">
                <a:latin typeface="Calibri"/>
                <a:cs typeface="Calibri"/>
              </a:rPr>
              <a:t>Prob</a:t>
            </a:r>
            <a:r>
              <a:rPr lang="en-US" sz="3300" spc="-40" dirty="0">
                <a:latin typeface="Calibri"/>
                <a:cs typeface="Calibri"/>
              </a:rPr>
              <a:t>l</a:t>
            </a:r>
            <a:r>
              <a:rPr sz="3300" spc="-40" dirty="0">
                <a:latin typeface="Calibri"/>
                <a:cs typeface="Calibri"/>
              </a:rPr>
              <a:t>em:</a:t>
            </a:r>
            <a:r>
              <a:rPr sz="3300" spc="-150" dirty="0">
                <a:latin typeface="Calibri"/>
                <a:cs typeface="Calibri"/>
              </a:rPr>
              <a:t> </a:t>
            </a:r>
            <a:r>
              <a:rPr sz="3300" spc="-270" dirty="0">
                <a:latin typeface="Calibri"/>
                <a:cs typeface="Calibri"/>
              </a:rPr>
              <a:t>A</a:t>
            </a:r>
            <a:r>
              <a:rPr sz="3300" spc="-35" dirty="0">
                <a:latin typeface="Calibri"/>
                <a:cs typeface="Calibri"/>
              </a:rPr>
              <a:t> </a:t>
            </a:r>
            <a:r>
              <a:rPr sz="3300" spc="-90" dirty="0">
                <a:latin typeface="Calibri"/>
                <a:cs typeface="Calibri"/>
              </a:rPr>
              <a:t>gap</a:t>
            </a:r>
            <a:r>
              <a:rPr sz="3300" spc="-135" dirty="0">
                <a:latin typeface="Calibri"/>
                <a:cs typeface="Calibri"/>
              </a:rPr>
              <a:t> </a:t>
            </a:r>
            <a:r>
              <a:rPr sz="3300" spc="-70" dirty="0">
                <a:latin typeface="Calibri"/>
                <a:cs typeface="Calibri"/>
              </a:rPr>
              <a:t>exists</a:t>
            </a:r>
            <a:r>
              <a:rPr sz="3300" spc="-75" dirty="0">
                <a:latin typeface="Calibri"/>
                <a:cs typeface="Calibri"/>
              </a:rPr>
              <a:t> </a:t>
            </a:r>
            <a:r>
              <a:rPr sz="3300" spc="-140" dirty="0">
                <a:latin typeface="Calibri"/>
                <a:cs typeface="Calibri"/>
              </a:rPr>
              <a:t>for</a:t>
            </a:r>
            <a:r>
              <a:rPr sz="3300" spc="-180" dirty="0">
                <a:latin typeface="Calibri"/>
                <a:cs typeface="Calibri"/>
              </a:rPr>
              <a:t> </a:t>
            </a:r>
            <a:r>
              <a:rPr sz="3300" spc="-70" dirty="0">
                <a:latin typeface="Calibri"/>
                <a:cs typeface="Calibri"/>
              </a:rPr>
              <a:t>a</a:t>
            </a:r>
            <a:r>
              <a:rPr lang="en-US" sz="3300" spc="-70" dirty="0">
                <a:latin typeface="Calibri"/>
                <a:cs typeface="Calibri"/>
              </a:rPr>
              <a:t> </a:t>
            </a:r>
            <a:r>
              <a:rPr sz="3300" spc="-70" dirty="0">
                <a:latin typeface="Calibri"/>
                <a:cs typeface="Calibri"/>
              </a:rPr>
              <a:t>Por</a:t>
            </a:r>
            <a:r>
              <a:rPr lang="en-US" sz="3300" spc="-70" dirty="0">
                <a:latin typeface="Calibri"/>
                <a:cs typeface="Calibri"/>
              </a:rPr>
              <a:t>t</a:t>
            </a:r>
            <a:r>
              <a:rPr sz="3300" spc="-70" dirty="0">
                <a:latin typeface="Calibri"/>
                <a:cs typeface="Calibri"/>
              </a:rPr>
              <a:t>able</a:t>
            </a:r>
            <a:r>
              <a:rPr sz="3300" spc="20" dirty="0">
                <a:latin typeface="Calibri"/>
                <a:cs typeface="Calibri"/>
              </a:rPr>
              <a:t> </a:t>
            </a:r>
            <a:r>
              <a:rPr sz="3300" spc="-90" dirty="0">
                <a:latin typeface="Calibri"/>
                <a:cs typeface="Calibri"/>
              </a:rPr>
              <a:t>security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-95" dirty="0">
                <a:latin typeface="Calibri"/>
                <a:cs typeface="Calibri"/>
              </a:rPr>
              <a:t>that </a:t>
            </a:r>
            <a:r>
              <a:rPr sz="3300" spc="-105" dirty="0">
                <a:latin typeface="Calibri"/>
                <a:cs typeface="Calibri"/>
              </a:rPr>
              <a:t>can</a:t>
            </a:r>
            <a:r>
              <a:rPr sz="3300" spc="-120" dirty="0">
                <a:latin typeface="Calibri"/>
                <a:cs typeface="Calibri"/>
              </a:rPr>
              <a:t> </a:t>
            </a:r>
            <a:r>
              <a:rPr sz="3300" spc="-125" dirty="0">
                <a:latin typeface="Calibri"/>
                <a:cs typeface="Calibri"/>
              </a:rPr>
              <a:t>both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spc="-120" dirty="0">
                <a:latin typeface="Calibri"/>
                <a:cs typeface="Calibri"/>
              </a:rPr>
              <a:t>detect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-95" dirty="0">
                <a:latin typeface="Calibri"/>
                <a:cs typeface="Calibri"/>
              </a:rPr>
              <a:t>and</a:t>
            </a:r>
            <a:r>
              <a:rPr sz="3300" spc="-70" dirty="0">
                <a:latin typeface="Calibri"/>
                <a:cs typeface="Calibri"/>
              </a:rPr>
              <a:t> </a:t>
            </a:r>
            <a:r>
              <a:rPr sz="3300" spc="-65" dirty="0">
                <a:latin typeface="Calibri"/>
                <a:cs typeface="Calibri"/>
              </a:rPr>
              <a:t>deter.</a:t>
            </a:r>
            <a:r>
              <a:rPr lang="en-US" sz="3300" spc="-65" dirty="0">
                <a:latin typeface="Calibri"/>
                <a:cs typeface="Calibri"/>
              </a:rPr>
              <a:t> Also cost effective ,low power consuming hybrid cloud solution 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5360" y="4086577"/>
            <a:ext cx="12049125" cy="101854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 indent="13970">
              <a:lnSpc>
                <a:spcPts val="3650"/>
              </a:lnSpc>
              <a:spcBef>
                <a:spcPts val="650"/>
              </a:spcBef>
            </a:pPr>
            <a:r>
              <a:rPr sz="3450" spc="-130" dirty="0">
                <a:latin typeface="Calibri"/>
                <a:cs typeface="Calibri"/>
              </a:rPr>
              <a:t>The</a:t>
            </a:r>
            <a:r>
              <a:rPr sz="3450" spc="-200" dirty="0">
                <a:latin typeface="Calibri"/>
                <a:cs typeface="Calibri"/>
              </a:rPr>
              <a:t> </a:t>
            </a:r>
            <a:r>
              <a:rPr sz="3450" spc="-40" dirty="0">
                <a:latin typeface="Calibri"/>
                <a:cs typeface="Calibri"/>
              </a:rPr>
              <a:t>Barrier:</a:t>
            </a:r>
            <a:r>
              <a:rPr sz="3450" spc="-55" dirty="0">
                <a:latin typeface="Calibri"/>
                <a:cs typeface="Calibri"/>
              </a:rPr>
              <a:t> </a:t>
            </a:r>
            <a:r>
              <a:rPr sz="3450" spc="-200" dirty="0">
                <a:latin typeface="Calibri"/>
                <a:cs typeface="Calibri"/>
              </a:rPr>
              <a:t>Low-</a:t>
            </a:r>
            <a:r>
              <a:rPr sz="3450" spc="-160" dirty="0">
                <a:latin typeface="Calibri"/>
                <a:cs typeface="Calibri"/>
              </a:rPr>
              <a:t>cost</a:t>
            </a:r>
            <a:r>
              <a:rPr sz="3450" spc="40" dirty="0">
                <a:latin typeface="Calibri"/>
                <a:cs typeface="Calibri"/>
              </a:rPr>
              <a:t> </a:t>
            </a:r>
            <a:r>
              <a:rPr sz="3450" spc="-215" dirty="0">
                <a:latin typeface="Calibri"/>
                <a:cs typeface="Calibri"/>
              </a:rPr>
              <a:t>hardware</a:t>
            </a:r>
            <a:r>
              <a:rPr sz="3450" spc="-5" dirty="0">
                <a:latin typeface="Calibri"/>
                <a:cs typeface="Calibri"/>
              </a:rPr>
              <a:t> </a:t>
            </a:r>
            <a:r>
              <a:rPr sz="3450" spc="-175" dirty="0">
                <a:latin typeface="Calibri"/>
                <a:cs typeface="Calibri"/>
              </a:rPr>
              <a:t>cannot</a:t>
            </a:r>
            <a:r>
              <a:rPr sz="3450" spc="-20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simultaneously </a:t>
            </a:r>
            <a:r>
              <a:rPr sz="3450" spc="-225" dirty="0">
                <a:latin typeface="Calibri"/>
                <a:cs typeface="Calibri"/>
              </a:rPr>
              <a:t>perform</a:t>
            </a:r>
            <a:r>
              <a:rPr sz="3450" spc="45" dirty="0">
                <a:latin typeface="Calibri"/>
                <a:cs typeface="Calibri"/>
              </a:rPr>
              <a:t> </a:t>
            </a:r>
            <a:r>
              <a:rPr sz="3450" spc="-225" dirty="0">
                <a:latin typeface="Calibri"/>
                <a:cs typeface="Calibri"/>
              </a:rPr>
              <a:t>AI</a:t>
            </a:r>
            <a:r>
              <a:rPr sz="3450" spc="-100" dirty="0">
                <a:latin typeface="Calibri"/>
                <a:cs typeface="Calibri"/>
              </a:rPr>
              <a:t> </a:t>
            </a:r>
            <a:r>
              <a:rPr sz="3450" spc="-185" dirty="0">
                <a:latin typeface="Calibri"/>
                <a:cs typeface="Calibri"/>
              </a:rPr>
              <a:t>and</a:t>
            </a:r>
            <a:r>
              <a:rPr sz="3450" spc="-35" dirty="0">
                <a:latin typeface="Calibri"/>
                <a:cs typeface="Calibri"/>
              </a:rPr>
              <a:t> </a:t>
            </a:r>
            <a:r>
              <a:rPr sz="3450" spc="-20" dirty="0">
                <a:latin typeface="Calibri"/>
                <a:cs typeface="Calibri"/>
              </a:rPr>
              <a:t>live </a:t>
            </a:r>
            <a:r>
              <a:rPr sz="3450" spc="-85" dirty="0">
                <a:latin typeface="Calibri"/>
                <a:cs typeface="Calibri"/>
              </a:rPr>
              <a:t>streaming.</a:t>
            </a:r>
            <a:endParaRPr sz="34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335" y="5742516"/>
            <a:ext cx="12801600" cy="258404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3970" marR="5080" indent="-1905">
              <a:lnSpc>
                <a:spcPts val="3600"/>
              </a:lnSpc>
              <a:spcBef>
                <a:spcPts val="550"/>
              </a:spcBef>
            </a:pPr>
            <a:r>
              <a:rPr sz="3300" spc="-40" dirty="0">
                <a:latin typeface="Calibri"/>
                <a:cs typeface="Calibri"/>
              </a:rPr>
              <a:t>Our</a:t>
            </a:r>
            <a:r>
              <a:rPr sz="3300" spc="-18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Innovation:</a:t>
            </a:r>
            <a:r>
              <a:rPr sz="3300" spc="-190" dirty="0">
                <a:latin typeface="Calibri"/>
                <a:cs typeface="Calibri"/>
              </a:rPr>
              <a:t> </a:t>
            </a:r>
            <a:r>
              <a:rPr sz="3300" spc="-270" dirty="0">
                <a:latin typeface="Calibri"/>
                <a:cs typeface="Calibri"/>
              </a:rPr>
              <a:t>A</a:t>
            </a:r>
            <a:r>
              <a:rPr sz="3300" spc="-100" dirty="0">
                <a:latin typeface="Calibri"/>
                <a:cs typeface="Calibri"/>
              </a:rPr>
              <a:t> </a:t>
            </a:r>
            <a:r>
              <a:rPr sz="3300" spc="-95" dirty="0">
                <a:latin typeface="Calibri"/>
                <a:cs typeface="Calibri"/>
              </a:rPr>
              <a:t>logic-</a:t>
            </a:r>
            <a:r>
              <a:rPr sz="3300" spc="-55" dirty="0">
                <a:latin typeface="Calibri"/>
                <a:cs typeface="Calibri"/>
              </a:rPr>
              <a:t>driven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spc="-95" dirty="0">
                <a:latin typeface="Calibri"/>
                <a:cs typeface="Calibri"/>
              </a:rPr>
              <a:t>State</a:t>
            </a:r>
            <a:r>
              <a:rPr sz="3300" spc="-135" dirty="0">
                <a:latin typeface="Calibri"/>
                <a:cs typeface="Calibri"/>
              </a:rPr>
              <a:t> </a:t>
            </a:r>
            <a:r>
              <a:rPr sz="3300" spc="-175" dirty="0">
                <a:latin typeface="Calibri"/>
                <a:cs typeface="Calibri"/>
              </a:rPr>
              <a:t>Machine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-80" dirty="0">
                <a:latin typeface="Calibri"/>
                <a:cs typeface="Calibri"/>
              </a:rPr>
              <a:t>that</a:t>
            </a:r>
            <a:r>
              <a:rPr sz="3300" spc="-150" dirty="0">
                <a:latin typeface="Calibri"/>
                <a:cs typeface="Calibri"/>
              </a:rPr>
              <a:t> </a:t>
            </a:r>
            <a:r>
              <a:rPr sz="3300" spc="-75" dirty="0">
                <a:latin typeface="Calibri"/>
                <a:cs typeface="Calibri"/>
              </a:rPr>
              <a:t>intelligently</a:t>
            </a:r>
            <a:r>
              <a:rPr sz="3300" spc="15" dirty="0">
                <a:latin typeface="Calibri"/>
                <a:cs typeface="Calibri"/>
              </a:rPr>
              <a:t> </a:t>
            </a:r>
            <a:r>
              <a:rPr sz="3300" spc="-55" dirty="0">
                <a:latin typeface="Calibri"/>
                <a:cs typeface="Calibri"/>
              </a:rPr>
              <a:t>allocates</a:t>
            </a:r>
            <a:r>
              <a:rPr sz="3300" spc="-6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system resources</a:t>
            </a:r>
            <a:r>
              <a:rPr lang="en-US" sz="3300" spc="-10" dirty="0">
                <a:latin typeface="Calibri"/>
                <a:cs typeface="Calibri"/>
              </a:rPr>
              <a:t> and solve traditional resource heavy security systems</a:t>
            </a:r>
            <a:r>
              <a:rPr sz="3300" spc="-10" dirty="0">
                <a:latin typeface="Calibri"/>
                <a:cs typeface="Calibri"/>
              </a:rPr>
              <a:t>.</a:t>
            </a:r>
            <a:endParaRPr sz="3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3300" dirty="0">
              <a:latin typeface="Calibri"/>
              <a:cs typeface="Calibri"/>
            </a:endParaRPr>
          </a:p>
          <a:p>
            <a:pPr marL="12700" marR="403860" indent="3810" algn="just">
              <a:lnSpc>
                <a:spcPct val="87800"/>
              </a:lnSpc>
            </a:pPr>
            <a:r>
              <a:rPr sz="3400" spc="-100" dirty="0">
                <a:latin typeface="Calibri"/>
                <a:cs typeface="Calibri"/>
              </a:rPr>
              <a:t>The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Result:</a:t>
            </a:r>
            <a:r>
              <a:rPr sz="3400" spc="-190" dirty="0">
                <a:latin typeface="Calibri"/>
                <a:cs typeface="Calibri"/>
              </a:rPr>
              <a:t> </a:t>
            </a:r>
            <a:r>
              <a:rPr sz="3400" spc="-195" dirty="0">
                <a:latin typeface="Calibri"/>
                <a:cs typeface="Calibri"/>
              </a:rPr>
              <a:t>The</a:t>
            </a:r>
            <a:r>
              <a:rPr sz="3400" spc="5" dirty="0">
                <a:latin typeface="Calibri"/>
                <a:cs typeface="Calibri"/>
              </a:rPr>
              <a:t> </a:t>
            </a:r>
            <a:r>
              <a:rPr sz="3400" spc="-105" dirty="0">
                <a:latin typeface="Calibri"/>
                <a:cs typeface="Calibri"/>
              </a:rPr>
              <a:t>EagleEye</a:t>
            </a:r>
            <a:r>
              <a:rPr sz="3400" spc="-85" dirty="0">
                <a:latin typeface="Calibri"/>
                <a:cs typeface="Calibri"/>
              </a:rPr>
              <a:t> </a:t>
            </a:r>
            <a:r>
              <a:rPr sz="3400" spc="-160" dirty="0">
                <a:latin typeface="Calibri"/>
                <a:cs typeface="Calibri"/>
              </a:rPr>
              <a:t>system,</a:t>
            </a:r>
            <a:r>
              <a:rPr sz="3400" spc="-30" dirty="0">
                <a:latin typeface="Calibri"/>
                <a:cs typeface="Calibri"/>
              </a:rPr>
              <a:t> </a:t>
            </a:r>
            <a:r>
              <a:rPr sz="3400" spc="-110" dirty="0">
                <a:latin typeface="Calibri"/>
                <a:cs typeface="Calibri"/>
              </a:rPr>
              <a:t>delivering</a:t>
            </a:r>
            <a:r>
              <a:rPr sz="3400" spc="-80" dirty="0">
                <a:latin typeface="Calibri"/>
                <a:cs typeface="Calibri"/>
              </a:rPr>
              <a:t> </a:t>
            </a:r>
            <a:r>
              <a:rPr sz="3400" spc="-95" dirty="0">
                <a:latin typeface="Calibri"/>
                <a:cs typeface="Calibri"/>
              </a:rPr>
              <a:t>features</a:t>
            </a:r>
            <a:r>
              <a:rPr sz="3400" spc="35" dirty="0">
                <a:latin typeface="Calibri"/>
                <a:cs typeface="Calibri"/>
              </a:rPr>
              <a:t> </a:t>
            </a:r>
            <a:r>
              <a:rPr sz="3400" spc="-120" dirty="0">
                <a:latin typeface="Calibri"/>
                <a:cs typeface="Calibri"/>
              </a:rPr>
              <a:t>previously</a:t>
            </a:r>
            <a:r>
              <a:rPr sz="3400" spc="25" dirty="0">
                <a:latin typeface="Calibri"/>
                <a:cs typeface="Calibri"/>
              </a:rPr>
              <a:t> </a:t>
            </a:r>
            <a:r>
              <a:rPr sz="3400" spc="-150" dirty="0">
                <a:latin typeface="Calibri"/>
                <a:cs typeface="Calibri"/>
              </a:rPr>
              <a:t>reserved</a:t>
            </a:r>
            <a:r>
              <a:rPr sz="3400" spc="65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for </a:t>
            </a:r>
            <a:r>
              <a:rPr sz="3450" spc="-175" dirty="0">
                <a:latin typeface="Calibri"/>
                <a:cs typeface="Calibri"/>
              </a:rPr>
              <a:t>expensive</a:t>
            </a:r>
            <a:r>
              <a:rPr sz="3450" spc="-30" dirty="0">
                <a:latin typeface="Calibri"/>
                <a:cs typeface="Calibri"/>
              </a:rPr>
              <a:t> </a:t>
            </a:r>
            <a:r>
              <a:rPr sz="3450" spc="-220" dirty="0">
                <a:latin typeface="Calibri"/>
                <a:cs typeface="Calibri"/>
              </a:rPr>
              <a:t>hardware</a:t>
            </a:r>
            <a:r>
              <a:rPr sz="3450" spc="-180" dirty="0">
                <a:latin typeface="Calibri"/>
                <a:cs typeface="Calibri"/>
              </a:rPr>
              <a:t>,</a:t>
            </a:r>
            <a:r>
              <a:rPr sz="3450" spc="125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providing</a:t>
            </a:r>
            <a:r>
              <a:rPr sz="3450" spc="165" dirty="0">
                <a:latin typeface="Calibri"/>
                <a:cs typeface="Calibri"/>
              </a:rPr>
              <a:t> </a:t>
            </a:r>
            <a:r>
              <a:rPr sz="3450" spc="-380" dirty="0">
                <a:latin typeface="Calibri"/>
                <a:cs typeface="Calibri"/>
              </a:rPr>
              <a:t>an</a:t>
            </a:r>
            <a:r>
              <a:rPr sz="3450" spc="185" dirty="0">
                <a:latin typeface="Calibri"/>
                <a:cs typeface="Calibri"/>
              </a:rPr>
              <a:t> </a:t>
            </a:r>
            <a:r>
              <a:rPr sz="3450" spc="-180" dirty="0">
                <a:latin typeface="Calibri"/>
                <a:cs typeface="Calibri"/>
              </a:rPr>
              <a:t>effective</a:t>
            </a:r>
            <a:r>
              <a:rPr sz="3450" spc="135" dirty="0">
                <a:latin typeface="Calibri"/>
                <a:cs typeface="Calibri"/>
              </a:rPr>
              <a:t> </a:t>
            </a:r>
            <a:r>
              <a:rPr sz="3450" spc="-210" dirty="0">
                <a:latin typeface="Calibri"/>
                <a:cs typeface="Calibri"/>
              </a:rPr>
              <a:t>and</a:t>
            </a:r>
            <a:r>
              <a:rPr sz="3450" spc="30" dirty="0">
                <a:latin typeface="Calibri"/>
                <a:cs typeface="Calibri"/>
              </a:rPr>
              <a:t> </a:t>
            </a:r>
            <a:r>
              <a:rPr sz="3450" spc="-70" dirty="0">
                <a:latin typeface="Calibri"/>
                <a:cs typeface="Calibri"/>
              </a:rPr>
              <a:t>accessible </a:t>
            </a:r>
            <a:r>
              <a:rPr sz="3550" spc="-200" dirty="0">
                <a:latin typeface="Calibri"/>
                <a:cs typeface="Calibri"/>
              </a:rPr>
              <a:t>security</a:t>
            </a:r>
            <a:r>
              <a:rPr sz="3550" spc="5" dirty="0">
                <a:latin typeface="Calibri"/>
                <a:cs typeface="Calibri"/>
              </a:rPr>
              <a:t> </a:t>
            </a:r>
            <a:r>
              <a:rPr sz="3550" spc="-65" dirty="0">
                <a:latin typeface="Calibri"/>
                <a:cs typeface="Calibri"/>
              </a:rPr>
              <a:t>solution.</a:t>
            </a:r>
            <a:endParaRPr sz="3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4460" y="690033"/>
            <a:ext cx="4530090" cy="1231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900" spc="-30" dirty="0">
                <a:solidFill>
                  <a:srgbClr val="033B70"/>
                </a:solidFill>
                <a:latin typeface="Calibri"/>
                <a:cs typeface="Calibri"/>
              </a:rPr>
              <a:t>References</a:t>
            </a:r>
            <a:endParaRPr sz="7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239" y="2553405"/>
            <a:ext cx="14729460" cy="549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4370" indent="-661670">
              <a:lnSpc>
                <a:spcPts val="5070"/>
              </a:lnSpc>
              <a:spcBef>
                <a:spcPts val="95"/>
              </a:spcBef>
              <a:buAutoNum type="arabicPeriod"/>
              <a:tabLst>
                <a:tab pos="674370" algn="l"/>
              </a:tabLst>
            </a:pPr>
            <a:r>
              <a:rPr sz="4450" spc="-315" dirty="0">
                <a:latin typeface="Calibri"/>
                <a:cs typeface="Calibri"/>
              </a:rPr>
              <a:t>Y.</a:t>
            </a:r>
            <a:r>
              <a:rPr sz="4450" spc="-114" dirty="0">
                <a:latin typeface="Calibri"/>
                <a:cs typeface="Calibri"/>
              </a:rPr>
              <a:t> </a:t>
            </a:r>
            <a:r>
              <a:rPr sz="4450" spc="-160" dirty="0">
                <a:latin typeface="Calibri"/>
                <a:cs typeface="Calibri"/>
              </a:rPr>
              <a:t>Chang</a:t>
            </a:r>
            <a:r>
              <a:rPr sz="4450" spc="-90" dirty="0">
                <a:latin typeface="Calibri"/>
                <a:cs typeface="Calibri"/>
              </a:rPr>
              <a:t> </a:t>
            </a:r>
            <a:r>
              <a:rPr sz="4450" spc="-190" dirty="0">
                <a:latin typeface="Calibri"/>
                <a:cs typeface="Calibri"/>
              </a:rPr>
              <a:t>et</a:t>
            </a:r>
            <a:r>
              <a:rPr sz="4450" spc="-235" dirty="0">
                <a:latin typeface="Calibri"/>
                <a:cs typeface="Calibri"/>
              </a:rPr>
              <a:t> </a:t>
            </a:r>
            <a:r>
              <a:rPr sz="4450" spc="-60" dirty="0">
                <a:latin typeface="Calibri"/>
                <a:cs typeface="Calibri"/>
              </a:rPr>
              <a:t>al.,’Design</a:t>
            </a:r>
            <a:r>
              <a:rPr sz="4450" spc="-125" dirty="0">
                <a:latin typeface="Calibri"/>
                <a:cs typeface="Calibri"/>
              </a:rPr>
              <a:t> </a:t>
            </a:r>
            <a:r>
              <a:rPr sz="4450" spc="-170" dirty="0">
                <a:latin typeface="Calibri"/>
                <a:cs typeface="Calibri"/>
              </a:rPr>
              <a:t>and </a:t>
            </a:r>
            <a:r>
              <a:rPr sz="4450" spc="-180" dirty="0">
                <a:latin typeface="Calibri"/>
                <a:cs typeface="Calibri"/>
              </a:rPr>
              <a:t>Implementation</a:t>
            </a:r>
            <a:r>
              <a:rPr sz="4450" spc="-310" dirty="0">
                <a:latin typeface="Calibri"/>
                <a:cs typeface="Calibri"/>
              </a:rPr>
              <a:t> </a:t>
            </a:r>
            <a:r>
              <a:rPr sz="4450" spc="-195" dirty="0">
                <a:latin typeface="Calibri"/>
                <a:cs typeface="Calibri"/>
              </a:rPr>
              <a:t>of</a:t>
            </a:r>
            <a:r>
              <a:rPr sz="4450" spc="-155" dirty="0">
                <a:latin typeface="Calibri"/>
                <a:cs typeface="Calibri"/>
              </a:rPr>
              <a:t> </a:t>
            </a:r>
            <a:r>
              <a:rPr sz="4450" spc="-180" dirty="0">
                <a:latin typeface="Calibri"/>
                <a:cs typeface="Calibri"/>
              </a:rPr>
              <a:t>ESP32-</a:t>
            </a:r>
            <a:r>
              <a:rPr sz="4450" spc="-110" dirty="0">
                <a:latin typeface="Calibri"/>
                <a:cs typeface="Calibri"/>
              </a:rPr>
              <a:t>Based</a:t>
            </a:r>
            <a:r>
              <a:rPr sz="4450" spc="150" dirty="0">
                <a:latin typeface="Calibri"/>
                <a:cs typeface="Calibri"/>
              </a:rPr>
              <a:t> </a:t>
            </a:r>
            <a:r>
              <a:rPr sz="4450" spc="-20" dirty="0">
                <a:latin typeface="Calibri"/>
                <a:cs typeface="Calibri"/>
              </a:rPr>
              <a:t>Edge</a:t>
            </a:r>
            <a:endParaRPr sz="4450">
              <a:latin typeface="Calibri"/>
              <a:cs typeface="Calibri"/>
            </a:endParaRPr>
          </a:p>
          <a:p>
            <a:pPr marL="681990">
              <a:lnSpc>
                <a:spcPts val="4950"/>
              </a:lnSpc>
            </a:pPr>
            <a:r>
              <a:rPr sz="4350" spc="-105" dirty="0">
                <a:latin typeface="Calibri"/>
                <a:cs typeface="Calibri"/>
              </a:rPr>
              <a:t>Computing</a:t>
            </a:r>
            <a:r>
              <a:rPr sz="4350" spc="90" dirty="0">
                <a:latin typeface="Calibri"/>
                <a:cs typeface="Calibri"/>
              </a:rPr>
              <a:t> </a:t>
            </a:r>
            <a:r>
              <a:rPr sz="4350" spc="-180" dirty="0">
                <a:latin typeface="Calibri"/>
                <a:cs typeface="Calibri"/>
              </a:rPr>
              <a:t>for</a:t>
            </a:r>
            <a:r>
              <a:rPr sz="4350" spc="-170" dirty="0">
                <a:latin typeface="Calibri"/>
                <a:cs typeface="Calibri"/>
              </a:rPr>
              <a:t> </a:t>
            </a:r>
            <a:r>
              <a:rPr sz="4350" spc="-150" dirty="0">
                <a:latin typeface="Calibri"/>
                <a:cs typeface="Calibri"/>
              </a:rPr>
              <a:t>Object</a:t>
            </a:r>
            <a:r>
              <a:rPr sz="4350" spc="-135" dirty="0">
                <a:latin typeface="Calibri"/>
                <a:cs typeface="Calibri"/>
              </a:rPr>
              <a:t> </a:t>
            </a:r>
            <a:r>
              <a:rPr sz="4350" spc="-100" dirty="0">
                <a:latin typeface="Calibri"/>
                <a:cs typeface="Calibri"/>
              </a:rPr>
              <a:t>Detection,’Sensors,</a:t>
            </a:r>
            <a:r>
              <a:rPr sz="4350" spc="-350" dirty="0">
                <a:latin typeface="Calibri"/>
                <a:cs typeface="Calibri"/>
              </a:rPr>
              <a:t> </a:t>
            </a:r>
            <a:r>
              <a:rPr sz="4350" spc="-10" dirty="0">
                <a:latin typeface="Calibri"/>
                <a:cs typeface="Calibri"/>
              </a:rPr>
              <a:t>2025.</a:t>
            </a:r>
            <a:endParaRPr sz="4350">
              <a:latin typeface="Calibri"/>
              <a:cs typeface="Calibri"/>
            </a:endParaRPr>
          </a:p>
          <a:p>
            <a:pPr marL="673735" indent="-657225">
              <a:lnSpc>
                <a:spcPts val="5060"/>
              </a:lnSpc>
              <a:spcBef>
                <a:spcPts val="1080"/>
              </a:spcBef>
              <a:buAutoNum type="arabicPeriod" startAt="2"/>
              <a:tabLst>
                <a:tab pos="673735" algn="l"/>
              </a:tabLst>
            </a:pPr>
            <a:r>
              <a:rPr sz="4350" spc="-275" dirty="0">
                <a:latin typeface="Calibri"/>
                <a:cs typeface="Calibri"/>
              </a:rPr>
              <a:t>P.</a:t>
            </a:r>
            <a:r>
              <a:rPr sz="4350" spc="-175" dirty="0">
                <a:latin typeface="Calibri"/>
                <a:cs typeface="Calibri"/>
              </a:rPr>
              <a:t> </a:t>
            </a:r>
            <a:r>
              <a:rPr sz="4350" spc="-225" dirty="0">
                <a:latin typeface="Calibri"/>
                <a:cs typeface="Calibri"/>
              </a:rPr>
              <a:t>Warden,</a:t>
            </a:r>
            <a:r>
              <a:rPr sz="4350" spc="-30" dirty="0">
                <a:latin typeface="Calibri"/>
                <a:cs typeface="Calibri"/>
              </a:rPr>
              <a:t> </a:t>
            </a:r>
            <a:r>
              <a:rPr sz="4350" i="1" spc="-265" dirty="0">
                <a:latin typeface="Calibri"/>
                <a:cs typeface="Calibri"/>
              </a:rPr>
              <a:t>TinyML:</a:t>
            </a:r>
            <a:r>
              <a:rPr sz="4350" i="1" spc="20" dirty="0">
                <a:latin typeface="Calibri"/>
                <a:cs typeface="Calibri"/>
              </a:rPr>
              <a:t> </a:t>
            </a:r>
            <a:r>
              <a:rPr sz="4350" i="1" spc="-270" dirty="0">
                <a:latin typeface="Calibri"/>
                <a:cs typeface="Calibri"/>
              </a:rPr>
              <a:t>Machine</a:t>
            </a:r>
            <a:r>
              <a:rPr sz="4350" i="1" spc="20" dirty="0">
                <a:latin typeface="Calibri"/>
                <a:cs typeface="Calibri"/>
              </a:rPr>
              <a:t> </a:t>
            </a:r>
            <a:r>
              <a:rPr sz="4350" i="1" spc="-120" dirty="0">
                <a:latin typeface="Calibri"/>
                <a:cs typeface="Calibri"/>
              </a:rPr>
              <a:t>Learning</a:t>
            </a:r>
            <a:r>
              <a:rPr sz="4350" i="1" spc="-45" dirty="0">
                <a:latin typeface="Calibri"/>
                <a:cs typeface="Calibri"/>
              </a:rPr>
              <a:t> </a:t>
            </a:r>
            <a:r>
              <a:rPr sz="4350" i="1" spc="-204" dirty="0">
                <a:latin typeface="Calibri"/>
                <a:cs typeface="Calibri"/>
              </a:rPr>
              <a:t>with</a:t>
            </a:r>
            <a:r>
              <a:rPr sz="4350" i="1" spc="-90" dirty="0">
                <a:latin typeface="Calibri"/>
                <a:cs typeface="Calibri"/>
              </a:rPr>
              <a:t> </a:t>
            </a:r>
            <a:r>
              <a:rPr sz="4350" i="1" spc="-180" dirty="0">
                <a:latin typeface="Calibri"/>
                <a:cs typeface="Calibri"/>
              </a:rPr>
              <a:t>TensorFlow</a:t>
            </a:r>
            <a:r>
              <a:rPr sz="4350" i="1" spc="180" dirty="0">
                <a:latin typeface="Calibri"/>
                <a:cs typeface="Calibri"/>
              </a:rPr>
              <a:t> </a:t>
            </a:r>
            <a:r>
              <a:rPr sz="4350" i="1" spc="-70" dirty="0">
                <a:latin typeface="Calibri"/>
                <a:cs typeface="Calibri"/>
              </a:rPr>
              <a:t>Lite,</a:t>
            </a:r>
            <a:r>
              <a:rPr sz="4350" i="1" spc="-395" dirty="0">
                <a:latin typeface="Calibri"/>
                <a:cs typeface="Calibri"/>
              </a:rPr>
              <a:t> </a:t>
            </a:r>
            <a:r>
              <a:rPr sz="4350" spc="-30" dirty="0">
                <a:latin typeface="Calibri"/>
                <a:cs typeface="Calibri"/>
              </a:rPr>
              <a:t>O'Reilly,</a:t>
            </a:r>
            <a:endParaRPr sz="4350">
              <a:latin typeface="Calibri"/>
              <a:cs typeface="Calibri"/>
            </a:endParaRPr>
          </a:p>
          <a:p>
            <a:pPr marL="665480">
              <a:lnSpc>
                <a:spcPts val="4880"/>
              </a:lnSpc>
            </a:pPr>
            <a:r>
              <a:rPr sz="4200" spc="-10" dirty="0">
                <a:latin typeface="Calibri"/>
                <a:cs typeface="Calibri"/>
              </a:rPr>
              <a:t>2019.</a:t>
            </a:r>
            <a:endParaRPr sz="4200">
              <a:latin typeface="Calibri"/>
              <a:cs typeface="Calibri"/>
            </a:endParaRPr>
          </a:p>
          <a:p>
            <a:pPr marL="673100" indent="-654050">
              <a:lnSpc>
                <a:spcPts val="5045"/>
              </a:lnSpc>
              <a:spcBef>
                <a:spcPts val="1010"/>
              </a:spcBef>
              <a:buAutoNum type="arabicPeriod" startAt="3"/>
              <a:tabLst>
                <a:tab pos="673100" algn="l"/>
              </a:tabLst>
            </a:pPr>
            <a:r>
              <a:rPr sz="4450" spc="-140" dirty="0">
                <a:latin typeface="Calibri"/>
                <a:cs typeface="Calibri"/>
              </a:rPr>
              <a:t>Espressif</a:t>
            </a:r>
            <a:r>
              <a:rPr sz="4450" spc="65" dirty="0">
                <a:latin typeface="Calibri"/>
                <a:cs typeface="Calibri"/>
              </a:rPr>
              <a:t> </a:t>
            </a:r>
            <a:r>
              <a:rPr sz="4450" spc="-185" dirty="0">
                <a:latin typeface="Calibri"/>
                <a:cs typeface="Calibri"/>
              </a:rPr>
              <a:t>Systems,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spc="-245" dirty="0">
                <a:latin typeface="Calibri"/>
                <a:cs typeface="Calibri"/>
              </a:rPr>
              <a:t>‘ESP32-</a:t>
            </a:r>
            <a:r>
              <a:rPr sz="4450" spc="-355" dirty="0">
                <a:latin typeface="Calibri"/>
                <a:cs typeface="Calibri"/>
              </a:rPr>
              <a:t>CAM</a:t>
            </a:r>
            <a:r>
              <a:rPr sz="4450" spc="229" dirty="0">
                <a:latin typeface="Calibri"/>
                <a:cs typeface="Calibri"/>
              </a:rPr>
              <a:t> </a:t>
            </a:r>
            <a:r>
              <a:rPr sz="4450" spc="-275" dirty="0">
                <a:latin typeface="Calibri"/>
                <a:cs typeface="Calibri"/>
              </a:rPr>
              <a:t>Audio/Video</a:t>
            </a:r>
            <a:r>
              <a:rPr sz="4450" spc="260" dirty="0">
                <a:latin typeface="Calibri"/>
                <a:cs typeface="Calibri"/>
              </a:rPr>
              <a:t> </a:t>
            </a:r>
            <a:r>
              <a:rPr sz="4450" spc="-180" dirty="0">
                <a:latin typeface="Calibri"/>
                <a:cs typeface="Calibri"/>
              </a:rPr>
              <a:t>Streaming</a:t>
            </a:r>
            <a:r>
              <a:rPr sz="4450" spc="10" dirty="0">
                <a:latin typeface="Calibri"/>
                <a:cs typeface="Calibri"/>
              </a:rPr>
              <a:t> </a:t>
            </a:r>
            <a:r>
              <a:rPr sz="4450" spc="-30" dirty="0">
                <a:latin typeface="Calibri"/>
                <a:cs typeface="Calibri"/>
              </a:rPr>
              <a:t>Protocols,’</a:t>
            </a:r>
            <a:endParaRPr sz="4450">
              <a:latin typeface="Calibri"/>
              <a:cs typeface="Calibri"/>
            </a:endParaRPr>
          </a:p>
          <a:p>
            <a:pPr marL="688340">
              <a:lnSpc>
                <a:spcPts val="5045"/>
              </a:lnSpc>
            </a:pPr>
            <a:r>
              <a:rPr sz="4450" i="1" spc="-210" dirty="0">
                <a:latin typeface="Calibri"/>
                <a:cs typeface="Calibri"/>
              </a:rPr>
              <a:t>Technical</a:t>
            </a:r>
            <a:r>
              <a:rPr sz="4450" i="1" spc="-15" dirty="0">
                <a:latin typeface="Calibri"/>
                <a:cs typeface="Calibri"/>
              </a:rPr>
              <a:t> </a:t>
            </a:r>
            <a:r>
              <a:rPr sz="4450" i="1" spc="-215" dirty="0">
                <a:latin typeface="Calibri"/>
                <a:cs typeface="Calibri"/>
              </a:rPr>
              <a:t>Reference,</a:t>
            </a:r>
            <a:r>
              <a:rPr sz="4450" i="1" spc="-180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2023.</a:t>
            </a:r>
            <a:endParaRPr sz="4450">
              <a:latin typeface="Calibri"/>
              <a:cs typeface="Calibri"/>
            </a:endParaRPr>
          </a:p>
          <a:p>
            <a:pPr marL="673735" indent="-651510">
              <a:lnSpc>
                <a:spcPts val="5085"/>
              </a:lnSpc>
              <a:spcBef>
                <a:spcPts val="1060"/>
              </a:spcBef>
              <a:buAutoNum type="arabicPeriod" startAt="4"/>
              <a:tabLst>
                <a:tab pos="673735" algn="l"/>
              </a:tabLst>
            </a:pPr>
            <a:r>
              <a:rPr sz="4350" spc="-100" dirty="0">
                <a:latin typeface="Calibri"/>
                <a:cs typeface="Calibri"/>
              </a:rPr>
              <a:t>Banbury</a:t>
            </a:r>
            <a:r>
              <a:rPr sz="4350" spc="-150" dirty="0">
                <a:latin typeface="Calibri"/>
                <a:cs typeface="Calibri"/>
              </a:rPr>
              <a:t> </a:t>
            </a:r>
            <a:r>
              <a:rPr sz="4350" spc="-155" dirty="0">
                <a:latin typeface="Calibri"/>
                <a:cs typeface="Calibri"/>
              </a:rPr>
              <a:t>et</a:t>
            </a:r>
            <a:r>
              <a:rPr sz="4350" spc="-229" dirty="0">
                <a:latin typeface="Calibri"/>
                <a:cs typeface="Calibri"/>
              </a:rPr>
              <a:t> </a:t>
            </a:r>
            <a:r>
              <a:rPr sz="4350" spc="-175" dirty="0">
                <a:latin typeface="Calibri"/>
                <a:cs typeface="Calibri"/>
              </a:rPr>
              <a:t>at.,”Wake</a:t>
            </a:r>
            <a:r>
              <a:rPr sz="4350" spc="15" dirty="0">
                <a:latin typeface="Calibri"/>
                <a:cs typeface="Calibri"/>
              </a:rPr>
              <a:t> </a:t>
            </a:r>
            <a:r>
              <a:rPr sz="4350" spc="-145" dirty="0">
                <a:latin typeface="Calibri"/>
                <a:cs typeface="Calibri"/>
              </a:rPr>
              <a:t>Vision:</a:t>
            </a:r>
            <a:r>
              <a:rPr sz="4350" spc="-70" dirty="0">
                <a:latin typeface="Calibri"/>
                <a:cs typeface="Calibri"/>
              </a:rPr>
              <a:t> </a:t>
            </a:r>
            <a:r>
              <a:rPr sz="4350" spc="-254" dirty="0">
                <a:latin typeface="Calibri"/>
                <a:cs typeface="Calibri"/>
              </a:rPr>
              <a:t>A</a:t>
            </a:r>
            <a:r>
              <a:rPr sz="4350" spc="-120" dirty="0">
                <a:latin typeface="Calibri"/>
                <a:cs typeface="Calibri"/>
              </a:rPr>
              <a:t> </a:t>
            </a:r>
            <a:r>
              <a:rPr sz="4350" spc="-155" dirty="0">
                <a:latin typeface="Calibri"/>
                <a:cs typeface="Calibri"/>
              </a:rPr>
              <a:t>Tailored</a:t>
            </a:r>
            <a:r>
              <a:rPr sz="4350" spc="-40" dirty="0">
                <a:latin typeface="Calibri"/>
                <a:cs typeface="Calibri"/>
              </a:rPr>
              <a:t> </a:t>
            </a:r>
            <a:r>
              <a:rPr sz="4350" spc="-145" dirty="0">
                <a:latin typeface="Calibri"/>
                <a:cs typeface="Calibri"/>
              </a:rPr>
              <a:t>Dataset</a:t>
            </a:r>
            <a:r>
              <a:rPr sz="4350" spc="-75" dirty="0">
                <a:latin typeface="Calibri"/>
                <a:cs typeface="Calibri"/>
              </a:rPr>
              <a:t> </a:t>
            </a:r>
            <a:r>
              <a:rPr sz="4350" spc="-180" dirty="0">
                <a:latin typeface="Calibri"/>
                <a:cs typeface="Calibri"/>
              </a:rPr>
              <a:t>for</a:t>
            </a:r>
            <a:r>
              <a:rPr sz="4350" spc="-85" dirty="0">
                <a:latin typeface="Calibri"/>
                <a:cs typeface="Calibri"/>
              </a:rPr>
              <a:t> </a:t>
            </a:r>
            <a:r>
              <a:rPr sz="4350" spc="-160" dirty="0">
                <a:latin typeface="Calibri"/>
                <a:cs typeface="Calibri"/>
              </a:rPr>
              <a:t>TinyML,’</a:t>
            </a:r>
            <a:r>
              <a:rPr sz="4350" spc="-25" dirty="0">
                <a:latin typeface="Calibri"/>
                <a:cs typeface="Calibri"/>
              </a:rPr>
              <a:t> </a:t>
            </a:r>
            <a:r>
              <a:rPr sz="4350" i="1" spc="-10" dirty="0">
                <a:latin typeface="Calibri"/>
                <a:cs typeface="Calibri"/>
              </a:rPr>
              <a:t>arXiv,</a:t>
            </a:r>
            <a:endParaRPr sz="4350">
              <a:latin typeface="Calibri"/>
              <a:cs typeface="Calibri"/>
            </a:endParaRPr>
          </a:p>
          <a:p>
            <a:pPr marL="666115">
              <a:lnSpc>
                <a:spcPts val="4785"/>
              </a:lnSpc>
            </a:pPr>
            <a:r>
              <a:rPr sz="4100" spc="-10" dirty="0">
                <a:latin typeface="Calibri"/>
                <a:cs typeface="Calibri"/>
              </a:rPr>
              <a:t>2024.</a:t>
            </a:r>
            <a:endParaRPr sz="4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1508</TotalTime>
  <Words>1211</Words>
  <Application>Microsoft Office PowerPoint</Application>
  <PresentationFormat>Custom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 MT</vt:lpstr>
      <vt:lpstr>Calibri</vt:lpstr>
      <vt:lpstr>Times New Roman</vt:lpstr>
      <vt:lpstr>Office Theme</vt:lpstr>
      <vt:lpstr>EagleEye: A TinyML Voice-Based Smart Intrusion Detection System A Privacy-Preserving, Hybrid Edge-Cloud Security Solution</vt:lpstr>
      <vt:lpstr>Home Security Today Faces a Critical Gap in Both Interaction and Evidence</vt:lpstr>
      <vt:lpstr>PowerPoint Presentation</vt:lpstr>
      <vt:lpstr>The Technical Barrier: Affordable Edge Devices Cannot Handle AI and Live Streaming Simultaneously</vt:lpstr>
      <vt:lpstr>Our Breakthrough Is a State Machine That Intelligently Switches Device Functionality</vt:lpstr>
      <vt:lpstr>This Logic Enables “EagIeEye^. Affordable, Full-Featured Security Node</vt:lpstr>
      <vt:lpstr>System Architecture: A Step-by-Step Flow from Detection to Deterrence</vt:lpstr>
      <vt:lpstr>Carving Our Niche: How EagleEye Differs from Existing Solutions</vt:lpstr>
      <vt:lpstr>The Hardware Stack Is Optimised for Low Power and High-Quality Audio</vt:lpstr>
      <vt:lpstr>Broader Impact: Contributing to Safer, More Sustainable Communities</vt:lpstr>
      <vt:lpstr>Our Team Possesses a Balanced Skillset Covering All Project Domains</vt:lpstr>
      <vt:lpstr>The Total Project Cost Is Well Within the Approved Budget</vt:lpstr>
      <vt:lpstr>In Summary: We Are Delivering an Intelligent System Built on a Novel Approach to Resource Management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bsce22004</cp:lastModifiedBy>
  <cp:revision>4</cp:revision>
  <dcterms:created xsi:type="dcterms:W3CDTF">2025-11-28T19:47:46Z</dcterms:created>
  <dcterms:modified xsi:type="dcterms:W3CDTF">2025-11-29T21:05:15Z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LastSaved">
    <vt:filetime>2025-11-28T00:00:00Z</vt:filetime>
  </property>
</Properties>
</file>